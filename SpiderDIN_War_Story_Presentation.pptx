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1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7662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1: Architecting SpiderDIN: From Chaos to Determinism</a:t>
            </a:r>
          </a:p>
          <a:p>
            <a:endParaRPr/>
          </a:p>
          <a:p>
            <a:r>
              <a:t>SPEAKER NARRATION:</a:t>
            </a:r>
          </a:p>
          <a:p>
            <a:r>
              <a:t>Welcome everyone! Today we're diving deep into the architectural trenches of SpiderDIN. Let's start with a visceral analogy: dropping a master chef into an unmapped Costco warehouse. When you hand an enterprise database schema with 80 tables to an LLM, the LLM is that bewildered chef. It knows SQL syntax, but without empirical grounding and probing, it grabs the wrong columns and fails. Let's see how we engineered our way out of this chaos.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2: What Are We Really Building? Toy vs Enterprise</a:t>
            </a:r>
          </a:p>
          <a:p>
            <a:endParaRPr/>
          </a:p>
          <a:p>
            <a:r>
              <a:t>SPEAKER NARRATION:</a:t>
            </a:r>
          </a:p>
          <a:p>
            <a:r>
              <a:t>Let's make one thing perfectly clear: we are not building a toy demo. Academic benchmarks let you get away with zero-shot prompting because the column names match human intuition. In enterprise healthcare or finance, columns are named 'TXN_AMT_RAW' and data is buried inside nested JSON blobs. To survive, we enforced a strict 'Zero-Knowledge Identifier Policy'. Our agents don't memorize schemas; they actively probe the database like forensic investigators.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3: AI Theory &amp; Agentic Foundations</a:t>
            </a:r>
          </a:p>
          <a:p>
            <a:endParaRPr/>
          </a:p>
          <a:p>
            <a:r>
              <a:t>SPEAKER NARRATION:</a:t>
            </a:r>
          </a:p>
          <a:p>
            <a:r>
              <a:t>To understand SpiderDIN's architecture, we need to look at agentic AI theory. Standard RAG uses vector embeddings to retrieve DDL. That's fundamentally flawed for SQL because semantic similarity doesn't understand relational foreign keys. Instead, we built our system on ReAct and Reflexion principles. When our generator writes a query, it doesn't just fire and forget; it enters a rigorous feedback loop where execution tracebacks act as reinforcement signals.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4: The Simplest Architecture &amp; The Collapse</a:t>
            </a:r>
          </a:p>
          <a:p>
            <a:endParaRPr/>
          </a:p>
          <a:p>
            <a:r>
              <a:t>SPEAKER NARRATION:</a:t>
            </a:r>
          </a:p>
          <a:p>
            <a:r>
              <a:t>When we started, we tried what everyone tries: the one-shot prompt. We dumped the schema into GPT-4 and asked a question. It failed spectacularly. In Snowflake, if you don't quote case-sensitive identifiers exactly right, the query dies. But even worse is the Silent Filter Collapse: the query runs perfectly and returns an empty table because the LLM guessed the WHERE clause string. In an enterprise, returning a blank table when there's actually $10M in revenue is a career-ending catastrophe.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5A-B: The War Story I: Semantic Pruning &amp; Value Linking</a:t>
            </a:r>
          </a:p>
          <a:p>
            <a:endParaRPr/>
          </a:p>
          <a:p>
            <a:r>
              <a:t>SPEAKER NARRATION:</a:t>
            </a:r>
          </a:p>
          <a:p>
            <a:r>
              <a:t>This brings us to the core of our war story: engineering the pipeline under extreme pressure. Our first enemy was token explosion. Dumping massive schemas into AWS Bedrock crashed the API and exhausted context windows. We built an Adaptive Token Budgeter that prunes the schema down to 12,000 tokens while injecting sample rows. Next, we tackled vocabulary mismatch. Our Schema Linker never guesses; it runs live SELECT DISTINCT probes to ground every entity before generating a single line of SQL.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5C-D: The War Story II: Dialect Generator &amp; Adversarial Critic</a:t>
            </a:r>
          </a:p>
          <a:p>
            <a:endParaRPr/>
          </a:p>
          <a:p>
            <a:r>
              <a:t>SPEAKER NARRATION:</a:t>
            </a:r>
          </a:p>
          <a:p>
            <a:r>
              <a:t>Writing basic SQL is easy; writing Snowflake-native SQL over nested JSON is a nightmare. We built modular Dialect Rule Families that teach the model exactly how to use LATERAL FLATTEN and handle microsecond timestamps. But generation alone is dangerous. So we introduced the Adversarial SQL Critic. The Critic's only job is to destroy the generator's query. If it finds a logical flaw—like averaging profit margins across departments—it rejects the query and hands the generator a specific fix recipe.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5E-G: The War Story III: Data IQ Auditor &amp; Self-Correction</a:t>
            </a:r>
          </a:p>
          <a:p>
            <a:endParaRPr/>
          </a:p>
          <a:p>
            <a:r>
              <a:t>SPEAKER NARRATION:</a:t>
            </a:r>
          </a:p>
          <a:p>
            <a:r>
              <a:t>Now for our biggest breakthrough: the Data IQ Validator. In standard pipelines, if a query returns 0 rows without a syntax error, the AI stops and reports 0 to the user. Our Data IQ layer inspects the resulting CSV file like an analyst performing Exploratory Data Analysis. If it sees zero variance or 100% null columns, it flags an anomaly. If a table name was wrong, our Corrector doesn't just retry blindly; it runs cross-database discovery to find where the table actually lives and injects the fix.</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6: Architectural Evolution Comparison Matrix</a:t>
            </a:r>
          </a:p>
          <a:p>
            <a:endParaRPr/>
          </a:p>
          <a:p>
            <a:r>
              <a:t>SPEAKER NARRATION:</a:t>
            </a:r>
          </a:p>
          <a:p>
            <a:r>
              <a:t>Before arriving at SpiderDIN, we benchmarked 8 different architectures. Monolithic prompting suffocated the model. Naive vector RAG retrieved the wrong tables. We implemented static DIN-SQL, which was a huge step forward, but it was blind to actual execution results. By combining DIN-SQL's decomposition with our empirical value grounding, adversarial critic reviews, and Data IQ CSV auditing, we created an enterprise-ready powerhouse.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7: Repository Evolution &amp; Git Branch History</a:t>
            </a:r>
          </a:p>
          <a:p>
            <a:endParaRPr/>
          </a:p>
          <a:p>
            <a:r>
              <a:t>SPEAKER NARRATION:</a:t>
            </a:r>
          </a:p>
          <a:p>
            <a:r>
              <a:t>Our repository's evolution reads like a startup engineering thriller. In 'main' and 'production-clean', we built the basic workflow engine. But as we hit real enterprise benchmarks, we had to branch out. 'refactor/modern-backend-v2' brought us a production-grade FastAPI server. In 'hardened-snowflake-pipeline' and 'autonomous-critic-profiler', we solved critical edge cases: stripping out &lt;think&gt; tags from Bedrock models, building robust bracket parsers, and eliminating all hardcoded logic.</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8: Real Failures, Crashes &amp; War Stories</a:t>
            </a:r>
          </a:p>
          <a:p>
            <a:endParaRPr/>
          </a:p>
          <a:p>
            <a:r>
              <a:t>SPEAKER NARRATION:</a:t>
            </a:r>
          </a:p>
          <a:p>
            <a:r>
              <a:t>We wouldn't be honest engineers if we didn't share our failures. Early on, we caused a 5.5 million token explosion that crashed our AWS Bedrock instances. We learned the hard way that schema pruning is mandatory. Then we encountered infinite retry loops where the LLM oscillated between two syntax errors like a ping-pong ball until we built stabilizer memory. And recently, reasoning models started injecting &lt;think&gt; tags that broke our JSON parsers. Every line of code in our recovery system was written in the blood of these failures.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9: Complete Current Architecture: The 9 Layers</a:t>
            </a:r>
          </a:p>
          <a:p>
            <a:endParaRPr/>
          </a:p>
          <a:p>
            <a:r>
              <a:t>SPEAKER NARRATION:</a:t>
            </a:r>
          </a:p>
          <a:p>
            <a:r>
              <a:t>Here is the complete current architecture of SpiderDIN across 9 color-coded layers. Notice how beautifully decoupled everything is. We start with query intent analysis and semantic context pruning. The Schema Linker probes the database to ground values. The Adaptive Generator writes Snowflake-native SQL, which is immediately audited by the Adversarial Critic. Once executed, the Data IQ layer validates the business logic. If anything fails, our recovery layers step in to self-heal the pipeline.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10: Live Demo &amp; Production Codebase Tour</a:t>
            </a:r>
          </a:p>
          <a:p>
            <a:endParaRPr/>
          </a:p>
          <a:p>
            <a:r>
              <a:t>SPEAKER NARRATION:</a:t>
            </a:r>
          </a:p>
          <a:p>
            <a:r>
              <a:t>Now let's take a look at the live demo. Our codebase is completely turnkey. You can clone the repository, set your AWS Bedrock keys in the .env file, and launch the FastAPI server. From the CLI, you can kick off a 4-worker concurrent run across the entire Spider 2.0 benchmark. Or you can open our premium React dashboard to inspect execution logs line by line, see exactly what the Critic rejected, and watch the Data IQ validator repair empty queries in real time.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11: The Future Roadmap: MCP, DSPy &amp; Swarms</a:t>
            </a:r>
          </a:p>
          <a:p>
            <a:endParaRPr/>
          </a:p>
          <a:p>
            <a:r>
              <a:t>SPEAKER NARRATION:</a:t>
            </a:r>
          </a:p>
          <a:p>
            <a:r>
              <a:t>While our current pipeline is state of the art, our future roadmap is even more exciting. We are actively integrating Anthropic's Model Context Protocol. MCP turns database connectivity into a universal plug-and-play protocol. We're also developing Autonomous Prompt Evolvers—meta-agents that monitor execution logs and rewrite our YAML system prompts without human intervention. And with speculative swarm execution, we'll run multiple reasoning styles in parallel to achieve sub-5-second latency.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12: Vision: Graphical Agent Orchestration Studio</a:t>
            </a:r>
          </a:p>
          <a:p>
            <a:endParaRPr/>
          </a:p>
          <a:p>
            <a:r>
              <a:t>SPEAKER NARRATION:</a:t>
            </a:r>
          </a:p>
          <a:p>
            <a:r>
              <a:t>This brings us to our most visionary concept: the Graphical Agent Orchestration Studio. Why are we writing Python code to wire AI agents? We are building a visual canvas where product managers and architects can drag and drop Schema Linkers, Generators, and Data IQ auditors into glowing pipelines. You can click any node to adjust prompts or temperatures instantly. Best of all, our backend already supports Copilot agent spawning—you can ask the AI to generate a brand new auditing node and insert it directly into the graph!</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13-15: Production AI Lessons &amp; Acknowledgements</a:t>
            </a:r>
          </a:p>
          <a:p>
            <a:endParaRPr/>
          </a:p>
          <a:p>
            <a:r>
              <a:t>SPEAKER NARRATION:</a:t>
            </a:r>
          </a:p>
          <a:p>
            <a:r>
              <a:t>To wrap up, here are the absolute truths we discovered: grounding is greater than guessing, SQL generation is fundamentally an auditing problem, and schema pruning is mandatory. None of this incredible engineering would have been possible without our leadership team: Daya, Nakul, and Vinay. Thank you all for joining this deep dive into SpiderDIN. The floor is now open for questions, architectural debates, and demo exploration!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0" cy="365760"/>
          </a:xfrm>
          <a:prstGeom prst="rect">
            <a:avLst/>
          </a:prstGeom>
          <a:noFill/>
        </p:spPr>
        <p:txBody>
          <a:bodyPr wrap="square">
            <a:spAutoFit/>
          </a:bodyPr>
          <a:lstStyle/>
          <a:p>
            <a:pPr>
              <a:defRPr sz="1200" b="1">
                <a:solidFill>
                  <a:srgbClr val="06B6D4"/>
                </a:solidFill>
                <a:latin typeface="Consolas"/>
              </a:defRPr>
            </a:pPr>
            <a:r>
              <a:t>SECTION 1</a:t>
            </a:r>
          </a:p>
        </p:txBody>
      </p:sp>
      <p:sp>
        <p:nvSpPr>
          <p:cNvPr id="4" name="TextBox 3"/>
          <p:cNvSpPr txBox="1"/>
          <p:nvPr/>
        </p:nvSpPr>
        <p:spPr>
          <a:xfrm>
            <a:off x="731520" y="731520"/>
            <a:ext cx="10515600" cy="731520"/>
          </a:xfrm>
          <a:prstGeom prst="rect">
            <a:avLst/>
          </a:prstGeom>
          <a:noFill/>
        </p:spPr>
        <p:txBody>
          <a:bodyPr wrap="square">
            <a:spAutoFit/>
          </a:bodyPr>
          <a:lstStyle/>
          <a:p>
            <a:pPr>
              <a:defRPr sz="3200" b="1">
                <a:solidFill>
                  <a:srgbClr val="F8FAFC"/>
                </a:solidFill>
                <a:latin typeface="Arial"/>
              </a:defRPr>
            </a:pPr>
            <a:r>
              <a:t>Architecting SpiderDIN: From Chaos to Determinism</a:t>
            </a:r>
          </a:p>
        </p:txBody>
      </p:sp>
      <p:sp>
        <p:nvSpPr>
          <p:cNvPr id="5" name="TextBox 4"/>
          <p:cNvSpPr txBox="1"/>
          <p:nvPr/>
        </p:nvSpPr>
        <p:spPr>
          <a:xfrm>
            <a:off x="731520" y="1417320"/>
            <a:ext cx="10515600" cy="365760"/>
          </a:xfrm>
          <a:prstGeom prst="rect">
            <a:avLst/>
          </a:prstGeom>
          <a:noFill/>
        </p:spPr>
        <p:txBody>
          <a:bodyPr wrap="square">
            <a:spAutoFit/>
          </a:bodyPr>
          <a:lstStyle/>
          <a:p>
            <a:pPr>
              <a:defRPr sz="1600">
                <a:solidFill>
                  <a:srgbClr val="94A3B8"/>
                </a:solidFill>
                <a:latin typeface="Arial"/>
              </a:defRPr>
            </a:pPr>
            <a:r>
              <a:t>The War Story of Building an Enterprise Agentic Text-2-SQL System</a:t>
            </a:r>
          </a:p>
        </p:txBody>
      </p:sp>
      <p:sp>
        <p:nvSpPr>
          <p:cNvPr id="6" name="Rounded Rectangle 5"/>
          <p:cNvSpPr/>
          <p:nvPr/>
        </p:nvSpPr>
        <p:spPr>
          <a:xfrm>
            <a:off x="731520" y="1920240"/>
            <a:ext cx="62179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spcAft>
                <a:spcPts val="400"/>
              </a:spcAft>
              <a:defRPr sz="1800" b="1">
                <a:solidFill>
                  <a:srgbClr val="F8FAFC"/>
                </a:solidFill>
              </a:defRPr>
            </a:pPr>
            <a:r>
              <a:rPr dirty="0"/>
              <a:t>• The Mega-Warehouse Gourmet Bake-Off</a:t>
            </a:r>
          </a:p>
          <a:p>
            <a:pPr>
              <a:spcAft>
                <a:spcPts val="1200"/>
              </a:spcAft>
              <a:defRPr sz="1400">
                <a:solidFill>
                  <a:srgbClr val="94A3B8"/>
                </a:solidFill>
              </a:defRPr>
            </a:pPr>
            <a:r>
              <a:rPr dirty="0"/>
              <a:t>   Imagine dropping an elite chef into an unmapped 500,000 sq ft pitch-black warehouse and asking them to bake a cake in 30 seconds.</a:t>
            </a:r>
          </a:p>
          <a:p>
            <a:pPr>
              <a:spcAft>
                <a:spcPts val="400"/>
              </a:spcAft>
              <a:defRPr sz="1800" b="1">
                <a:solidFill>
                  <a:srgbClr val="F8FAFC"/>
                </a:solidFill>
              </a:defRPr>
            </a:pPr>
            <a:r>
              <a:rPr dirty="0"/>
              <a:t>• Unlabeled Containers &amp; Deceptive Cryptic Codes</a:t>
            </a:r>
          </a:p>
          <a:p>
            <a:pPr>
              <a:spcAft>
                <a:spcPts val="1200"/>
              </a:spcAft>
              <a:defRPr sz="1400">
                <a:solidFill>
                  <a:srgbClr val="94A3B8"/>
                </a:solidFill>
              </a:defRPr>
            </a:pPr>
            <a:r>
              <a:rPr dirty="0"/>
              <a:t>   Aisle signs are missing. Boxes are labeled 'WHITE_CRYSTALS' (sugar or sea salt?). Ingredients are spread half a mile apart.</a:t>
            </a:r>
          </a:p>
          <a:p>
            <a:pPr>
              <a:spcAft>
                <a:spcPts val="400"/>
              </a:spcAft>
              <a:defRPr sz="1800" b="1">
                <a:solidFill>
                  <a:srgbClr val="F8FAFC"/>
                </a:solidFill>
              </a:defRPr>
            </a:pPr>
            <a:r>
              <a:rPr dirty="0"/>
              <a:t>• The LLM is That Bewildered Chef</a:t>
            </a:r>
          </a:p>
          <a:p>
            <a:pPr>
              <a:spcAft>
                <a:spcPts val="1200"/>
              </a:spcAft>
              <a:defRPr sz="1400">
                <a:solidFill>
                  <a:srgbClr val="94A3B8"/>
                </a:solidFill>
              </a:defRPr>
            </a:pPr>
            <a:r>
              <a:rPr dirty="0"/>
              <a:t>   Without GPS locators (Schema Linkers) or automated taste-testers (Data IQ), a naive LLM grabs salt instead of sugar, generates invalid joins, and collapses.</a:t>
            </a:r>
          </a:p>
        </p:txBody>
      </p:sp>
      <p:sp>
        <p:nvSpPr>
          <p:cNvPr id="7" name="Rounded Rectangle 6"/>
          <p:cNvSpPr/>
          <p:nvPr/>
        </p:nvSpPr>
        <p:spPr>
          <a:xfrm>
            <a:off x="7223760" y="1920240"/>
            <a:ext cx="42062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400" b="1">
                <a:solidFill>
                  <a:srgbClr val="06B6D4"/>
                </a:solidFill>
                <a:latin typeface="Consolas"/>
              </a:defRPr>
            </a:pPr>
            <a:r>
              <a:t>VISUALIZATION &amp; FLOW:</a:t>
            </a:r>
          </a:p>
          <a:p>
            <a:pPr>
              <a:spcAft>
                <a:spcPts val="800"/>
              </a:spcAft>
              <a:defRPr sz="1800" b="1">
                <a:solidFill>
                  <a:srgbClr val="F59E0B"/>
                </a:solidFill>
              </a:defRPr>
            </a:pPr>
            <a:r>
              <a:t>Warehouse Chef Analogy</a:t>
            </a:r>
          </a:p>
          <a:p>
            <a:pPr>
              <a:spcAft>
                <a:spcPts val="600"/>
              </a:spcAft>
              <a:defRPr sz="1400">
                <a:solidFill>
                  <a:srgbClr val="F8FAFC"/>
                </a:solidFill>
              </a:defRPr>
            </a:pPr>
            <a:r>
              <a:t>▪ Graphic: Blindfolded chef in an immense pitch-black Costco warehouse with glowing red question marks over boxes.</a:t>
            </a:r>
          </a:p>
          <a:p>
            <a:pPr>
              <a:spcAft>
                <a:spcPts val="600"/>
              </a:spcAft>
              <a:defRPr sz="1400">
                <a:solidFill>
                  <a:srgbClr val="F8FAFC"/>
                </a:solidFill>
              </a:defRPr>
            </a:pPr>
            <a:r>
              <a:t>▪ Animation idea: Chef grabs a box marked 'PATIENT_METADATA', opens it, and a swarm of 50,000 JSON variant tokens explodes.</a:t>
            </a:r>
          </a:p>
          <a:p>
            <a:pPr>
              <a:spcAft>
                <a:spcPts val="600"/>
              </a:spcAft>
              <a:defRPr sz="1400">
                <a:solidFill>
                  <a:srgbClr val="F8FAFC"/>
                </a:solidFill>
              </a:defRPr>
            </a:pPr>
            <a:r>
              <a:t>▪ Meme reference: 'I have no idea what I'm doing' Golden Retriever in a chemistry lab.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0" cy="365760"/>
          </a:xfrm>
          <a:prstGeom prst="rect">
            <a:avLst/>
          </a:prstGeom>
          <a:noFill/>
        </p:spPr>
        <p:txBody>
          <a:bodyPr wrap="square">
            <a:spAutoFit/>
          </a:bodyPr>
          <a:lstStyle/>
          <a:p>
            <a:pPr>
              <a:defRPr sz="1200" b="1">
                <a:solidFill>
                  <a:srgbClr val="06B6D4"/>
                </a:solidFill>
                <a:latin typeface="Consolas"/>
              </a:defRPr>
            </a:pPr>
            <a:r>
              <a:t>SECTION 2</a:t>
            </a:r>
          </a:p>
        </p:txBody>
      </p:sp>
      <p:sp>
        <p:nvSpPr>
          <p:cNvPr id="4" name="TextBox 3"/>
          <p:cNvSpPr txBox="1"/>
          <p:nvPr/>
        </p:nvSpPr>
        <p:spPr>
          <a:xfrm>
            <a:off x="731520" y="731520"/>
            <a:ext cx="10515600" cy="731520"/>
          </a:xfrm>
          <a:prstGeom prst="rect">
            <a:avLst/>
          </a:prstGeom>
          <a:noFill/>
        </p:spPr>
        <p:txBody>
          <a:bodyPr wrap="square">
            <a:spAutoFit/>
          </a:bodyPr>
          <a:lstStyle/>
          <a:p>
            <a:pPr>
              <a:defRPr sz="3200" b="1">
                <a:solidFill>
                  <a:srgbClr val="F8FAFC"/>
                </a:solidFill>
                <a:latin typeface="Arial"/>
              </a:defRPr>
            </a:pPr>
            <a:r>
              <a:t>What Are We Really Building? Toy vs Enterprise</a:t>
            </a:r>
          </a:p>
        </p:txBody>
      </p:sp>
      <p:sp>
        <p:nvSpPr>
          <p:cNvPr id="5" name="TextBox 4"/>
          <p:cNvSpPr txBox="1"/>
          <p:nvPr/>
        </p:nvSpPr>
        <p:spPr>
          <a:xfrm>
            <a:off x="731520" y="1417320"/>
            <a:ext cx="10515600" cy="365760"/>
          </a:xfrm>
          <a:prstGeom prst="rect">
            <a:avLst/>
          </a:prstGeom>
          <a:noFill/>
        </p:spPr>
        <p:txBody>
          <a:bodyPr wrap="square">
            <a:spAutoFit/>
          </a:bodyPr>
          <a:lstStyle/>
          <a:p>
            <a:pPr>
              <a:defRPr sz="1600">
                <a:solidFill>
                  <a:srgbClr val="94A3B8"/>
                </a:solidFill>
                <a:latin typeface="Arial"/>
              </a:defRPr>
            </a:pPr>
            <a:r>
              <a:t>Why Spider 1.0 Benchmarks Fail to Reflect Production Database Chaos</a:t>
            </a:r>
          </a:p>
        </p:txBody>
      </p:sp>
      <p:sp>
        <p:nvSpPr>
          <p:cNvPr id="6" name="Rounded Rectangle 5"/>
          <p:cNvSpPr/>
          <p:nvPr/>
        </p:nvSpPr>
        <p:spPr>
          <a:xfrm>
            <a:off x="731520" y="1920240"/>
            <a:ext cx="62179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spcAft>
                <a:spcPts val="400"/>
              </a:spcAft>
              <a:defRPr sz="1800" b="1">
                <a:solidFill>
                  <a:srgbClr val="F8FAFC"/>
                </a:solidFill>
              </a:defRPr>
            </a:pPr>
            <a:r>
              <a:rPr dirty="0"/>
              <a:t>• Academic Benchmarks Are Pristine Toys</a:t>
            </a:r>
          </a:p>
          <a:p>
            <a:pPr>
              <a:spcAft>
                <a:spcPts val="1200"/>
              </a:spcAft>
              <a:defRPr sz="1400">
                <a:solidFill>
                  <a:srgbClr val="94A3B8"/>
                </a:solidFill>
              </a:defRPr>
            </a:pPr>
            <a:r>
              <a:rPr dirty="0"/>
              <a:t>   Standard benchmarks use clean SQLite tables where column names perfectly match human vocabulary (e.g., '</a:t>
            </a:r>
            <a:r>
              <a:rPr dirty="0" err="1"/>
              <a:t>first_name</a:t>
            </a:r>
            <a:r>
              <a:rPr dirty="0"/>
              <a:t>', 'salary').</a:t>
            </a:r>
          </a:p>
          <a:p>
            <a:pPr>
              <a:spcAft>
                <a:spcPts val="400"/>
              </a:spcAft>
              <a:defRPr sz="1800" b="1">
                <a:solidFill>
                  <a:srgbClr val="F8FAFC"/>
                </a:solidFill>
              </a:defRPr>
            </a:pPr>
            <a:r>
              <a:rPr dirty="0"/>
              <a:t>• Enterprise Reality is Cryptic &amp; Chaotic</a:t>
            </a:r>
          </a:p>
          <a:p>
            <a:pPr>
              <a:spcAft>
                <a:spcPts val="1200"/>
              </a:spcAft>
              <a:defRPr sz="1400">
                <a:solidFill>
                  <a:srgbClr val="94A3B8"/>
                </a:solidFill>
              </a:defRPr>
            </a:pPr>
            <a:r>
              <a:rPr dirty="0"/>
              <a:t>   Real Snowflake production databases have 80+ tables, legacy acronyms ('FND_LEDGER_Q3'), and encrypted JSON/VARIANT blobs.</a:t>
            </a:r>
          </a:p>
          <a:p>
            <a:pPr>
              <a:spcAft>
                <a:spcPts val="400"/>
              </a:spcAft>
              <a:defRPr sz="1800" b="1">
                <a:solidFill>
                  <a:srgbClr val="F8FAFC"/>
                </a:solidFill>
              </a:defRPr>
            </a:pPr>
            <a:r>
              <a:rPr dirty="0"/>
              <a:t>• Zero-Knowledge Identifier Policy</a:t>
            </a:r>
          </a:p>
          <a:p>
            <a:pPr>
              <a:spcAft>
                <a:spcPts val="1200"/>
              </a:spcAft>
              <a:defRPr sz="1400">
                <a:solidFill>
                  <a:srgbClr val="94A3B8"/>
                </a:solidFill>
              </a:defRPr>
            </a:pPr>
            <a:r>
              <a:rPr dirty="0"/>
              <a:t>   We mandated that our agents NEVER hardcode domain rules or table names. Every join, mapping, and formula must be dynamically discovered via live SQL probes.</a:t>
            </a:r>
          </a:p>
        </p:txBody>
      </p:sp>
      <p:sp>
        <p:nvSpPr>
          <p:cNvPr id="7" name="Rounded Rectangle 6"/>
          <p:cNvSpPr/>
          <p:nvPr/>
        </p:nvSpPr>
        <p:spPr>
          <a:xfrm>
            <a:off x="7223760" y="1920240"/>
            <a:ext cx="42062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400" b="1">
                <a:solidFill>
                  <a:srgbClr val="06B6D4"/>
                </a:solidFill>
                <a:latin typeface="Consolas"/>
              </a:defRPr>
            </a:pPr>
            <a:r>
              <a:t>VISUALIZATION &amp; FLOW:</a:t>
            </a:r>
          </a:p>
          <a:p>
            <a:pPr>
              <a:spcAft>
                <a:spcPts val="800"/>
              </a:spcAft>
              <a:defRPr sz="1800" b="1">
                <a:solidFill>
                  <a:srgbClr val="F59E0B"/>
                </a:solidFill>
              </a:defRPr>
            </a:pPr>
            <a:r>
              <a:t>Academic vs Enterprise Comparison</a:t>
            </a:r>
          </a:p>
          <a:p>
            <a:pPr>
              <a:spcAft>
                <a:spcPts val="600"/>
              </a:spcAft>
              <a:defRPr sz="1400">
                <a:solidFill>
                  <a:srgbClr val="F8FAFC"/>
                </a:solidFill>
              </a:defRPr>
            </a:pPr>
            <a:r>
              <a:t>▪ Side-by-side visual box:</a:t>
            </a:r>
          </a:p>
          <a:p>
            <a:pPr>
              <a:spcAft>
                <a:spcPts val="600"/>
              </a:spcAft>
              <a:defRPr sz="1400">
                <a:solidFill>
                  <a:srgbClr val="F8FAFC"/>
                </a:solidFill>
              </a:defRPr>
            </a:pPr>
            <a:r>
              <a:t>▪ Left (Academic): Clean table 'employee(id, name, salary)' — glowing green.</a:t>
            </a:r>
          </a:p>
          <a:p>
            <a:pPr>
              <a:spcAft>
                <a:spcPts val="600"/>
              </a:spcAft>
              <a:defRPr sz="1400">
                <a:solidFill>
                  <a:srgbClr val="F8FAFC"/>
                </a:solidFill>
              </a:defRPr>
            </a:pPr>
            <a:r>
              <a:t>▪ Right (Enterprise): Chaotic Snowflake DDL 'CLINICAL_TRIAL_MASTER_V2(METRICS_PAYLOAD VARIANT, REV_RAW_USD)' — glowing amber alert.</a:t>
            </a:r>
          </a:p>
          <a:p>
            <a:pPr>
              <a:spcAft>
                <a:spcPts val="600"/>
              </a:spcAft>
              <a:defRPr sz="1400">
                <a:solidFill>
                  <a:srgbClr val="F8FAFC"/>
                </a:solidFill>
              </a:defRPr>
            </a:pPr>
            <a:r>
              <a:t>▪ GIF Suggestion: Matrix falling green code vs tangled Christmas tree lights.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0" cy="365760"/>
          </a:xfrm>
          <a:prstGeom prst="rect">
            <a:avLst/>
          </a:prstGeom>
          <a:noFill/>
        </p:spPr>
        <p:txBody>
          <a:bodyPr wrap="square">
            <a:spAutoFit/>
          </a:bodyPr>
          <a:lstStyle/>
          <a:p>
            <a:pPr>
              <a:defRPr sz="1200" b="1">
                <a:solidFill>
                  <a:srgbClr val="06B6D4"/>
                </a:solidFill>
                <a:latin typeface="Consolas"/>
              </a:defRPr>
            </a:pPr>
            <a:r>
              <a:t>SECTION 3</a:t>
            </a:r>
          </a:p>
        </p:txBody>
      </p:sp>
      <p:sp>
        <p:nvSpPr>
          <p:cNvPr id="4" name="TextBox 3"/>
          <p:cNvSpPr txBox="1"/>
          <p:nvPr/>
        </p:nvSpPr>
        <p:spPr>
          <a:xfrm>
            <a:off x="731520" y="731520"/>
            <a:ext cx="10515600" cy="731520"/>
          </a:xfrm>
          <a:prstGeom prst="rect">
            <a:avLst/>
          </a:prstGeom>
          <a:noFill/>
        </p:spPr>
        <p:txBody>
          <a:bodyPr wrap="square">
            <a:spAutoFit/>
          </a:bodyPr>
          <a:lstStyle/>
          <a:p>
            <a:pPr>
              <a:defRPr sz="3200" b="1">
                <a:solidFill>
                  <a:srgbClr val="F8FAFC"/>
                </a:solidFill>
                <a:latin typeface="Arial"/>
              </a:defRPr>
            </a:pPr>
            <a:r>
              <a:t>AI Theory &amp; Agentic Foundations</a:t>
            </a:r>
          </a:p>
        </p:txBody>
      </p:sp>
      <p:sp>
        <p:nvSpPr>
          <p:cNvPr id="5" name="TextBox 4"/>
          <p:cNvSpPr txBox="1"/>
          <p:nvPr/>
        </p:nvSpPr>
        <p:spPr>
          <a:xfrm>
            <a:off x="731520" y="1417320"/>
            <a:ext cx="10515600" cy="365760"/>
          </a:xfrm>
          <a:prstGeom prst="rect">
            <a:avLst/>
          </a:prstGeom>
          <a:noFill/>
        </p:spPr>
        <p:txBody>
          <a:bodyPr wrap="square">
            <a:spAutoFit/>
          </a:bodyPr>
          <a:lstStyle/>
          <a:p>
            <a:pPr>
              <a:defRPr sz="1600">
                <a:solidFill>
                  <a:srgbClr val="94A3B8"/>
                </a:solidFill>
                <a:latin typeface="Arial"/>
              </a:defRPr>
            </a:pPr>
            <a:r>
              <a:t>From Naive Generation to Closed-Loop Empirical Reasoning</a:t>
            </a:r>
          </a:p>
        </p:txBody>
      </p:sp>
      <p:sp>
        <p:nvSpPr>
          <p:cNvPr id="6" name="Rounded Rectangle 5"/>
          <p:cNvSpPr/>
          <p:nvPr/>
        </p:nvSpPr>
        <p:spPr>
          <a:xfrm>
            <a:off x="731520" y="1920240"/>
            <a:ext cx="62179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spcAft>
                <a:spcPts val="400"/>
              </a:spcAft>
              <a:defRPr sz="1800" b="1">
                <a:solidFill>
                  <a:srgbClr val="F8FAFC"/>
                </a:solidFill>
              </a:defRPr>
            </a:pPr>
            <a:r>
              <a:rPr dirty="0"/>
              <a:t>• </a:t>
            </a:r>
            <a:r>
              <a:rPr dirty="0" err="1"/>
              <a:t>ReAct</a:t>
            </a:r>
            <a:r>
              <a:rPr dirty="0"/>
              <a:t> &amp; </a:t>
            </a:r>
            <a:r>
              <a:rPr dirty="0" err="1"/>
              <a:t>Reflexion</a:t>
            </a:r>
            <a:r>
              <a:rPr dirty="0"/>
              <a:t> Protocols</a:t>
            </a:r>
          </a:p>
          <a:p>
            <a:pPr>
              <a:spcAft>
                <a:spcPts val="1200"/>
              </a:spcAft>
              <a:defRPr sz="1400">
                <a:solidFill>
                  <a:srgbClr val="94A3B8"/>
                </a:solidFill>
              </a:defRPr>
            </a:pPr>
            <a:r>
              <a:rPr dirty="0"/>
              <a:t>   Combining Reasoning + Acting. When an execution fails, the agent verbally reflects on the compilation traceback to formulate a surgical correction.</a:t>
            </a:r>
          </a:p>
          <a:p>
            <a:pPr>
              <a:spcAft>
                <a:spcPts val="400"/>
              </a:spcAft>
              <a:defRPr sz="1800" b="1">
                <a:solidFill>
                  <a:srgbClr val="F8FAFC"/>
                </a:solidFill>
              </a:defRPr>
            </a:pPr>
            <a:r>
              <a:rPr dirty="0"/>
              <a:t>• Tokenization &amp; Attention Suffocation</a:t>
            </a:r>
          </a:p>
          <a:p>
            <a:pPr>
              <a:spcAft>
                <a:spcPts val="1200"/>
              </a:spcAft>
              <a:defRPr sz="1400">
                <a:solidFill>
                  <a:srgbClr val="94A3B8"/>
                </a:solidFill>
              </a:defRPr>
            </a:pPr>
            <a:r>
              <a:rPr dirty="0"/>
              <a:t>   120,000 tokens of raw DDL overwhelms standard LLM KV-caches, triggering 'Lost in the Middle' hallucinations.</a:t>
            </a:r>
          </a:p>
          <a:p>
            <a:pPr>
              <a:spcAft>
                <a:spcPts val="400"/>
              </a:spcAft>
              <a:defRPr sz="1800" b="1">
                <a:solidFill>
                  <a:srgbClr val="F8FAFC"/>
                </a:solidFill>
              </a:defRPr>
            </a:pPr>
            <a:r>
              <a:rPr dirty="0"/>
              <a:t>• Vector RAG vs Empirical Probing</a:t>
            </a:r>
          </a:p>
          <a:p>
            <a:pPr>
              <a:spcAft>
                <a:spcPts val="1200"/>
              </a:spcAft>
              <a:defRPr sz="1400">
                <a:solidFill>
                  <a:srgbClr val="94A3B8"/>
                </a:solidFill>
              </a:defRPr>
            </a:pPr>
            <a:r>
              <a:rPr dirty="0"/>
              <a:t>   Vector search over DDL is dangerous (grabs 'patients' and 'billing' but misses the link table). We use active DISTINCT value probing instead.</a:t>
            </a:r>
          </a:p>
        </p:txBody>
      </p:sp>
      <p:sp>
        <p:nvSpPr>
          <p:cNvPr id="7" name="Rounded Rectangle 6"/>
          <p:cNvSpPr/>
          <p:nvPr/>
        </p:nvSpPr>
        <p:spPr>
          <a:xfrm>
            <a:off x="7223760" y="1920240"/>
            <a:ext cx="42062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400" b="1">
                <a:solidFill>
                  <a:srgbClr val="06B6D4"/>
                </a:solidFill>
                <a:latin typeface="Consolas"/>
              </a:defRPr>
            </a:pPr>
            <a:r>
              <a:t>VISUALIZATION &amp; FLOW:</a:t>
            </a:r>
          </a:p>
          <a:p>
            <a:pPr>
              <a:spcAft>
                <a:spcPts val="800"/>
              </a:spcAft>
              <a:defRPr sz="1800" b="1">
                <a:solidFill>
                  <a:srgbClr val="F59E0B"/>
                </a:solidFill>
              </a:defRPr>
            </a:pPr>
            <a:r>
              <a:t>Agentic Reflection Loop Diagram</a:t>
            </a:r>
          </a:p>
          <a:p>
            <a:pPr>
              <a:spcAft>
                <a:spcPts val="600"/>
              </a:spcAft>
              <a:defRPr sz="1400">
                <a:solidFill>
                  <a:srgbClr val="F8FAFC"/>
                </a:solidFill>
              </a:defRPr>
            </a:pPr>
            <a:r>
              <a:t>▪ Diagram flowchart: User Prompt -&gt; Schema Linker -&gt; Generator -&gt; Executor -&gt; Failure Traceback -&gt; Corrector Reflection -&gt; Re-generate.</a:t>
            </a:r>
          </a:p>
          <a:p>
            <a:pPr>
              <a:spcAft>
                <a:spcPts val="600"/>
              </a:spcAft>
              <a:defRPr sz="1400">
                <a:solidFill>
                  <a:srgbClr val="F8FAFC"/>
                </a:solidFill>
              </a:defRPr>
            </a:pPr>
            <a:r>
              <a:t>▪ Mathematical comparison: Cosine similarity vs exact database execution validation.</a:t>
            </a:r>
          </a:p>
          <a:p>
            <a:pPr>
              <a:spcAft>
                <a:spcPts val="600"/>
              </a:spcAft>
              <a:defRPr sz="1400">
                <a:solidFill>
                  <a:srgbClr val="F8FAFC"/>
                </a:solidFill>
              </a:defRPr>
            </a:pPr>
            <a:r>
              <a:t>▪ Iconography: Brain gears connecting directly to a database cylinder with glowing cyan query arrows.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0" cy="365760"/>
          </a:xfrm>
          <a:prstGeom prst="rect">
            <a:avLst/>
          </a:prstGeom>
          <a:noFill/>
        </p:spPr>
        <p:txBody>
          <a:bodyPr wrap="square">
            <a:spAutoFit/>
          </a:bodyPr>
          <a:lstStyle/>
          <a:p>
            <a:pPr>
              <a:defRPr sz="1200" b="1">
                <a:solidFill>
                  <a:srgbClr val="06B6D4"/>
                </a:solidFill>
                <a:latin typeface="Consolas"/>
              </a:defRPr>
            </a:pPr>
            <a:r>
              <a:t>SECTION 4</a:t>
            </a:r>
          </a:p>
        </p:txBody>
      </p:sp>
      <p:sp>
        <p:nvSpPr>
          <p:cNvPr id="4" name="TextBox 3"/>
          <p:cNvSpPr txBox="1"/>
          <p:nvPr/>
        </p:nvSpPr>
        <p:spPr>
          <a:xfrm>
            <a:off x="731520" y="731520"/>
            <a:ext cx="10515600" cy="731520"/>
          </a:xfrm>
          <a:prstGeom prst="rect">
            <a:avLst/>
          </a:prstGeom>
          <a:noFill/>
        </p:spPr>
        <p:txBody>
          <a:bodyPr wrap="square">
            <a:spAutoFit/>
          </a:bodyPr>
          <a:lstStyle/>
          <a:p>
            <a:pPr>
              <a:defRPr sz="3200" b="1">
                <a:solidFill>
                  <a:srgbClr val="F8FAFC"/>
                </a:solidFill>
                <a:latin typeface="Arial"/>
              </a:defRPr>
            </a:pPr>
            <a:r>
              <a:t>The Simplest Architecture &amp; The Collapse</a:t>
            </a:r>
          </a:p>
        </p:txBody>
      </p:sp>
      <p:sp>
        <p:nvSpPr>
          <p:cNvPr id="5" name="TextBox 4"/>
          <p:cNvSpPr txBox="1"/>
          <p:nvPr/>
        </p:nvSpPr>
        <p:spPr>
          <a:xfrm>
            <a:off x="731520" y="1417320"/>
            <a:ext cx="10515600" cy="365760"/>
          </a:xfrm>
          <a:prstGeom prst="rect">
            <a:avLst/>
          </a:prstGeom>
          <a:noFill/>
        </p:spPr>
        <p:txBody>
          <a:bodyPr wrap="square">
            <a:spAutoFit/>
          </a:bodyPr>
          <a:lstStyle/>
          <a:p>
            <a:pPr>
              <a:defRPr sz="1600">
                <a:solidFill>
                  <a:srgbClr val="94A3B8"/>
                </a:solidFill>
                <a:latin typeface="Arial"/>
              </a:defRPr>
            </a:pPr>
            <a:r>
              <a:t>The 'One-Shot' Illusion and Why Naive Zero-Shot Prompts Fail Immediately</a:t>
            </a:r>
          </a:p>
        </p:txBody>
      </p:sp>
      <p:sp>
        <p:nvSpPr>
          <p:cNvPr id="6" name="Rounded Rectangle 5"/>
          <p:cNvSpPr/>
          <p:nvPr/>
        </p:nvSpPr>
        <p:spPr>
          <a:xfrm>
            <a:off x="731520" y="1920240"/>
            <a:ext cx="62179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spcAft>
                <a:spcPts val="400"/>
              </a:spcAft>
              <a:defRPr sz="1800" b="1">
                <a:solidFill>
                  <a:srgbClr val="F8FAFC"/>
                </a:solidFill>
              </a:defRPr>
            </a:pPr>
            <a:r>
              <a:rPr dirty="0"/>
              <a:t>• Naive Pipeline: User -&gt; Prompt -&gt; LLM -&gt; SQL</a:t>
            </a:r>
          </a:p>
          <a:p>
            <a:pPr>
              <a:spcAft>
                <a:spcPts val="1200"/>
              </a:spcAft>
              <a:defRPr sz="1400">
                <a:solidFill>
                  <a:srgbClr val="94A3B8"/>
                </a:solidFill>
              </a:defRPr>
            </a:pPr>
            <a:r>
              <a:rPr dirty="0"/>
              <a:t>   Beginners dump 50 DDL schemas into a single prompt. The LLM writes a query that looks syntactically flawless on the surface.</a:t>
            </a:r>
          </a:p>
          <a:p>
            <a:pPr>
              <a:spcAft>
                <a:spcPts val="400"/>
              </a:spcAft>
              <a:defRPr sz="1800" b="1">
                <a:solidFill>
                  <a:srgbClr val="F8FAFC"/>
                </a:solidFill>
              </a:defRPr>
            </a:pPr>
            <a:r>
              <a:rPr dirty="0"/>
              <a:t>• Snowflake Case Sensitivity Compilation Traps</a:t>
            </a:r>
          </a:p>
          <a:p>
            <a:pPr>
              <a:spcAft>
                <a:spcPts val="1200"/>
              </a:spcAft>
              <a:defRPr sz="1400">
                <a:solidFill>
                  <a:srgbClr val="94A3B8"/>
                </a:solidFill>
              </a:defRPr>
            </a:pPr>
            <a:r>
              <a:rPr dirty="0"/>
              <a:t>   'SELECT PATIENT_ID FROM patients' vs 'SELECT </a:t>
            </a:r>
            <a:r>
              <a:rPr dirty="0" err="1"/>
              <a:t>patient_id</a:t>
            </a:r>
            <a:r>
              <a:rPr dirty="0"/>
              <a:t> FROM "PATIENTS"' triggers instant unrecoverable fatal syntax errors.</a:t>
            </a:r>
          </a:p>
          <a:p>
            <a:pPr>
              <a:spcAft>
                <a:spcPts val="400"/>
              </a:spcAft>
              <a:defRPr sz="1800" b="1">
                <a:solidFill>
                  <a:srgbClr val="F8FAFC"/>
                </a:solidFill>
              </a:defRPr>
            </a:pPr>
            <a:r>
              <a:rPr dirty="0"/>
              <a:t>• The Silent Filter Collapse (0 Rows)</a:t>
            </a:r>
          </a:p>
          <a:p>
            <a:pPr>
              <a:spcAft>
                <a:spcPts val="1200"/>
              </a:spcAft>
              <a:defRPr sz="1400">
                <a:solidFill>
                  <a:srgbClr val="94A3B8"/>
                </a:solidFill>
              </a:defRPr>
            </a:pPr>
            <a:r>
              <a:rPr dirty="0"/>
              <a:t>   The query executes successfully but returns exactly 0 rows because the LLM filtered 'WHERE status = "Active"' when the database stores '1' or 'ACTV'.</a:t>
            </a:r>
          </a:p>
        </p:txBody>
      </p:sp>
      <p:sp>
        <p:nvSpPr>
          <p:cNvPr id="7" name="Rounded Rectangle 6"/>
          <p:cNvSpPr/>
          <p:nvPr/>
        </p:nvSpPr>
        <p:spPr>
          <a:xfrm>
            <a:off x="7223760" y="1920240"/>
            <a:ext cx="42062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400" b="1">
                <a:solidFill>
                  <a:srgbClr val="06B6D4"/>
                </a:solidFill>
                <a:latin typeface="Consolas"/>
              </a:defRPr>
            </a:pPr>
            <a:r>
              <a:t>VISUALIZATION &amp; FLOW:</a:t>
            </a:r>
          </a:p>
          <a:p>
            <a:pPr>
              <a:spcAft>
                <a:spcPts val="800"/>
              </a:spcAft>
              <a:defRPr sz="1800" b="1">
                <a:solidFill>
                  <a:srgbClr val="F59E0B"/>
                </a:solidFill>
              </a:defRPr>
            </a:pPr>
            <a:r>
              <a:t>The One-Shot Collapse Flow</a:t>
            </a:r>
          </a:p>
          <a:p>
            <a:pPr>
              <a:spcAft>
                <a:spcPts val="600"/>
              </a:spcAft>
              <a:defRPr sz="1400">
                <a:solidFill>
                  <a:srgbClr val="F8FAFC"/>
                </a:solidFill>
              </a:defRPr>
            </a:pPr>
            <a:r>
              <a:t>▪ Flowchart: Giant prompt box -&gt; LLM -&gt; Snowflake Executor -&gt; Big Red Box: 'ERROR 002003: Object does not exist'.</a:t>
            </a:r>
          </a:p>
          <a:p>
            <a:pPr>
              <a:spcAft>
                <a:spcPts val="600"/>
              </a:spcAft>
              <a:defRPr sz="1400">
                <a:solidFill>
                  <a:srgbClr val="F8FAFC"/>
                </a:solidFill>
              </a:defRPr>
            </a:pPr>
            <a:r>
              <a:t>▪ Warning Box: 'The Silent 0-Row Catastrophe' — The most dangerous failure mode in business intelligence.</a:t>
            </a:r>
          </a:p>
          <a:p>
            <a:pPr>
              <a:spcAft>
                <a:spcPts val="600"/>
              </a:spcAft>
              <a:defRPr sz="1400">
                <a:solidFill>
                  <a:srgbClr val="F8FAFC"/>
                </a:solidFill>
              </a:defRPr>
            </a:pPr>
            <a:r>
              <a:t>▪ Meme: 'Everything is fine' dog sitting in a room on fire.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0" cy="365760"/>
          </a:xfrm>
          <a:prstGeom prst="rect">
            <a:avLst/>
          </a:prstGeom>
          <a:noFill/>
        </p:spPr>
        <p:txBody>
          <a:bodyPr wrap="square">
            <a:spAutoFit/>
          </a:bodyPr>
          <a:lstStyle/>
          <a:p>
            <a:pPr>
              <a:defRPr sz="1200" b="1">
                <a:solidFill>
                  <a:srgbClr val="06B6D4"/>
                </a:solidFill>
                <a:latin typeface="Consolas"/>
              </a:defRPr>
            </a:pPr>
            <a:r>
              <a:t>SECTION 5A-B</a:t>
            </a:r>
          </a:p>
        </p:txBody>
      </p:sp>
      <p:sp>
        <p:nvSpPr>
          <p:cNvPr id="4" name="TextBox 3"/>
          <p:cNvSpPr txBox="1"/>
          <p:nvPr/>
        </p:nvSpPr>
        <p:spPr>
          <a:xfrm>
            <a:off x="731520" y="731520"/>
            <a:ext cx="10515600" cy="731520"/>
          </a:xfrm>
          <a:prstGeom prst="rect">
            <a:avLst/>
          </a:prstGeom>
          <a:noFill/>
        </p:spPr>
        <p:txBody>
          <a:bodyPr wrap="square">
            <a:spAutoFit/>
          </a:bodyPr>
          <a:lstStyle/>
          <a:p>
            <a:pPr>
              <a:defRPr sz="3200" b="1">
                <a:solidFill>
                  <a:srgbClr val="F8FAFC"/>
                </a:solidFill>
                <a:latin typeface="Arial"/>
              </a:defRPr>
            </a:pPr>
            <a:r>
              <a:t>The War Story I: Semantic Pruning &amp; Value Linking</a:t>
            </a:r>
          </a:p>
        </p:txBody>
      </p:sp>
      <p:sp>
        <p:nvSpPr>
          <p:cNvPr id="5" name="TextBox 4"/>
          <p:cNvSpPr txBox="1"/>
          <p:nvPr/>
        </p:nvSpPr>
        <p:spPr>
          <a:xfrm>
            <a:off x="731520" y="1417320"/>
            <a:ext cx="10515600" cy="365760"/>
          </a:xfrm>
          <a:prstGeom prst="rect">
            <a:avLst/>
          </a:prstGeom>
          <a:noFill/>
        </p:spPr>
        <p:txBody>
          <a:bodyPr wrap="square">
            <a:spAutoFit/>
          </a:bodyPr>
          <a:lstStyle/>
          <a:p>
            <a:pPr>
              <a:defRPr sz="1600">
                <a:solidFill>
                  <a:srgbClr val="94A3B8"/>
                </a:solidFill>
                <a:latin typeface="Arial"/>
              </a:defRPr>
            </a:pPr>
            <a:r>
              <a:t>Overcoming the 120,000 Token Wall &amp; Bridging Human vs Database Vocabulary</a:t>
            </a:r>
          </a:p>
        </p:txBody>
      </p:sp>
      <p:sp>
        <p:nvSpPr>
          <p:cNvPr id="6" name="Rounded Rectangle 5"/>
          <p:cNvSpPr/>
          <p:nvPr/>
        </p:nvSpPr>
        <p:spPr>
          <a:xfrm>
            <a:off x="731520" y="1920240"/>
            <a:ext cx="62179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spcAft>
                <a:spcPts val="400"/>
              </a:spcAft>
              <a:defRPr sz="1800" b="1">
                <a:solidFill>
                  <a:srgbClr val="F8FAFC"/>
                </a:solidFill>
              </a:defRPr>
            </a:pPr>
            <a:r>
              <a:rPr dirty="0"/>
              <a:t>• Adaptive Token Budgeting (Pruning)</a:t>
            </a:r>
          </a:p>
          <a:p>
            <a:pPr>
              <a:spcAft>
                <a:spcPts val="1200"/>
              </a:spcAft>
              <a:defRPr sz="1400">
                <a:solidFill>
                  <a:srgbClr val="94A3B8"/>
                </a:solidFill>
              </a:defRPr>
            </a:pPr>
            <a:r>
              <a:rPr dirty="0"/>
              <a:t>   We built an Enterprise Schema Compressor that ranks tables and columns, pruning a 120k token schema down to a laser-focused 12k tokens.</a:t>
            </a:r>
          </a:p>
          <a:p>
            <a:pPr>
              <a:spcAft>
                <a:spcPts val="400"/>
              </a:spcAft>
              <a:defRPr sz="1800" b="1">
                <a:solidFill>
                  <a:srgbClr val="F8FAFC"/>
                </a:solidFill>
              </a:defRPr>
            </a:pPr>
            <a:r>
              <a:rPr dirty="0"/>
              <a:t>• Evidence-Based Sample Row Injection</a:t>
            </a:r>
          </a:p>
          <a:p>
            <a:pPr>
              <a:spcAft>
                <a:spcPts val="1200"/>
              </a:spcAft>
              <a:defRPr sz="1400">
                <a:solidFill>
                  <a:srgbClr val="94A3B8"/>
                </a:solidFill>
              </a:defRPr>
            </a:pPr>
            <a:r>
              <a:rPr dirty="0"/>
              <a:t>   Instead of abstract DDL, we inject 3 actual concrete data rows directly into the table definitions so the model 'feels' the data format.</a:t>
            </a:r>
          </a:p>
          <a:p>
            <a:pPr>
              <a:spcAft>
                <a:spcPts val="400"/>
              </a:spcAft>
              <a:defRPr sz="1800" b="1">
                <a:solidFill>
                  <a:srgbClr val="F8FAFC"/>
                </a:solidFill>
              </a:defRPr>
            </a:pPr>
            <a:r>
              <a:rPr dirty="0"/>
              <a:t>• Reasoning-Based Schema Linker (DISTINCT Probing)</a:t>
            </a:r>
          </a:p>
          <a:p>
            <a:pPr>
              <a:spcAft>
                <a:spcPts val="1200"/>
              </a:spcAft>
              <a:defRPr sz="1400">
                <a:solidFill>
                  <a:srgbClr val="94A3B8"/>
                </a:solidFill>
              </a:defRPr>
            </a:pPr>
            <a:r>
              <a:rPr dirty="0"/>
              <a:t>   When a user asks for 'Hopkins Hospital', our linker executes a live SQL probe first to discover the exact internal string: 'JH_MED_01'.</a:t>
            </a:r>
          </a:p>
        </p:txBody>
      </p:sp>
      <p:sp>
        <p:nvSpPr>
          <p:cNvPr id="7" name="Rounded Rectangle 6"/>
          <p:cNvSpPr/>
          <p:nvPr/>
        </p:nvSpPr>
        <p:spPr>
          <a:xfrm>
            <a:off x="7223760" y="1920240"/>
            <a:ext cx="42062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400" b="1">
                <a:solidFill>
                  <a:srgbClr val="06B6D4"/>
                </a:solidFill>
                <a:latin typeface="Consolas"/>
              </a:defRPr>
            </a:pPr>
            <a:r>
              <a:t>VISUALIZATION &amp; FLOW:</a:t>
            </a:r>
          </a:p>
          <a:p>
            <a:pPr>
              <a:spcAft>
                <a:spcPts val="800"/>
              </a:spcAft>
              <a:defRPr sz="1800" b="1">
                <a:solidFill>
                  <a:srgbClr val="F59E0B"/>
                </a:solidFill>
              </a:defRPr>
            </a:pPr>
            <a:r>
              <a:t>Schema Compression &amp; Linker Flow</a:t>
            </a:r>
          </a:p>
          <a:p>
            <a:pPr>
              <a:spcAft>
                <a:spcPts val="600"/>
              </a:spcAft>
              <a:defRPr sz="1400">
                <a:solidFill>
                  <a:srgbClr val="F8FAFC"/>
                </a:solidFill>
              </a:defRPr>
            </a:pPr>
            <a:r>
              <a:t>▪ Compression animation: Massive 80-table database funneling into a glowing 5-table surgical context block.</a:t>
            </a:r>
          </a:p>
          <a:p>
            <a:pPr>
              <a:spcAft>
                <a:spcPts val="600"/>
              </a:spcAft>
              <a:defRPr sz="1400">
                <a:solidFill>
                  <a:srgbClr val="F8FAFC"/>
                </a:solidFill>
              </a:defRPr>
            </a:pPr>
            <a:r>
              <a:t>▪ Probing diagram: Linker fires a probe arrow ('SELECT DISTINCT') into the database and pulls back the exact string token.</a:t>
            </a:r>
          </a:p>
          <a:p>
            <a:pPr>
              <a:spcAft>
                <a:spcPts val="600"/>
              </a:spcAft>
              <a:defRPr sz="1400">
                <a:solidFill>
                  <a:srgbClr val="F8FAFC"/>
                </a:solidFill>
              </a:defRPr>
            </a:pPr>
            <a:r>
              <a:t>▪ Stat Callout: 94% reduction in empty result sets.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0" cy="365760"/>
          </a:xfrm>
          <a:prstGeom prst="rect">
            <a:avLst/>
          </a:prstGeom>
          <a:noFill/>
        </p:spPr>
        <p:txBody>
          <a:bodyPr wrap="square">
            <a:spAutoFit/>
          </a:bodyPr>
          <a:lstStyle/>
          <a:p>
            <a:pPr>
              <a:defRPr sz="1200" b="1">
                <a:solidFill>
                  <a:srgbClr val="06B6D4"/>
                </a:solidFill>
                <a:latin typeface="Consolas"/>
              </a:defRPr>
            </a:pPr>
            <a:r>
              <a:t>SECTION 5C-D</a:t>
            </a:r>
          </a:p>
        </p:txBody>
      </p:sp>
      <p:sp>
        <p:nvSpPr>
          <p:cNvPr id="4" name="TextBox 3"/>
          <p:cNvSpPr txBox="1"/>
          <p:nvPr/>
        </p:nvSpPr>
        <p:spPr>
          <a:xfrm>
            <a:off x="731520" y="731520"/>
            <a:ext cx="10515600" cy="731520"/>
          </a:xfrm>
          <a:prstGeom prst="rect">
            <a:avLst/>
          </a:prstGeom>
          <a:noFill/>
        </p:spPr>
        <p:txBody>
          <a:bodyPr wrap="square">
            <a:spAutoFit/>
          </a:bodyPr>
          <a:lstStyle/>
          <a:p>
            <a:pPr>
              <a:defRPr sz="3200" b="1">
                <a:solidFill>
                  <a:srgbClr val="F8FAFC"/>
                </a:solidFill>
                <a:latin typeface="Arial"/>
              </a:defRPr>
            </a:pPr>
            <a:r>
              <a:t>The War Story II: Dialect Generator &amp; Adversarial Critic</a:t>
            </a:r>
          </a:p>
        </p:txBody>
      </p:sp>
      <p:sp>
        <p:nvSpPr>
          <p:cNvPr id="5" name="TextBox 4"/>
          <p:cNvSpPr txBox="1"/>
          <p:nvPr/>
        </p:nvSpPr>
        <p:spPr>
          <a:xfrm>
            <a:off x="731520" y="1417320"/>
            <a:ext cx="10515600" cy="365760"/>
          </a:xfrm>
          <a:prstGeom prst="rect">
            <a:avLst/>
          </a:prstGeom>
          <a:noFill/>
        </p:spPr>
        <p:txBody>
          <a:bodyPr wrap="square">
            <a:spAutoFit/>
          </a:bodyPr>
          <a:lstStyle/>
          <a:p>
            <a:pPr>
              <a:defRPr sz="1600">
                <a:solidFill>
                  <a:srgbClr val="94A3B8"/>
                </a:solidFill>
                <a:latin typeface="Arial"/>
              </a:defRPr>
            </a:pPr>
            <a:r>
              <a:t>Conquering Snowflake VARIANT Blobs &amp; Enforcing Logical Integrity</a:t>
            </a:r>
          </a:p>
        </p:txBody>
      </p:sp>
      <p:sp>
        <p:nvSpPr>
          <p:cNvPr id="6" name="Rounded Rectangle 5"/>
          <p:cNvSpPr/>
          <p:nvPr/>
        </p:nvSpPr>
        <p:spPr>
          <a:xfrm>
            <a:off x="731520" y="1920240"/>
            <a:ext cx="62179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spcAft>
                <a:spcPts val="400"/>
              </a:spcAft>
              <a:defRPr sz="1800" b="1">
                <a:solidFill>
                  <a:srgbClr val="F8FAFC"/>
                </a:solidFill>
              </a:defRPr>
            </a:pPr>
            <a:r>
              <a:rPr dirty="0"/>
              <a:t>• Snowflake Dialect Rule Families</a:t>
            </a:r>
          </a:p>
          <a:p>
            <a:pPr>
              <a:spcAft>
                <a:spcPts val="1200"/>
              </a:spcAft>
              <a:defRPr sz="1400">
                <a:solidFill>
                  <a:srgbClr val="94A3B8"/>
                </a:solidFill>
              </a:defRPr>
            </a:pPr>
            <a:r>
              <a:rPr dirty="0"/>
              <a:t>   We codified modular rules for Snowflake VARIANT/JSON handling (LATERAL FLATTEN) and microsecond epoch scaling (TO_TIMESTAMP_NTZ).</a:t>
            </a:r>
          </a:p>
          <a:p>
            <a:pPr>
              <a:spcAft>
                <a:spcPts val="400"/>
              </a:spcAft>
              <a:defRPr sz="1800" b="1">
                <a:solidFill>
                  <a:srgbClr val="F8FAFC"/>
                </a:solidFill>
              </a:defRPr>
            </a:pPr>
            <a:r>
              <a:rPr dirty="0"/>
              <a:t>• Strict FQN Enforcement</a:t>
            </a:r>
          </a:p>
          <a:p>
            <a:pPr>
              <a:spcAft>
                <a:spcPts val="1200"/>
              </a:spcAft>
              <a:defRPr sz="1400">
                <a:solidFill>
                  <a:srgbClr val="94A3B8"/>
                </a:solidFill>
              </a:defRPr>
            </a:pPr>
            <a:r>
              <a:rPr dirty="0"/>
              <a:t>   The generator automatically wraps every column and table in fully qualified, case-sensitive quotes ('DB'.'SCHEMA'.'TABLE').</a:t>
            </a:r>
          </a:p>
          <a:p>
            <a:pPr>
              <a:spcAft>
                <a:spcPts val="400"/>
              </a:spcAft>
              <a:defRPr sz="1800" b="1">
                <a:solidFill>
                  <a:srgbClr val="F8FAFC"/>
                </a:solidFill>
              </a:defRPr>
            </a:pPr>
            <a:r>
              <a:rPr dirty="0"/>
              <a:t>• The Adversarial SQL Critic Layer</a:t>
            </a:r>
          </a:p>
          <a:p>
            <a:pPr>
              <a:spcAft>
                <a:spcPts val="1200"/>
              </a:spcAft>
              <a:defRPr sz="1400">
                <a:solidFill>
                  <a:srgbClr val="94A3B8"/>
                </a:solidFill>
              </a:defRPr>
            </a:pPr>
            <a:r>
              <a:rPr dirty="0"/>
              <a:t>   Our internal devil's advocate. It doesn't write SQL; it audits the proposed query for logical traps (e.g., averaging ratios) and generates rejection fix recipes.</a:t>
            </a:r>
          </a:p>
        </p:txBody>
      </p:sp>
      <p:sp>
        <p:nvSpPr>
          <p:cNvPr id="7" name="Rounded Rectangle 6"/>
          <p:cNvSpPr/>
          <p:nvPr/>
        </p:nvSpPr>
        <p:spPr>
          <a:xfrm>
            <a:off x="7223760" y="1920240"/>
            <a:ext cx="42062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400" b="1">
                <a:solidFill>
                  <a:srgbClr val="06B6D4"/>
                </a:solidFill>
                <a:latin typeface="Consolas"/>
              </a:defRPr>
            </a:pPr>
            <a:r>
              <a:t>VISUALIZATION &amp; FLOW:</a:t>
            </a:r>
          </a:p>
          <a:p>
            <a:pPr>
              <a:spcAft>
                <a:spcPts val="800"/>
              </a:spcAft>
              <a:defRPr sz="1800" b="1">
                <a:solidFill>
                  <a:srgbClr val="F59E0B"/>
                </a:solidFill>
              </a:defRPr>
            </a:pPr>
            <a:r>
              <a:t>Critic Rejection Loop Architecture</a:t>
            </a:r>
          </a:p>
          <a:p>
            <a:pPr>
              <a:spcAft>
                <a:spcPts val="600"/>
              </a:spcAft>
              <a:defRPr sz="1400">
                <a:solidFill>
                  <a:srgbClr val="F8FAFC"/>
                </a:solidFill>
              </a:defRPr>
            </a:pPr>
            <a:r>
              <a:t>▪ Architecture block: SQL Generator -&gt; Draft SQL -&gt; Critic Agent -&gt; Rejection Recipe -&gt; Re-prompt Generator.</a:t>
            </a:r>
          </a:p>
          <a:p>
            <a:pPr>
              <a:spcAft>
                <a:spcPts val="600"/>
              </a:spcAft>
              <a:defRPr sz="1400">
                <a:solidFill>
                  <a:srgbClr val="F8FAFC"/>
                </a:solidFill>
              </a:defRPr>
            </a:pPr>
            <a:r>
              <a:t>▪ Code snippet comparison: Raw JSON string vs LATERAL FLATTEN parsed columns.</a:t>
            </a:r>
          </a:p>
          <a:p>
            <a:pPr>
              <a:spcAft>
                <a:spcPts val="600"/>
              </a:spcAft>
              <a:defRPr sz="1400">
                <a:solidFill>
                  <a:srgbClr val="F8FAFC"/>
                </a:solidFill>
              </a:defRPr>
            </a:pPr>
            <a:r>
              <a:t>▪ Meme: 'None shall pass' Black Knight guarding the execution gate.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0" cy="365760"/>
          </a:xfrm>
          <a:prstGeom prst="rect">
            <a:avLst/>
          </a:prstGeom>
          <a:noFill/>
        </p:spPr>
        <p:txBody>
          <a:bodyPr wrap="square">
            <a:spAutoFit/>
          </a:bodyPr>
          <a:lstStyle/>
          <a:p>
            <a:pPr>
              <a:defRPr sz="1200" b="1">
                <a:solidFill>
                  <a:srgbClr val="06B6D4"/>
                </a:solidFill>
                <a:latin typeface="Consolas"/>
              </a:defRPr>
            </a:pPr>
            <a:r>
              <a:t>SECTION 5E-G</a:t>
            </a:r>
          </a:p>
        </p:txBody>
      </p:sp>
      <p:sp>
        <p:nvSpPr>
          <p:cNvPr id="4" name="TextBox 3"/>
          <p:cNvSpPr txBox="1"/>
          <p:nvPr/>
        </p:nvSpPr>
        <p:spPr>
          <a:xfrm>
            <a:off x="731520" y="731520"/>
            <a:ext cx="10515600" cy="731520"/>
          </a:xfrm>
          <a:prstGeom prst="rect">
            <a:avLst/>
          </a:prstGeom>
          <a:noFill/>
        </p:spPr>
        <p:txBody>
          <a:bodyPr wrap="square">
            <a:spAutoFit/>
          </a:bodyPr>
          <a:lstStyle/>
          <a:p>
            <a:pPr>
              <a:defRPr sz="3200" b="1">
                <a:solidFill>
                  <a:srgbClr val="F8FAFC"/>
                </a:solidFill>
                <a:latin typeface="Arial"/>
              </a:defRPr>
            </a:pPr>
            <a:r>
              <a:t>The War Story III: Data IQ Auditor &amp; Self-Correction</a:t>
            </a:r>
          </a:p>
        </p:txBody>
      </p:sp>
      <p:sp>
        <p:nvSpPr>
          <p:cNvPr id="5" name="TextBox 4"/>
          <p:cNvSpPr txBox="1"/>
          <p:nvPr/>
        </p:nvSpPr>
        <p:spPr>
          <a:xfrm>
            <a:off x="731520" y="1417320"/>
            <a:ext cx="10515600" cy="365760"/>
          </a:xfrm>
          <a:prstGeom prst="rect">
            <a:avLst/>
          </a:prstGeom>
          <a:noFill/>
        </p:spPr>
        <p:txBody>
          <a:bodyPr wrap="square">
            <a:spAutoFit/>
          </a:bodyPr>
          <a:lstStyle/>
          <a:p>
            <a:pPr>
              <a:defRPr sz="1600">
                <a:solidFill>
                  <a:srgbClr val="94A3B8"/>
                </a:solidFill>
                <a:latin typeface="Arial"/>
              </a:defRPr>
            </a:pPr>
            <a:r>
              <a:t>Giving AI Human-Like Data Intuition &amp; Closed-Loop Healing</a:t>
            </a:r>
          </a:p>
        </p:txBody>
      </p:sp>
      <p:sp>
        <p:nvSpPr>
          <p:cNvPr id="6" name="Rounded Rectangle 5"/>
          <p:cNvSpPr/>
          <p:nvPr/>
        </p:nvSpPr>
        <p:spPr>
          <a:xfrm>
            <a:off x="731520" y="1920240"/>
            <a:ext cx="62179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spcAft>
                <a:spcPts val="400"/>
              </a:spcAft>
              <a:defRPr sz="1800" b="1">
                <a:solidFill>
                  <a:srgbClr val="F8FAFC"/>
                </a:solidFill>
              </a:defRPr>
            </a:pPr>
            <a:r>
              <a:rPr dirty="0"/>
              <a:t>• Data IQ Layer (Mini-EDA on CSV Results)</a:t>
            </a:r>
          </a:p>
          <a:p>
            <a:pPr>
              <a:spcAft>
                <a:spcPts val="1200"/>
              </a:spcAft>
              <a:defRPr sz="1400">
                <a:solidFill>
                  <a:srgbClr val="94A3B8"/>
                </a:solidFill>
              </a:defRPr>
            </a:pPr>
            <a:r>
              <a:rPr dirty="0"/>
              <a:t>   A query runs successfully, but is the data plausible? Data IQ runs automated EDA on the CSV output: flagging zero variance, 100% nulls, or '[]' strings.</a:t>
            </a:r>
          </a:p>
          <a:p>
            <a:pPr>
              <a:spcAft>
                <a:spcPts val="400"/>
              </a:spcAft>
              <a:defRPr sz="1800" b="1">
                <a:solidFill>
                  <a:srgbClr val="F8FAFC"/>
                </a:solidFill>
              </a:defRPr>
            </a:pPr>
            <a:r>
              <a:rPr dirty="0"/>
              <a:t>• Zero-Row Repair &amp; Probing</a:t>
            </a:r>
          </a:p>
          <a:p>
            <a:pPr>
              <a:spcAft>
                <a:spcPts val="1200"/>
              </a:spcAft>
              <a:defRPr sz="1400">
                <a:solidFill>
                  <a:srgbClr val="94A3B8"/>
                </a:solidFill>
              </a:defRPr>
            </a:pPr>
            <a:r>
              <a:rPr dirty="0"/>
              <a:t>   If execution returns 0 rows, Data IQ diagnoses 'Silent Filter Collapse' and autonomously fires exploratory queries to find correct filter boundaries.</a:t>
            </a:r>
          </a:p>
          <a:p>
            <a:pPr>
              <a:spcAft>
                <a:spcPts val="400"/>
              </a:spcAft>
              <a:defRPr sz="1800" b="1">
                <a:solidFill>
                  <a:srgbClr val="F8FAFC"/>
                </a:solidFill>
              </a:defRPr>
            </a:pPr>
            <a:r>
              <a:rPr dirty="0"/>
              <a:t>• Stabilized Self-Correction &amp; Cross-DB Discovery</a:t>
            </a:r>
          </a:p>
          <a:p>
            <a:pPr>
              <a:spcAft>
                <a:spcPts val="1200"/>
              </a:spcAft>
              <a:defRPr sz="1400">
                <a:solidFill>
                  <a:srgbClr val="94A3B8"/>
                </a:solidFill>
              </a:defRPr>
            </a:pPr>
            <a:r>
              <a:rPr dirty="0"/>
              <a:t>   To prevent infinite retry oscillation, we implemented stabilizer hashing and cross-database discovery to scan neighboring schemas for missing tables.</a:t>
            </a:r>
          </a:p>
        </p:txBody>
      </p:sp>
      <p:sp>
        <p:nvSpPr>
          <p:cNvPr id="7" name="Rounded Rectangle 6"/>
          <p:cNvSpPr/>
          <p:nvPr/>
        </p:nvSpPr>
        <p:spPr>
          <a:xfrm>
            <a:off x="7223760" y="1920240"/>
            <a:ext cx="42062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400" b="1">
                <a:solidFill>
                  <a:srgbClr val="06B6D4"/>
                </a:solidFill>
                <a:latin typeface="Consolas"/>
              </a:defRPr>
            </a:pPr>
            <a:r>
              <a:t>VISUALIZATION &amp; FLOW:</a:t>
            </a:r>
          </a:p>
          <a:p>
            <a:pPr>
              <a:spcAft>
                <a:spcPts val="800"/>
              </a:spcAft>
              <a:defRPr sz="1800" b="1">
                <a:solidFill>
                  <a:srgbClr val="F59E0B"/>
                </a:solidFill>
              </a:defRPr>
            </a:pPr>
            <a:r>
              <a:t>Closed-Loop Self-Healing Engine</a:t>
            </a:r>
          </a:p>
          <a:p>
            <a:pPr>
              <a:spcAft>
                <a:spcPts val="600"/>
              </a:spcAft>
              <a:defRPr sz="1400">
                <a:solidFill>
                  <a:srgbClr val="F8FAFC"/>
                </a:solidFill>
              </a:defRPr>
            </a:pPr>
            <a:r>
              <a:t>▪ Flowchart: Executor -&gt; CSV Output -&gt; Data IQ Auditor -&gt; Anomaly Detected (Zero Variance) -&gt; Stabilizer Memory -&gt; Corrector.</a:t>
            </a:r>
          </a:p>
          <a:p>
            <a:pPr>
              <a:spcAft>
                <a:spcPts val="600"/>
              </a:spcAft>
              <a:defRPr sz="1400">
                <a:solidFill>
                  <a:srgbClr val="F8FAFC"/>
                </a:solidFill>
              </a:defRPr>
            </a:pPr>
            <a:r>
              <a:t>▪ Visual Callout: Glowing cyan loop representing continuous execution stabilization.</a:t>
            </a:r>
          </a:p>
          <a:p>
            <a:pPr>
              <a:spcAft>
                <a:spcPts val="600"/>
              </a:spcAft>
              <a:defRPr sz="1400">
                <a:solidFill>
                  <a:srgbClr val="F8FAFC"/>
                </a:solidFill>
              </a:defRPr>
            </a:pPr>
            <a:r>
              <a:t>▪ Stat Callout: 100% convergence without infinite retry lockups.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0" cy="365760"/>
          </a:xfrm>
          <a:prstGeom prst="rect">
            <a:avLst/>
          </a:prstGeom>
          <a:noFill/>
        </p:spPr>
        <p:txBody>
          <a:bodyPr wrap="square">
            <a:spAutoFit/>
          </a:bodyPr>
          <a:lstStyle/>
          <a:p>
            <a:pPr>
              <a:defRPr sz="1200" b="1">
                <a:solidFill>
                  <a:srgbClr val="06B6D4"/>
                </a:solidFill>
                <a:latin typeface="Consolas"/>
              </a:defRPr>
            </a:pPr>
            <a:r>
              <a:t>SECTION 6</a:t>
            </a:r>
          </a:p>
        </p:txBody>
      </p:sp>
      <p:sp>
        <p:nvSpPr>
          <p:cNvPr id="4" name="TextBox 3"/>
          <p:cNvSpPr txBox="1"/>
          <p:nvPr/>
        </p:nvSpPr>
        <p:spPr>
          <a:xfrm>
            <a:off x="731520" y="731520"/>
            <a:ext cx="10515600" cy="731520"/>
          </a:xfrm>
          <a:prstGeom prst="rect">
            <a:avLst/>
          </a:prstGeom>
          <a:noFill/>
        </p:spPr>
        <p:txBody>
          <a:bodyPr wrap="square">
            <a:spAutoFit/>
          </a:bodyPr>
          <a:lstStyle/>
          <a:p>
            <a:pPr>
              <a:defRPr sz="3200" b="1">
                <a:solidFill>
                  <a:srgbClr val="F8FAFC"/>
                </a:solidFill>
                <a:latin typeface="Arial"/>
              </a:defRPr>
            </a:pPr>
            <a:r>
              <a:t>Architectural Evolution Comparison Matrix</a:t>
            </a:r>
          </a:p>
        </p:txBody>
      </p:sp>
      <p:sp>
        <p:nvSpPr>
          <p:cNvPr id="5" name="TextBox 4"/>
          <p:cNvSpPr txBox="1"/>
          <p:nvPr/>
        </p:nvSpPr>
        <p:spPr>
          <a:xfrm>
            <a:off x="731520" y="1417320"/>
            <a:ext cx="10515600" cy="365760"/>
          </a:xfrm>
          <a:prstGeom prst="rect">
            <a:avLst/>
          </a:prstGeom>
          <a:noFill/>
        </p:spPr>
        <p:txBody>
          <a:bodyPr wrap="square">
            <a:spAutoFit/>
          </a:bodyPr>
          <a:lstStyle/>
          <a:p>
            <a:pPr>
              <a:defRPr sz="1600">
                <a:solidFill>
                  <a:srgbClr val="94A3B8"/>
                </a:solidFill>
                <a:latin typeface="Arial"/>
              </a:defRPr>
            </a:pPr>
            <a:r>
              <a:t>Rigorous Benchmarking Across 8 Distinct AI Paradigms</a:t>
            </a:r>
          </a:p>
        </p:txBody>
      </p:sp>
      <p:sp>
        <p:nvSpPr>
          <p:cNvPr id="6" name="Rounded Rectangle 5"/>
          <p:cNvSpPr/>
          <p:nvPr/>
        </p:nvSpPr>
        <p:spPr>
          <a:xfrm>
            <a:off x="731520" y="1920240"/>
            <a:ext cx="62179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spcAft>
                <a:spcPts val="400"/>
              </a:spcAft>
              <a:defRPr sz="1800" b="1">
                <a:solidFill>
                  <a:srgbClr val="F8FAFC"/>
                </a:solidFill>
              </a:defRPr>
            </a:pPr>
            <a:r>
              <a:rPr dirty="0"/>
              <a:t>• Monolithic &amp; Naive RAG: Brittle Baselines</a:t>
            </a:r>
          </a:p>
          <a:p>
            <a:pPr>
              <a:spcAft>
                <a:spcPts val="1200"/>
              </a:spcAft>
              <a:defRPr sz="1400">
                <a:solidFill>
                  <a:srgbClr val="94A3B8"/>
                </a:solidFill>
              </a:defRPr>
            </a:pPr>
            <a:r>
              <a:rPr dirty="0"/>
              <a:t>   Monolithic prompting fails immediately on &gt;100k tokens. Naive vector RAG misses critical relational junction tables during retrieval.</a:t>
            </a:r>
          </a:p>
          <a:p>
            <a:pPr>
              <a:spcAft>
                <a:spcPts val="400"/>
              </a:spcAft>
              <a:defRPr sz="1800" b="1">
                <a:solidFill>
                  <a:srgbClr val="F8FAFC"/>
                </a:solidFill>
              </a:defRPr>
            </a:pPr>
            <a:r>
              <a:rPr dirty="0"/>
              <a:t>• Static DIN-SQL &amp; </a:t>
            </a:r>
            <a:r>
              <a:rPr dirty="0" err="1"/>
              <a:t>ReAct</a:t>
            </a:r>
            <a:r>
              <a:rPr dirty="0"/>
              <a:t>: Rigid Heuristics</a:t>
            </a:r>
          </a:p>
          <a:p>
            <a:pPr>
              <a:spcAft>
                <a:spcPts val="1200"/>
              </a:spcAft>
              <a:defRPr sz="1400">
                <a:solidFill>
                  <a:srgbClr val="94A3B8"/>
                </a:solidFill>
              </a:defRPr>
            </a:pPr>
            <a:r>
              <a:rPr dirty="0"/>
              <a:t>   Static DIN-SQL is highly accurate on clean data but blind to execution output. Standard </a:t>
            </a:r>
            <a:r>
              <a:rPr dirty="0" err="1"/>
              <a:t>ReAct</a:t>
            </a:r>
            <a:r>
              <a:rPr dirty="0"/>
              <a:t> pipelines easily get trapped in infinite syntax retry loops.</a:t>
            </a:r>
          </a:p>
          <a:p>
            <a:pPr>
              <a:spcAft>
                <a:spcPts val="400"/>
              </a:spcAft>
              <a:defRPr sz="1800" b="1">
                <a:solidFill>
                  <a:srgbClr val="F8FAFC"/>
                </a:solidFill>
              </a:defRPr>
            </a:pPr>
            <a:r>
              <a:rPr dirty="0"/>
              <a:t>• </a:t>
            </a:r>
            <a:r>
              <a:rPr dirty="0" err="1"/>
              <a:t>SpiderDIN</a:t>
            </a:r>
            <a:r>
              <a:rPr dirty="0"/>
              <a:t> Architecture (Our Verdict)</a:t>
            </a:r>
          </a:p>
          <a:p>
            <a:pPr>
              <a:spcAft>
                <a:spcPts val="1200"/>
              </a:spcAft>
              <a:defRPr sz="1400">
                <a:solidFill>
                  <a:srgbClr val="94A3B8"/>
                </a:solidFill>
              </a:defRPr>
            </a:pPr>
            <a:r>
              <a:rPr dirty="0"/>
              <a:t>   Combines empirical value probing, schema pruning, adversarial critic auditing, and Data IQ CSV analysis for flawless enterprise reliability.</a:t>
            </a:r>
          </a:p>
        </p:txBody>
      </p:sp>
      <p:sp>
        <p:nvSpPr>
          <p:cNvPr id="7" name="Rounded Rectangle 6"/>
          <p:cNvSpPr/>
          <p:nvPr/>
        </p:nvSpPr>
        <p:spPr>
          <a:xfrm>
            <a:off x="7223760" y="1920240"/>
            <a:ext cx="42062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400" b="1">
                <a:solidFill>
                  <a:srgbClr val="06B6D4"/>
                </a:solidFill>
                <a:latin typeface="Consolas"/>
              </a:defRPr>
            </a:pPr>
            <a:r>
              <a:t>VISUALIZATION &amp; FLOW:</a:t>
            </a:r>
          </a:p>
          <a:p>
            <a:pPr>
              <a:spcAft>
                <a:spcPts val="800"/>
              </a:spcAft>
              <a:defRPr sz="1800" b="1">
                <a:solidFill>
                  <a:srgbClr val="F59E0B"/>
                </a:solidFill>
              </a:defRPr>
            </a:pPr>
            <a:r>
              <a:t>Paradigm Comparison Matrix</a:t>
            </a:r>
          </a:p>
          <a:p>
            <a:pPr>
              <a:spcAft>
                <a:spcPts val="600"/>
              </a:spcAft>
              <a:defRPr sz="1400">
                <a:solidFill>
                  <a:srgbClr val="F8FAFC"/>
                </a:solidFill>
              </a:defRPr>
            </a:pPr>
            <a:r>
              <a:t>▪ Table layout summary:</a:t>
            </a:r>
          </a:p>
          <a:p>
            <a:pPr>
              <a:spcAft>
                <a:spcPts val="600"/>
              </a:spcAft>
              <a:defRPr sz="1400">
                <a:solidFill>
                  <a:srgbClr val="F8FAFC"/>
                </a:solidFill>
              </a:defRPr>
            </a:pPr>
            <a:r>
              <a:t>▪ • Monolithic: ❌ Scalability | ❌ Self-Correction | Verdict: Unusable</a:t>
            </a:r>
          </a:p>
          <a:p>
            <a:pPr>
              <a:spcAft>
                <a:spcPts val="600"/>
              </a:spcAft>
              <a:defRPr sz="1400">
                <a:solidFill>
                  <a:srgbClr val="F8FAFC"/>
                </a:solidFill>
              </a:defRPr>
            </a:pPr>
            <a:r>
              <a:t>▪ • Naive RAG: ⚠️ Scalability | ❌ Relational Accuracy | Verdict: Brittle</a:t>
            </a:r>
          </a:p>
          <a:p>
            <a:pPr>
              <a:spcAft>
                <a:spcPts val="600"/>
              </a:spcAft>
              <a:defRPr sz="1400">
                <a:solidFill>
                  <a:srgbClr val="F8FAFC"/>
                </a:solidFill>
              </a:defRPr>
            </a:pPr>
            <a:r>
              <a:t>▪ • Static DIN-SQL: ✔️ Syntax | ❌ Data Auditing | Verdict: Rigid</a:t>
            </a:r>
          </a:p>
          <a:p>
            <a:pPr>
              <a:spcAft>
                <a:spcPts val="600"/>
              </a:spcAft>
              <a:defRPr sz="1400">
                <a:solidFill>
                  <a:srgbClr val="F8FAFC"/>
                </a:solidFill>
              </a:defRPr>
            </a:pPr>
            <a:r>
              <a:t>▪ • SpiderDIN: ⭐ Flawless Scalability | ⭐ Empirical Correction | Verdict: Enterprise Ready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0" cy="365760"/>
          </a:xfrm>
          <a:prstGeom prst="rect">
            <a:avLst/>
          </a:prstGeom>
          <a:noFill/>
        </p:spPr>
        <p:txBody>
          <a:bodyPr wrap="square">
            <a:spAutoFit/>
          </a:bodyPr>
          <a:lstStyle/>
          <a:p>
            <a:pPr>
              <a:defRPr sz="1200" b="1">
                <a:solidFill>
                  <a:srgbClr val="06B6D4"/>
                </a:solidFill>
                <a:latin typeface="Consolas"/>
              </a:defRPr>
            </a:pPr>
            <a:r>
              <a:t>SECTION 7</a:t>
            </a:r>
          </a:p>
        </p:txBody>
      </p:sp>
      <p:sp>
        <p:nvSpPr>
          <p:cNvPr id="4" name="TextBox 3"/>
          <p:cNvSpPr txBox="1"/>
          <p:nvPr/>
        </p:nvSpPr>
        <p:spPr>
          <a:xfrm>
            <a:off x="731520" y="731520"/>
            <a:ext cx="10515600" cy="731520"/>
          </a:xfrm>
          <a:prstGeom prst="rect">
            <a:avLst/>
          </a:prstGeom>
          <a:noFill/>
        </p:spPr>
        <p:txBody>
          <a:bodyPr wrap="square">
            <a:spAutoFit/>
          </a:bodyPr>
          <a:lstStyle/>
          <a:p>
            <a:pPr>
              <a:defRPr sz="3200" b="1">
                <a:solidFill>
                  <a:srgbClr val="F8FAFC"/>
                </a:solidFill>
                <a:latin typeface="Arial"/>
              </a:defRPr>
            </a:pPr>
            <a:r>
              <a:t>Repository Evolution &amp; Git Branch History</a:t>
            </a:r>
          </a:p>
        </p:txBody>
      </p:sp>
      <p:sp>
        <p:nvSpPr>
          <p:cNvPr id="5" name="TextBox 4"/>
          <p:cNvSpPr txBox="1"/>
          <p:nvPr/>
        </p:nvSpPr>
        <p:spPr>
          <a:xfrm>
            <a:off x="731520" y="1417320"/>
            <a:ext cx="10515600" cy="365760"/>
          </a:xfrm>
          <a:prstGeom prst="rect">
            <a:avLst/>
          </a:prstGeom>
          <a:noFill/>
        </p:spPr>
        <p:txBody>
          <a:bodyPr wrap="square">
            <a:spAutoFit/>
          </a:bodyPr>
          <a:lstStyle/>
          <a:p>
            <a:pPr>
              <a:defRPr sz="1600">
                <a:solidFill>
                  <a:srgbClr val="94A3B8"/>
                </a:solidFill>
                <a:latin typeface="Arial"/>
              </a:defRPr>
            </a:pPr>
            <a:r>
              <a:t>A Startup Engineering War Story Told Through Commit Logs</a:t>
            </a:r>
          </a:p>
        </p:txBody>
      </p:sp>
      <p:sp>
        <p:nvSpPr>
          <p:cNvPr id="6" name="Rounded Rectangle 5"/>
          <p:cNvSpPr/>
          <p:nvPr/>
        </p:nvSpPr>
        <p:spPr>
          <a:xfrm>
            <a:off x="731520" y="1920240"/>
            <a:ext cx="62179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spcAft>
                <a:spcPts val="400"/>
              </a:spcAft>
              <a:defRPr sz="1800" b="1">
                <a:solidFill>
                  <a:srgbClr val="F8FAFC"/>
                </a:solidFill>
              </a:defRPr>
            </a:pPr>
            <a:r>
              <a:rPr dirty="0"/>
              <a:t>• 'main' &amp; 'production-clean' (The Foundation)</a:t>
            </a:r>
          </a:p>
          <a:p>
            <a:pPr>
              <a:spcAft>
                <a:spcPts val="1200"/>
              </a:spcAft>
              <a:defRPr sz="1400">
                <a:solidFill>
                  <a:srgbClr val="94A3B8"/>
                </a:solidFill>
              </a:defRPr>
            </a:pPr>
            <a:r>
              <a:rPr dirty="0"/>
              <a:t>   Established our core workflow engine, prompt loaders, and initial dataset splitting infrastructure.</a:t>
            </a:r>
          </a:p>
          <a:p>
            <a:pPr>
              <a:spcAft>
                <a:spcPts val="400"/>
              </a:spcAft>
              <a:defRPr sz="1800" b="1">
                <a:solidFill>
                  <a:srgbClr val="F8FAFC"/>
                </a:solidFill>
              </a:defRPr>
            </a:pPr>
            <a:r>
              <a:rPr dirty="0"/>
              <a:t>• 'refactor/modern-backend-v2' (Enterprise Scaling)</a:t>
            </a:r>
          </a:p>
          <a:p>
            <a:pPr>
              <a:spcAft>
                <a:spcPts val="1200"/>
              </a:spcAft>
              <a:defRPr sz="1400">
                <a:solidFill>
                  <a:srgbClr val="94A3B8"/>
                </a:solidFill>
              </a:defRPr>
            </a:pPr>
            <a:r>
              <a:rPr dirty="0"/>
              <a:t>   Modernized the repository into an industry-standard </a:t>
            </a:r>
            <a:r>
              <a:rPr dirty="0" err="1"/>
              <a:t>FastAPI</a:t>
            </a:r>
            <a:r>
              <a:rPr dirty="0"/>
              <a:t> backend with robust background task orchestration and modular services.</a:t>
            </a:r>
          </a:p>
          <a:p>
            <a:pPr>
              <a:spcAft>
                <a:spcPts val="400"/>
              </a:spcAft>
              <a:defRPr sz="1800" b="1">
                <a:solidFill>
                  <a:srgbClr val="F8FAFC"/>
                </a:solidFill>
              </a:defRPr>
            </a:pPr>
            <a:r>
              <a:rPr dirty="0"/>
              <a:t>• 'hardened-snowflake-pipeline' &amp; 'autonomous-critic-profiler'</a:t>
            </a:r>
          </a:p>
          <a:p>
            <a:pPr>
              <a:spcAft>
                <a:spcPts val="1200"/>
              </a:spcAft>
              <a:defRPr sz="1400">
                <a:solidFill>
                  <a:srgbClr val="94A3B8"/>
                </a:solidFill>
              </a:defRPr>
            </a:pPr>
            <a:r>
              <a:rPr dirty="0"/>
              <a:t>   Enforced zero-hardcode protocols, microsecond timestamp standardization, outermost bracket JSON extraction, and Bedrock &lt;think&gt; tag stripping.</a:t>
            </a:r>
          </a:p>
        </p:txBody>
      </p:sp>
      <p:sp>
        <p:nvSpPr>
          <p:cNvPr id="7" name="Rounded Rectangle 6"/>
          <p:cNvSpPr/>
          <p:nvPr/>
        </p:nvSpPr>
        <p:spPr>
          <a:xfrm>
            <a:off x="7223760" y="1920240"/>
            <a:ext cx="42062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400" b="1">
                <a:solidFill>
                  <a:srgbClr val="06B6D4"/>
                </a:solidFill>
                <a:latin typeface="Consolas"/>
              </a:defRPr>
            </a:pPr>
            <a:r>
              <a:t>VISUALIZATION &amp; FLOW:</a:t>
            </a:r>
          </a:p>
          <a:p>
            <a:pPr>
              <a:spcAft>
                <a:spcPts val="800"/>
              </a:spcAft>
              <a:defRPr sz="1800" b="1">
                <a:solidFill>
                  <a:srgbClr val="F59E0B"/>
                </a:solidFill>
              </a:defRPr>
            </a:pPr>
            <a:r>
              <a:t>Git Branch Timeline &amp; Merge Flow</a:t>
            </a:r>
          </a:p>
          <a:p>
            <a:pPr>
              <a:spcAft>
                <a:spcPts val="600"/>
              </a:spcAft>
              <a:defRPr sz="1400">
                <a:solidFill>
                  <a:srgbClr val="F8FAFC"/>
                </a:solidFill>
              </a:defRPr>
            </a:pPr>
            <a:r>
              <a:t>▪ Timeline graphic: main -&gt; production-clean -&gt; refactor/modern-backend-v2 -&gt; hardened-snowflake-pipeline -&gt; feature/autonomous-exploration-v3.</a:t>
            </a:r>
          </a:p>
          <a:p>
            <a:pPr>
              <a:spcAft>
                <a:spcPts val="600"/>
              </a:spcAft>
              <a:defRPr sz="1400">
                <a:solidFill>
                  <a:srgbClr val="F8FAFC"/>
                </a:solidFill>
              </a:defRPr>
            </a:pPr>
            <a:r>
              <a:t>▪ Callout box: Highlighting commit '4bead1d: Zero-Hardcode and Reasoning-First Protocols implemented'.</a:t>
            </a:r>
          </a:p>
          <a:p>
            <a:pPr>
              <a:spcAft>
                <a:spcPts val="600"/>
              </a:spcAft>
              <a:defRPr sz="1400">
                <a:solidFill>
                  <a:srgbClr val="F8FAFC"/>
                </a:solidFill>
              </a:defRPr>
            </a:pPr>
            <a:r>
              <a:t>▪ Iconography: Git merge nodes glowing green and cyan.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0" cy="365760"/>
          </a:xfrm>
          <a:prstGeom prst="rect">
            <a:avLst/>
          </a:prstGeom>
          <a:noFill/>
        </p:spPr>
        <p:txBody>
          <a:bodyPr wrap="square">
            <a:spAutoFit/>
          </a:bodyPr>
          <a:lstStyle/>
          <a:p>
            <a:pPr>
              <a:defRPr sz="1200" b="1">
                <a:solidFill>
                  <a:srgbClr val="06B6D4"/>
                </a:solidFill>
                <a:latin typeface="Consolas"/>
              </a:defRPr>
            </a:pPr>
            <a:r>
              <a:t>SECTION 8</a:t>
            </a:r>
          </a:p>
        </p:txBody>
      </p:sp>
      <p:sp>
        <p:nvSpPr>
          <p:cNvPr id="4" name="TextBox 3"/>
          <p:cNvSpPr txBox="1"/>
          <p:nvPr/>
        </p:nvSpPr>
        <p:spPr>
          <a:xfrm>
            <a:off x="731520" y="731520"/>
            <a:ext cx="10515600" cy="731520"/>
          </a:xfrm>
          <a:prstGeom prst="rect">
            <a:avLst/>
          </a:prstGeom>
          <a:noFill/>
        </p:spPr>
        <p:txBody>
          <a:bodyPr wrap="square">
            <a:spAutoFit/>
          </a:bodyPr>
          <a:lstStyle/>
          <a:p>
            <a:pPr>
              <a:defRPr sz="3200" b="1">
                <a:solidFill>
                  <a:srgbClr val="F8FAFC"/>
                </a:solidFill>
                <a:latin typeface="Arial"/>
              </a:defRPr>
            </a:pPr>
            <a:r>
              <a:t>Real Failures, Crashes &amp; War Stories</a:t>
            </a:r>
          </a:p>
        </p:txBody>
      </p:sp>
      <p:sp>
        <p:nvSpPr>
          <p:cNvPr id="5" name="TextBox 4"/>
          <p:cNvSpPr txBox="1"/>
          <p:nvPr/>
        </p:nvSpPr>
        <p:spPr>
          <a:xfrm>
            <a:off x="731520" y="1417320"/>
            <a:ext cx="10515600" cy="365760"/>
          </a:xfrm>
          <a:prstGeom prst="rect">
            <a:avLst/>
          </a:prstGeom>
          <a:noFill/>
        </p:spPr>
        <p:txBody>
          <a:bodyPr wrap="square">
            <a:spAutoFit/>
          </a:bodyPr>
          <a:lstStyle/>
          <a:p>
            <a:pPr>
              <a:defRPr sz="1600">
                <a:solidFill>
                  <a:srgbClr val="94A3B8"/>
                </a:solidFill>
                <a:latin typeface="Arial"/>
              </a:defRPr>
            </a:pPr>
            <a:r>
              <a:t>The Painful Engineering Lessons Behind Our Hardened Architecture</a:t>
            </a:r>
          </a:p>
        </p:txBody>
      </p:sp>
      <p:sp>
        <p:nvSpPr>
          <p:cNvPr id="6" name="Rounded Rectangle 5"/>
          <p:cNvSpPr/>
          <p:nvPr/>
        </p:nvSpPr>
        <p:spPr>
          <a:xfrm>
            <a:off x="731520" y="1920240"/>
            <a:ext cx="62179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spcAft>
                <a:spcPts val="400"/>
              </a:spcAft>
              <a:defRPr sz="1800" b="1">
                <a:solidFill>
                  <a:srgbClr val="F8FAFC"/>
                </a:solidFill>
              </a:defRPr>
            </a:pPr>
            <a:r>
              <a:rPr dirty="0"/>
              <a:t>• The 5.5M Token Explosion &amp; Bedrock Crashes</a:t>
            </a:r>
          </a:p>
          <a:p>
            <a:pPr>
              <a:spcAft>
                <a:spcPts val="1200"/>
              </a:spcAft>
              <a:defRPr sz="1400">
                <a:solidFill>
                  <a:srgbClr val="94A3B8"/>
                </a:solidFill>
              </a:defRPr>
            </a:pPr>
            <a:r>
              <a:rPr dirty="0"/>
              <a:t>   Early attempts dumped unpruned multi-database schemas into AWS Bedrock, blowing past the 131K token ceiling and crashing the API instantly.</a:t>
            </a:r>
          </a:p>
          <a:p>
            <a:pPr>
              <a:spcAft>
                <a:spcPts val="400"/>
              </a:spcAft>
              <a:defRPr sz="1800" b="1">
                <a:solidFill>
                  <a:srgbClr val="F8FAFC"/>
                </a:solidFill>
              </a:defRPr>
            </a:pPr>
            <a:r>
              <a:rPr dirty="0"/>
              <a:t>• The Infinite Retry Oscillation Trap</a:t>
            </a:r>
          </a:p>
          <a:p>
            <a:pPr>
              <a:spcAft>
                <a:spcPts val="1200"/>
              </a:spcAft>
              <a:defRPr sz="1400">
                <a:solidFill>
                  <a:srgbClr val="94A3B8"/>
                </a:solidFill>
              </a:defRPr>
            </a:pPr>
            <a:r>
              <a:rPr dirty="0"/>
              <a:t>   The Corrector kept bouncing between two compilation errors ('invalid identifier' vs 'missing quote') endlessly until we built stabilizer hashing memory.</a:t>
            </a:r>
          </a:p>
          <a:p>
            <a:pPr>
              <a:spcAft>
                <a:spcPts val="400"/>
              </a:spcAft>
              <a:defRPr sz="1800" b="1">
                <a:solidFill>
                  <a:srgbClr val="F8FAFC"/>
                </a:solidFill>
              </a:defRPr>
            </a:pPr>
            <a:r>
              <a:rPr dirty="0"/>
              <a:t>• The Bedrock Converse '&lt;think&gt;' Tag Catastrophe</a:t>
            </a:r>
          </a:p>
          <a:p>
            <a:pPr>
              <a:spcAft>
                <a:spcPts val="1200"/>
              </a:spcAft>
              <a:defRPr sz="1400">
                <a:solidFill>
                  <a:srgbClr val="94A3B8"/>
                </a:solidFill>
              </a:defRPr>
            </a:pPr>
            <a:r>
              <a:rPr dirty="0"/>
              <a:t>   DeepSeek and Claude reasoning models injected &lt;think&gt; blocks that corrupted JSON extraction until we built robust outermost bracket regex parsers.</a:t>
            </a:r>
          </a:p>
        </p:txBody>
      </p:sp>
      <p:sp>
        <p:nvSpPr>
          <p:cNvPr id="7" name="Rounded Rectangle 6"/>
          <p:cNvSpPr/>
          <p:nvPr/>
        </p:nvSpPr>
        <p:spPr>
          <a:xfrm>
            <a:off x="7223760" y="1920240"/>
            <a:ext cx="42062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400" b="1">
                <a:solidFill>
                  <a:srgbClr val="06B6D4"/>
                </a:solidFill>
                <a:latin typeface="Consolas"/>
              </a:defRPr>
            </a:pPr>
            <a:r>
              <a:t>VISUALIZATION &amp; FLOW:</a:t>
            </a:r>
          </a:p>
          <a:p>
            <a:pPr>
              <a:spcAft>
                <a:spcPts val="800"/>
              </a:spcAft>
              <a:defRPr sz="1800" b="1">
                <a:solidFill>
                  <a:srgbClr val="F59E0B"/>
                </a:solidFill>
              </a:defRPr>
            </a:pPr>
            <a:r>
              <a:t>The Wall of Debugging Pain</a:t>
            </a:r>
          </a:p>
          <a:p>
            <a:pPr>
              <a:spcAft>
                <a:spcPts val="600"/>
              </a:spcAft>
              <a:defRPr sz="1400">
                <a:solidFill>
                  <a:srgbClr val="F8FAFC"/>
                </a:solidFill>
              </a:defRPr>
            </a:pPr>
            <a:r>
              <a:t>▪ Graphic: Glowing red alert box listing our most notorious production crashes.</a:t>
            </a:r>
          </a:p>
          <a:p>
            <a:pPr>
              <a:spcAft>
                <a:spcPts val="600"/>
              </a:spcAft>
              <a:defRPr sz="1400">
                <a:solidFill>
                  <a:srgbClr val="F8FAFC"/>
                </a:solidFill>
              </a:defRPr>
            </a:pPr>
            <a:r>
              <a:t>▪ Code snippet: Showing corrupted JSON containing '&lt;think&gt; Hmm, I should join table X...' before our robust parser stripped it.</a:t>
            </a:r>
          </a:p>
          <a:p>
            <a:pPr>
              <a:spcAft>
                <a:spcPts val="600"/>
              </a:spcAft>
              <a:defRPr sz="1400">
                <a:solidFill>
                  <a:srgbClr val="F8FAFC"/>
                </a:solidFill>
              </a:defRPr>
            </a:pPr>
            <a:r>
              <a:t>▪ Meme: 'Pain... without love' — The reality of enterprise AI debugging.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0" cy="365760"/>
          </a:xfrm>
          <a:prstGeom prst="rect">
            <a:avLst/>
          </a:prstGeom>
          <a:noFill/>
        </p:spPr>
        <p:txBody>
          <a:bodyPr wrap="square">
            <a:spAutoFit/>
          </a:bodyPr>
          <a:lstStyle/>
          <a:p>
            <a:pPr>
              <a:defRPr sz="1200" b="1">
                <a:solidFill>
                  <a:srgbClr val="06B6D4"/>
                </a:solidFill>
                <a:latin typeface="Consolas"/>
              </a:defRPr>
            </a:pPr>
            <a:r>
              <a:t>SECTION 9</a:t>
            </a:r>
          </a:p>
        </p:txBody>
      </p:sp>
      <p:sp>
        <p:nvSpPr>
          <p:cNvPr id="4" name="TextBox 3"/>
          <p:cNvSpPr txBox="1"/>
          <p:nvPr/>
        </p:nvSpPr>
        <p:spPr>
          <a:xfrm>
            <a:off x="731520" y="731520"/>
            <a:ext cx="10515600" cy="731520"/>
          </a:xfrm>
          <a:prstGeom prst="rect">
            <a:avLst/>
          </a:prstGeom>
          <a:noFill/>
        </p:spPr>
        <p:txBody>
          <a:bodyPr wrap="square">
            <a:spAutoFit/>
          </a:bodyPr>
          <a:lstStyle/>
          <a:p>
            <a:pPr>
              <a:defRPr sz="3200" b="1">
                <a:solidFill>
                  <a:srgbClr val="F8FAFC"/>
                </a:solidFill>
                <a:latin typeface="Arial"/>
              </a:defRPr>
            </a:pPr>
            <a:r>
              <a:t>Complete Current Architecture: The 9 Layers</a:t>
            </a:r>
          </a:p>
        </p:txBody>
      </p:sp>
      <p:sp>
        <p:nvSpPr>
          <p:cNvPr id="5" name="TextBox 4"/>
          <p:cNvSpPr txBox="1"/>
          <p:nvPr/>
        </p:nvSpPr>
        <p:spPr>
          <a:xfrm>
            <a:off x="731520" y="1417320"/>
            <a:ext cx="10515600" cy="365760"/>
          </a:xfrm>
          <a:prstGeom prst="rect">
            <a:avLst/>
          </a:prstGeom>
          <a:noFill/>
        </p:spPr>
        <p:txBody>
          <a:bodyPr wrap="square">
            <a:spAutoFit/>
          </a:bodyPr>
          <a:lstStyle/>
          <a:p>
            <a:pPr>
              <a:defRPr sz="1600">
                <a:solidFill>
                  <a:srgbClr val="94A3B8"/>
                </a:solidFill>
                <a:latin typeface="Arial"/>
              </a:defRPr>
            </a:pPr>
            <a:r>
              <a:t>A Fully Decoupled, Deterministic, and Self-Healing Enterprise Engine</a:t>
            </a:r>
          </a:p>
        </p:txBody>
      </p:sp>
      <p:sp>
        <p:nvSpPr>
          <p:cNvPr id="6" name="Rounded Rectangle 5"/>
          <p:cNvSpPr/>
          <p:nvPr/>
        </p:nvSpPr>
        <p:spPr>
          <a:xfrm>
            <a:off x="731520" y="1920240"/>
            <a:ext cx="62179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spcAft>
                <a:spcPts val="400"/>
              </a:spcAft>
              <a:defRPr sz="1800" b="1">
                <a:solidFill>
                  <a:srgbClr val="F8FAFC"/>
                </a:solidFill>
              </a:defRPr>
            </a:pPr>
            <a:r>
              <a:rPr dirty="0"/>
              <a:t>• Layers 1-3: Intent, Semantics &amp; Grounding</a:t>
            </a:r>
          </a:p>
          <a:p>
            <a:pPr>
              <a:spcAft>
                <a:spcPts val="1200"/>
              </a:spcAft>
              <a:defRPr sz="1400">
                <a:solidFill>
                  <a:srgbClr val="94A3B8"/>
                </a:solidFill>
              </a:defRPr>
            </a:pPr>
            <a:r>
              <a:rPr dirty="0"/>
              <a:t>   Hierarchical Retriever -&gt; Governed Semantic Context Engine -&gt; Schema Linker with DISTINCT value probing.</a:t>
            </a:r>
          </a:p>
          <a:p>
            <a:pPr>
              <a:spcAft>
                <a:spcPts val="400"/>
              </a:spcAft>
              <a:defRPr sz="1800" b="1">
                <a:solidFill>
                  <a:srgbClr val="F8FAFC"/>
                </a:solidFill>
              </a:defRPr>
            </a:pPr>
            <a:r>
              <a:rPr dirty="0"/>
              <a:t>• Layers 4-6: Generation, Critic &amp; Correction</a:t>
            </a:r>
          </a:p>
          <a:p>
            <a:pPr>
              <a:spcAft>
                <a:spcPts val="1200"/>
              </a:spcAft>
              <a:defRPr sz="1400">
                <a:solidFill>
                  <a:srgbClr val="94A3B8"/>
                </a:solidFill>
              </a:defRPr>
            </a:pPr>
            <a:r>
              <a:rPr dirty="0"/>
              <a:t>   Adaptive Snowflake SQL Generator -&gt; Adversarial SQL Critic -&gt; Execution Corrector with Stabilizer Hashing.</a:t>
            </a:r>
          </a:p>
          <a:p>
            <a:pPr>
              <a:spcAft>
                <a:spcPts val="400"/>
              </a:spcAft>
              <a:defRPr sz="1800" b="1">
                <a:solidFill>
                  <a:srgbClr val="F8FAFC"/>
                </a:solidFill>
              </a:defRPr>
            </a:pPr>
            <a:r>
              <a:rPr dirty="0"/>
              <a:t>• Layers 7-9: Data IQ, Execution &amp; Recovery</a:t>
            </a:r>
          </a:p>
          <a:p>
            <a:pPr>
              <a:spcAft>
                <a:spcPts val="1200"/>
              </a:spcAft>
              <a:defRPr sz="1400">
                <a:solidFill>
                  <a:srgbClr val="94A3B8"/>
                </a:solidFill>
              </a:defRPr>
            </a:pPr>
            <a:r>
              <a:rPr dirty="0"/>
              <a:t>   Data IQ Validator (Mini-EDA) -&gt; Database Executor -&gt; Cross-Database Discovery &amp; Outermost JSON Recovery.</a:t>
            </a:r>
          </a:p>
        </p:txBody>
      </p:sp>
      <p:sp>
        <p:nvSpPr>
          <p:cNvPr id="7" name="Rounded Rectangle 6"/>
          <p:cNvSpPr/>
          <p:nvPr/>
        </p:nvSpPr>
        <p:spPr>
          <a:xfrm>
            <a:off x="7223760" y="1920240"/>
            <a:ext cx="42062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400" b="1">
                <a:solidFill>
                  <a:srgbClr val="06B6D4"/>
                </a:solidFill>
                <a:latin typeface="Consolas"/>
              </a:defRPr>
            </a:pPr>
            <a:r>
              <a:t>VISUALIZATION &amp; FLOW:</a:t>
            </a:r>
          </a:p>
          <a:p>
            <a:pPr>
              <a:spcAft>
                <a:spcPts val="800"/>
              </a:spcAft>
              <a:defRPr sz="1800" b="1">
                <a:solidFill>
                  <a:srgbClr val="F59E0B"/>
                </a:solidFill>
              </a:defRPr>
            </a:pPr>
            <a:r>
              <a:t>9-Layer Color Coded Stack</a:t>
            </a:r>
          </a:p>
          <a:p>
            <a:pPr>
              <a:spcAft>
                <a:spcPts val="600"/>
              </a:spcAft>
              <a:defRPr sz="1400">
                <a:solidFill>
                  <a:srgbClr val="F8FAFC"/>
                </a:solidFill>
              </a:defRPr>
            </a:pPr>
            <a:r>
              <a:t>▪ Layered cake diagram:</a:t>
            </a:r>
          </a:p>
          <a:p>
            <a:pPr>
              <a:spcAft>
                <a:spcPts val="600"/>
              </a:spcAft>
              <a:defRPr sz="1400">
                <a:solidFill>
                  <a:srgbClr val="F8FAFC"/>
                </a:solidFill>
              </a:defRPr>
            </a:pPr>
            <a:r>
              <a:t>▪ • Top (Discovery): Intent &amp; Semantics (Cyan)</a:t>
            </a:r>
          </a:p>
          <a:p>
            <a:pPr>
              <a:spcAft>
                <a:spcPts val="600"/>
              </a:spcAft>
              <a:defRPr sz="1400">
                <a:solidFill>
                  <a:srgbClr val="F8FAFC"/>
                </a:solidFill>
              </a:defRPr>
            </a:pPr>
            <a:r>
              <a:t>▪ • Middle (Generation &amp; Audit): Linker, Gen, Critic (Emerald)</a:t>
            </a:r>
          </a:p>
          <a:p>
            <a:pPr>
              <a:spcAft>
                <a:spcPts val="600"/>
              </a:spcAft>
              <a:defRPr sz="1400">
                <a:solidFill>
                  <a:srgbClr val="F8FAFC"/>
                </a:solidFill>
              </a:defRPr>
            </a:pPr>
            <a:r>
              <a:t>▪ • Bottom (Execution &amp; Recovery): Data IQ, Executor, Recovery (Purple)</a:t>
            </a:r>
          </a:p>
          <a:p>
            <a:pPr>
              <a:spcAft>
                <a:spcPts val="600"/>
              </a:spcAft>
              <a:defRPr sz="1400">
                <a:solidFill>
                  <a:srgbClr val="F8FAFC"/>
                </a:solidFill>
              </a:defRPr>
            </a:pPr>
            <a:r>
              <a:t>▪ Data flow arrows showing the closed self-healing loop.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0" cy="365760"/>
          </a:xfrm>
          <a:prstGeom prst="rect">
            <a:avLst/>
          </a:prstGeom>
          <a:noFill/>
        </p:spPr>
        <p:txBody>
          <a:bodyPr wrap="square">
            <a:spAutoFit/>
          </a:bodyPr>
          <a:lstStyle/>
          <a:p>
            <a:pPr>
              <a:defRPr sz="1200" b="1">
                <a:solidFill>
                  <a:srgbClr val="06B6D4"/>
                </a:solidFill>
                <a:latin typeface="Consolas"/>
              </a:defRPr>
            </a:pPr>
            <a:r>
              <a:t>SECTION 10</a:t>
            </a:r>
          </a:p>
        </p:txBody>
      </p:sp>
      <p:sp>
        <p:nvSpPr>
          <p:cNvPr id="4" name="TextBox 3"/>
          <p:cNvSpPr txBox="1"/>
          <p:nvPr/>
        </p:nvSpPr>
        <p:spPr>
          <a:xfrm>
            <a:off x="731520" y="731520"/>
            <a:ext cx="10515600" cy="731520"/>
          </a:xfrm>
          <a:prstGeom prst="rect">
            <a:avLst/>
          </a:prstGeom>
          <a:noFill/>
        </p:spPr>
        <p:txBody>
          <a:bodyPr wrap="square">
            <a:spAutoFit/>
          </a:bodyPr>
          <a:lstStyle/>
          <a:p>
            <a:pPr>
              <a:defRPr sz="3200" b="1">
                <a:solidFill>
                  <a:srgbClr val="F8FAFC"/>
                </a:solidFill>
                <a:latin typeface="Arial"/>
              </a:defRPr>
            </a:pPr>
            <a:r>
              <a:t>Live Demo &amp; Production Codebase Tour</a:t>
            </a:r>
          </a:p>
        </p:txBody>
      </p:sp>
      <p:sp>
        <p:nvSpPr>
          <p:cNvPr id="5" name="TextBox 4"/>
          <p:cNvSpPr txBox="1"/>
          <p:nvPr/>
        </p:nvSpPr>
        <p:spPr>
          <a:xfrm>
            <a:off x="731520" y="1417320"/>
            <a:ext cx="10515600" cy="365760"/>
          </a:xfrm>
          <a:prstGeom prst="rect">
            <a:avLst/>
          </a:prstGeom>
          <a:noFill/>
        </p:spPr>
        <p:txBody>
          <a:bodyPr wrap="square">
            <a:spAutoFit/>
          </a:bodyPr>
          <a:lstStyle/>
          <a:p>
            <a:pPr>
              <a:defRPr sz="1600">
                <a:solidFill>
                  <a:srgbClr val="94A3B8"/>
                </a:solidFill>
                <a:latin typeface="Arial"/>
              </a:defRPr>
            </a:pPr>
            <a:r>
              <a:t>Executing High-Concurrency Benchmarks via CLI &amp; Dashboard</a:t>
            </a:r>
          </a:p>
        </p:txBody>
      </p:sp>
      <p:sp>
        <p:nvSpPr>
          <p:cNvPr id="6" name="Rounded Rectangle 5"/>
          <p:cNvSpPr/>
          <p:nvPr/>
        </p:nvSpPr>
        <p:spPr>
          <a:xfrm>
            <a:off x="731520" y="1920240"/>
            <a:ext cx="62179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spcAft>
                <a:spcPts val="400"/>
              </a:spcAft>
              <a:defRPr sz="1800" b="1">
                <a:solidFill>
                  <a:srgbClr val="F8FAFC"/>
                </a:solidFill>
              </a:defRPr>
            </a:pPr>
            <a:r>
              <a:rPr dirty="0"/>
              <a:t>• </a:t>
            </a:r>
            <a:r>
              <a:rPr dirty="0" err="1"/>
              <a:t>FastAPI</a:t>
            </a:r>
            <a:r>
              <a:rPr dirty="0"/>
              <a:t> Enterprise Backend Server</a:t>
            </a:r>
          </a:p>
          <a:p>
            <a:pPr>
              <a:spcAft>
                <a:spcPts val="1200"/>
              </a:spcAft>
              <a:defRPr sz="1400">
                <a:solidFill>
                  <a:srgbClr val="94A3B8"/>
                </a:solidFill>
              </a:defRPr>
            </a:pPr>
            <a:r>
              <a:rPr dirty="0"/>
              <a:t>   Fully asynchronous backend supporting concurrent benchmark execution, live log streaming, and telemetry tracking ('python backend/app/api.py').</a:t>
            </a:r>
          </a:p>
          <a:p>
            <a:pPr>
              <a:spcAft>
                <a:spcPts val="400"/>
              </a:spcAft>
              <a:defRPr sz="1800" b="1">
                <a:solidFill>
                  <a:srgbClr val="F8FAFC"/>
                </a:solidFill>
              </a:defRPr>
            </a:pPr>
            <a:r>
              <a:rPr dirty="0"/>
              <a:t>• High-Concurrency Batch CLI Runner</a:t>
            </a:r>
          </a:p>
          <a:p>
            <a:pPr>
              <a:spcAft>
                <a:spcPts val="1200"/>
              </a:spcAft>
              <a:defRPr sz="1400">
                <a:solidFill>
                  <a:srgbClr val="94A3B8"/>
                </a:solidFill>
              </a:defRPr>
            </a:pPr>
            <a:r>
              <a:rPr dirty="0"/>
              <a:t>   Execute single instances ('python backend/scripts/run_batch.py --instance sf_bq070') or multi-worker database runs ('--workers 4').</a:t>
            </a:r>
          </a:p>
          <a:p>
            <a:pPr>
              <a:spcAft>
                <a:spcPts val="400"/>
              </a:spcAft>
              <a:defRPr sz="1800" b="1">
                <a:solidFill>
                  <a:srgbClr val="F8FAFC"/>
                </a:solidFill>
              </a:defRPr>
            </a:pPr>
            <a:r>
              <a:rPr dirty="0"/>
              <a:t>• Premium React Web Dashboard</a:t>
            </a:r>
          </a:p>
          <a:p>
            <a:pPr>
              <a:spcAft>
                <a:spcPts val="1200"/>
              </a:spcAft>
              <a:defRPr sz="1400">
                <a:solidFill>
                  <a:srgbClr val="94A3B8"/>
                </a:solidFill>
              </a:defRPr>
            </a:pPr>
            <a:r>
              <a:rPr dirty="0"/>
              <a:t>   Beautiful dark-mode UI allowing teams to navigate metrics, inspect generated SQL, review execution logs, and spawn AI Copilot agents.</a:t>
            </a:r>
          </a:p>
        </p:txBody>
      </p:sp>
      <p:sp>
        <p:nvSpPr>
          <p:cNvPr id="7" name="Rounded Rectangle 6"/>
          <p:cNvSpPr/>
          <p:nvPr/>
        </p:nvSpPr>
        <p:spPr>
          <a:xfrm>
            <a:off x="7223760" y="1920240"/>
            <a:ext cx="42062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400" b="1">
                <a:solidFill>
                  <a:srgbClr val="06B6D4"/>
                </a:solidFill>
                <a:latin typeface="Consolas"/>
              </a:defRPr>
            </a:pPr>
            <a:r>
              <a:t>VISUALIZATION &amp; FLOW:</a:t>
            </a:r>
          </a:p>
          <a:p>
            <a:pPr>
              <a:spcAft>
                <a:spcPts val="800"/>
              </a:spcAft>
              <a:defRPr sz="1800" b="1">
                <a:solidFill>
                  <a:srgbClr val="F59E0B"/>
                </a:solidFill>
              </a:defRPr>
            </a:pPr>
            <a:r>
              <a:t>Live Execution CLI Quickstart</a:t>
            </a:r>
          </a:p>
          <a:p>
            <a:pPr>
              <a:spcAft>
                <a:spcPts val="600"/>
              </a:spcAft>
              <a:defRPr sz="1400">
                <a:solidFill>
                  <a:srgbClr val="F8FAFC"/>
                </a:solidFill>
              </a:defRPr>
            </a:pPr>
            <a:r>
              <a:t>▪ Terminal box graphic with glowing cyan commands:</a:t>
            </a:r>
          </a:p>
          <a:p>
            <a:pPr>
              <a:spcAft>
                <a:spcPts val="600"/>
              </a:spcAft>
              <a:defRPr sz="1400">
                <a:solidFill>
                  <a:srgbClr val="F8FAFC"/>
                </a:solidFill>
              </a:defRPr>
            </a:pPr>
            <a:r>
              <a:t>▪ $ export PYTHONPATH=.</a:t>
            </a:r>
          </a:p>
          <a:p>
            <a:pPr>
              <a:spcAft>
                <a:spcPts val="600"/>
              </a:spcAft>
              <a:defRPr sz="1400">
                <a:solidFill>
                  <a:srgbClr val="F8FAFC"/>
                </a:solidFill>
              </a:defRPr>
            </a:pPr>
            <a:r>
              <a:t>▪ $ python backend/app/api.py  # Starts server on port 8000</a:t>
            </a:r>
          </a:p>
          <a:p>
            <a:pPr>
              <a:spcAft>
                <a:spcPts val="600"/>
              </a:spcAft>
              <a:defRPr sz="1400">
                <a:solidFill>
                  <a:srgbClr val="F8FAFC"/>
                </a:solidFill>
              </a:defRPr>
            </a:pPr>
            <a:r>
              <a:t>▪ $ python backend/scripts/run_batch.py --db IDC --workers 4</a:t>
            </a:r>
          </a:p>
          <a:p>
            <a:pPr>
              <a:spcAft>
                <a:spcPts val="600"/>
              </a:spcAft>
              <a:defRPr sz="1400">
                <a:solidFill>
                  <a:srgbClr val="F8FAFC"/>
                </a:solidFill>
              </a:defRPr>
            </a:pPr>
            <a:r>
              <a:t>▪ Screenshot placeholder: Showing real-time execution tracebacks and accuracy graphs.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0" cy="365760"/>
          </a:xfrm>
          <a:prstGeom prst="rect">
            <a:avLst/>
          </a:prstGeom>
          <a:noFill/>
        </p:spPr>
        <p:txBody>
          <a:bodyPr wrap="square">
            <a:spAutoFit/>
          </a:bodyPr>
          <a:lstStyle/>
          <a:p>
            <a:pPr>
              <a:defRPr sz="1200" b="1">
                <a:solidFill>
                  <a:srgbClr val="06B6D4"/>
                </a:solidFill>
                <a:latin typeface="Consolas"/>
              </a:defRPr>
            </a:pPr>
            <a:r>
              <a:t>SECTION 11</a:t>
            </a:r>
          </a:p>
        </p:txBody>
      </p:sp>
      <p:sp>
        <p:nvSpPr>
          <p:cNvPr id="4" name="TextBox 3"/>
          <p:cNvSpPr txBox="1"/>
          <p:nvPr/>
        </p:nvSpPr>
        <p:spPr>
          <a:xfrm>
            <a:off x="731520" y="731520"/>
            <a:ext cx="10515600" cy="731520"/>
          </a:xfrm>
          <a:prstGeom prst="rect">
            <a:avLst/>
          </a:prstGeom>
          <a:noFill/>
        </p:spPr>
        <p:txBody>
          <a:bodyPr wrap="square">
            <a:spAutoFit/>
          </a:bodyPr>
          <a:lstStyle/>
          <a:p>
            <a:pPr>
              <a:defRPr sz="3200" b="1">
                <a:solidFill>
                  <a:srgbClr val="F8FAFC"/>
                </a:solidFill>
                <a:latin typeface="Arial"/>
              </a:defRPr>
            </a:pPr>
            <a:r>
              <a:t>The Future Roadmap: MCP, DSPy &amp; Swarms</a:t>
            </a:r>
          </a:p>
        </p:txBody>
      </p:sp>
      <p:sp>
        <p:nvSpPr>
          <p:cNvPr id="5" name="TextBox 4"/>
          <p:cNvSpPr txBox="1"/>
          <p:nvPr/>
        </p:nvSpPr>
        <p:spPr>
          <a:xfrm>
            <a:off x="731520" y="1417320"/>
            <a:ext cx="10515600" cy="365760"/>
          </a:xfrm>
          <a:prstGeom prst="rect">
            <a:avLst/>
          </a:prstGeom>
          <a:noFill/>
        </p:spPr>
        <p:txBody>
          <a:bodyPr wrap="square">
            <a:spAutoFit/>
          </a:bodyPr>
          <a:lstStyle/>
          <a:p>
            <a:pPr>
              <a:defRPr sz="1600">
                <a:solidFill>
                  <a:srgbClr val="94A3B8"/>
                </a:solidFill>
                <a:latin typeface="Arial"/>
              </a:defRPr>
            </a:pPr>
            <a:r>
              <a:t>Scaling Universal Database Connectivity &amp; Autonomous Prompt Evolution</a:t>
            </a:r>
          </a:p>
        </p:txBody>
      </p:sp>
      <p:sp>
        <p:nvSpPr>
          <p:cNvPr id="6" name="Rounded Rectangle 5"/>
          <p:cNvSpPr/>
          <p:nvPr/>
        </p:nvSpPr>
        <p:spPr>
          <a:xfrm>
            <a:off x="731520" y="1920240"/>
            <a:ext cx="62179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spcAft>
                <a:spcPts val="400"/>
              </a:spcAft>
              <a:defRPr sz="1800" b="1">
                <a:solidFill>
                  <a:srgbClr val="F8FAFC"/>
                </a:solidFill>
              </a:defRPr>
            </a:pPr>
            <a:r>
              <a:rPr dirty="0"/>
              <a:t>• Model Context Protocol (MCP) Integration</a:t>
            </a:r>
          </a:p>
          <a:p>
            <a:pPr>
              <a:spcAft>
                <a:spcPts val="1200"/>
              </a:spcAft>
              <a:defRPr sz="1400">
                <a:solidFill>
                  <a:srgbClr val="94A3B8"/>
                </a:solidFill>
              </a:defRPr>
            </a:pPr>
            <a:r>
              <a:rPr dirty="0"/>
              <a:t>   Adopting </a:t>
            </a:r>
            <a:r>
              <a:rPr dirty="0" err="1"/>
              <a:t>Anthropic's</a:t>
            </a:r>
            <a:r>
              <a:rPr dirty="0"/>
              <a:t> open MCP standard. Instead of writing custom database drivers, our agents will connect to any enterprise data source instantly over JSON-RPC.</a:t>
            </a:r>
          </a:p>
          <a:p>
            <a:pPr>
              <a:spcAft>
                <a:spcPts val="400"/>
              </a:spcAft>
              <a:defRPr sz="1800" b="1">
                <a:solidFill>
                  <a:srgbClr val="F8FAFC"/>
                </a:solidFill>
              </a:defRPr>
            </a:pPr>
            <a:r>
              <a:rPr dirty="0"/>
              <a:t>• Autonomous Prompt Evolvers (Meta-Reasoning)</a:t>
            </a:r>
          </a:p>
          <a:p>
            <a:pPr>
              <a:spcAft>
                <a:spcPts val="1200"/>
              </a:spcAft>
              <a:defRPr sz="1400">
                <a:solidFill>
                  <a:srgbClr val="94A3B8"/>
                </a:solidFill>
              </a:defRPr>
            </a:pPr>
            <a:r>
              <a:rPr dirty="0"/>
              <a:t>   AI meta-agents that monitor execution logs across thousands of queries, distill lessons, and autonomously update our YAML system prompts.</a:t>
            </a:r>
          </a:p>
          <a:p>
            <a:pPr>
              <a:spcAft>
                <a:spcPts val="400"/>
              </a:spcAft>
              <a:defRPr sz="1800" b="1">
                <a:solidFill>
                  <a:srgbClr val="F8FAFC"/>
                </a:solidFill>
              </a:defRPr>
            </a:pPr>
            <a:r>
              <a:rPr dirty="0"/>
              <a:t>• Speculative Execution &amp; Swarm Intelligence</a:t>
            </a:r>
          </a:p>
          <a:p>
            <a:pPr>
              <a:spcAft>
                <a:spcPts val="1200"/>
              </a:spcAft>
              <a:defRPr sz="1400">
                <a:solidFill>
                  <a:srgbClr val="94A3B8"/>
                </a:solidFill>
              </a:defRPr>
            </a:pPr>
            <a:r>
              <a:rPr dirty="0"/>
              <a:t>   Spawning 3 competing SQL generators simultaneously with varying temperatures. All execute in parallel; Data IQ selects the cleanest result.</a:t>
            </a:r>
          </a:p>
        </p:txBody>
      </p:sp>
      <p:sp>
        <p:nvSpPr>
          <p:cNvPr id="7" name="Rounded Rectangle 6"/>
          <p:cNvSpPr/>
          <p:nvPr/>
        </p:nvSpPr>
        <p:spPr>
          <a:xfrm>
            <a:off x="7223760" y="1920240"/>
            <a:ext cx="42062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400" b="1">
                <a:solidFill>
                  <a:srgbClr val="06B6D4"/>
                </a:solidFill>
                <a:latin typeface="Consolas"/>
              </a:defRPr>
            </a:pPr>
            <a:r>
              <a:t>VISUALIZATION &amp; FLOW:</a:t>
            </a:r>
          </a:p>
          <a:p>
            <a:pPr>
              <a:spcAft>
                <a:spcPts val="800"/>
              </a:spcAft>
              <a:defRPr sz="1800" b="1">
                <a:solidFill>
                  <a:srgbClr val="F59E0B"/>
                </a:solidFill>
              </a:defRPr>
            </a:pPr>
            <a:r>
              <a:t>MCP Universal Protocol Architecture</a:t>
            </a:r>
          </a:p>
          <a:p>
            <a:pPr>
              <a:spcAft>
                <a:spcPts val="600"/>
              </a:spcAft>
              <a:defRPr sz="1400">
                <a:solidFill>
                  <a:srgbClr val="F8FAFC"/>
                </a:solidFill>
              </a:defRPr>
            </a:pPr>
            <a:r>
              <a:t>▪ Diagram: SpiderDIN Agentic Core -&gt; Universal MCP JSON-RPC Interface -&gt; Multiple DB cylinders (Snowflake, BigQuery, Postgres, Salesforce).</a:t>
            </a:r>
          </a:p>
          <a:p>
            <a:pPr>
              <a:spcAft>
                <a:spcPts val="600"/>
              </a:spcAft>
              <a:defRPr sz="1400">
                <a:solidFill>
                  <a:srgbClr val="F8FAFC"/>
                </a:solidFill>
              </a:defRPr>
            </a:pPr>
            <a:r>
              <a:t>▪ Swarm Graphic: 3 glowing generator nodes racing towards a single execution finish line.</a:t>
            </a:r>
          </a:p>
          <a:p>
            <a:pPr>
              <a:spcAft>
                <a:spcPts val="600"/>
              </a:spcAft>
              <a:defRPr sz="1400">
                <a:solidFill>
                  <a:srgbClr val="F8FAFC"/>
                </a:solidFill>
              </a:defRPr>
            </a:pPr>
            <a:r>
              <a:t>▪ Stat Goal: Achieving sub-5-second end-to-end execution latency.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0" cy="365760"/>
          </a:xfrm>
          <a:prstGeom prst="rect">
            <a:avLst/>
          </a:prstGeom>
          <a:noFill/>
        </p:spPr>
        <p:txBody>
          <a:bodyPr wrap="square">
            <a:spAutoFit/>
          </a:bodyPr>
          <a:lstStyle/>
          <a:p>
            <a:pPr>
              <a:defRPr sz="1200" b="1">
                <a:solidFill>
                  <a:srgbClr val="06B6D4"/>
                </a:solidFill>
                <a:latin typeface="Consolas"/>
              </a:defRPr>
            </a:pPr>
            <a:r>
              <a:t>SECTION 12</a:t>
            </a:r>
          </a:p>
        </p:txBody>
      </p:sp>
      <p:sp>
        <p:nvSpPr>
          <p:cNvPr id="4" name="TextBox 3"/>
          <p:cNvSpPr txBox="1"/>
          <p:nvPr/>
        </p:nvSpPr>
        <p:spPr>
          <a:xfrm>
            <a:off x="731520" y="731520"/>
            <a:ext cx="10515600" cy="731520"/>
          </a:xfrm>
          <a:prstGeom prst="rect">
            <a:avLst/>
          </a:prstGeom>
          <a:noFill/>
        </p:spPr>
        <p:txBody>
          <a:bodyPr wrap="square">
            <a:spAutoFit/>
          </a:bodyPr>
          <a:lstStyle/>
          <a:p>
            <a:pPr>
              <a:defRPr sz="3200" b="1">
                <a:solidFill>
                  <a:srgbClr val="F8FAFC"/>
                </a:solidFill>
                <a:latin typeface="Arial"/>
              </a:defRPr>
            </a:pPr>
            <a:r>
              <a:t>Vision: Graphical Agent Orchestration Studio</a:t>
            </a:r>
          </a:p>
        </p:txBody>
      </p:sp>
      <p:sp>
        <p:nvSpPr>
          <p:cNvPr id="5" name="TextBox 4"/>
          <p:cNvSpPr txBox="1"/>
          <p:nvPr/>
        </p:nvSpPr>
        <p:spPr>
          <a:xfrm>
            <a:off x="731520" y="1417320"/>
            <a:ext cx="10515600" cy="365760"/>
          </a:xfrm>
          <a:prstGeom prst="rect">
            <a:avLst/>
          </a:prstGeom>
          <a:noFill/>
        </p:spPr>
        <p:txBody>
          <a:bodyPr wrap="square">
            <a:spAutoFit/>
          </a:bodyPr>
          <a:lstStyle/>
          <a:p>
            <a:pPr>
              <a:defRPr sz="1600">
                <a:solidFill>
                  <a:srgbClr val="94A3B8"/>
                </a:solidFill>
                <a:latin typeface="Arial"/>
              </a:defRPr>
            </a:pPr>
            <a:r>
              <a:t>Why Are We Writing Python to Wire AI Agents?</a:t>
            </a:r>
          </a:p>
        </p:txBody>
      </p:sp>
      <p:sp>
        <p:nvSpPr>
          <p:cNvPr id="6" name="Rounded Rectangle 5"/>
          <p:cNvSpPr/>
          <p:nvPr/>
        </p:nvSpPr>
        <p:spPr>
          <a:xfrm>
            <a:off x="731520" y="1920240"/>
            <a:ext cx="62179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400"/>
              </a:spcAft>
              <a:defRPr sz="1800" b="1">
                <a:solidFill>
                  <a:srgbClr val="F8FAFC"/>
                </a:solidFill>
              </a:defRPr>
            </a:pPr>
            <a:r>
              <a:t>• Visual Drag-and-Drop Node Canvas</a:t>
            </a:r>
          </a:p>
          <a:p>
            <a:pPr>
              <a:spcAft>
                <a:spcPts val="1200"/>
              </a:spcAft>
              <a:defRPr sz="1400">
                <a:solidFill>
                  <a:srgbClr val="94A3B8"/>
                </a:solidFill>
              </a:defRPr>
            </a:pPr>
            <a:r>
              <a:t>   A beautiful dark-mode web studio where architects visually connect Schema Linkers, Generators, and Critics into glowing execution graphs.</a:t>
            </a:r>
          </a:p>
          <a:p>
            <a:pPr>
              <a:spcAft>
                <a:spcPts val="400"/>
              </a:spcAft>
              <a:defRPr sz="1800" b="1">
                <a:solidFill>
                  <a:srgbClr val="F8FAFC"/>
                </a:solidFill>
              </a:defRPr>
            </a:pPr>
            <a:r>
              <a:t>• Real-Time Prompt &amp; Variable Injection Control</a:t>
            </a:r>
          </a:p>
          <a:p>
            <a:pPr>
              <a:spcAft>
                <a:spcPts val="1200"/>
              </a:spcAft>
              <a:defRPr sz="1400">
                <a:solidFill>
                  <a:srgbClr val="94A3B8"/>
                </a:solidFill>
              </a:defRPr>
            </a:pPr>
            <a:r>
              <a:t>   Click any node on the canvas to edit its YAML protocol, inject runtime parameters ('{{user_query}}'), and slide model temperatures.</a:t>
            </a:r>
          </a:p>
          <a:p>
            <a:pPr>
              <a:spcAft>
                <a:spcPts val="400"/>
              </a:spcAft>
              <a:defRPr sz="1800" b="1">
                <a:solidFill>
                  <a:srgbClr val="F8FAFC"/>
                </a:solidFill>
              </a:defRPr>
            </a:pPr>
            <a:r>
              <a:t>• AI Copilot Dynamic Node Spawning</a:t>
            </a:r>
          </a:p>
          <a:p>
            <a:pPr>
              <a:spcAft>
                <a:spcPts val="1200"/>
              </a:spcAft>
              <a:defRPr sz="1400">
                <a:solidFill>
                  <a:srgbClr val="94A3B8"/>
                </a:solidFill>
              </a:defRPr>
            </a:pPr>
            <a:r>
              <a:t>   Already live in our backend ('/api/copilot/agent')! Ask the Copilot to instantly architect and wire a specialized clinical auditing agent into the workflow.</a:t>
            </a:r>
          </a:p>
        </p:txBody>
      </p:sp>
      <p:sp>
        <p:nvSpPr>
          <p:cNvPr id="7" name="Rounded Rectangle 6"/>
          <p:cNvSpPr/>
          <p:nvPr/>
        </p:nvSpPr>
        <p:spPr>
          <a:xfrm>
            <a:off x="7223760" y="1920240"/>
            <a:ext cx="42062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400" b="1">
                <a:solidFill>
                  <a:srgbClr val="06B6D4"/>
                </a:solidFill>
                <a:latin typeface="Consolas"/>
              </a:defRPr>
            </a:pPr>
            <a:r>
              <a:t>VISUALIZATION &amp; FLOW:</a:t>
            </a:r>
          </a:p>
          <a:p>
            <a:pPr>
              <a:spcAft>
                <a:spcPts val="800"/>
              </a:spcAft>
              <a:defRPr sz="1800" b="1">
                <a:solidFill>
                  <a:srgbClr val="F59E0B"/>
                </a:solidFill>
              </a:defRPr>
            </a:pPr>
            <a:r>
              <a:t>Agent Studio Canvas Interface</a:t>
            </a:r>
          </a:p>
          <a:p>
            <a:pPr>
              <a:spcAft>
                <a:spcPts val="600"/>
              </a:spcAft>
              <a:defRPr sz="1400">
                <a:solidFill>
                  <a:srgbClr val="F8FAFC"/>
                </a:solidFill>
              </a:defRPr>
            </a:pPr>
            <a:r>
              <a:t>▪ UI Mockup Description: Glowing dark canvas with draggable cards connected by neon bezier curves.</a:t>
            </a:r>
          </a:p>
          <a:p>
            <a:pPr>
              <a:spcAft>
                <a:spcPts val="600"/>
              </a:spcAft>
              <a:defRPr sz="1400">
                <a:solidFill>
                  <a:srgbClr val="F8FAFC"/>
                </a:solidFill>
              </a:defRPr>
            </a:pPr>
            <a:r>
              <a:t>▪ Left sidebar: Node Marketplace (Pruners, Linkers, Validators).</a:t>
            </a:r>
          </a:p>
          <a:p>
            <a:pPr>
              <a:spcAft>
                <a:spcPts val="600"/>
              </a:spcAft>
              <a:defRPr sz="1400">
                <a:solidFill>
                  <a:srgbClr val="F8FAFC"/>
                </a:solidFill>
              </a:defRPr>
            </a:pPr>
            <a:r>
              <a:t>▪ Right panel: Real-time telemetry, token counters, and live execution replay controls.</a:t>
            </a:r>
          </a:p>
          <a:p>
            <a:pPr>
              <a:spcAft>
                <a:spcPts val="600"/>
              </a:spcAft>
              <a:defRPr sz="1400">
                <a:solidFill>
                  <a:srgbClr val="F8FAFC"/>
                </a:solidFill>
              </a:defRPr>
            </a:pPr>
            <a:r>
              <a:t>▪ Concept: Bringing Figma-like low-code elegance to enterprise AI orchestration.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9144000" cy="365760"/>
          </a:xfrm>
          <a:prstGeom prst="rect">
            <a:avLst/>
          </a:prstGeom>
          <a:noFill/>
        </p:spPr>
        <p:txBody>
          <a:bodyPr wrap="square">
            <a:spAutoFit/>
          </a:bodyPr>
          <a:lstStyle/>
          <a:p>
            <a:pPr>
              <a:defRPr sz="1200" b="1">
                <a:solidFill>
                  <a:srgbClr val="06B6D4"/>
                </a:solidFill>
                <a:latin typeface="Consolas"/>
              </a:defRPr>
            </a:pPr>
            <a:r>
              <a:t>SECTION 13-15</a:t>
            </a:r>
          </a:p>
        </p:txBody>
      </p:sp>
      <p:sp>
        <p:nvSpPr>
          <p:cNvPr id="4" name="TextBox 3"/>
          <p:cNvSpPr txBox="1"/>
          <p:nvPr/>
        </p:nvSpPr>
        <p:spPr>
          <a:xfrm>
            <a:off x="731520" y="731520"/>
            <a:ext cx="10515600" cy="731520"/>
          </a:xfrm>
          <a:prstGeom prst="rect">
            <a:avLst/>
          </a:prstGeom>
          <a:noFill/>
        </p:spPr>
        <p:txBody>
          <a:bodyPr wrap="square">
            <a:spAutoFit/>
          </a:bodyPr>
          <a:lstStyle/>
          <a:p>
            <a:pPr>
              <a:defRPr sz="3200" b="1">
                <a:solidFill>
                  <a:srgbClr val="F8FAFC"/>
                </a:solidFill>
                <a:latin typeface="Arial"/>
              </a:defRPr>
            </a:pPr>
            <a:r>
              <a:t>Production AI Lessons &amp; Acknowledgements</a:t>
            </a:r>
          </a:p>
        </p:txBody>
      </p:sp>
      <p:sp>
        <p:nvSpPr>
          <p:cNvPr id="5" name="TextBox 4"/>
          <p:cNvSpPr txBox="1"/>
          <p:nvPr/>
        </p:nvSpPr>
        <p:spPr>
          <a:xfrm>
            <a:off x="731520" y="1417320"/>
            <a:ext cx="10515600" cy="365760"/>
          </a:xfrm>
          <a:prstGeom prst="rect">
            <a:avLst/>
          </a:prstGeom>
          <a:noFill/>
        </p:spPr>
        <p:txBody>
          <a:bodyPr wrap="square">
            <a:spAutoFit/>
          </a:bodyPr>
          <a:lstStyle/>
          <a:p>
            <a:pPr>
              <a:defRPr sz="1600">
                <a:solidFill>
                  <a:srgbClr val="94A3B8"/>
                </a:solidFill>
                <a:latin typeface="Arial"/>
              </a:defRPr>
            </a:pPr>
            <a:r>
              <a:t>Key Truths in Enterprise AI &amp; Standing on the Shoulders of Giants</a:t>
            </a:r>
          </a:p>
        </p:txBody>
      </p:sp>
      <p:sp>
        <p:nvSpPr>
          <p:cNvPr id="6" name="Rounded Rectangle 5"/>
          <p:cNvSpPr/>
          <p:nvPr/>
        </p:nvSpPr>
        <p:spPr>
          <a:xfrm>
            <a:off x="731520" y="1920240"/>
            <a:ext cx="6217920" cy="438912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spcAft>
                <a:spcPts val="400"/>
              </a:spcAft>
              <a:defRPr sz="1800" b="1">
                <a:solidFill>
                  <a:srgbClr val="F8FAFC"/>
                </a:solidFill>
              </a:defRPr>
            </a:pPr>
            <a:r>
              <a:rPr dirty="0"/>
              <a:t>• Key Truth: Grounding &gt; Guessing</a:t>
            </a:r>
          </a:p>
          <a:p>
            <a:pPr>
              <a:spcAft>
                <a:spcPts val="1200"/>
              </a:spcAft>
              <a:defRPr sz="1400">
                <a:solidFill>
                  <a:srgbClr val="94A3B8"/>
                </a:solidFill>
              </a:defRPr>
            </a:pPr>
            <a:r>
              <a:rPr dirty="0"/>
              <a:t>   Never let an LLM guess a WHERE-clause value. Always force the agent to run a live SELECT DISTINCT probe first. Empirical data sampling is king.</a:t>
            </a:r>
          </a:p>
          <a:p>
            <a:pPr>
              <a:spcAft>
                <a:spcPts val="400"/>
              </a:spcAft>
              <a:defRPr sz="1800" b="1">
                <a:solidFill>
                  <a:srgbClr val="F8FAFC"/>
                </a:solidFill>
              </a:defRPr>
            </a:pPr>
            <a:r>
              <a:rPr dirty="0"/>
              <a:t>• Key Truth: SQL Gen is an Auditing Problem</a:t>
            </a:r>
          </a:p>
          <a:p>
            <a:pPr>
              <a:spcAft>
                <a:spcPts val="1200"/>
              </a:spcAft>
              <a:defRPr sz="1400">
                <a:solidFill>
                  <a:srgbClr val="94A3B8"/>
                </a:solidFill>
              </a:defRPr>
            </a:pPr>
            <a:r>
              <a:rPr dirty="0"/>
              <a:t>   Writing valid syntax is trivial. Ensuring business correctness requires an adversarial critic and automated Data IQ mini-EDA on the output CSV.</a:t>
            </a:r>
          </a:p>
          <a:p>
            <a:pPr>
              <a:spcAft>
                <a:spcPts val="400"/>
              </a:spcAft>
              <a:defRPr sz="1800" b="1">
                <a:solidFill>
                  <a:srgbClr val="F8FAFC"/>
                </a:solidFill>
              </a:defRPr>
            </a:pPr>
            <a:r>
              <a:rPr dirty="0"/>
              <a:t>• Heartfelt Acknowledgements</a:t>
            </a:r>
          </a:p>
          <a:p>
            <a:pPr>
              <a:spcAft>
                <a:spcPts val="1200"/>
              </a:spcAft>
              <a:defRPr sz="1400">
                <a:solidFill>
                  <a:srgbClr val="94A3B8"/>
                </a:solidFill>
              </a:defRPr>
            </a:pPr>
            <a:r>
              <a:rPr dirty="0"/>
              <a:t>   Immense thanks to our AI leadership trio: Daya (Grounding &amp; Probing), Nakul (Data IQ &amp; Mini-EDA), and Vinay (Snowflake Rules &amp; Stabilizer Hashing)!</a:t>
            </a:r>
          </a:p>
        </p:txBody>
      </p:sp>
      <p:sp>
        <p:nvSpPr>
          <p:cNvPr id="7" name="Rounded Rectangle 6"/>
          <p:cNvSpPr/>
          <p:nvPr/>
        </p:nvSpPr>
        <p:spPr>
          <a:xfrm>
            <a:off x="7223760" y="1920240"/>
            <a:ext cx="4206240" cy="4389120"/>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spcAft>
                <a:spcPts val="1200"/>
              </a:spcAft>
              <a:defRPr sz="1400" b="1">
                <a:solidFill>
                  <a:srgbClr val="06B6D4"/>
                </a:solidFill>
                <a:latin typeface="Consolas"/>
              </a:defRPr>
            </a:pPr>
            <a:r>
              <a:t>VISUALIZATION &amp; FLOW:</a:t>
            </a:r>
          </a:p>
          <a:p>
            <a:pPr>
              <a:spcAft>
                <a:spcPts val="800"/>
              </a:spcAft>
              <a:defRPr sz="1800" b="1">
                <a:solidFill>
                  <a:srgbClr val="F59E0B"/>
                </a:solidFill>
              </a:defRPr>
            </a:pPr>
            <a:r>
              <a:t>Essential Research References</a:t>
            </a:r>
          </a:p>
          <a:p>
            <a:pPr>
              <a:spcAft>
                <a:spcPts val="600"/>
              </a:spcAft>
              <a:defRPr sz="1400">
                <a:solidFill>
                  <a:srgbClr val="F8FAFC"/>
                </a:solidFill>
              </a:defRPr>
            </a:pPr>
            <a:r>
              <a:t>▪ • Spider 2.0 / Spider2-Lite Benchmark (spider2-v.github.io)</a:t>
            </a:r>
          </a:p>
          <a:p>
            <a:pPr>
              <a:spcAft>
                <a:spcPts val="600"/>
              </a:spcAft>
              <a:defRPr sz="1400">
                <a:solidFill>
                  <a:srgbClr val="F8FAFC"/>
                </a:solidFill>
              </a:defRPr>
            </a:pPr>
            <a:r>
              <a:t>▪ • DIN-SQL: Decomposed Interactive SQL Gen (arXiv:2304.11015)</a:t>
            </a:r>
          </a:p>
          <a:p>
            <a:pPr>
              <a:spcAft>
                <a:spcPts val="600"/>
              </a:spcAft>
              <a:defRPr sz="1400">
                <a:solidFill>
                  <a:srgbClr val="F8FAFC"/>
                </a:solidFill>
              </a:defRPr>
            </a:pPr>
            <a:r>
              <a:t>▪ • Reflexion: Verbal Reinforcement Learning (arXiv:2303.11366)</a:t>
            </a:r>
          </a:p>
          <a:p>
            <a:pPr>
              <a:spcAft>
                <a:spcPts val="600"/>
              </a:spcAft>
              <a:defRPr sz="1400">
                <a:solidFill>
                  <a:srgbClr val="F8FAFC"/>
                </a:solidFill>
              </a:defRPr>
            </a:pPr>
            <a:r>
              <a:t>▪ • Model Context Protocol (MCP) Specification (modelcontextprotocol.io)</a:t>
            </a:r>
          </a:p>
          <a:p>
            <a:pPr>
              <a:spcAft>
                <a:spcPts val="600"/>
              </a:spcAft>
              <a:defRPr sz="1400">
                <a:solidFill>
                  <a:srgbClr val="F8FAFC"/>
                </a:solidFill>
              </a:defRPr>
            </a:pPr>
            <a:r>
              <a:t>▪ Q&amp;A Open Floor: Web Dashboard available at http://localhost:8000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4161</Words>
  <Application>Microsoft Office PowerPoint</Application>
  <PresentationFormat>Widescreen</PresentationFormat>
  <Paragraphs>280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Vikas Vijigiri</cp:lastModifiedBy>
  <cp:revision>2</cp:revision>
  <dcterms:created xsi:type="dcterms:W3CDTF">2013-01-27T09:14:16Z</dcterms:created>
  <dcterms:modified xsi:type="dcterms:W3CDTF">2026-05-18T07:12:26Z</dcterms:modified>
  <cp:category/>
</cp:coreProperties>
</file>