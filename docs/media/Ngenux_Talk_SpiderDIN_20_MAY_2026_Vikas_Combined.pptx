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Override2.xml" ContentType="application/vnd.openxmlformats-officedocument.themeOverr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heme/themeOverride3.xml" ContentType="application/vnd.openxmlformats-officedocument.themeOverr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Override4.xml" ContentType="application/vnd.openxmlformats-officedocument.themeOverr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3" r:id="rId3"/>
  </p:sldMasterIdLst>
  <p:notesMasterIdLst>
    <p:notesMasterId r:id="rId53"/>
  </p:notesMasterIdLst>
  <p:sldIdLst>
    <p:sldId id="256" r:id="rId4"/>
    <p:sldId id="257" r:id="rId5"/>
    <p:sldId id="258" r:id="rId6"/>
    <p:sldId id="296" r:id="rId7"/>
    <p:sldId id="297" r:id="rId8"/>
    <p:sldId id="299" r:id="rId9"/>
    <p:sldId id="302" r:id="rId10"/>
    <p:sldId id="308" r:id="rId11"/>
    <p:sldId id="306" r:id="rId12"/>
    <p:sldId id="322" r:id="rId13"/>
    <p:sldId id="323" r:id="rId14"/>
    <p:sldId id="324" r:id="rId15"/>
    <p:sldId id="325" r:id="rId16"/>
    <p:sldId id="326" r:id="rId17"/>
    <p:sldId id="327" r:id="rId18"/>
    <p:sldId id="328" r:id="rId19"/>
    <p:sldId id="329" r:id="rId20"/>
    <p:sldId id="330" r:id="rId21"/>
    <p:sldId id="331" r:id="rId22"/>
    <p:sldId id="336" r:id="rId23"/>
    <p:sldId id="332" r:id="rId24"/>
    <p:sldId id="263" r:id="rId25"/>
    <p:sldId id="264" r:id="rId26"/>
    <p:sldId id="265" r:id="rId27"/>
    <p:sldId id="266" r:id="rId28"/>
    <p:sldId id="267" r:id="rId29"/>
    <p:sldId id="300" r:id="rId30"/>
    <p:sldId id="261" r:id="rId31"/>
    <p:sldId id="333" r:id="rId32"/>
    <p:sldId id="334" r:id="rId33"/>
    <p:sldId id="311" r:id="rId34"/>
    <p:sldId id="312" r:id="rId35"/>
    <p:sldId id="259" r:id="rId36"/>
    <p:sldId id="313" r:id="rId37"/>
    <p:sldId id="314" r:id="rId38"/>
    <p:sldId id="315" r:id="rId39"/>
    <p:sldId id="316" r:id="rId40"/>
    <p:sldId id="317" r:id="rId41"/>
    <p:sldId id="318" r:id="rId42"/>
    <p:sldId id="319" r:id="rId43"/>
    <p:sldId id="272" r:id="rId44"/>
    <p:sldId id="290" r:id="rId45"/>
    <p:sldId id="292" r:id="rId46"/>
    <p:sldId id="294" r:id="rId47"/>
    <p:sldId id="276" r:id="rId48"/>
    <p:sldId id="335" r:id="rId49"/>
    <p:sldId id="321" r:id="rId50"/>
    <p:sldId id="278" r:id="rId51"/>
    <p:sldId id="279" r:id="rId5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98" d="100"/>
          <a:sy n="98" d="100"/>
        </p:scale>
        <p:origin x="38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notesMaster" Target="notesMasters/notesMaster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2100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EC917-4E18-987B-3093-429AE5FEE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6ACDCB-9317-87CA-29D7-B6C6699A18E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2630BEF-2874-8DED-7B29-3B8539F11C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5655ED-9F36-FDA8-AED8-00A4003820F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1648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90996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597819"/>
            <a:ext cx="5829300" cy="1102519"/>
          </a:xfrm>
        </p:spPr>
        <p:txBody>
          <a:bodyPr/>
          <a:lstStyle/>
          <a:p>
            <a:r>
              <a:rPr lang="en-US"/>
              <a:t>Click to edit Master title style</a:t>
            </a:r>
          </a:p>
        </p:txBody>
      </p:sp>
      <p:sp>
        <p:nvSpPr>
          <p:cNvPr id="3" name="Subtitle 2"/>
          <p:cNvSpPr>
            <a:spLocks noGrp="1"/>
          </p:cNvSpPr>
          <p:nvPr>
            <p:ph type="subTitle" idx="1"/>
          </p:nvPr>
        </p:nvSpPr>
        <p:spPr>
          <a:xfrm>
            <a:off x="1028700" y="2914650"/>
            <a:ext cx="48006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1033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60792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3305176"/>
            <a:ext cx="58293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541735" y="2180035"/>
            <a:ext cx="58293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0621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200151"/>
            <a:ext cx="302895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1200151"/>
            <a:ext cx="302895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9690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1151335"/>
            <a:ext cx="3030141"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342900" y="1631156"/>
            <a:ext cx="3030141"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1151335"/>
            <a:ext cx="3031331"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83769" y="1631156"/>
            <a:ext cx="3031331"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6204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8099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8816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204787"/>
            <a:ext cx="2256235"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2681287" y="204788"/>
            <a:ext cx="383381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076326"/>
            <a:ext cx="2256235"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5645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3600450"/>
            <a:ext cx="41148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344216" y="459581"/>
            <a:ext cx="41148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344216" y="4025503"/>
            <a:ext cx="41148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62879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146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205979"/>
            <a:ext cx="154305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05979"/>
            <a:ext cx="451485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56481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205979"/>
            <a:ext cx="61722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1200151"/>
            <a:ext cx="61722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4767263"/>
            <a:ext cx="16002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5/20/2026</a:t>
            </a:fld>
            <a:endParaRPr lang="en-US"/>
          </a:p>
        </p:txBody>
      </p:sp>
      <p:sp>
        <p:nvSpPr>
          <p:cNvPr id="5" name="Footer Placeholder 4"/>
          <p:cNvSpPr>
            <a:spLocks noGrp="1"/>
          </p:cNvSpPr>
          <p:nvPr>
            <p:ph type="ftr" sz="quarter" idx="3"/>
          </p:nvPr>
        </p:nvSpPr>
        <p:spPr>
          <a:xfrm>
            <a:off x="2343150" y="4767263"/>
            <a:ext cx="21717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4767263"/>
            <a:ext cx="16002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96277025"/>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tags" Target="../tags/tag7.xml"/><Relationship Id="rId13" Type="http://schemas.openxmlformats.org/officeDocument/2006/relationships/image" Target="../media/image3.svg"/><Relationship Id="rId18" Type="http://schemas.openxmlformats.org/officeDocument/2006/relationships/image" Target="../media/image8.svg"/><Relationship Id="rId3" Type="http://schemas.openxmlformats.org/officeDocument/2006/relationships/tags" Target="../tags/tag2.xml"/><Relationship Id="rId21" Type="http://schemas.openxmlformats.org/officeDocument/2006/relationships/image" Target="../media/image1.jpg"/><Relationship Id="rId7" Type="http://schemas.openxmlformats.org/officeDocument/2006/relationships/tags" Target="../tags/tag6.xml"/><Relationship Id="rId12" Type="http://schemas.openxmlformats.org/officeDocument/2006/relationships/image" Target="../media/image2.svg"/><Relationship Id="rId17" Type="http://schemas.openxmlformats.org/officeDocument/2006/relationships/image" Target="../media/image7.svg"/><Relationship Id="rId2" Type="http://schemas.openxmlformats.org/officeDocument/2006/relationships/tags" Target="../tags/tag1.xml"/><Relationship Id="rId16" Type="http://schemas.openxmlformats.org/officeDocument/2006/relationships/image" Target="../media/image6.svg"/><Relationship Id="rId20" Type="http://schemas.openxmlformats.org/officeDocument/2006/relationships/image" Target="../media/image10.svg"/><Relationship Id="rId1" Type="http://schemas.openxmlformats.org/officeDocument/2006/relationships/themeOverride" Target="../theme/themeOverride1.xml"/><Relationship Id="rId6" Type="http://schemas.openxmlformats.org/officeDocument/2006/relationships/tags" Target="../tags/tag5.xml"/><Relationship Id="rId11" Type="http://schemas.openxmlformats.org/officeDocument/2006/relationships/slideLayout" Target="../slideLayouts/slideLayout1.xml"/><Relationship Id="rId5" Type="http://schemas.openxmlformats.org/officeDocument/2006/relationships/tags" Target="../tags/tag4.xml"/><Relationship Id="rId15" Type="http://schemas.openxmlformats.org/officeDocument/2006/relationships/image" Target="../media/image5.svg"/><Relationship Id="rId10" Type="http://schemas.openxmlformats.org/officeDocument/2006/relationships/tags" Target="../tags/tag9.xml"/><Relationship Id="rId19" Type="http://schemas.openxmlformats.org/officeDocument/2006/relationships/image" Target="../media/image9.svg"/><Relationship Id="rId4" Type="http://schemas.openxmlformats.org/officeDocument/2006/relationships/tags" Target="../tags/tag3.xml"/><Relationship Id="rId9" Type="http://schemas.openxmlformats.org/officeDocument/2006/relationships/tags" Target="../tags/tag8.xml"/><Relationship Id="rId14" Type="http://schemas.openxmlformats.org/officeDocument/2006/relationships/image" Target="../media/image4.svg"/></Relationships>
</file>

<file path=ppt/slides/_rels/slide5.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image" Target="../media/image13.svg"/><Relationship Id="rId18" Type="http://schemas.openxmlformats.org/officeDocument/2006/relationships/image" Target="../media/image18.svg"/><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image" Target="../media/image12.svg"/><Relationship Id="rId17" Type="http://schemas.openxmlformats.org/officeDocument/2006/relationships/image" Target="../media/image17.svg"/><Relationship Id="rId2" Type="http://schemas.openxmlformats.org/officeDocument/2006/relationships/tags" Target="../tags/tag10.xml"/><Relationship Id="rId16" Type="http://schemas.openxmlformats.org/officeDocument/2006/relationships/image" Target="../media/image16.svg"/><Relationship Id="rId1" Type="http://schemas.openxmlformats.org/officeDocument/2006/relationships/themeOverride" Target="../theme/themeOverride2.xml"/><Relationship Id="rId6" Type="http://schemas.openxmlformats.org/officeDocument/2006/relationships/tags" Target="../tags/tag14.xml"/><Relationship Id="rId11" Type="http://schemas.openxmlformats.org/officeDocument/2006/relationships/image" Target="../media/image11.svg"/><Relationship Id="rId5" Type="http://schemas.openxmlformats.org/officeDocument/2006/relationships/tags" Target="../tags/tag13.xml"/><Relationship Id="rId15" Type="http://schemas.openxmlformats.org/officeDocument/2006/relationships/image" Target="../media/image15.svg"/><Relationship Id="rId10" Type="http://schemas.openxmlformats.org/officeDocument/2006/relationships/slideLayout" Target="../slideLayouts/slideLayout1.xml"/><Relationship Id="rId19" Type="http://schemas.openxmlformats.org/officeDocument/2006/relationships/image" Target="../media/image1.jpg"/><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image" Target="../media/image14.svg"/></Relationships>
</file>

<file path=ppt/slides/_rels/slide6.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tags" Target="../tags/tag19.xml"/><Relationship Id="rId7" Type="http://schemas.openxmlformats.org/officeDocument/2006/relationships/image" Target="../media/image19.svg"/><Relationship Id="rId2" Type="http://schemas.openxmlformats.org/officeDocument/2006/relationships/tags" Target="../tags/tag18.xml"/><Relationship Id="rId1" Type="http://schemas.openxmlformats.org/officeDocument/2006/relationships/themeOverride" Target="../theme/themeOverride3.xml"/><Relationship Id="rId6" Type="http://schemas.openxmlformats.org/officeDocument/2006/relationships/slideLayout" Target="../slideLayouts/slideLayout1.xml"/><Relationship Id="rId11" Type="http://schemas.openxmlformats.org/officeDocument/2006/relationships/image" Target="../media/image1.jpg"/><Relationship Id="rId5" Type="http://schemas.openxmlformats.org/officeDocument/2006/relationships/tags" Target="../tags/tag21.xml"/><Relationship Id="rId10" Type="http://schemas.openxmlformats.org/officeDocument/2006/relationships/image" Target="../media/image22.svg"/><Relationship Id="rId4" Type="http://schemas.openxmlformats.org/officeDocument/2006/relationships/tags" Target="../tags/tag20.xml"/><Relationship Id="rId9" Type="http://schemas.openxmlformats.org/officeDocument/2006/relationships/image" Target="../media/image21.svg"/></Relationships>
</file>

<file path=ppt/slides/_rels/slide7.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svg"/><Relationship Id="rId3" Type="http://schemas.openxmlformats.org/officeDocument/2006/relationships/tags" Target="../tags/tag24.xml"/><Relationship Id="rId7" Type="http://schemas.openxmlformats.org/officeDocument/2006/relationships/slideLayout" Target="../slideLayouts/slideLayout3.xml"/><Relationship Id="rId12" Type="http://schemas.openxmlformats.org/officeDocument/2006/relationships/image" Target="../media/image27.sv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image" Target="../media/image26.svg"/><Relationship Id="rId5" Type="http://schemas.openxmlformats.org/officeDocument/2006/relationships/tags" Target="../tags/tag26.xml"/><Relationship Id="rId10" Type="http://schemas.openxmlformats.org/officeDocument/2006/relationships/image" Target="../media/image25.svg"/><Relationship Id="rId4" Type="http://schemas.openxmlformats.org/officeDocument/2006/relationships/tags" Target="../tags/tag25.xml"/><Relationship Id="rId9" Type="http://schemas.openxmlformats.org/officeDocument/2006/relationships/image" Target="../media/image24.svg"/><Relationship Id="rId14" Type="http://schemas.openxmlformats.org/officeDocument/2006/relationships/image" Target="../media/image1.jpg"/></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1.jpg"/></Relationships>
</file>

<file path=ppt/slides/_rels/slide9.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image" Target="../media/image35.png"/><Relationship Id="rId7"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2.pn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slideLayout" Target="../slideLayouts/slideLayout3.xml"/><Relationship Id="rId18" Type="http://schemas.openxmlformats.org/officeDocument/2006/relationships/image" Target="../media/image42.svg"/><Relationship Id="rId3" Type="http://schemas.openxmlformats.org/officeDocument/2006/relationships/tags" Target="../tags/tag29.xml"/><Relationship Id="rId21" Type="http://schemas.openxmlformats.org/officeDocument/2006/relationships/image" Target="../media/image45.svg"/><Relationship Id="rId7" Type="http://schemas.openxmlformats.org/officeDocument/2006/relationships/tags" Target="../tags/tag33.xml"/><Relationship Id="rId12" Type="http://schemas.openxmlformats.org/officeDocument/2006/relationships/tags" Target="../tags/tag38.xml"/><Relationship Id="rId17" Type="http://schemas.openxmlformats.org/officeDocument/2006/relationships/image" Target="../media/image41.svg"/><Relationship Id="rId25" Type="http://schemas.openxmlformats.org/officeDocument/2006/relationships/image" Target="../media/image1.jpg"/><Relationship Id="rId2" Type="http://schemas.openxmlformats.org/officeDocument/2006/relationships/tags" Target="../tags/tag28.xml"/><Relationship Id="rId16" Type="http://schemas.openxmlformats.org/officeDocument/2006/relationships/image" Target="../media/image40.svg"/><Relationship Id="rId20" Type="http://schemas.openxmlformats.org/officeDocument/2006/relationships/image" Target="../media/image44.svg"/><Relationship Id="rId1" Type="http://schemas.openxmlformats.org/officeDocument/2006/relationships/themeOverride" Target="../theme/themeOverride4.xml"/><Relationship Id="rId6" Type="http://schemas.openxmlformats.org/officeDocument/2006/relationships/tags" Target="../tags/tag32.xml"/><Relationship Id="rId11" Type="http://schemas.openxmlformats.org/officeDocument/2006/relationships/tags" Target="../tags/tag37.xml"/><Relationship Id="rId24" Type="http://schemas.openxmlformats.org/officeDocument/2006/relationships/image" Target="../media/image48.svg"/><Relationship Id="rId5" Type="http://schemas.openxmlformats.org/officeDocument/2006/relationships/tags" Target="../tags/tag31.xml"/><Relationship Id="rId15" Type="http://schemas.openxmlformats.org/officeDocument/2006/relationships/image" Target="../media/image39.svg"/><Relationship Id="rId23" Type="http://schemas.openxmlformats.org/officeDocument/2006/relationships/image" Target="../media/image47.svg"/><Relationship Id="rId10" Type="http://schemas.openxmlformats.org/officeDocument/2006/relationships/tags" Target="../tags/tag36.xml"/><Relationship Id="rId19" Type="http://schemas.openxmlformats.org/officeDocument/2006/relationships/image" Target="../media/image43.svg"/><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image" Target="../media/image38.svg"/><Relationship Id="rId22" Type="http://schemas.openxmlformats.org/officeDocument/2006/relationships/image" Target="../media/image46.sv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hyperlink" Target="https://www.anthropic.com/news/model-context-protocol" TargetMode="External"/><Relationship Id="rId13" Type="http://schemas.openxmlformats.org/officeDocument/2006/relationships/image" Target="../media/image1.jpg"/><Relationship Id="rId3" Type="http://schemas.openxmlformats.org/officeDocument/2006/relationships/hyperlink" Target="https://arxiv.org/abs/2308.01940" TargetMode="External"/><Relationship Id="rId7" Type="http://schemas.openxmlformats.org/officeDocument/2006/relationships/hyperlink" Target="https://arxiv.org/abs/2310.03714" TargetMode="External"/><Relationship Id="rId12" Type="http://schemas.openxmlformats.org/officeDocument/2006/relationships/hyperlink" Target="https://docs.snowflake.com/en/sql-reference"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hyperlink" Target="https://arxiv.org/abs/2303.11366" TargetMode="External"/><Relationship Id="rId11" Type="http://schemas.openxmlformats.org/officeDocument/2006/relationships/hyperlink" Target="https://www.anthropic.com/engineering/built-multi-agent-research-system" TargetMode="External"/><Relationship Id="rId5" Type="http://schemas.openxmlformats.org/officeDocument/2006/relationships/hyperlink" Target="https://arxiv.org/abs/2210.03629" TargetMode="External"/><Relationship Id="rId10" Type="http://schemas.openxmlformats.org/officeDocument/2006/relationships/hyperlink" Target="https://arxiv.org/abs/2201.11903" TargetMode="External"/><Relationship Id="rId4" Type="http://schemas.openxmlformats.org/officeDocument/2006/relationships/hyperlink" Target="https://arxiv.org/abs/2411.07763" TargetMode="External"/><Relationship Id="rId9" Type="http://schemas.openxmlformats.org/officeDocument/2006/relationships/hyperlink" Target="https://arxiv.org/abs/2208.13629"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12700">
            <a:solidFill>
              <a:srgbClr val="1C2A3A"/>
            </a:solidFill>
            <a:prstDash val="solid"/>
          </a:ln>
        </p:spPr>
        <p:txBody>
          <a:bodyPr/>
          <a:lstStyle/>
          <a:p>
            <a:endParaRPr lang="en-US"/>
          </a:p>
        </p:txBody>
      </p:sp>
      <p:sp>
        <p:nvSpPr>
          <p:cNvPr id="3" name="Shape 1"/>
          <p:cNvSpPr/>
          <p:nvPr/>
        </p:nvSpPr>
        <p:spPr>
          <a:xfrm>
            <a:off x="0" y="548640"/>
            <a:ext cx="9144000" cy="0"/>
          </a:xfrm>
          <a:prstGeom prst="line">
            <a:avLst/>
          </a:prstGeom>
          <a:noFill/>
          <a:ln w="12700">
            <a:solidFill>
              <a:srgbClr val="1C2A3A"/>
            </a:solidFill>
            <a:prstDash val="solid"/>
          </a:ln>
        </p:spPr>
        <p:txBody>
          <a:bodyPr/>
          <a:lstStyle/>
          <a:p>
            <a:endParaRPr lang="en-US"/>
          </a:p>
        </p:txBody>
      </p:sp>
      <p:sp>
        <p:nvSpPr>
          <p:cNvPr id="4" name="Shape 2"/>
          <p:cNvSpPr/>
          <p:nvPr/>
        </p:nvSpPr>
        <p:spPr>
          <a:xfrm>
            <a:off x="0" y="1097280"/>
            <a:ext cx="9144000" cy="0"/>
          </a:xfrm>
          <a:prstGeom prst="line">
            <a:avLst/>
          </a:prstGeom>
          <a:noFill/>
          <a:ln w="12700">
            <a:solidFill>
              <a:srgbClr val="1C2A3A"/>
            </a:solidFill>
            <a:prstDash val="solid"/>
          </a:ln>
        </p:spPr>
        <p:txBody>
          <a:bodyPr/>
          <a:lstStyle/>
          <a:p>
            <a:endParaRPr lang="en-US"/>
          </a:p>
        </p:txBody>
      </p:sp>
      <p:sp>
        <p:nvSpPr>
          <p:cNvPr id="5" name="Shape 3"/>
          <p:cNvSpPr/>
          <p:nvPr/>
        </p:nvSpPr>
        <p:spPr>
          <a:xfrm>
            <a:off x="0" y="1645920"/>
            <a:ext cx="9144000" cy="0"/>
          </a:xfrm>
          <a:prstGeom prst="line">
            <a:avLst/>
          </a:prstGeom>
          <a:noFill/>
          <a:ln w="12700">
            <a:solidFill>
              <a:srgbClr val="1C2A3A"/>
            </a:solidFill>
            <a:prstDash val="solid"/>
          </a:ln>
        </p:spPr>
        <p:txBody>
          <a:bodyPr/>
          <a:lstStyle/>
          <a:p>
            <a:endParaRPr lang="en-US"/>
          </a:p>
        </p:txBody>
      </p:sp>
      <p:sp>
        <p:nvSpPr>
          <p:cNvPr id="6" name="Shape 4"/>
          <p:cNvSpPr/>
          <p:nvPr/>
        </p:nvSpPr>
        <p:spPr>
          <a:xfrm>
            <a:off x="0" y="2194560"/>
            <a:ext cx="9144000" cy="0"/>
          </a:xfrm>
          <a:prstGeom prst="line">
            <a:avLst/>
          </a:prstGeom>
          <a:noFill/>
          <a:ln w="12700">
            <a:solidFill>
              <a:srgbClr val="1C2A3A"/>
            </a:solidFill>
            <a:prstDash val="solid"/>
          </a:ln>
        </p:spPr>
        <p:txBody>
          <a:bodyPr/>
          <a:lstStyle/>
          <a:p>
            <a:endParaRPr lang="en-US"/>
          </a:p>
        </p:txBody>
      </p:sp>
      <p:sp>
        <p:nvSpPr>
          <p:cNvPr id="7" name="Shape 5"/>
          <p:cNvSpPr/>
          <p:nvPr/>
        </p:nvSpPr>
        <p:spPr>
          <a:xfrm>
            <a:off x="0" y="2743200"/>
            <a:ext cx="9144000" cy="0"/>
          </a:xfrm>
          <a:prstGeom prst="line">
            <a:avLst/>
          </a:prstGeom>
          <a:noFill/>
          <a:ln w="12700">
            <a:solidFill>
              <a:srgbClr val="1C2A3A"/>
            </a:solidFill>
            <a:prstDash val="solid"/>
          </a:ln>
        </p:spPr>
        <p:txBody>
          <a:bodyPr/>
          <a:lstStyle/>
          <a:p>
            <a:endParaRPr lang="en-US"/>
          </a:p>
        </p:txBody>
      </p:sp>
      <p:sp>
        <p:nvSpPr>
          <p:cNvPr id="8" name="Shape 6"/>
          <p:cNvSpPr/>
          <p:nvPr/>
        </p:nvSpPr>
        <p:spPr>
          <a:xfrm>
            <a:off x="0" y="3291840"/>
            <a:ext cx="9144000" cy="0"/>
          </a:xfrm>
          <a:prstGeom prst="line">
            <a:avLst/>
          </a:prstGeom>
          <a:noFill/>
          <a:ln w="12700">
            <a:solidFill>
              <a:srgbClr val="1C2A3A"/>
            </a:solidFill>
            <a:prstDash val="solid"/>
          </a:ln>
        </p:spPr>
        <p:txBody>
          <a:bodyPr/>
          <a:lstStyle/>
          <a:p>
            <a:endParaRPr lang="en-US"/>
          </a:p>
        </p:txBody>
      </p:sp>
      <p:sp>
        <p:nvSpPr>
          <p:cNvPr id="9" name="Shape 7"/>
          <p:cNvSpPr/>
          <p:nvPr/>
        </p:nvSpPr>
        <p:spPr>
          <a:xfrm>
            <a:off x="0" y="3840480"/>
            <a:ext cx="9144000" cy="0"/>
          </a:xfrm>
          <a:prstGeom prst="line">
            <a:avLst/>
          </a:prstGeom>
          <a:noFill/>
          <a:ln w="12700">
            <a:solidFill>
              <a:srgbClr val="1C2A3A"/>
            </a:solidFill>
            <a:prstDash val="solid"/>
          </a:ln>
        </p:spPr>
        <p:txBody>
          <a:bodyPr/>
          <a:lstStyle/>
          <a:p>
            <a:endParaRPr lang="en-US"/>
          </a:p>
        </p:txBody>
      </p:sp>
      <p:sp>
        <p:nvSpPr>
          <p:cNvPr id="10" name="Shape 8"/>
          <p:cNvSpPr/>
          <p:nvPr/>
        </p:nvSpPr>
        <p:spPr>
          <a:xfrm>
            <a:off x="0" y="4389120"/>
            <a:ext cx="9144000" cy="0"/>
          </a:xfrm>
          <a:prstGeom prst="line">
            <a:avLst/>
          </a:prstGeom>
          <a:noFill/>
          <a:ln w="12700">
            <a:solidFill>
              <a:srgbClr val="1C2A3A"/>
            </a:solidFill>
            <a:prstDash val="solid"/>
          </a:ln>
        </p:spPr>
        <p:txBody>
          <a:bodyPr/>
          <a:lstStyle/>
          <a:p>
            <a:endParaRPr lang="en-US"/>
          </a:p>
        </p:txBody>
      </p:sp>
      <p:sp>
        <p:nvSpPr>
          <p:cNvPr id="11" name="Shape 9"/>
          <p:cNvSpPr/>
          <p:nvPr/>
        </p:nvSpPr>
        <p:spPr>
          <a:xfrm>
            <a:off x="0" y="4937760"/>
            <a:ext cx="9144000" cy="0"/>
          </a:xfrm>
          <a:prstGeom prst="line">
            <a:avLst/>
          </a:prstGeom>
          <a:noFill/>
          <a:ln w="12700">
            <a:solidFill>
              <a:srgbClr val="1C2A3A"/>
            </a:solidFill>
            <a:prstDash val="solid"/>
          </a:ln>
        </p:spPr>
        <p:txBody>
          <a:bodyPr/>
          <a:lstStyle/>
          <a:p>
            <a:endParaRPr lang="en-US"/>
          </a:p>
        </p:txBody>
      </p:sp>
      <p:sp>
        <p:nvSpPr>
          <p:cNvPr id="12" name="Shape 10"/>
          <p:cNvSpPr/>
          <p:nvPr/>
        </p:nvSpPr>
        <p:spPr>
          <a:xfrm>
            <a:off x="0" y="0"/>
            <a:ext cx="0" cy="5143500"/>
          </a:xfrm>
          <a:prstGeom prst="line">
            <a:avLst/>
          </a:prstGeom>
          <a:noFill/>
          <a:ln w="12700">
            <a:solidFill>
              <a:srgbClr val="1C2A3A"/>
            </a:solidFill>
            <a:prstDash val="solid"/>
          </a:ln>
        </p:spPr>
        <p:txBody>
          <a:bodyPr/>
          <a:lstStyle/>
          <a:p>
            <a:endParaRPr lang="en-US"/>
          </a:p>
        </p:txBody>
      </p:sp>
      <p:sp>
        <p:nvSpPr>
          <p:cNvPr id="13" name="Shape 11"/>
          <p:cNvSpPr/>
          <p:nvPr/>
        </p:nvSpPr>
        <p:spPr>
          <a:xfrm>
            <a:off x="548640" y="0"/>
            <a:ext cx="0" cy="5143500"/>
          </a:xfrm>
          <a:prstGeom prst="line">
            <a:avLst/>
          </a:prstGeom>
          <a:noFill/>
          <a:ln w="12700">
            <a:solidFill>
              <a:srgbClr val="1C2A3A"/>
            </a:solidFill>
            <a:prstDash val="solid"/>
          </a:ln>
        </p:spPr>
        <p:txBody>
          <a:bodyPr/>
          <a:lstStyle/>
          <a:p>
            <a:endParaRPr lang="en-US"/>
          </a:p>
        </p:txBody>
      </p:sp>
      <p:sp>
        <p:nvSpPr>
          <p:cNvPr id="14" name="Shape 12"/>
          <p:cNvSpPr/>
          <p:nvPr/>
        </p:nvSpPr>
        <p:spPr>
          <a:xfrm>
            <a:off x="1097280" y="0"/>
            <a:ext cx="0" cy="5143500"/>
          </a:xfrm>
          <a:prstGeom prst="line">
            <a:avLst/>
          </a:prstGeom>
          <a:noFill/>
          <a:ln w="12700">
            <a:solidFill>
              <a:srgbClr val="1C2A3A"/>
            </a:solidFill>
            <a:prstDash val="solid"/>
          </a:ln>
        </p:spPr>
        <p:txBody>
          <a:bodyPr/>
          <a:lstStyle/>
          <a:p>
            <a:endParaRPr lang="en-US"/>
          </a:p>
        </p:txBody>
      </p:sp>
      <p:sp>
        <p:nvSpPr>
          <p:cNvPr id="15" name="Shape 13"/>
          <p:cNvSpPr/>
          <p:nvPr/>
        </p:nvSpPr>
        <p:spPr>
          <a:xfrm>
            <a:off x="1645920" y="0"/>
            <a:ext cx="0" cy="5143500"/>
          </a:xfrm>
          <a:prstGeom prst="line">
            <a:avLst/>
          </a:prstGeom>
          <a:noFill/>
          <a:ln w="12700">
            <a:solidFill>
              <a:srgbClr val="1C2A3A"/>
            </a:solidFill>
            <a:prstDash val="solid"/>
          </a:ln>
        </p:spPr>
        <p:txBody>
          <a:bodyPr/>
          <a:lstStyle/>
          <a:p>
            <a:endParaRPr lang="en-US"/>
          </a:p>
        </p:txBody>
      </p:sp>
      <p:sp>
        <p:nvSpPr>
          <p:cNvPr id="16" name="Shape 14"/>
          <p:cNvSpPr/>
          <p:nvPr/>
        </p:nvSpPr>
        <p:spPr>
          <a:xfrm>
            <a:off x="2194560" y="0"/>
            <a:ext cx="0" cy="5143500"/>
          </a:xfrm>
          <a:prstGeom prst="line">
            <a:avLst/>
          </a:prstGeom>
          <a:noFill/>
          <a:ln w="12700">
            <a:solidFill>
              <a:srgbClr val="1C2A3A"/>
            </a:solidFill>
            <a:prstDash val="solid"/>
          </a:ln>
        </p:spPr>
        <p:txBody>
          <a:bodyPr/>
          <a:lstStyle/>
          <a:p>
            <a:endParaRPr lang="en-US"/>
          </a:p>
        </p:txBody>
      </p:sp>
      <p:sp>
        <p:nvSpPr>
          <p:cNvPr id="17" name="Shape 15"/>
          <p:cNvSpPr/>
          <p:nvPr/>
        </p:nvSpPr>
        <p:spPr>
          <a:xfrm>
            <a:off x="2743200" y="0"/>
            <a:ext cx="0" cy="5143500"/>
          </a:xfrm>
          <a:prstGeom prst="line">
            <a:avLst/>
          </a:prstGeom>
          <a:noFill/>
          <a:ln w="12700">
            <a:solidFill>
              <a:srgbClr val="1C2A3A"/>
            </a:solidFill>
            <a:prstDash val="solid"/>
          </a:ln>
        </p:spPr>
        <p:txBody>
          <a:bodyPr/>
          <a:lstStyle/>
          <a:p>
            <a:endParaRPr lang="en-US"/>
          </a:p>
        </p:txBody>
      </p:sp>
      <p:sp>
        <p:nvSpPr>
          <p:cNvPr id="18" name="Shape 16"/>
          <p:cNvSpPr/>
          <p:nvPr/>
        </p:nvSpPr>
        <p:spPr>
          <a:xfrm>
            <a:off x="3291840" y="0"/>
            <a:ext cx="0" cy="5143500"/>
          </a:xfrm>
          <a:prstGeom prst="line">
            <a:avLst/>
          </a:prstGeom>
          <a:noFill/>
          <a:ln w="12700">
            <a:solidFill>
              <a:srgbClr val="1C2A3A"/>
            </a:solidFill>
            <a:prstDash val="solid"/>
          </a:ln>
        </p:spPr>
        <p:txBody>
          <a:bodyPr/>
          <a:lstStyle/>
          <a:p>
            <a:endParaRPr lang="en-US"/>
          </a:p>
        </p:txBody>
      </p:sp>
      <p:sp>
        <p:nvSpPr>
          <p:cNvPr id="19" name="Shape 17"/>
          <p:cNvSpPr/>
          <p:nvPr/>
        </p:nvSpPr>
        <p:spPr>
          <a:xfrm>
            <a:off x="3840480" y="0"/>
            <a:ext cx="0" cy="5143500"/>
          </a:xfrm>
          <a:prstGeom prst="line">
            <a:avLst/>
          </a:prstGeom>
          <a:noFill/>
          <a:ln w="12700">
            <a:solidFill>
              <a:srgbClr val="1C2A3A"/>
            </a:solidFill>
            <a:prstDash val="solid"/>
          </a:ln>
        </p:spPr>
        <p:txBody>
          <a:bodyPr/>
          <a:lstStyle/>
          <a:p>
            <a:endParaRPr lang="en-US"/>
          </a:p>
        </p:txBody>
      </p:sp>
      <p:sp>
        <p:nvSpPr>
          <p:cNvPr id="20" name="Shape 18"/>
          <p:cNvSpPr/>
          <p:nvPr/>
        </p:nvSpPr>
        <p:spPr>
          <a:xfrm>
            <a:off x="4389120" y="0"/>
            <a:ext cx="0" cy="5143500"/>
          </a:xfrm>
          <a:prstGeom prst="line">
            <a:avLst/>
          </a:prstGeom>
          <a:noFill/>
          <a:ln w="12700">
            <a:solidFill>
              <a:srgbClr val="1C2A3A"/>
            </a:solidFill>
            <a:prstDash val="solid"/>
          </a:ln>
        </p:spPr>
        <p:txBody>
          <a:bodyPr/>
          <a:lstStyle/>
          <a:p>
            <a:endParaRPr lang="en-US"/>
          </a:p>
        </p:txBody>
      </p:sp>
      <p:sp>
        <p:nvSpPr>
          <p:cNvPr id="21" name="Shape 19"/>
          <p:cNvSpPr/>
          <p:nvPr/>
        </p:nvSpPr>
        <p:spPr>
          <a:xfrm>
            <a:off x="4937760" y="0"/>
            <a:ext cx="0" cy="5143500"/>
          </a:xfrm>
          <a:prstGeom prst="line">
            <a:avLst/>
          </a:prstGeom>
          <a:noFill/>
          <a:ln w="12700">
            <a:solidFill>
              <a:srgbClr val="1C2A3A"/>
            </a:solidFill>
            <a:prstDash val="solid"/>
          </a:ln>
        </p:spPr>
        <p:txBody>
          <a:bodyPr/>
          <a:lstStyle/>
          <a:p>
            <a:endParaRPr lang="en-US"/>
          </a:p>
        </p:txBody>
      </p:sp>
      <p:sp>
        <p:nvSpPr>
          <p:cNvPr id="22" name="Shape 20"/>
          <p:cNvSpPr/>
          <p:nvPr/>
        </p:nvSpPr>
        <p:spPr>
          <a:xfrm>
            <a:off x="5486400" y="0"/>
            <a:ext cx="0" cy="5143500"/>
          </a:xfrm>
          <a:prstGeom prst="line">
            <a:avLst/>
          </a:prstGeom>
          <a:noFill/>
          <a:ln w="12700">
            <a:solidFill>
              <a:srgbClr val="1C2A3A"/>
            </a:solidFill>
            <a:prstDash val="solid"/>
          </a:ln>
        </p:spPr>
        <p:txBody>
          <a:bodyPr/>
          <a:lstStyle/>
          <a:p>
            <a:endParaRPr lang="en-US"/>
          </a:p>
        </p:txBody>
      </p:sp>
      <p:sp>
        <p:nvSpPr>
          <p:cNvPr id="23" name="Shape 21"/>
          <p:cNvSpPr/>
          <p:nvPr/>
        </p:nvSpPr>
        <p:spPr>
          <a:xfrm>
            <a:off x="6035040" y="0"/>
            <a:ext cx="0" cy="5143500"/>
          </a:xfrm>
          <a:prstGeom prst="line">
            <a:avLst/>
          </a:prstGeom>
          <a:noFill/>
          <a:ln w="12700">
            <a:solidFill>
              <a:srgbClr val="1C2A3A"/>
            </a:solidFill>
            <a:prstDash val="solid"/>
          </a:ln>
        </p:spPr>
        <p:txBody>
          <a:bodyPr/>
          <a:lstStyle/>
          <a:p>
            <a:endParaRPr lang="en-US"/>
          </a:p>
        </p:txBody>
      </p:sp>
      <p:sp>
        <p:nvSpPr>
          <p:cNvPr id="24" name="Shape 22"/>
          <p:cNvSpPr/>
          <p:nvPr/>
        </p:nvSpPr>
        <p:spPr>
          <a:xfrm>
            <a:off x="6583680" y="0"/>
            <a:ext cx="0" cy="5143500"/>
          </a:xfrm>
          <a:prstGeom prst="line">
            <a:avLst/>
          </a:prstGeom>
          <a:noFill/>
          <a:ln w="12700">
            <a:solidFill>
              <a:srgbClr val="1C2A3A"/>
            </a:solidFill>
            <a:prstDash val="solid"/>
          </a:ln>
        </p:spPr>
        <p:txBody>
          <a:bodyPr/>
          <a:lstStyle/>
          <a:p>
            <a:endParaRPr lang="en-US"/>
          </a:p>
        </p:txBody>
      </p:sp>
      <p:sp>
        <p:nvSpPr>
          <p:cNvPr id="25" name="Shape 23"/>
          <p:cNvSpPr/>
          <p:nvPr/>
        </p:nvSpPr>
        <p:spPr>
          <a:xfrm>
            <a:off x="7132320" y="0"/>
            <a:ext cx="0" cy="5143500"/>
          </a:xfrm>
          <a:prstGeom prst="line">
            <a:avLst/>
          </a:prstGeom>
          <a:noFill/>
          <a:ln w="12700">
            <a:solidFill>
              <a:srgbClr val="1C2A3A"/>
            </a:solidFill>
            <a:prstDash val="solid"/>
          </a:ln>
        </p:spPr>
        <p:txBody>
          <a:bodyPr/>
          <a:lstStyle/>
          <a:p>
            <a:endParaRPr lang="en-US"/>
          </a:p>
        </p:txBody>
      </p:sp>
      <p:sp>
        <p:nvSpPr>
          <p:cNvPr id="26" name="Shape 24"/>
          <p:cNvSpPr/>
          <p:nvPr/>
        </p:nvSpPr>
        <p:spPr>
          <a:xfrm>
            <a:off x="7680960" y="0"/>
            <a:ext cx="0" cy="5143500"/>
          </a:xfrm>
          <a:prstGeom prst="line">
            <a:avLst/>
          </a:prstGeom>
          <a:noFill/>
          <a:ln w="12700">
            <a:solidFill>
              <a:srgbClr val="1C2A3A"/>
            </a:solidFill>
            <a:prstDash val="solid"/>
          </a:ln>
        </p:spPr>
        <p:txBody>
          <a:bodyPr/>
          <a:lstStyle/>
          <a:p>
            <a:endParaRPr lang="en-US"/>
          </a:p>
        </p:txBody>
      </p:sp>
      <p:sp>
        <p:nvSpPr>
          <p:cNvPr id="27" name="Shape 25"/>
          <p:cNvSpPr/>
          <p:nvPr/>
        </p:nvSpPr>
        <p:spPr>
          <a:xfrm>
            <a:off x="8229600" y="0"/>
            <a:ext cx="0" cy="5143500"/>
          </a:xfrm>
          <a:prstGeom prst="line">
            <a:avLst/>
          </a:prstGeom>
          <a:noFill/>
          <a:ln w="12700">
            <a:solidFill>
              <a:srgbClr val="1C2A3A"/>
            </a:solidFill>
            <a:prstDash val="solid"/>
          </a:ln>
        </p:spPr>
        <p:txBody>
          <a:bodyPr/>
          <a:lstStyle/>
          <a:p>
            <a:endParaRPr lang="en-US"/>
          </a:p>
        </p:txBody>
      </p:sp>
      <p:sp>
        <p:nvSpPr>
          <p:cNvPr id="28" name="Shape 26"/>
          <p:cNvSpPr/>
          <p:nvPr/>
        </p:nvSpPr>
        <p:spPr>
          <a:xfrm>
            <a:off x="8778240" y="0"/>
            <a:ext cx="0" cy="5143500"/>
          </a:xfrm>
          <a:prstGeom prst="line">
            <a:avLst/>
          </a:prstGeom>
          <a:noFill/>
          <a:ln w="12700">
            <a:solidFill>
              <a:srgbClr val="1C2A3A"/>
            </a:solidFill>
            <a:prstDash val="solid"/>
          </a:ln>
        </p:spPr>
        <p:txBody>
          <a:bodyPr/>
          <a:lstStyle/>
          <a:p>
            <a:endParaRPr lang="en-US"/>
          </a:p>
        </p:txBody>
      </p:sp>
      <p:sp>
        <p:nvSpPr>
          <p:cNvPr id="29" name="Shape 27"/>
          <p:cNvSpPr/>
          <p:nvPr/>
        </p:nvSpPr>
        <p:spPr>
          <a:xfrm>
            <a:off x="9326880" y="0"/>
            <a:ext cx="0" cy="5143500"/>
          </a:xfrm>
          <a:prstGeom prst="line">
            <a:avLst/>
          </a:prstGeom>
          <a:noFill/>
          <a:ln w="12700">
            <a:solidFill>
              <a:srgbClr val="1C2A3A"/>
            </a:solidFill>
            <a:prstDash val="solid"/>
          </a:ln>
        </p:spPr>
        <p:txBody>
          <a:bodyPr/>
          <a:lstStyle/>
          <a:p>
            <a:endParaRPr lang="en-US"/>
          </a:p>
        </p:txBody>
      </p:sp>
      <p:sp>
        <p:nvSpPr>
          <p:cNvPr id="30" name="Shape 28"/>
          <p:cNvSpPr/>
          <p:nvPr/>
        </p:nvSpPr>
        <p:spPr>
          <a:xfrm>
            <a:off x="0" y="1280160"/>
            <a:ext cx="164592" cy="2560320"/>
          </a:xfrm>
          <a:prstGeom prst="rect">
            <a:avLst/>
          </a:prstGeom>
          <a:solidFill>
            <a:srgbClr val="00D4FF"/>
          </a:solidFill>
          <a:ln w="12700">
            <a:solidFill>
              <a:srgbClr val="00D4FF"/>
            </a:solidFill>
            <a:prstDash val="solid"/>
          </a:ln>
        </p:spPr>
        <p:txBody>
          <a:bodyPr/>
          <a:lstStyle/>
          <a:p>
            <a:endParaRPr lang="en-US"/>
          </a:p>
        </p:txBody>
      </p:sp>
      <p:sp>
        <p:nvSpPr>
          <p:cNvPr id="31" name="Text 29"/>
          <p:cNvSpPr/>
          <p:nvPr/>
        </p:nvSpPr>
        <p:spPr>
          <a:xfrm>
            <a:off x="502920" y="1188720"/>
            <a:ext cx="8229600" cy="502920"/>
          </a:xfrm>
          <a:prstGeom prst="rect">
            <a:avLst/>
          </a:prstGeom>
          <a:noFill/>
          <a:ln/>
        </p:spPr>
        <p:txBody>
          <a:bodyPr wrap="square" lIns="0" tIns="0" rIns="0" bIns="0" rtlCol="0" anchor="ctr"/>
          <a:lstStyle/>
          <a:p>
            <a:pPr marL="0" indent="0" algn="l">
              <a:buNone/>
            </a:pPr>
            <a:r>
              <a:rPr lang="en-US" sz="1400" b="1" kern="0" spc="600" dirty="0">
                <a:solidFill>
                  <a:srgbClr val="00D4FF"/>
                </a:solidFill>
                <a:latin typeface="Calibri" pitchFamily="34" charset="0"/>
                <a:ea typeface="Calibri" pitchFamily="34" charset="-122"/>
                <a:cs typeface="Calibri" pitchFamily="34" charset="-120"/>
              </a:rPr>
              <a:t>ARCHITECTING</a:t>
            </a:r>
            <a:endParaRPr lang="en-US" sz="1400" dirty="0"/>
          </a:p>
        </p:txBody>
      </p:sp>
      <p:sp>
        <p:nvSpPr>
          <p:cNvPr id="32" name="Text 30"/>
          <p:cNvSpPr/>
          <p:nvPr/>
        </p:nvSpPr>
        <p:spPr>
          <a:xfrm>
            <a:off x="502920" y="1691640"/>
            <a:ext cx="8229600" cy="1005840"/>
          </a:xfrm>
          <a:prstGeom prst="rect">
            <a:avLst/>
          </a:prstGeom>
          <a:noFill/>
          <a:ln/>
        </p:spPr>
        <p:txBody>
          <a:bodyPr wrap="square" lIns="0" tIns="0" rIns="0" bIns="0" rtlCol="0" anchor="ctr"/>
          <a:lstStyle/>
          <a:p>
            <a:pPr marL="0" indent="0" algn="l">
              <a:buNone/>
            </a:pPr>
            <a:r>
              <a:rPr lang="en-US" sz="6800" b="1" dirty="0">
                <a:solidFill>
                  <a:srgbClr val="F9FAFB"/>
                </a:solidFill>
                <a:latin typeface="Calibri" pitchFamily="34" charset="0"/>
                <a:ea typeface="Calibri" pitchFamily="34" charset="-122"/>
                <a:cs typeface="Calibri" pitchFamily="34" charset="-120"/>
              </a:rPr>
              <a:t>SpiderDIN</a:t>
            </a:r>
            <a:endParaRPr lang="en-US" sz="6800" dirty="0"/>
          </a:p>
        </p:txBody>
      </p:sp>
      <p:sp>
        <p:nvSpPr>
          <p:cNvPr id="33" name="Text 31"/>
          <p:cNvSpPr/>
          <p:nvPr/>
        </p:nvSpPr>
        <p:spPr>
          <a:xfrm>
            <a:off x="502920" y="2697480"/>
            <a:ext cx="6858000" cy="502920"/>
          </a:xfrm>
          <a:prstGeom prst="rect">
            <a:avLst/>
          </a:prstGeom>
          <a:noFill/>
          <a:ln/>
        </p:spPr>
        <p:txBody>
          <a:bodyPr wrap="square" lIns="0" tIns="0" rIns="0" bIns="0" rtlCol="0" anchor="ctr"/>
          <a:lstStyle/>
          <a:p>
            <a:pPr marL="0" indent="0" algn="l">
              <a:buNone/>
            </a:pPr>
            <a:r>
              <a:rPr lang="en-US" sz="1500" dirty="0">
                <a:solidFill>
                  <a:srgbClr val="9CA3AF"/>
                </a:solidFill>
                <a:latin typeface="Calibri" pitchFamily="34" charset="0"/>
                <a:ea typeface="Calibri" pitchFamily="34" charset="-122"/>
                <a:cs typeface="Calibri" pitchFamily="34" charset="-120"/>
              </a:rPr>
              <a:t>A repo-grounded war story of agents, Snowflake, validation, retries, and the architecture that survived</a:t>
            </a:r>
            <a:endParaRPr lang="en-US" sz="1500" dirty="0"/>
          </a:p>
        </p:txBody>
      </p:sp>
      <p:sp>
        <p:nvSpPr>
          <p:cNvPr id="34" name="Shape 32"/>
          <p:cNvSpPr/>
          <p:nvPr/>
        </p:nvSpPr>
        <p:spPr>
          <a:xfrm>
            <a:off x="502920" y="3337560"/>
            <a:ext cx="3657600" cy="36576"/>
          </a:xfrm>
          <a:prstGeom prst="rect">
            <a:avLst/>
          </a:prstGeom>
          <a:solidFill>
            <a:srgbClr val="00D4FF"/>
          </a:solidFill>
          <a:ln w="12700">
            <a:solidFill>
              <a:srgbClr val="00D4FF"/>
            </a:solidFill>
            <a:prstDash val="solid"/>
          </a:ln>
        </p:spPr>
        <p:txBody>
          <a:bodyPr/>
          <a:lstStyle/>
          <a:p>
            <a:endParaRPr lang="en-US"/>
          </a:p>
        </p:txBody>
      </p:sp>
      <p:sp>
        <p:nvSpPr>
          <p:cNvPr id="35" name="Text 33"/>
          <p:cNvSpPr/>
          <p:nvPr/>
        </p:nvSpPr>
        <p:spPr>
          <a:xfrm>
            <a:off x="502920" y="3520440"/>
            <a:ext cx="4572000" cy="274320"/>
          </a:xfrm>
          <a:prstGeom prst="rect">
            <a:avLst/>
          </a:prstGeom>
          <a:noFill/>
          <a:ln/>
        </p:spPr>
        <p:txBody>
          <a:bodyPr wrap="square" lIns="0" tIns="0" rIns="0" bIns="0" rtlCol="0" anchor="ctr"/>
          <a:lstStyle/>
          <a:p>
            <a:pPr marL="171450" indent="-171450" algn="l">
              <a:buFont typeface="Wingdings" panose="05000000000000000000" pitchFamily="2" charset="2"/>
              <a:buChar char="v"/>
            </a:pPr>
            <a:r>
              <a:rPr lang="en-US" sz="1100" dirty="0">
                <a:solidFill>
                  <a:srgbClr val="9CA3AF"/>
                </a:solidFill>
                <a:latin typeface="Calibri" pitchFamily="34" charset="0"/>
                <a:ea typeface="Calibri" pitchFamily="34" charset="-122"/>
                <a:cs typeface="Calibri" pitchFamily="34" charset="-120"/>
              </a:rPr>
              <a:t>Vikas Vijigiri 	(NGENUX </a:t>
            </a:r>
            <a:r>
              <a:rPr lang="en-US" sz="1100">
                <a:solidFill>
                  <a:srgbClr val="9CA3AF"/>
                </a:solidFill>
                <a:latin typeface="Calibri" pitchFamily="34" charset="0"/>
                <a:ea typeface="Calibri" pitchFamily="34" charset="-122"/>
                <a:cs typeface="Calibri" pitchFamily="34" charset="-120"/>
              </a:rPr>
              <a:t>AI Team) </a:t>
            </a:r>
            <a:r>
              <a:rPr lang="en-US" sz="1100" dirty="0">
                <a:solidFill>
                  <a:srgbClr val="9CA3AF"/>
                </a:solidFill>
                <a:latin typeface="Calibri" pitchFamily="34" charset="0"/>
                <a:ea typeface="Calibri" pitchFamily="34" charset="-122"/>
                <a:cs typeface="Calibri" pitchFamily="34" charset="-120"/>
              </a:rPr>
              <a:t>·  2026</a:t>
            </a:r>
            <a:endParaRPr lang="en-US" sz="1100" dirty="0"/>
          </a:p>
        </p:txBody>
      </p:sp>
      <p:sp>
        <p:nvSpPr>
          <p:cNvPr id="36" name="Shape 34"/>
          <p:cNvSpPr/>
          <p:nvPr/>
        </p:nvSpPr>
        <p:spPr>
          <a:xfrm>
            <a:off x="426559" y="3941064"/>
            <a:ext cx="1539400" cy="292608"/>
          </a:xfrm>
          <a:prstGeom prst="roundRect">
            <a:avLst>
              <a:gd name="adj" fmla="val 31250"/>
            </a:avLst>
          </a:prstGeom>
          <a:solidFill>
            <a:srgbClr val="00D4FF">
              <a:alpha val="70000"/>
            </a:srgbClr>
          </a:solidFill>
          <a:ln w="12700">
            <a:solidFill>
              <a:srgbClr val="00D4FF"/>
            </a:solidFill>
            <a:prstDash val="solid"/>
          </a:ln>
        </p:spPr>
        <p:txBody>
          <a:bodyPr/>
          <a:lstStyle/>
          <a:p>
            <a:endParaRPr lang="en-US"/>
          </a:p>
        </p:txBody>
      </p:sp>
      <p:sp>
        <p:nvSpPr>
          <p:cNvPr id="37" name="Text 35"/>
          <p:cNvSpPr/>
          <p:nvPr/>
        </p:nvSpPr>
        <p:spPr>
          <a:xfrm>
            <a:off x="502920" y="3931920"/>
            <a:ext cx="1463039" cy="292608"/>
          </a:xfrm>
          <a:prstGeom prst="rect">
            <a:avLst/>
          </a:prstGeom>
          <a:noFill/>
          <a:ln/>
        </p:spPr>
        <p:txBody>
          <a:bodyPr wrap="square" lIns="0" tIns="0" rIns="0" bIns="0" rtlCol="0" anchor="ctr"/>
          <a:lstStyle/>
          <a:p>
            <a:pPr marL="0" indent="0" algn="ctr">
              <a:buNone/>
            </a:pPr>
            <a:r>
              <a:rPr lang="en-US" sz="900" b="1" dirty="0">
                <a:solidFill>
                  <a:srgbClr val="F9FAFB"/>
                </a:solidFill>
              </a:rPr>
              <a:t>Multi-Agent</a:t>
            </a:r>
            <a:endParaRPr lang="en-US" sz="900" dirty="0"/>
          </a:p>
        </p:txBody>
      </p:sp>
      <p:sp>
        <p:nvSpPr>
          <p:cNvPr id="38" name="Shape 36"/>
          <p:cNvSpPr/>
          <p:nvPr/>
        </p:nvSpPr>
        <p:spPr>
          <a:xfrm>
            <a:off x="2350006" y="3941064"/>
            <a:ext cx="1444753" cy="292608"/>
          </a:xfrm>
          <a:prstGeom prst="roundRect">
            <a:avLst>
              <a:gd name="adj" fmla="val 31250"/>
            </a:avLst>
          </a:prstGeom>
          <a:solidFill>
            <a:srgbClr val="7C3AED">
              <a:alpha val="70000"/>
            </a:srgbClr>
          </a:solidFill>
          <a:ln w="12700">
            <a:solidFill>
              <a:srgbClr val="7C3AED"/>
            </a:solidFill>
            <a:prstDash val="solid"/>
          </a:ln>
        </p:spPr>
        <p:txBody>
          <a:bodyPr/>
          <a:lstStyle/>
          <a:p>
            <a:endParaRPr lang="en-US"/>
          </a:p>
        </p:txBody>
      </p:sp>
      <p:sp>
        <p:nvSpPr>
          <p:cNvPr id="39" name="Text 37"/>
          <p:cNvSpPr/>
          <p:nvPr/>
        </p:nvSpPr>
        <p:spPr>
          <a:xfrm>
            <a:off x="2286000" y="3931920"/>
            <a:ext cx="1508760" cy="292608"/>
          </a:xfrm>
          <a:prstGeom prst="rect">
            <a:avLst/>
          </a:prstGeom>
          <a:noFill/>
          <a:ln/>
        </p:spPr>
        <p:txBody>
          <a:bodyPr wrap="square" lIns="0" tIns="0" rIns="0" bIns="0" rtlCol="0" anchor="ctr"/>
          <a:lstStyle/>
          <a:p>
            <a:pPr marL="0" indent="0" algn="ctr">
              <a:buNone/>
            </a:pPr>
            <a:r>
              <a:rPr lang="en-US" sz="900" b="1" dirty="0">
                <a:solidFill>
                  <a:srgbClr val="F9FAFB"/>
                </a:solidFill>
              </a:rPr>
              <a:t>Snowflake</a:t>
            </a:r>
            <a:endParaRPr lang="en-US" sz="900" dirty="0"/>
          </a:p>
        </p:txBody>
      </p:sp>
      <p:sp>
        <p:nvSpPr>
          <p:cNvPr id="40" name="Shape 38"/>
          <p:cNvSpPr/>
          <p:nvPr/>
        </p:nvSpPr>
        <p:spPr>
          <a:xfrm>
            <a:off x="4251959" y="3931920"/>
            <a:ext cx="1234442" cy="292608"/>
          </a:xfrm>
          <a:prstGeom prst="roundRect">
            <a:avLst>
              <a:gd name="adj" fmla="val 31250"/>
            </a:avLst>
          </a:prstGeom>
          <a:solidFill>
            <a:srgbClr val="10B981">
              <a:alpha val="70000"/>
            </a:srgbClr>
          </a:solidFill>
          <a:ln w="12700">
            <a:solidFill>
              <a:srgbClr val="10B981"/>
            </a:solidFill>
            <a:prstDash val="solid"/>
          </a:ln>
        </p:spPr>
        <p:txBody>
          <a:bodyPr/>
          <a:lstStyle/>
          <a:p>
            <a:endParaRPr lang="en-US"/>
          </a:p>
        </p:txBody>
      </p:sp>
      <p:sp>
        <p:nvSpPr>
          <p:cNvPr id="41" name="Text 39"/>
          <p:cNvSpPr/>
          <p:nvPr/>
        </p:nvSpPr>
        <p:spPr>
          <a:xfrm>
            <a:off x="4069080" y="3931920"/>
            <a:ext cx="1645920" cy="292608"/>
          </a:xfrm>
          <a:prstGeom prst="rect">
            <a:avLst/>
          </a:prstGeom>
          <a:noFill/>
          <a:ln/>
        </p:spPr>
        <p:txBody>
          <a:bodyPr wrap="square" lIns="0" tIns="0" rIns="0" bIns="0" rtlCol="0" anchor="ctr"/>
          <a:lstStyle/>
          <a:p>
            <a:pPr marL="0" indent="0" algn="ctr">
              <a:buNone/>
            </a:pPr>
            <a:r>
              <a:rPr lang="en-US" sz="900" b="1" dirty="0">
                <a:solidFill>
                  <a:srgbClr val="F9FAFB"/>
                </a:solidFill>
              </a:rPr>
              <a:t>ReAct</a:t>
            </a:r>
            <a:endParaRPr lang="en-US" sz="900" dirty="0"/>
          </a:p>
        </p:txBody>
      </p:sp>
      <p:sp>
        <p:nvSpPr>
          <p:cNvPr id="42" name="Shape 40"/>
          <p:cNvSpPr/>
          <p:nvPr/>
        </p:nvSpPr>
        <p:spPr>
          <a:xfrm>
            <a:off x="6172201" y="3931920"/>
            <a:ext cx="1005840" cy="292608"/>
          </a:xfrm>
          <a:prstGeom prst="roundRect">
            <a:avLst>
              <a:gd name="adj" fmla="val 31250"/>
            </a:avLst>
          </a:prstGeom>
          <a:solidFill>
            <a:srgbClr val="F59E0B">
              <a:alpha val="70000"/>
            </a:srgbClr>
          </a:solidFill>
          <a:ln w="12700">
            <a:solidFill>
              <a:srgbClr val="F59E0B"/>
            </a:solidFill>
            <a:prstDash val="solid"/>
          </a:ln>
        </p:spPr>
        <p:txBody>
          <a:bodyPr/>
          <a:lstStyle/>
          <a:p>
            <a:endParaRPr lang="en-US"/>
          </a:p>
        </p:txBody>
      </p:sp>
      <p:sp>
        <p:nvSpPr>
          <p:cNvPr id="43" name="Text 41"/>
          <p:cNvSpPr/>
          <p:nvPr/>
        </p:nvSpPr>
        <p:spPr>
          <a:xfrm>
            <a:off x="5852160" y="3931920"/>
            <a:ext cx="1645920" cy="292608"/>
          </a:xfrm>
          <a:prstGeom prst="rect">
            <a:avLst/>
          </a:prstGeom>
          <a:noFill/>
          <a:ln/>
        </p:spPr>
        <p:txBody>
          <a:bodyPr wrap="square" lIns="0" tIns="0" rIns="0" bIns="0" rtlCol="0" anchor="ctr"/>
          <a:lstStyle/>
          <a:p>
            <a:pPr marL="0" indent="0" algn="ctr">
              <a:buNone/>
            </a:pPr>
            <a:r>
              <a:rPr lang="en-US" sz="900" b="1" dirty="0">
                <a:solidFill>
                  <a:srgbClr val="F9FAFB"/>
                </a:solidFill>
              </a:rPr>
              <a:t>Prompt Assembly</a:t>
            </a:r>
            <a:endParaRPr lang="en-US" sz="900" dirty="0"/>
          </a:p>
        </p:txBody>
      </p:sp>
      <p:sp>
        <p:nvSpPr>
          <p:cNvPr id="44" name="Shape 42"/>
          <p:cNvSpPr/>
          <p:nvPr/>
        </p:nvSpPr>
        <p:spPr>
          <a:xfrm>
            <a:off x="7635240" y="3931920"/>
            <a:ext cx="1327177" cy="292608"/>
          </a:xfrm>
          <a:prstGeom prst="roundRect">
            <a:avLst>
              <a:gd name="adj" fmla="val 31250"/>
            </a:avLst>
          </a:prstGeom>
          <a:solidFill>
            <a:srgbClr val="EF4444">
              <a:alpha val="70000"/>
            </a:srgbClr>
          </a:solidFill>
          <a:ln w="12700">
            <a:solidFill>
              <a:srgbClr val="EF4444"/>
            </a:solidFill>
            <a:prstDash val="solid"/>
          </a:ln>
        </p:spPr>
        <p:txBody>
          <a:bodyPr/>
          <a:lstStyle/>
          <a:p>
            <a:endParaRPr lang="en-US"/>
          </a:p>
        </p:txBody>
      </p:sp>
      <p:sp>
        <p:nvSpPr>
          <p:cNvPr id="45" name="Text 43"/>
          <p:cNvSpPr/>
          <p:nvPr/>
        </p:nvSpPr>
        <p:spPr>
          <a:xfrm>
            <a:off x="7818120" y="3931920"/>
            <a:ext cx="1079446" cy="292608"/>
          </a:xfrm>
          <a:prstGeom prst="rect">
            <a:avLst/>
          </a:prstGeom>
          <a:noFill/>
          <a:ln/>
        </p:spPr>
        <p:txBody>
          <a:bodyPr wrap="square" lIns="0" tIns="0" rIns="0" bIns="0" rtlCol="0" anchor="ctr"/>
          <a:lstStyle/>
          <a:p>
            <a:pPr marL="0" indent="0" algn="ctr">
              <a:buNone/>
            </a:pPr>
            <a:r>
              <a:rPr lang="en-US" sz="900" b="1" dirty="0">
                <a:solidFill>
                  <a:srgbClr val="F9FAFB"/>
                </a:solidFill>
              </a:rPr>
              <a:t>Bedrock + Snowflake</a:t>
            </a:r>
            <a:endParaRPr lang="en-US" sz="900" dirty="0"/>
          </a:p>
        </p:txBody>
      </p:sp>
      <p:pic>
        <p:nvPicPr>
          <p:cNvPr id="47" name="Picture 46">
            <a:extLst>
              <a:ext uri="{FF2B5EF4-FFF2-40B4-BE49-F238E27FC236}">
                <a16:creationId xmlns:a16="http://schemas.microsoft.com/office/drawing/2014/main" id="{9BAC631F-6FC3-D53C-7B86-1CC606F6CA83}"/>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oundRect">
            <a:avLst>
              <a:gd name="adj" fmla="val 25000"/>
            </a:avLst>
          </a:prstGeom>
          <a:solidFill>
            <a:srgbClr val="7C3AED">
              <a:alpha val="80000"/>
            </a:srgbClr>
          </a:solidFill>
          <a:ln w="12700">
            <a:solidFill>
              <a:srgbClr val="7C3AED"/>
            </a:solidFill>
            <a:prstDash val="solid"/>
          </a:ln>
        </p:spPr>
        <p:txBody>
          <a:bodyPr/>
          <a:lstStyle/>
          <a:p>
            <a:endParaRPr lang="en-US"/>
          </a:p>
        </p:txBody>
      </p:sp>
      <p:sp>
        <p:nvSpPr>
          <p:cNvPr id="3" name="Text 1"/>
          <p:cNvSpPr/>
          <p:nvPr/>
        </p:nvSpPr>
        <p:spPr>
          <a:xfrm>
            <a:off x="365760" y="201168"/>
            <a:ext cx="2011680" cy="292608"/>
          </a:xfrm>
          <a:prstGeom prst="rect">
            <a:avLst/>
          </a:prstGeom>
          <a:noFill/>
          <a:ln/>
        </p:spPr>
        <p:txBody>
          <a:bodyPr wrap="square" lIns="0" tIns="0" rIns="0" bIns="0" rtlCol="0" anchor="ctr"/>
          <a:lstStyle/>
          <a:p>
            <a:pPr marL="0" indent="0" algn="ctr">
              <a:buNone/>
            </a:pPr>
            <a:r>
              <a:rPr lang="en-US" sz="800" b="1" kern="0" spc="200" dirty="0">
                <a:solidFill>
                  <a:srgbClr val="F9FAFB"/>
                </a:solidFill>
              </a:rPr>
              <a:t>OVERVIEW</a:t>
            </a:r>
            <a:endParaRPr lang="en-US" sz="800" dirty="0"/>
          </a:p>
        </p:txBody>
      </p:sp>
      <p:sp>
        <p:nvSpPr>
          <p:cNvPr id="4" name="Text 2"/>
          <p:cNvSpPr/>
          <p:nvPr/>
        </p:nvSpPr>
        <p:spPr>
          <a:xfrm>
            <a:off x="365760" y="594360"/>
            <a:ext cx="8412480" cy="594360"/>
          </a:xfrm>
          <a:prstGeom prst="rect">
            <a:avLst/>
          </a:prstGeom>
          <a:noFill/>
          <a:ln/>
        </p:spPr>
        <p:txBody>
          <a:bodyPr wrap="square" lIns="0" tIns="0" rIns="0" bIns="0" rtlCol="0" anchor="ctr"/>
          <a:lstStyle/>
          <a:p>
            <a:pPr marL="0" indent="0" algn="l">
              <a:buNone/>
            </a:pPr>
            <a:r>
              <a:rPr lang="en-US" sz="3000" b="1" dirty="0">
                <a:solidFill>
                  <a:srgbClr val="F9FAFB"/>
                </a:solidFill>
                <a:latin typeface="Calibri" pitchFamily="34" charset="0"/>
                <a:ea typeface="Calibri" pitchFamily="34" charset="-122"/>
                <a:cs typeface="Calibri" pitchFamily="34" charset="-120"/>
              </a:rPr>
              <a:t>The Story Arc</a:t>
            </a:r>
            <a:endParaRPr lang="en-US" sz="3000" dirty="0"/>
          </a:p>
        </p:txBody>
      </p:sp>
      <p:sp>
        <p:nvSpPr>
          <p:cNvPr id="5" name="Text 3"/>
          <p:cNvSpPr/>
          <p:nvPr/>
        </p:nvSpPr>
        <p:spPr>
          <a:xfrm>
            <a:off x="365760" y="1143000"/>
            <a:ext cx="8412480" cy="32004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40 mins –the agentic narrative, failure stories, architecture deep dive, repo walkthrough</a:t>
            </a:r>
            <a:endParaRPr lang="en-US" sz="1300" dirty="0"/>
          </a:p>
        </p:txBody>
      </p:sp>
      <p:sp>
        <p:nvSpPr>
          <p:cNvPr id="6" name="Shape 4"/>
          <p:cNvSpPr/>
          <p:nvPr/>
        </p:nvSpPr>
        <p:spPr>
          <a:xfrm>
            <a:off x="365760" y="1417320"/>
            <a:ext cx="8412480" cy="36576"/>
          </a:xfrm>
          <a:prstGeom prst="rect">
            <a:avLst/>
          </a:prstGeom>
          <a:solidFill>
            <a:srgbClr val="7C3AED"/>
          </a:solidFill>
          <a:ln w="12700">
            <a:solidFill>
              <a:srgbClr val="7C3AED"/>
            </a:solidFill>
            <a:prstDash val="solid"/>
          </a:ln>
        </p:spPr>
        <p:txBody>
          <a:bodyPr/>
          <a:lstStyle/>
          <a:p>
            <a:endParaRPr lang="en-US"/>
          </a:p>
        </p:txBody>
      </p:sp>
      <p:sp>
        <p:nvSpPr>
          <p:cNvPr id="7" name="Shape 5"/>
          <p:cNvSpPr/>
          <p:nvPr/>
        </p:nvSpPr>
        <p:spPr>
          <a:xfrm>
            <a:off x="365760" y="1554480"/>
            <a:ext cx="4114800" cy="685800"/>
          </a:xfrm>
          <a:prstGeom prst="roundRect">
            <a:avLst>
              <a:gd name="adj" fmla="val 16000"/>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8" name="Text 6"/>
          <p:cNvSpPr/>
          <p:nvPr/>
        </p:nvSpPr>
        <p:spPr>
          <a:xfrm>
            <a:off x="475488" y="1627632"/>
            <a:ext cx="457200" cy="530352"/>
          </a:xfrm>
          <a:prstGeom prst="rect">
            <a:avLst/>
          </a:prstGeom>
          <a:noFill/>
          <a:ln/>
        </p:spPr>
        <p:txBody>
          <a:bodyPr wrap="square" lIns="0" tIns="0" rIns="0" bIns="0" rtlCol="0" anchor="ctr"/>
          <a:lstStyle/>
          <a:p>
            <a:pPr marL="0" indent="0" algn="ctr">
              <a:buNone/>
            </a:pPr>
            <a:r>
              <a:rPr lang="en-US" sz="1800" b="1" dirty="0">
                <a:solidFill>
                  <a:srgbClr val="00D4FF"/>
                </a:solidFill>
                <a:latin typeface="Calibri" pitchFamily="34" charset="0"/>
                <a:ea typeface="Calibri" pitchFamily="34" charset="-122"/>
                <a:cs typeface="Calibri" pitchFamily="34" charset="-120"/>
              </a:rPr>
              <a:t>01</a:t>
            </a:r>
            <a:endParaRPr lang="en-US" sz="1800" dirty="0"/>
          </a:p>
        </p:txBody>
      </p:sp>
      <p:sp>
        <p:nvSpPr>
          <p:cNvPr id="9" name="Text 7"/>
          <p:cNvSpPr/>
          <p:nvPr/>
        </p:nvSpPr>
        <p:spPr>
          <a:xfrm>
            <a:off x="1005840" y="1609344"/>
            <a:ext cx="3200400" cy="274320"/>
          </a:xfrm>
          <a:prstGeom prst="rect">
            <a:avLst/>
          </a:prstGeom>
          <a:noFill/>
          <a:ln/>
        </p:spPr>
        <p:txBody>
          <a:bodyPr wrap="square" lIns="0" tIns="0" rIns="0" bIns="0" rtlCol="0" anchor="ctr"/>
          <a:lstStyle/>
          <a:p>
            <a:pPr marL="0" indent="0" algn="l">
              <a:buNone/>
            </a:pPr>
            <a:r>
              <a:rPr lang="en-US" sz="1200" b="1" dirty="0">
                <a:solidFill>
                  <a:srgbClr val="F9FAFB"/>
                </a:solidFill>
                <a:latin typeface="Calibri" pitchFamily="34" charset="0"/>
                <a:ea typeface="Calibri" pitchFamily="34" charset="-122"/>
                <a:cs typeface="Calibri" pitchFamily="34" charset="-120"/>
              </a:rPr>
              <a:t>The Warehouse Analogy</a:t>
            </a:r>
            <a:endParaRPr lang="en-US" sz="1200" dirty="0"/>
          </a:p>
        </p:txBody>
      </p:sp>
      <p:sp>
        <p:nvSpPr>
          <p:cNvPr id="10" name="Text 8"/>
          <p:cNvSpPr/>
          <p:nvPr/>
        </p:nvSpPr>
        <p:spPr>
          <a:xfrm>
            <a:off x="1005840" y="1901952"/>
            <a:ext cx="3200400" cy="228600"/>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Why Text-2-SQL is HARD</a:t>
            </a:r>
            <a:endParaRPr lang="en-US" sz="900" dirty="0"/>
          </a:p>
        </p:txBody>
      </p:sp>
      <p:sp>
        <p:nvSpPr>
          <p:cNvPr id="11" name="Shape 9"/>
          <p:cNvSpPr/>
          <p:nvPr/>
        </p:nvSpPr>
        <p:spPr>
          <a:xfrm>
            <a:off x="365760" y="2359152"/>
            <a:ext cx="4114800" cy="685800"/>
          </a:xfrm>
          <a:prstGeom prst="roundRect">
            <a:avLst>
              <a:gd name="adj" fmla="val 16000"/>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2" name="Text 10"/>
          <p:cNvSpPr/>
          <p:nvPr/>
        </p:nvSpPr>
        <p:spPr>
          <a:xfrm>
            <a:off x="475488" y="2432304"/>
            <a:ext cx="457200" cy="530352"/>
          </a:xfrm>
          <a:prstGeom prst="rect">
            <a:avLst/>
          </a:prstGeom>
          <a:noFill/>
          <a:ln/>
        </p:spPr>
        <p:txBody>
          <a:bodyPr wrap="square" lIns="0" tIns="0" rIns="0" bIns="0" rtlCol="0" anchor="ctr"/>
          <a:lstStyle/>
          <a:p>
            <a:pPr marL="0" indent="0" algn="ctr">
              <a:buNone/>
            </a:pPr>
            <a:r>
              <a:rPr lang="en-US" sz="1800" b="1" dirty="0">
                <a:solidFill>
                  <a:srgbClr val="00D4FF"/>
                </a:solidFill>
                <a:latin typeface="Calibri" pitchFamily="34" charset="0"/>
                <a:ea typeface="Calibri" pitchFamily="34" charset="-122"/>
                <a:cs typeface="Calibri" pitchFamily="34" charset="-120"/>
              </a:rPr>
              <a:t>02</a:t>
            </a:r>
            <a:endParaRPr lang="en-US" sz="1800" dirty="0"/>
          </a:p>
        </p:txBody>
      </p:sp>
      <p:sp>
        <p:nvSpPr>
          <p:cNvPr id="13" name="Text 11"/>
          <p:cNvSpPr/>
          <p:nvPr/>
        </p:nvSpPr>
        <p:spPr>
          <a:xfrm>
            <a:off x="1005840" y="2414016"/>
            <a:ext cx="3200400" cy="274320"/>
          </a:xfrm>
          <a:prstGeom prst="rect">
            <a:avLst/>
          </a:prstGeom>
          <a:noFill/>
          <a:ln/>
        </p:spPr>
        <p:txBody>
          <a:bodyPr wrap="square" lIns="0" tIns="0" rIns="0" bIns="0" rtlCol="0" anchor="ctr"/>
          <a:lstStyle/>
          <a:p>
            <a:pPr marL="0" indent="0" algn="l">
              <a:buNone/>
            </a:pPr>
            <a:r>
              <a:rPr lang="en-US" sz="1200" b="1" dirty="0">
                <a:solidFill>
                  <a:srgbClr val="F9FAFB"/>
                </a:solidFill>
                <a:latin typeface="Calibri" pitchFamily="34" charset="0"/>
                <a:ea typeface="Calibri" pitchFamily="34" charset="-122"/>
                <a:cs typeface="Calibri" pitchFamily="34" charset="-120"/>
              </a:rPr>
              <a:t>Some Real Problems – Architectural and Conceptual</a:t>
            </a:r>
            <a:endParaRPr lang="en-US" sz="1200" dirty="0"/>
          </a:p>
        </p:txBody>
      </p:sp>
      <p:sp>
        <p:nvSpPr>
          <p:cNvPr id="14" name="Text 12"/>
          <p:cNvSpPr/>
          <p:nvPr/>
        </p:nvSpPr>
        <p:spPr>
          <a:xfrm>
            <a:off x="1005840" y="2706624"/>
            <a:ext cx="3200400" cy="228600"/>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Agents, ReAct, Reflexion, Prompt Assembly</a:t>
            </a:r>
            <a:endParaRPr lang="en-US" sz="900" dirty="0"/>
          </a:p>
        </p:txBody>
      </p:sp>
      <p:sp>
        <p:nvSpPr>
          <p:cNvPr id="15" name="Shape 13"/>
          <p:cNvSpPr/>
          <p:nvPr/>
        </p:nvSpPr>
        <p:spPr>
          <a:xfrm>
            <a:off x="365760" y="3163824"/>
            <a:ext cx="4114800" cy="685800"/>
          </a:xfrm>
          <a:prstGeom prst="roundRect">
            <a:avLst>
              <a:gd name="adj" fmla="val 16000"/>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6" name="Text 14"/>
          <p:cNvSpPr/>
          <p:nvPr/>
        </p:nvSpPr>
        <p:spPr>
          <a:xfrm>
            <a:off x="475488" y="3236976"/>
            <a:ext cx="457200" cy="530352"/>
          </a:xfrm>
          <a:prstGeom prst="rect">
            <a:avLst/>
          </a:prstGeom>
          <a:noFill/>
          <a:ln/>
        </p:spPr>
        <p:txBody>
          <a:bodyPr wrap="square" lIns="0" tIns="0" rIns="0" bIns="0" rtlCol="0" anchor="ctr"/>
          <a:lstStyle/>
          <a:p>
            <a:pPr marL="0" indent="0" algn="ctr">
              <a:buNone/>
            </a:pPr>
            <a:r>
              <a:rPr lang="en-US" sz="1800" b="1" dirty="0">
                <a:solidFill>
                  <a:srgbClr val="00D4FF"/>
                </a:solidFill>
                <a:latin typeface="Calibri" pitchFamily="34" charset="0"/>
                <a:ea typeface="Calibri" pitchFamily="34" charset="-122"/>
                <a:cs typeface="Calibri" pitchFamily="34" charset="-120"/>
              </a:rPr>
              <a:t>03</a:t>
            </a:r>
            <a:endParaRPr lang="en-US" sz="1800" dirty="0"/>
          </a:p>
        </p:txBody>
      </p:sp>
      <p:sp>
        <p:nvSpPr>
          <p:cNvPr id="17" name="Text 15"/>
          <p:cNvSpPr/>
          <p:nvPr/>
        </p:nvSpPr>
        <p:spPr>
          <a:xfrm>
            <a:off x="1005840" y="3218688"/>
            <a:ext cx="3200400" cy="274320"/>
          </a:xfrm>
          <a:prstGeom prst="rect">
            <a:avLst/>
          </a:prstGeom>
          <a:noFill/>
          <a:ln/>
        </p:spPr>
        <p:txBody>
          <a:bodyPr wrap="square" lIns="0" tIns="0" rIns="0" bIns="0" rtlCol="0" anchor="ctr"/>
          <a:lstStyle/>
          <a:p>
            <a:pPr marL="0" indent="0" algn="l">
              <a:buNone/>
            </a:pPr>
            <a:r>
              <a:rPr lang="en-US" sz="1200" b="1" dirty="0">
                <a:solidFill>
                  <a:srgbClr val="F9FAFB"/>
                </a:solidFill>
                <a:latin typeface="Calibri" pitchFamily="34" charset="0"/>
                <a:ea typeface="Calibri" pitchFamily="34" charset="-122"/>
                <a:cs typeface="Calibri" pitchFamily="34" charset="-120"/>
              </a:rPr>
              <a:t>Naive Start to Multi-Agent Pipeline</a:t>
            </a:r>
            <a:endParaRPr lang="en-US" sz="1200" dirty="0"/>
          </a:p>
        </p:txBody>
      </p:sp>
      <p:sp>
        <p:nvSpPr>
          <p:cNvPr id="18" name="Text 16"/>
          <p:cNvSpPr/>
          <p:nvPr/>
        </p:nvSpPr>
        <p:spPr>
          <a:xfrm>
            <a:off x="1005840" y="3511296"/>
            <a:ext cx="3200400" cy="228600"/>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From zero-shot to multi-agent</a:t>
            </a:r>
            <a:endParaRPr lang="en-US" sz="900" dirty="0"/>
          </a:p>
        </p:txBody>
      </p:sp>
      <p:sp>
        <p:nvSpPr>
          <p:cNvPr id="20" name="Text 18"/>
          <p:cNvSpPr/>
          <p:nvPr/>
        </p:nvSpPr>
        <p:spPr>
          <a:xfrm>
            <a:off x="475488" y="4041648"/>
            <a:ext cx="457200" cy="530352"/>
          </a:xfrm>
          <a:prstGeom prst="rect">
            <a:avLst/>
          </a:prstGeom>
          <a:noFill/>
          <a:ln/>
        </p:spPr>
        <p:txBody>
          <a:bodyPr wrap="square" lIns="0" tIns="0" rIns="0" bIns="0" rtlCol="0" anchor="ctr"/>
          <a:lstStyle/>
          <a:p>
            <a:pPr marL="0" indent="0" algn="ctr">
              <a:buNone/>
            </a:pPr>
            <a:endParaRPr lang="en-US" sz="1800" dirty="0"/>
          </a:p>
        </p:txBody>
      </p:sp>
      <p:sp>
        <p:nvSpPr>
          <p:cNvPr id="21" name="Text 19"/>
          <p:cNvSpPr/>
          <p:nvPr/>
        </p:nvSpPr>
        <p:spPr>
          <a:xfrm>
            <a:off x="1005840" y="4023360"/>
            <a:ext cx="3200400" cy="274320"/>
          </a:xfrm>
          <a:prstGeom prst="rect">
            <a:avLst/>
          </a:prstGeom>
          <a:noFill/>
          <a:ln/>
        </p:spPr>
        <p:txBody>
          <a:bodyPr wrap="square" lIns="0" tIns="0" rIns="0" bIns="0" rtlCol="0" anchor="ctr"/>
          <a:lstStyle/>
          <a:p>
            <a:pPr marL="0" indent="0" algn="l">
              <a:buNone/>
            </a:pPr>
            <a:endParaRPr lang="en-US" sz="1200" dirty="0"/>
          </a:p>
        </p:txBody>
      </p:sp>
      <p:sp>
        <p:nvSpPr>
          <p:cNvPr id="23" name="Shape 21"/>
          <p:cNvSpPr/>
          <p:nvPr/>
        </p:nvSpPr>
        <p:spPr>
          <a:xfrm>
            <a:off x="4754880" y="1554480"/>
            <a:ext cx="4114800" cy="685800"/>
          </a:xfrm>
          <a:prstGeom prst="roundRect">
            <a:avLst>
              <a:gd name="adj" fmla="val 16000"/>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4" name="Text 22"/>
          <p:cNvSpPr/>
          <p:nvPr/>
        </p:nvSpPr>
        <p:spPr>
          <a:xfrm>
            <a:off x="4864608" y="1627632"/>
            <a:ext cx="457200" cy="530352"/>
          </a:xfrm>
          <a:prstGeom prst="rect">
            <a:avLst/>
          </a:prstGeom>
          <a:noFill/>
          <a:ln/>
        </p:spPr>
        <p:txBody>
          <a:bodyPr wrap="square" lIns="0" tIns="0" rIns="0" bIns="0" rtlCol="0" anchor="ctr"/>
          <a:lstStyle/>
          <a:p>
            <a:pPr marL="0" indent="0" algn="ctr">
              <a:buNone/>
            </a:pPr>
            <a:r>
              <a:rPr lang="en-US" sz="1800" b="1" dirty="0">
                <a:solidFill>
                  <a:srgbClr val="00D4FF"/>
                </a:solidFill>
                <a:latin typeface="Calibri" pitchFamily="34" charset="0"/>
                <a:ea typeface="Calibri" pitchFamily="34" charset="-122"/>
                <a:cs typeface="Calibri" pitchFamily="34" charset="-120"/>
              </a:rPr>
              <a:t>04</a:t>
            </a:r>
            <a:endParaRPr lang="en-US" sz="1800" dirty="0"/>
          </a:p>
        </p:txBody>
      </p:sp>
      <p:sp>
        <p:nvSpPr>
          <p:cNvPr id="25" name="Text 23"/>
          <p:cNvSpPr/>
          <p:nvPr/>
        </p:nvSpPr>
        <p:spPr>
          <a:xfrm>
            <a:off x="5394960" y="1609344"/>
            <a:ext cx="3200400" cy="274320"/>
          </a:xfrm>
          <a:prstGeom prst="rect">
            <a:avLst/>
          </a:prstGeom>
          <a:noFill/>
          <a:ln/>
        </p:spPr>
        <p:txBody>
          <a:bodyPr wrap="square" lIns="0" tIns="0" rIns="0" bIns="0" rtlCol="0" anchor="ctr"/>
          <a:lstStyle/>
          <a:p>
            <a:pPr marL="0" indent="0" algn="l">
              <a:buNone/>
            </a:pPr>
            <a:r>
              <a:rPr lang="en-US" sz="1200" b="1" dirty="0">
                <a:solidFill>
                  <a:srgbClr val="F9FAFB"/>
                </a:solidFill>
                <a:latin typeface="Calibri" pitchFamily="34" charset="0"/>
                <a:ea typeface="Calibri" pitchFamily="34" charset="-122"/>
                <a:cs typeface="Calibri" pitchFamily="34" charset="-120"/>
              </a:rPr>
              <a:t>Real Failures Hall of Fame</a:t>
            </a:r>
            <a:endParaRPr lang="en-US" sz="1200" dirty="0"/>
          </a:p>
        </p:txBody>
      </p:sp>
      <p:sp>
        <p:nvSpPr>
          <p:cNvPr id="26" name="Text 24"/>
          <p:cNvSpPr/>
          <p:nvPr/>
        </p:nvSpPr>
        <p:spPr>
          <a:xfrm>
            <a:off x="5394960" y="1901952"/>
            <a:ext cx="3200400" cy="228600"/>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5.5M tokens &amp; other disasters</a:t>
            </a:r>
            <a:endParaRPr lang="en-US" sz="900" dirty="0"/>
          </a:p>
        </p:txBody>
      </p:sp>
      <p:sp>
        <p:nvSpPr>
          <p:cNvPr id="27" name="Shape 25"/>
          <p:cNvSpPr/>
          <p:nvPr/>
        </p:nvSpPr>
        <p:spPr>
          <a:xfrm>
            <a:off x="4754880" y="2359152"/>
            <a:ext cx="4114800" cy="685800"/>
          </a:xfrm>
          <a:prstGeom prst="roundRect">
            <a:avLst>
              <a:gd name="adj" fmla="val 16000"/>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dirty="0"/>
          </a:p>
        </p:txBody>
      </p:sp>
      <p:sp>
        <p:nvSpPr>
          <p:cNvPr id="28" name="Text 26"/>
          <p:cNvSpPr/>
          <p:nvPr/>
        </p:nvSpPr>
        <p:spPr>
          <a:xfrm>
            <a:off x="4864608" y="2432304"/>
            <a:ext cx="457200" cy="530352"/>
          </a:xfrm>
          <a:prstGeom prst="rect">
            <a:avLst/>
          </a:prstGeom>
          <a:noFill/>
          <a:ln/>
        </p:spPr>
        <p:txBody>
          <a:bodyPr wrap="square" lIns="0" tIns="0" rIns="0" bIns="0" rtlCol="0" anchor="ctr"/>
          <a:lstStyle/>
          <a:p>
            <a:pPr marL="0" indent="0" algn="ctr">
              <a:buNone/>
            </a:pPr>
            <a:r>
              <a:rPr lang="en-US" sz="1800" b="1" dirty="0">
                <a:solidFill>
                  <a:srgbClr val="00D4FF"/>
                </a:solidFill>
                <a:latin typeface="Calibri" pitchFamily="34" charset="0"/>
                <a:ea typeface="Calibri" pitchFamily="34" charset="-122"/>
                <a:cs typeface="Calibri" pitchFamily="34" charset="-120"/>
              </a:rPr>
              <a:t>05</a:t>
            </a:r>
            <a:endParaRPr lang="en-US" sz="1800" dirty="0"/>
          </a:p>
        </p:txBody>
      </p:sp>
      <p:sp>
        <p:nvSpPr>
          <p:cNvPr id="29" name="Text 27"/>
          <p:cNvSpPr/>
          <p:nvPr/>
        </p:nvSpPr>
        <p:spPr>
          <a:xfrm>
            <a:off x="5394960" y="2414016"/>
            <a:ext cx="3200400" cy="274320"/>
          </a:xfrm>
          <a:prstGeom prst="rect">
            <a:avLst/>
          </a:prstGeom>
          <a:noFill/>
          <a:ln/>
        </p:spPr>
        <p:txBody>
          <a:bodyPr wrap="square" lIns="0" tIns="0" rIns="0" bIns="0" rtlCol="0" anchor="ctr"/>
          <a:lstStyle/>
          <a:p>
            <a:pPr marL="0" indent="0" algn="l">
              <a:buNone/>
            </a:pPr>
            <a:r>
              <a:rPr lang="en-US" sz="1200" b="1" dirty="0">
                <a:solidFill>
                  <a:srgbClr val="F9FAFB"/>
                </a:solidFill>
                <a:latin typeface="Calibri" pitchFamily="34" charset="0"/>
                <a:ea typeface="Calibri" pitchFamily="34" charset="-122"/>
                <a:cs typeface="Calibri" pitchFamily="34" charset="-120"/>
              </a:rPr>
              <a:t>Current Repo Architecture</a:t>
            </a:r>
            <a:endParaRPr lang="en-US" sz="1200" dirty="0"/>
          </a:p>
        </p:txBody>
      </p:sp>
      <p:sp>
        <p:nvSpPr>
          <p:cNvPr id="30" name="Text 28"/>
          <p:cNvSpPr/>
          <p:nvPr/>
        </p:nvSpPr>
        <p:spPr>
          <a:xfrm>
            <a:off x="5394960" y="2706624"/>
            <a:ext cx="3200400" cy="228600"/>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Layer-by-layer system design</a:t>
            </a:r>
            <a:endParaRPr lang="en-US" sz="900" dirty="0"/>
          </a:p>
        </p:txBody>
      </p:sp>
      <p:sp>
        <p:nvSpPr>
          <p:cNvPr id="31" name="Shape 29"/>
          <p:cNvSpPr/>
          <p:nvPr/>
        </p:nvSpPr>
        <p:spPr>
          <a:xfrm>
            <a:off x="4754880" y="3163824"/>
            <a:ext cx="4114800" cy="685800"/>
          </a:xfrm>
          <a:prstGeom prst="roundRect">
            <a:avLst>
              <a:gd name="adj" fmla="val 16000"/>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32" name="Text 30"/>
          <p:cNvSpPr/>
          <p:nvPr/>
        </p:nvSpPr>
        <p:spPr>
          <a:xfrm>
            <a:off x="4864608" y="3236976"/>
            <a:ext cx="457200" cy="530352"/>
          </a:xfrm>
          <a:prstGeom prst="rect">
            <a:avLst/>
          </a:prstGeom>
          <a:noFill/>
          <a:ln/>
        </p:spPr>
        <p:txBody>
          <a:bodyPr wrap="square" lIns="0" tIns="0" rIns="0" bIns="0" rtlCol="0" anchor="ctr"/>
          <a:lstStyle/>
          <a:p>
            <a:pPr marL="0" indent="0" algn="ctr">
              <a:buNone/>
            </a:pPr>
            <a:r>
              <a:rPr lang="en-US" sz="1800" b="1" dirty="0">
                <a:solidFill>
                  <a:srgbClr val="00D4FF"/>
                </a:solidFill>
                <a:latin typeface="Calibri" pitchFamily="34" charset="0"/>
                <a:ea typeface="Calibri" pitchFamily="34" charset="-122"/>
                <a:cs typeface="Calibri" pitchFamily="34" charset="-120"/>
              </a:rPr>
              <a:t>06</a:t>
            </a:r>
            <a:endParaRPr lang="en-US" sz="1800" dirty="0"/>
          </a:p>
        </p:txBody>
      </p:sp>
      <p:sp>
        <p:nvSpPr>
          <p:cNvPr id="33" name="Text 31"/>
          <p:cNvSpPr/>
          <p:nvPr/>
        </p:nvSpPr>
        <p:spPr>
          <a:xfrm>
            <a:off x="5394960" y="3218688"/>
            <a:ext cx="3200400" cy="274320"/>
          </a:xfrm>
          <a:prstGeom prst="rect">
            <a:avLst/>
          </a:prstGeom>
          <a:noFill/>
          <a:ln/>
        </p:spPr>
        <p:txBody>
          <a:bodyPr wrap="square" lIns="0" tIns="0" rIns="0" bIns="0" rtlCol="0" anchor="ctr"/>
          <a:lstStyle/>
          <a:p>
            <a:pPr marL="0" indent="0" algn="l">
              <a:buNone/>
            </a:pPr>
            <a:r>
              <a:rPr lang="en-US" sz="1200" b="1" dirty="0">
                <a:solidFill>
                  <a:srgbClr val="F9FAFB"/>
                </a:solidFill>
                <a:latin typeface="Calibri" pitchFamily="34" charset="0"/>
                <a:ea typeface="Calibri" pitchFamily="34" charset="-122"/>
                <a:cs typeface="Calibri" pitchFamily="34" charset="-120"/>
              </a:rPr>
              <a:t>Demo, Roadmap &amp; Studio</a:t>
            </a:r>
            <a:endParaRPr lang="en-US" sz="1200" dirty="0"/>
          </a:p>
        </p:txBody>
      </p:sp>
      <p:sp>
        <p:nvSpPr>
          <p:cNvPr id="34" name="Text 32"/>
          <p:cNvSpPr/>
          <p:nvPr/>
        </p:nvSpPr>
        <p:spPr>
          <a:xfrm>
            <a:off x="5394960" y="3511296"/>
            <a:ext cx="3200400" cy="228600"/>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Live runbook, future vision, orchestration studio</a:t>
            </a:r>
            <a:endParaRPr lang="en-US" sz="900" dirty="0"/>
          </a:p>
        </p:txBody>
      </p:sp>
      <p:pic>
        <p:nvPicPr>
          <p:cNvPr id="35" name="Picture 34">
            <a:extLst>
              <a:ext uri="{FF2B5EF4-FFF2-40B4-BE49-F238E27FC236}">
                <a16:creationId xmlns:a16="http://schemas.microsoft.com/office/drawing/2014/main" id="{42CF974E-1AAC-8F74-B2E4-B96A72C07947}"/>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oundRect">
            <a:avLst>
              <a:gd name="adj" fmla="val 25000"/>
            </a:avLst>
          </a:prstGeom>
          <a:solidFill>
            <a:srgbClr val="10B981">
              <a:alpha val="80000"/>
            </a:srgbClr>
          </a:solidFill>
          <a:ln w="12700">
            <a:solidFill>
              <a:srgbClr val="10B981"/>
            </a:solidFill>
            <a:prstDash val="solid"/>
          </a:ln>
        </p:spPr>
        <p:txBody>
          <a:bodyPr/>
          <a:lstStyle/>
          <a:p>
            <a:endParaRPr lang="en-US"/>
          </a:p>
        </p:txBody>
      </p:sp>
      <p:sp>
        <p:nvSpPr>
          <p:cNvPr id="3" name="Text 1"/>
          <p:cNvSpPr/>
          <p:nvPr/>
        </p:nvSpPr>
        <p:spPr>
          <a:xfrm>
            <a:off x="365760" y="201168"/>
            <a:ext cx="2011680" cy="292608"/>
          </a:xfrm>
          <a:prstGeom prst="rect">
            <a:avLst/>
          </a:prstGeom>
          <a:noFill/>
          <a:ln/>
        </p:spPr>
        <p:txBody>
          <a:bodyPr wrap="square" lIns="0" tIns="0" rIns="0" bIns="0" rtlCol="0" anchor="ctr"/>
          <a:lstStyle/>
          <a:p>
            <a:pPr marL="0" indent="0" algn="ctr">
              <a:buNone/>
            </a:pPr>
            <a:r>
              <a:rPr lang="en-US" sz="800" b="1" kern="0" spc="200" dirty="0">
                <a:solidFill>
                  <a:srgbClr val="F9FAFB"/>
                </a:solidFill>
              </a:rPr>
              <a:t>SECTION 1 — THE STORY</a:t>
            </a:r>
            <a:endParaRPr lang="en-US" sz="800" dirty="0"/>
          </a:p>
        </p:txBody>
      </p:sp>
      <p:sp>
        <p:nvSpPr>
          <p:cNvPr id="4" name="Text 2"/>
          <p:cNvSpPr/>
          <p:nvPr/>
        </p:nvSpPr>
        <p:spPr>
          <a:xfrm>
            <a:off x="365760" y="594360"/>
            <a:ext cx="8412480" cy="594360"/>
          </a:xfrm>
          <a:prstGeom prst="rect">
            <a:avLst/>
          </a:prstGeom>
          <a:noFill/>
          <a:ln/>
        </p:spPr>
        <p:txBody>
          <a:bodyPr wrap="square" lIns="0" tIns="0" rIns="0" bIns="0" rtlCol="0" anchor="ctr"/>
          <a:lstStyle/>
          <a:p>
            <a:pPr marL="0" indent="0" algn="l">
              <a:buNone/>
            </a:pPr>
            <a:r>
              <a:rPr lang="en-US" sz="3000" b="1" dirty="0">
                <a:solidFill>
                  <a:srgbClr val="F9FAFB"/>
                </a:solidFill>
                <a:latin typeface="Calibri" pitchFamily="34" charset="0"/>
                <a:ea typeface="Calibri" pitchFamily="34" charset="-122"/>
                <a:cs typeface="Calibri" pitchFamily="34" charset="-120"/>
              </a:rPr>
              <a:t>Imagine a Warehouse Kitchen…</a:t>
            </a:r>
            <a:endParaRPr lang="en-US" sz="3000" dirty="0"/>
          </a:p>
        </p:txBody>
      </p:sp>
      <p:sp>
        <p:nvSpPr>
          <p:cNvPr id="5" name="Text 3"/>
          <p:cNvSpPr/>
          <p:nvPr/>
        </p:nvSpPr>
        <p:spPr>
          <a:xfrm>
            <a:off x="365760" y="1143000"/>
            <a:ext cx="8412480" cy="32004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80,000 unlabeled containers. One question.</a:t>
            </a:r>
            <a:endParaRPr lang="en-US" sz="1300" dirty="0"/>
          </a:p>
        </p:txBody>
      </p:sp>
      <p:sp>
        <p:nvSpPr>
          <p:cNvPr id="6" name="Shape 4"/>
          <p:cNvSpPr/>
          <p:nvPr/>
        </p:nvSpPr>
        <p:spPr>
          <a:xfrm>
            <a:off x="365760" y="1417320"/>
            <a:ext cx="8412480" cy="36576"/>
          </a:xfrm>
          <a:prstGeom prst="rect">
            <a:avLst/>
          </a:prstGeom>
          <a:solidFill>
            <a:srgbClr val="10B981"/>
          </a:solidFill>
          <a:ln w="12700">
            <a:solidFill>
              <a:srgbClr val="10B981"/>
            </a:solidFill>
            <a:prstDash val="solid"/>
          </a:ln>
        </p:spPr>
        <p:txBody>
          <a:bodyPr/>
          <a:lstStyle/>
          <a:p>
            <a:endParaRPr lang="en-US"/>
          </a:p>
        </p:txBody>
      </p:sp>
      <p:sp>
        <p:nvSpPr>
          <p:cNvPr id="7" name="Text 5"/>
          <p:cNvSpPr/>
          <p:nvPr/>
        </p:nvSpPr>
        <p:spPr>
          <a:xfrm>
            <a:off x="365760" y="1508760"/>
            <a:ext cx="8412480" cy="594360"/>
          </a:xfrm>
          <a:prstGeom prst="rect">
            <a:avLst/>
          </a:prstGeom>
          <a:noFill/>
          <a:ln/>
        </p:spPr>
        <p:txBody>
          <a:bodyPr wrap="square" lIns="0" tIns="0" rIns="0" bIns="0" rtlCol="0" anchor="ctr"/>
          <a:lstStyle/>
          <a:p>
            <a:pPr marL="0" indent="0" algn="ctr">
              <a:buNone/>
            </a:pPr>
            <a:r>
              <a:rPr lang="en-US" sz="3200" b="1" dirty="0">
                <a:solidFill>
                  <a:srgbClr val="10B981"/>
                </a:solidFill>
                <a:latin typeface="Calibri" pitchFamily="34" charset="0"/>
                <a:ea typeface="Calibri" pitchFamily="34" charset="-122"/>
                <a:cs typeface="Calibri" pitchFamily="34" charset="-120"/>
              </a:rPr>
              <a:t>"Can I get Chicken Biryani?"</a:t>
            </a:r>
            <a:endParaRPr lang="en-US" sz="3200" dirty="0"/>
          </a:p>
        </p:txBody>
      </p:sp>
      <p:sp>
        <p:nvSpPr>
          <p:cNvPr id="8" name="Shape 6"/>
          <p:cNvSpPr/>
          <p:nvPr/>
        </p:nvSpPr>
        <p:spPr>
          <a:xfrm>
            <a:off x="365760" y="2240280"/>
            <a:ext cx="4114800" cy="658368"/>
          </a:xfrm>
          <a:prstGeom prst="roundRect">
            <a:avLst>
              <a:gd name="adj" fmla="val 16667"/>
            </a:avLst>
          </a:prstGeom>
          <a:solidFill>
            <a:srgbClr val="11182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9" name="Text 7"/>
          <p:cNvSpPr/>
          <p:nvPr/>
        </p:nvSpPr>
        <p:spPr>
          <a:xfrm>
            <a:off x="475488" y="2295144"/>
            <a:ext cx="1920240" cy="530352"/>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  Warehouse</a:t>
            </a:r>
            <a:endParaRPr lang="en-US" sz="1100" dirty="0"/>
          </a:p>
        </p:txBody>
      </p:sp>
      <p:sp>
        <p:nvSpPr>
          <p:cNvPr id="10" name="Text 8"/>
          <p:cNvSpPr/>
          <p:nvPr/>
        </p:nvSpPr>
        <p:spPr>
          <a:xfrm>
            <a:off x="2423160" y="2295144"/>
            <a:ext cx="1920240" cy="530352"/>
          </a:xfrm>
          <a:prstGeom prst="rect">
            <a:avLst/>
          </a:prstGeom>
          <a:noFill/>
          <a:ln/>
        </p:spPr>
        <p:txBody>
          <a:bodyPr wrap="square" lIns="0" tIns="0" rIns="0" bIns="0" rtlCol="0" anchor="ctr"/>
          <a:lstStyle/>
          <a:p>
            <a:pPr marL="0" indent="0" algn="l">
              <a:buNone/>
            </a:pPr>
            <a:r>
              <a:rPr lang="en-US" sz="1100" dirty="0">
                <a:solidFill>
                  <a:srgbClr val="10B981"/>
                </a:solidFill>
                <a:latin typeface="Calibri" pitchFamily="34" charset="0"/>
                <a:ea typeface="Calibri" pitchFamily="34" charset="-122"/>
                <a:cs typeface="Calibri" pitchFamily="34" charset="-120"/>
              </a:rPr>
              <a:t>=  Your Database</a:t>
            </a:r>
            <a:endParaRPr lang="en-US" sz="1100" dirty="0"/>
          </a:p>
        </p:txBody>
      </p:sp>
      <p:sp>
        <p:nvSpPr>
          <p:cNvPr id="11" name="Shape 9"/>
          <p:cNvSpPr/>
          <p:nvPr/>
        </p:nvSpPr>
        <p:spPr>
          <a:xfrm>
            <a:off x="4663440" y="2240280"/>
            <a:ext cx="4114800" cy="658368"/>
          </a:xfrm>
          <a:prstGeom prst="roundRect">
            <a:avLst>
              <a:gd name="adj" fmla="val 16667"/>
            </a:avLst>
          </a:prstGeom>
          <a:solidFill>
            <a:srgbClr val="11182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2" name="Text 10"/>
          <p:cNvSpPr/>
          <p:nvPr/>
        </p:nvSpPr>
        <p:spPr>
          <a:xfrm>
            <a:off x="4773168" y="2295144"/>
            <a:ext cx="1920240" cy="530352"/>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  Unlabeled Containers</a:t>
            </a:r>
            <a:endParaRPr lang="en-US" sz="1100" dirty="0"/>
          </a:p>
        </p:txBody>
      </p:sp>
      <p:sp>
        <p:nvSpPr>
          <p:cNvPr id="13" name="Text 11"/>
          <p:cNvSpPr/>
          <p:nvPr/>
        </p:nvSpPr>
        <p:spPr>
          <a:xfrm>
            <a:off x="6720840" y="2295144"/>
            <a:ext cx="1920240" cy="530352"/>
          </a:xfrm>
          <a:prstGeom prst="rect">
            <a:avLst/>
          </a:prstGeom>
          <a:noFill/>
          <a:ln/>
        </p:spPr>
        <p:txBody>
          <a:bodyPr wrap="square" lIns="0" tIns="0" rIns="0" bIns="0" rtlCol="0" anchor="ctr"/>
          <a:lstStyle/>
          <a:p>
            <a:pPr marL="0" indent="0" algn="l">
              <a:buNone/>
            </a:pPr>
            <a:r>
              <a:rPr lang="en-US" sz="1100" dirty="0">
                <a:solidFill>
                  <a:srgbClr val="10B981"/>
                </a:solidFill>
                <a:latin typeface="Calibri" pitchFamily="34" charset="0"/>
                <a:ea typeface="Calibri" pitchFamily="34" charset="-122"/>
                <a:cs typeface="Calibri" pitchFamily="34" charset="-120"/>
              </a:rPr>
              <a:t>=  Cryptic Column Names</a:t>
            </a:r>
            <a:endParaRPr lang="en-US" sz="1100" dirty="0"/>
          </a:p>
        </p:txBody>
      </p:sp>
      <p:sp>
        <p:nvSpPr>
          <p:cNvPr id="14" name="Shape 12"/>
          <p:cNvSpPr/>
          <p:nvPr/>
        </p:nvSpPr>
        <p:spPr>
          <a:xfrm>
            <a:off x="365760" y="3017520"/>
            <a:ext cx="4114800" cy="658368"/>
          </a:xfrm>
          <a:prstGeom prst="roundRect">
            <a:avLst>
              <a:gd name="adj" fmla="val 16667"/>
            </a:avLst>
          </a:prstGeom>
          <a:solidFill>
            <a:srgbClr val="11182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5" name="Text 13"/>
          <p:cNvSpPr/>
          <p:nvPr/>
        </p:nvSpPr>
        <p:spPr>
          <a:xfrm>
            <a:off x="475488" y="3072384"/>
            <a:ext cx="1920240" cy="530352"/>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  Chicken Biryani</a:t>
            </a:r>
            <a:endParaRPr lang="en-US" sz="1100" dirty="0"/>
          </a:p>
        </p:txBody>
      </p:sp>
      <p:sp>
        <p:nvSpPr>
          <p:cNvPr id="16" name="Text 14"/>
          <p:cNvSpPr/>
          <p:nvPr/>
        </p:nvSpPr>
        <p:spPr>
          <a:xfrm>
            <a:off x="2423160" y="3072384"/>
            <a:ext cx="1920240" cy="530352"/>
          </a:xfrm>
          <a:prstGeom prst="rect">
            <a:avLst/>
          </a:prstGeom>
          <a:noFill/>
          <a:ln/>
        </p:spPr>
        <p:txBody>
          <a:bodyPr wrap="square" lIns="0" tIns="0" rIns="0" bIns="0" rtlCol="0" anchor="ctr"/>
          <a:lstStyle/>
          <a:p>
            <a:pPr marL="0" indent="0" algn="l">
              <a:buNone/>
            </a:pPr>
            <a:r>
              <a:rPr lang="en-US" sz="1100" dirty="0">
                <a:solidFill>
                  <a:srgbClr val="10B981"/>
                </a:solidFill>
                <a:latin typeface="Calibri" pitchFamily="34" charset="0"/>
                <a:ea typeface="Calibri" pitchFamily="34" charset="-122"/>
                <a:cs typeface="Calibri" pitchFamily="34" charset="-120"/>
              </a:rPr>
              <a:t>=  Your Business Question</a:t>
            </a:r>
            <a:endParaRPr lang="en-US" sz="1100" dirty="0"/>
          </a:p>
        </p:txBody>
      </p:sp>
      <p:sp>
        <p:nvSpPr>
          <p:cNvPr id="17" name="Shape 15"/>
          <p:cNvSpPr/>
          <p:nvPr/>
        </p:nvSpPr>
        <p:spPr>
          <a:xfrm>
            <a:off x="4663440" y="3017520"/>
            <a:ext cx="4114800" cy="658368"/>
          </a:xfrm>
          <a:prstGeom prst="roundRect">
            <a:avLst>
              <a:gd name="adj" fmla="val 16667"/>
            </a:avLst>
          </a:prstGeom>
          <a:solidFill>
            <a:srgbClr val="11182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8" name="Text 16"/>
          <p:cNvSpPr/>
          <p:nvPr/>
        </p:nvSpPr>
        <p:spPr>
          <a:xfrm>
            <a:off x="4773168" y="3072384"/>
            <a:ext cx="1920240" cy="530352"/>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  Finding Ingredients</a:t>
            </a:r>
            <a:endParaRPr lang="en-US" sz="1100" dirty="0"/>
          </a:p>
        </p:txBody>
      </p:sp>
      <p:sp>
        <p:nvSpPr>
          <p:cNvPr id="19" name="Text 17"/>
          <p:cNvSpPr/>
          <p:nvPr/>
        </p:nvSpPr>
        <p:spPr>
          <a:xfrm>
            <a:off x="6720840" y="3072384"/>
            <a:ext cx="1920240" cy="530352"/>
          </a:xfrm>
          <a:prstGeom prst="rect">
            <a:avLst/>
          </a:prstGeom>
          <a:noFill/>
          <a:ln/>
        </p:spPr>
        <p:txBody>
          <a:bodyPr wrap="square" lIns="0" tIns="0" rIns="0" bIns="0" rtlCol="0" anchor="ctr"/>
          <a:lstStyle/>
          <a:p>
            <a:pPr marL="0" indent="0" algn="l">
              <a:buNone/>
            </a:pPr>
            <a:r>
              <a:rPr lang="en-US" sz="1100" dirty="0">
                <a:solidFill>
                  <a:srgbClr val="10B981"/>
                </a:solidFill>
                <a:latin typeface="Calibri" pitchFamily="34" charset="0"/>
                <a:ea typeface="Calibri" pitchFamily="34" charset="-122"/>
                <a:cs typeface="Calibri" pitchFamily="34" charset="-120"/>
              </a:rPr>
              <a:t>=  Schema Linking</a:t>
            </a:r>
            <a:endParaRPr lang="en-US" sz="1100" dirty="0"/>
          </a:p>
        </p:txBody>
      </p:sp>
      <p:sp>
        <p:nvSpPr>
          <p:cNvPr id="20" name="Shape 18"/>
          <p:cNvSpPr/>
          <p:nvPr/>
        </p:nvSpPr>
        <p:spPr>
          <a:xfrm>
            <a:off x="365760" y="3794760"/>
            <a:ext cx="4114800" cy="658368"/>
          </a:xfrm>
          <a:prstGeom prst="roundRect">
            <a:avLst>
              <a:gd name="adj" fmla="val 16667"/>
            </a:avLst>
          </a:prstGeom>
          <a:solidFill>
            <a:srgbClr val="11182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1" name="Text 19"/>
          <p:cNvSpPr/>
          <p:nvPr/>
        </p:nvSpPr>
        <p:spPr>
          <a:xfrm>
            <a:off x="475488" y="3849624"/>
            <a:ext cx="1920240" cy="530352"/>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  Cooking Process</a:t>
            </a:r>
            <a:endParaRPr lang="en-US" sz="1100" dirty="0"/>
          </a:p>
        </p:txBody>
      </p:sp>
      <p:sp>
        <p:nvSpPr>
          <p:cNvPr id="22" name="Text 20"/>
          <p:cNvSpPr/>
          <p:nvPr/>
        </p:nvSpPr>
        <p:spPr>
          <a:xfrm>
            <a:off x="2423160" y="3849624"/>
            <a:ext cx="1920240" cy="530352"/>
          </a:xfrm>
          <a:prstGeom prst="rect">
            <a:avLst/>
          </a:prstGeom>
          <a:noFill/>
          <a:ln/>
        </p:spPr>
        <p:txBody>
          <a:bodyPr wrap="square" lIns="0" tIns="0" rIns="0" bIns="0" rtlCol="0" anchor="ctr"/>
          <a:lstStyle/>
          <a:p>
            <a:pPr marL="0" indent="0" algn="l">
              <a:buNone/>
            </a:pPr>
            <a:r>
              <a:rPr lang="en-US" sz="1100" dirty="0">
                <a:solidFill>
                  <a:srgbClr val="10B981"/>
                </a:solidFill>
                <a:latin typeface="Calibri" pitchFamily="34" charset="0"/>
                <a:ea typeface="Calibri" pitchFamily="34" charset="-122"/>
                <a:cs typeface="Calibri" pitchFamily="34" charset="-120"/>
              </a:rPr>
              <a:t>=  SQL Generation</a:t>
            </a:r>
            <a:endParaRPr lang="en-US" sz="1100" dirty="0"/>
          </a:p>
        </p:txBody>
      </p:sp>
      <p:sp>
        <p:nvSpPr>
          <p:cNvPr id="23" name="Shape 21"/>
          <p:cNvSpPr/>
          <p:nvPr/>
        </p:nvSpPr>
        <p:spPr>
          <a:xfrm>
            <a:off x="4663440" y="3794760"/>
            <a:ext cx="4114800" cy="658368"/>
          </a:xfrm>
          <a:prstGeom prst="roundRect">
            <a:avLst>
              <a:gd name="adj" fmla="val 16667"/>
            </a:avLst>
          </a:prstGeom>
          <a:solidFill>
            <a:srgbClr val="11182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4" name="Text 22"/>
          <p:cNvSpPr/>
          <p:nvPr/>
        </p:nvSpPr>
        <p:spPr>
          <a:xfrm>
            <a:off x="4773168" y="3849624"/>
            <a:ext cx="1920240" cy="530352"/>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  Wrong Dish</a:t>
            </a:r>
            <a:endParaRPr lang="en-US" sz="1100" dirty="0"/>
          </a:p>
        </p:txBody>
      </p:sp>
      <p:sp>
        <p:nvSpPr>
          <p:cNvPr id="25" name="Text 23"/>
          <p:cNvSpPr/>
          <p:nvPr/>
        </p:nvSpPr>
        <p:spPr>
          <a:xfrm>
            <a:off x="6720840" y="3849624"/>
            <a:ext cx="1920240" cy="530352"/>
          </a:xfrm>
          <a:prstGeom prst="rect">
            <a:avLst/>
          </a:prstGeom>
          <a:noFill/>
          <a:ln/>
        </p:spPr>
        <p:txBody>
          <a:bodyPr wrap="square" lIns="0" tIns="0" rIns="0" bIns="0" rtlCol="0" anchor="ctr"/>
          <a:lstStyle/>
          <a:p>
            <a:pPr marL="0" indent="0" algn="l">
              <a:buNone/>
            </a:pPr>
            <a:r>
              <a:rPr lang="en-US" sz="1100" dirty="0">
                <a:solidFill>
                  <a:srgbClr val="10B981"/>
                </a:solidFill>
                <a:latin typeface="Calibri" pitchFamily="34" charset="0"/>
                <a:ea typeface="Calibri" pitchFamily="34" charset="-122"/>
                <a:cs typeface="Calibri" pitchFamily="34" charset="-120"/>
              </a:rPr>
              <a:t>=  Hallucinated SQL</a:t>
            </a:r>
            <a:endParaRPr lang="en-US" sz="1100" dirty="0"/>
          </a:p>
        </p:txBody>
      </p:sp>
      <p:pic>
        <p:nvPicPr>
          <p:cNvPr id="26" name="Picture 25">
            <a:extLst>
              <a:ext uri="{FF2B5EF4-FFF2-40B4-BE49-F238E27FC236}">
                <a16:creationId xmlns:a16="http://schemas.microsoft.com/office/drawing/2014/main" id="{23311A99-D78B-354B-913D-05F37A2E4828}"/>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New shape"/>
          <p:cNvSpPr/>
          <p:nvPr/>
        </p:nvSpPr>
        <p:spPr>
          <a:xfrm>
            <a:off x="254000" y="127000"/>
            <a:ext cx="8636000" cy="381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45720" rIns="91440" bIns="45720" rtlCol="0" anchor="ctr"/>
          <a:lstStyle/>
          <a:p>
            <a:pPr marL="0" marR="0" indent="0" algn="l">
              <a:lnSpc>
                <a:spcPct val="100000"/>
              </a:lnSpc>
              <a:spcBef>
                <a:spcPct val="0"/>
              </a:spcBef>
              <a:spcAft>
                <a:spcPct val="0"/>
              </a:spcAft>
              <a:buNone/>
            </a:pPr>
            <a:endParaRPr sz="2400" b="1" i="0" u="none" dirty="0">
              <a:solidFill>
                <a:schemeClr val="bg2"/>
              </a:solidFill>
              <a:latin typeface="+mj-lt"/>
            </a:endParaRPr>
          </a:p>
        </p:txBody>
      </p:sp>
      <p:sp>
        <p:nvSpPr>
          <p:cNvPr id="3" name="New shape"/>
          <p:cNvSpPr/>
          <p:nvPr/>
        </p:nvSpPr>
        <p:spPr>
          <a:xfrm>
            <a:off x="254000" y="508000"/>
            <a:ext cx="8636000" cy="0"/>
          </a:xfrm>
          <a:prstGeom prst="line">
            <a:avLst/>
          </a:prstGeom>
          <a:noFill/>
          <a:ln w="19050" cmpd="sng">
            <a:solidFill>
              <a:schemeClr val="accent6">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254000" y="571500"/>
            <a:ext cx="8636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45720" rIns="91440" bIns="45720" rtlCol="0" anchor="t"/>
          <a:lstStyle/>
          <a:p>
            <a:pPr marL="0" marR="0" indent="0" algn="l">
              <a:lnSpc>
                <a:spcPct val="100000"/>
              </a:lnSpc>
              <a:spcBef>
                <a:spcPct val="0"/>
              </a:spcBef>
              <a:spcAft>
                <a:spcPct val="0"/>
              </a:spcAft>
              <a:buNone/>
            </a:pPr>
            <a:r>
              <a:rPr lang="en-US" sz="1200" b="0" i="0" u="none">
                <a:solidFill>
                  <a:schemeClr val="accent4"/>
                </a:solidFill>
                <a:latin typeface="+mn-lt"/>
              </a:rPr>
              <a:t>Deepening </a:t>
            </a:r>
            <a:r>
              <a:rPr lang="en-US" sz="1200">
                <a:solidFill>
                  <a:schemeClr val="accent4"/>
                </a:solidFill>
              </a:rPr>
              <a:t>analogy. </a:t>
            </a:r>
            <a:r>
              <a:rPr sz="1200" b="0" i="0" u="none">
                <a:solidFill>
                  <a:schemeClr val="accent4"/>
                </a:solidFill>
                <a:latin typeface="+mn-lt"/>
              </a:rPr>
              <a:t>Mapping </a:t>
            </a:r>
            <a:r>
              <a:rPr sz="1200" b="0" i="0" u="none" dirty="0">
                <a:solidFill>
                  <a:schemeClr val="accent4"/>
                </a:solidFill>
                <a:latin typeface="+mn-lt"/>
              </a:rPr>
              <a:t>our question to how a warehouse kitchen works.</a:t>
            </a:r>
          </a:p>
        </p:txBody>
      </p:sp>
      <p:sp>
        <p:nvSpPr>
          <p:cNvPr id="5" name="New shape"/>
          <p:cNvSpPr/>
          <p:nvPr/>
        </p:nvSpPr>
        <p:spPr>
          <a:xfrm>
            <a:off x="254000" y="1016000"/>
            <a:ext cx="1968500" cy="311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p:nvPr/>
        </p:nvSpPr>
        <p:spPr>
          <a:xfrm>
            <a:off x="889000" y="1206500"/>
            <a:ext cx="698500" cy="698500"/>
          </a:xfrm>
          <a:prstGeom prst="ellipse">
            <a:avLst/>
          </a:prstGeom>
          <a:noFill/>
          <a:ln w="12700">
            <a:solidFill>
              <a:schemeClr val="accent3">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1" name="New picture"/>
          <p:cNvPicPr/>
          <p:nvPr>
            <p:custDataLst>
              <p:tags r:id="rId2"/>
            </p:custDataLst>
          </p:nvPr>
        </p:nvPicPr>
        <p:blipFill>
          <a:blip>
            <a:extLst>
              <a:ext uri="{96DAC541-7B7A-43D3-8B79-37D633B846F1}">
                <asvg:svgBlip xmlns:asvg="http://schemas.microsoft.com/office/drawing/2016/SVG/main" r:embed="rId12"/>
              </a:ext>
            </a:extLst>
          </a:blip>
          <a:stretch>
            <a:fillRect/>
          </a:stretch>
        </p:blipFill>
        <p:spPr>
          <a:xfrm>
            <a:off x="984250" y="1301750"/>
            <a:ext cx="508000" cy="508000"/>
          </a:xfrm>
          <a:prstGeom prst="rect">
            <a:avLst/>
          </a:prstGeom>
        </p:spPr>
      </p:pic>
      <p:sp>
        <p:nvSpPr>
          <p:cNvPr id="8" name="New shape"/>
          <p:cNvSpPr/>
          <p:nvPr/>
        </p:nvSpPr>
        <p:spPr>
          <a:xfrm>
            <a:off x="317500" y="1968500"/>
            <a:ext cx="1841500" cy="381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t"/>
          <a:lstStyle/>
          <a:p>
            <a:pPr marL="0" marR="0" indent="0" algn="ctr">
              <a:lnSpc>
                <a:spcPct val="100000"/>
              </a:lnSpc>
              <a:spcBef>
                <a:spcPct val="0"/>
              </a:spcBef>
              <a:spcAft>
                <a:spcPct val="0"/>
              </a:spcAft>
              <a:buNone/>
            </a:pPr>
            <a:r>
              <a:rPr sz="1400" b="1" i="0" u="none">
                <a:solidFill>
                  <a:schemeClr val="accent6"/>
                </a:solidFill>
                <a:latin typeface="+mj-lt"/>
              </a:rPr>
              <a:t>Chef</a:t>
            </a:r>
          </a:p>
          <a:p>
            <a:pPr marL="0" marR="0" indent="0" algn="ctr">
              <a:lnSpc>
                <a:spcPct val="100000"/>
              </a:lnSpc>
              <a:spcBef>
                <a:spcPct val="0"/>
              </a:spcBef>
              <a:spcAft>
                <a:spcPct val="0"/>
              </a:spcAft>
              <a:buNone/>
            </a:pPr>
            <a:r>
              <a:rPr sz="1100" b="1" i="0" u="none">
                <a:solidFill>
                  <a:schemeClr val="lt1"/>
                </a:solidFill>
                <a:latin typeface="+mn-lt"/>
              </a:rPr>
              <a:t>= LLM</a:t>
            </a:r>
          </a:p>
        </p:txBody>
      </p:sp>
      <p:sp>
        <p:nvSpPr>
          <p:cNvPr id="9" name="New shape"/>
          <p:cNvSpPr/>
          <p:nvPr/>
        </p:nvSpPr>
        <p:spPr>
          <a:xfrm>
            <a:off x="381000" y="2413000"/>
            <a:ext cx="1714500" cy="0"/>
          </a:xfrm>
          <a:prstGeom prst="line">
            <a:avLst/>
          </a:prstGeom>
          <a:noFill/>
          <a:ln w="6350" cmpd="sng">
            <a:solidFill>
              <a:schemeClr val="accent3">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 name="New shape"/>
          <p:cNvSpPr/>
          <p:nvPr/>
        </p:nvSpPr>
        <p:spPr>
          <a:xfrm>
            <a:off x="317500" y="2476500"/>
            <a:ext cx="1841500" cy="889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indent="0" algn="l">
              <a:lnSpc>
                <a:spcPct val="100000"/>
              </a:lnSpc>
              <a:spcBef>
                <a:spcPct val="0"/>
              </a:spcBef>
              <a:spcAft>
                <a:spcPct val="0"/>
              </a:spcAft>
              <a:buNone/>
            </a:pPr>
            <a:r>
              <a:rPr sz="1000" b="0" i="0" u="none">
                <a:solidFill>
                  <a:schemeClr val="lt1"/>
                </a:solidFill>
                <a:latin typeface="+mn-lt"/>
              </a:rPr>
              <a:t>The chef understands the request and decides what to do.</a:t>
            </a:r>
          </a:p>
        </p:txBody>
      </p:sp>
      <p:sp>
        <p:nvSpPr>
          <p:cNvPr id="11" name="New shape"/>
          <p:cNvSpPr/>
          <p:nvPr/>
        </p:nvSpPr>
        <p:spPr>
          <a:xfrm>
            <a:off x="381000" y="3429000"/>
            <a:ext cx="1714500" cy="0"/>
          </a:xfrm>
          <a:prstGeom prst="line">
            <a:avLst/>
          </a:prstGeom>
          <a:noFill/>
          <a:ln w="12700" cmpd="sng">
            <a:solidFill>
              <a:schemeClr val="accent6">
                <a:lumMod val="75000"/>
                <a:alpha val="100000"/>
              </a:schemeClr>
            </a:solidFill>
            <a:prstDash val="dot"/>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 name="New shape"/>
          <p:cNvSpPr/>
          <p:nvPr/>
        </p:nvSpPr>
        <p:spPr>
          <a:xfrm>
            <a:off x="381000" y="3556000"/>
            <a:ext cx="317500" cy="317500"/>
          </a:xfrm>
          <a:prstGeom prst="ellipse">
            <a:avLst/>
          </a:prstGeom>
          <a:solidFill>
            <a:schemeClr val="dk2">
              <a:lumMod val="50000"/>
              <a:alpha val="100000"/>
            </a:schemeClr>
          </a:solidFill>
          <a:ln w="12700">
            <a:solidFill>
              <a:schemeClr val="accent6">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custDataLst>
              <p:tags r:id="rId3"/>
            </p:custDataLst>
          </p:nvPr>
        </p:nvPicPr>
        <p:blipFill>
          <a:blip>
            <a:extLst>
              <a:ext uri="{96DAC541-7B7A-43D3-8B79-37D633B846F1}">
                <asvg:svgBlip xmlns:asvg="http://schemas.microsoft.com/office/drawing/2016/SVG/main" r:embed="rId13"/>
              </a:ext>
            </a:extLst>
          </a:blip>
          <a:stretch>
            <a:fillRect/>
          </a:stretch>
        </p:blipFill>
        <p:spPr>
          <a:xfrm>
            <a:off x="444500" y="3619500"/>
            <a:ext cx="190500" cy="190500"/>
          </a:xfrm>
          <a:prstGeom prst="rect">
            <a:avLst/>
          </a:prstGeom>
        </p:spPr>
      </p:pic>
      <p:sp>
        <p:nvSpPr>
          <p:cNvPr id="14" name="New shape"/>
          <p:cNvSpPr/>
          <p:nvPr/>
        </p:nvSpPr>
        <p:spPr>
          <a:xfrm>
            <a:off x="736600" y="3530600"/>
            <a:ext cx="14224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indent="0" algn="l">
              <a:lnSpc>
                <a:spcPct val="100000"/>
              </a:lnSpc>
              <a:spcBef>
                <a:spcPct val="0"/>
              </a:spcBef>
              <a:spcAft>
                <a:spcPct val="0"/>
              </a:spcAft>
              <a:buNone/>
            </a:pPr>
            <a:r>
              <a:rPr sz="900" b="1" i="0" u="none">
                <a:solidFill>
                  <a:schemeClr val="lt1"/>
                </a:solidFill>
                <a:latin typeface="+mn-lt"/>
              </a:rPr>
              <a:t>Example: </a:t>
            </a:r>
            <a:r>
              <a:rPr sz="900" b="0" i="1" u="none">
                <a:solidFill>
                  <a:schemeClr val="lt1"/>
                </a:solidFill>
                <a:latin typeface="+mn-lt"/>
              </a:rPr>
              <a:t>Who (or what) decides how to answer?</a:t>
            </a:r>
          </a:p>
        </p:txBody>
      </p:sp>
      <p:sp>
        <p:nvSpPr>
          <p:cNvPr id="15" name="New shape"/>
          <p:cNvSpPr/>
          <p:nvPr/>
        </p:nvSpPr>
        <p:spPr>
          <a:xfrm>
            <a:off x="2476500" y="1016000"/>
            <a:ext cx="1968500" cy="311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New shape"/>
          <p:cNvSpPr/>
          <p:nvPr/>
        </p:nvSpPr>
        <p:spPr>
          <a:xfrm>
            <a:off x="3111500" y="1206500"/>
            <a:ext cx="698500" cy="698500"/>
          </a:xfrm>
          <a:prstGeom prst="ellipse">
            <a:avLst/>
          </a:prstGeom>
          <a:noFill/>
          <a:ln w="12700">
            <a:solidFill>
              <a:schemeClr val="accent3">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3" name="New picture"/>
          <p:cNvPicPr/>
          <p:nvPr>
            <p:custDataLst>
              <p:tags r:id="rId4"/>
            </p:custDataLst>
          </p:nvPr>
        </p:nvPicPr>
        <p:blipFill>
          <a:blip>
            <a:extLst>
              <a:ext uri="{96DAC541-7B7A-43D3-8B79-37D633B846F1}">
                <asvg:svgBlip xmlns:asvg="http://schemas.microsoft.com/office/drawing/2016/SVG/main" r:embed="rId14"/>
              </a:ext>
            </a:extLst>
          </a:blip>
          <a:stretch>
            <a:fillRect/>
          </a:stretch>
        </p:blipFill>
        <p:spPr>
          <a:xfrm>
            <a:off x="3206750" y="1301750"/>
            <a:ext cx="508000" cy="508000"/>
          </a:xfrm>
          <a:prstGeom prst="rect">
            <a:avLst/>
          </a:prstGeom>
        </p:spPr>
      </p:pic>
      <p:sp>
        <p:nvSpPr>
          <p:cNvPr id="18" name="New shape"/>
          <p:cNvSpPr/>
          <p:nvPr/>
        </p:nvSpPr>
        <p:spPr>
          <a:xfrm>
            <a:off x="2540000" y="1968500"/>
            <a:ext cx="1841500" cy="381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t"/>
          <a:lstStyle/>
          <a:p>
            <a:pPr marL="0" marR="0" indent="0" algn="ctr">
              <a:lnSpc>
                <a:spcPct val="100000"/>
              </a:lnSpc>
              <a:spcBef>
                <a:spcPct val="0"/>
              </a:spcBef>
              <a:spcAft>
                <a:spcPct val="0"/>
              </a:spcAft>
              <a:buNone/>
            </a:pPr>
            <a:r>
              <a:rPr sz="1400" b="1" i="0" u="none">
                <a:solidFill>
                  <a:schemeClr val="accent6"/>
                </a:solidFill>
                <a:latin typeface="+mj-lt"/>
              </a:rPr>
              <a:t>Server</a:t>
            </a:r>
          </a:p>
          <a:p>
            <a:pPr marL="0" marR="0" indent="0" algn="ctr">
              <a:lnSpc>
                <a:spcPct val="100000"/>
              </a:lnSpc>
              <a:spcBef>
                <a:spcPct val="0"/>
              </a:spcBef>
              <a:spcAft>
                <a:spcPct val="0"/>
              </a:spcAft>
              <a:buNone/>
            </a:pPr>
            <a:r>
              <a:rPr sz="1100" b="1" i="0" u="none">
                <a:solidFill>
                  <a:schemeClr val="lt1"/>
                </a:solidFill>
                <a:latin typeface="+mn-lt"/>
              </a:rPr>
              <a:t>= Orchestrator</a:t>
            </a:r>
          </a:p>
        </p:txBody>
      </p:sp>
      <p:sp>
        <p:nvSpPr>
          <p:cNvPr id="19" name="New shape"/>
          <p:cNvSpPr/>
          <p:nvPr/>
        </p:nvSpPr>
        <p:spPr>
          <a:xfrm>
            <a:off x="2603500" y="2413000"/>
            <a:ext cx="1714500" cy="0"/>
          </a:xfrm>
          <a:prstGeom prst="line">
            <a:avLst/>
          </a:prstGeom>
          <a:noFill/>
          <a:ln w="6350" cmpd="sng">
            <a:solidFill>
              <a:schemeClr val="accent3">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0" name="New shape"/>
          <p:cNvSpPr/>
          <p:nvPr/>
        </p:nvSpPr>
        <p:spPr>
          <a:xfrm>
            <a:off x="2540000" y="2476500"/>
            <a:ext cx="1841500" cy="889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indent="0" algn="l">
              <a:lnSpc>
                <a:spcPct val="100000"/>
              </a:lnSpc>
              <a:spcBef>
                <a:spcPct val="0"/>
              </a:spcBef>
              <a:spcAft>
                <a:spcPct val="0"/>
              </a:spcAft>
              <a:buNone/>
            </a:pPr>
            <a:r>
              <a:rPr sz="1000" b="0" i="0" u="none">
                <a:solidFill>
                  <a:schemeClr val="lt1"/>
                </a:solidFill>
                <a:latin typeface="+mn-lt"/>
              </a:rPr>
              <a:t>The server takes the order, coordinates the kitchen, and ensures everything arrives on time.</a:t>
            </a:r>
          </a:p>
        </p:txBody>
      </p:sp>
      <p:sp>
        <p:nvSpPr>
          <p:cNvPr id="21" name="New shape"/>
          <p:cNvSpPr/>
          <p:nvPr/>
        </p:nvSpPr>
        <p:spPr>
          <a:xfrm>
            <a:off x="2603500" y="3429000"/>
            <a:ext cx="1714500" cy="0"/>
          </a:xfrm>
          <a:prstGeom prst="line">
            <a:avLst/>
          </a:prstGeom>
          <a:noFill/>
          <a:ln w="12700" cmpd="sng">
            <a:solidFill>
              <a:schemeClr val="accent6">
                <a:lumMod val="75000"/>
                <a:alpha val="100000"/>
              </a:schemeClr>
            </a:solidFill>
            <a:prstDash val="dot"/>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2603500" y="3556000"/>
            <a:ext cx="317500" cy="317500"/>
          </a:xfrm>
          <a:prstGeom prst="ellipse">
            <a:avLst/>
          </a:prstGeom>
          <a:solidFill>
            <a:schemeClr val="dk2">
              <a:lumMod val="50000"/>
              <a:alpha val="100000"/>
            </a:schemeClr>
          </a:solidFill>
          <a:ln w="12700">
            <a:solidFill>
              <a:schemeClr val="accent6">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4" name="New picture"/>
          <p:cNvPicPr/>
          <p:nvPr>
            <p:custDataLst>
              <p:tags r:id="rId5"/>
            </p:custDataLst>
          </p:nvPr>
        </p:nvPicPr>
        <p:blipFill>
          <a:blip>
            <a:extLst>
              <a:ext uri="{96DAC541-7B7A-43D3-8B79-37D633B846F1}">
                <asvg:svgBlip xmlns:asvg="http://schemas.microsoft.com/office/drawing/2016/SVG/main" r:embed="rId15"/>
              </a:ext>
            </a:extLst>
          </a:blip>
          <a:stretch>
            <a:fillRect/>
          </a:stretch>
        </p:blipFill>
        <p:spPr>
          <a:xfrm>
            <a:off x="2667000" y="3619500"/>
            <a:ext cx="190500" cy="190500"/>
          </a:xfrm>
          <a:prstGeom prst="rect">
            <a:avLst/>
          </a:prstGeom>
        </p:spPr>
      </p:pic>
      <p:sp>
        <p:nvSpPr>
          <p:cNvPr id="24" name="New shape"/>
          <p:cNvSpPr/>
          <p:nvPr/>
        </p:nvSpPr>
        <p:spPr>
          <a:xfrm>
            <a:off x="2959100" y="3530600"/>
            <a:ext cx="14224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indent="0" algn="l">
              <a:lnSpc>
                <a:spcPct val="100000"/>
              </a:lnSpc>
              <a:spcBef>
                <a:spcPct val="0"/>
              </a:spcBef>
              <a:spcAft>
                <a:spcPct val="0"/>
              </a:spcAft>
              <a:buNone/>
            </a:pPr>
            <a:r>
              <a:rPr sz="900" b="1" i="0" u="none">
                <a:solidFill>
                  <a:schemeClr val="lt1"/>
                </a:solidFill>
                <a:latin typeface="+mn-lt"/>
              </a:rPr>
              <a:t>Example: </a:t>
            </a:r>
            <a:r>
              <a:rPr sz="900" b="0" i="1" u="none">
                <a:solidFill>
                  <a:schemeClr val="lt1"/>
                </a:solidFill>
                <a:latin typeface="+mn-lt"/>
              </a:rPr>
              <a:t>Who manages the steps and tools?</a:t>
            </a:r>
          </a:p>
        </p:txBody>
      </p:sp>
      <p:sp>
        <p:nvSpPr>
          <p:cNvPr id="25" name="New shape"/>
          <p:cNvSpPr/>
          <p:nvPr/>
        </p:nvSpPr>
        <p:spPr>
          <a:xfrm>
            <a:off x="4699000" y="1016000"/>
            <a:ext cx="1968500" cy="311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New shape"/>
          <p:cNvSpPr/>
          <p:nvPr/>
        </p:nvSpPr>
        <p:spPr>
          <a:xfrm>
            <a:off x="5334000" y="1206500"/>
            <a:ext cx="698500" cy="698500"/>
          </a:xfrm>
          <a:prstGeom prst="ellipse">
            <a:avLst/>
          </a:prstGeom>
          <a:noFill/>
          <a:ln w="12700">
            <a:solidFill>
              <a:schemeClr val="accent3">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5" name="New picture"/>
          <p:cNvPicPr/>
          <p:nvPr>
            <p:custDataLst>
              <p:tags r:id="rId6"/>
            </p:custDataLst>
          </p:nvPr>
        </p:nvPicPr>
        <p:blipFill>
          <a:blip>
            <a:extLst>
              <a:ext uri="{96DAC541-7B7A-43D3-8B79-37D633B846F1}">
                <asvg:svgBlip xmlns:asvg="http://schemas.microsoft.com/office/drawing/2016/SVG/main" r:embed="rId16"/>
              </a:ext>
            </a:extLst>
          </a:blip>
          <a:stretch>
            <a:fillRect/>
          </a:stretch>
        </p:blipFill>
        <p:spPr>
          <a:xfrm>
            <a:off x="5429250" y="1301750"/>
            <a:ext cx="508000" cy="508000"/>
          </a:xfrm>
          <a:prstGeom prst="rect">
            <a:avLst/>
          </a:prstGeom>
        </p:spPr>
      </p:pic>
      <p:sp>
        <p:nvSpPr>
          <p:cNvPr id="28" name="New shape"/>
          <p:cNvSpPr/>
          <p:nvPr/>
        </p:nvSpPr>
        <p:spPr>
          <a:xfrm>
            <a:off x="4762500" y="1968500"/>
            <a:ext cx="1841500" cy="381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indent="0" algn="ctr">
              <a:lnSpc>
                <a:spcPct val="100000"/>
              </a:lnSpc>
              <a:spcBef>
                <a:spcPct val="0"/>
              </a:spcBef>
              <a:spcAft>
                <a:spcPct val="0"/>
              </a:spcAft>
              <a:buNone/>
            </a:pPr>
            <a:r>
              <a:rPr sz="1400" b="1" i="0" u="none">
                <a:solidFill>
                  <a:schemeClr val="accent6"/>
                </a:solidFill>
                <a:latin typeface="+mj-lt"/>
              </a:rPr>
              <a:t>Recipe</a:t>
            </a:r>
          </a:p>
          <a:p>
            <a:pPr marL="0" marR="0" indent="0" algn="ctr">
              <a:lnSpc>
                <a:spcPct val="100000"/>
              </a:lnSpc>
              <a:spcBef>
                <a:spcPct val="0"/>
              </a:spcBef>
              <a:spcAft>
                <a:spcPct val="0"/>
              </a:spcAft>
              <a:buNone/>
            </a:pPr>
            <a:r>
              <a:rPr sz="1100" b="1" i="0" u="none">
                <a:solidFill>
                  <a:schemeClr val="lt1"/>
                </a:solidFill>
                <a:latin typeface="+mn-lt"/>
              </a:rPr>
              <a:t>= Prompt/System Instructions</a:t>
            </a:r>
          </a:p>
        </p:txBody>
      </p:sp>
      <p:sp>
        <p:nvSpPr>
          <p:cNvPr id="29" name="New shape"/>
          <p:cNvSpPr/>
          <p:nvPr/>
        </p:nvSpPr>
        <p:spPr>
          <a:xfrm>
            <a:off x="4826000" y="2413000"/>
            <a:ext cx="1714500" cy="0"/>
          </a:xfrm>
          <a:prstGeom prst="line">
            <a:avLst/>
          </a:prstGeom>
          <a:noFill/>
          <a:ln w="6350" cmpd="sng">
            <a:solidFill>
              <a:schemeClr val="accent3">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0" name="New shape"/>
          <p:cNvSpPr/>
          <p:nvPr/>
        </p:nvSpPr>
        <p:spPr>
          <a:xfrm>
            <a:off x="4762500" y="2476500"/>
            <a:ext cx="1841500" cy="889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indent="0" algn="l">
              <a:lnSpc>
                <a:spcPct val="100000"/>
              </a:lnSpc>
              <a:spcBef>
                <a:spcPct val="0"/>
              </a:spcBef>
              <a:spcAft>
                <a:spcPct val="0"/>
              </a:spcAft>
              <a:buNone/>
            </a:pPr>
            <a:r>
              <a:rPr sz="1000" b="0" i="0" u="none">
                <a:solidFill>
                  <a:schemeClr val="lt1"/>
                </a:solidFill>
                <a:latin typeface="+mn-lt"/>
              </a:rPr>
              <a:t>The recipe provides context, rules, and constraints for the dish.</a:t>
            </a:r>
          </a:p>
        </p:txBody>
      </p:sp>
      <p:sp>
        <p:nvSpPr>
          <p:cNvPr id="31" name="New shape"/>
          <p:cNvSpPr/>
          <p:nvPr/>
        </p:nvSpPr>
        <p:spPr>
          <a:xfrm>
            <a:off x="4826000" y="3429000"/>
            <a:ext cx="1714500" cy="0"/>
          </a:xfrm>
          <a:prstGeom prst="line">
            <a:avLst/>
          </a:prstGeom>
          <a:noFill/>
          <a:ln w="12700" cmpd="sng">
            <a:solidFill>
              <a:schemeClr val="accent6">
                <a:lumMod val="75000"/>
                <a:alpha val="100000"/>
              </a:schemeClr>
            </a:solidFill>
            <a:prstDash val="dot"/>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2" name="New shape"/>
          <p:cNvSpPr/>
          <p:nvPr/>
        </p:nvSpPr>
        <p:spPr>
          <a:xfrm>
            <a:off x="4826000" y="3556000"/>
            <a:ext cx="317500" cy="317500"/>
          </a:xfrm>
          <a:prstGeom prst="ellipse">
            <a:avLst/>
          </a:prstGeom>
          <a:solidFill>
            <a:schemeClr val="dk2">
              <a:lumMod val="50000"/>
              <a:alpha val="100000"/>
            </a:schemeClr>
          </a:solidFill>
          <a:ln w="12700">
            <a:solidFill>
              <a:schemeClr val="accent6">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6" name="New picture"/>
          <p:cNvPicPr/>
          <p:nvPr>
            <p:custDataLst>
              <p:tags r:id="rId7"/>
            </p:custDataLst>
          </p:nvPr>
        </p:nvPicPr>
        <p:blipFill>
          <a:blip>
            <a:extLst>
              <a:ext uri="{96DAC541-7B7A-43D3-8B79-37D633B846F1}">
                <asvg:svgBlip xmlns:asvg="http://schemas.microsoft.com/office/drawing/2016/SVG/main" r:embed="rId17"/>
              </a:ext>
            </a:extLst>
          </a:blip>
          <a:stretch>
            <a:fillRect/>
          </a:stretch>
        </p:blipFill>
        <p:spPr>
          <a:xfrm>
            <a:off x="4889500" y="3619500"/>
            <a:ext cx="190500" cy="190500"/>
          </a:xfrm>
          <a:prstGeom prst="rect">
            <a:avLst/>
          </a:prstGeom>
        </p:spPr>
      </p:pic>
      <p:sp>
        <p:nvSpPr>
          <p:cNvPr id="34" name="New shape"/>
          <p:cNvSpPr/>
          <p:nvPr/>
        </p:nvSpPr>
        <p:spPr>
          <a:xfrm>
            <a:off x="5181600" y="3530600"/>
            <a:ext cx="14224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indent="0" algn="l">
              <a:lnSpc>
                <a:spcPct val="100000"/>
              </a:lnSpc>
              <a:spcBef>
                <a:spcPct val="0"/>
              </a:spcBef>
              <a:spcAft>
                <a:spcPct val="0"/>
              </a:spcAft>
              <a:buNone/>
            </a:pPr>
            <a:r>
              <a:rPr sz="900" b="1" i="0" u="none">
                <a:solidFill>
                  <a:schemeClr val="lt1"/>
                </a:solidFill>
                <a:latin typeface="+mn-lt"/>
              </a:rPr>
              <a:t>Example: </a:t>
            </a:r>
            <a:r>
              <a:rPr sz="900" b="0" i="1" u="none">
                <a:solidFill>
                  <a:schemeClr val="lt1"/>
                </a:solidFill>
                <a:latin typeface="+mn-lt"/>
              </a:rPr>
              <a:t>What instructions guide the response?</a:t>
            </a:r>
          </a:p>
        </p:txBody>
      </p:sp>
      <p:sp>
        <p:nvSpPr>
          <p:cNvPr id="35" name="New shape"/>
          <p:cNvSpPr/>
          <p:nvPr/>
        </p:nvSpPr>
        <p:spPr>
          <a:xfrm>
            <a:off x="6921500" y="1016000"/>
            <a:ext cx="1968500" cy="311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p:nvPr/>
        </p:nvSpPr>
        <p:spPr>
          <a:xfrm>
            <a:off x="7556500" y="1206500"/>
            <a:ext cx="698500" cy="698500"/>
          </a:xfrm>
          <a:prstGeom prst="ellipse">
            <a:avLst/>
          </a:prstGeom>
          <a:noFill/>
          <a:ln w="12700">
            <a:solidFill>
              <a:schemeClr val="accent3">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7" name="New picture"/>
          <p:cNvPicPr/>
          <p:nvPr>
            <p:custDataLst>
              <p:tags r:id="rId8"/>
            </p:custDataLst>
          </p:nvPr>
        </p:nvPicPr>
        <p:blipFill>
          <a:blip>
            <a:extLst>
              <a:ext uri="{96DAC541-7B7A-43D3-8B79-37D633B846F1}">
                <asvg:svgBlip xmlns:asvg="http://schemas.microsoft.com/office/drawing/2016/SVG/main" r:embed="rId18"/>
              </a:ext>
            </a:extLst>
          </a:blip>
          <a:stretch>
            <a:fillRect/>
          </a:stretch>
        </p:blipFill>
        <p:spPr>
          <a:xfrm>
            <a:off x="7651750" y="1301750"/>
            <a:ext cx="508000" cy="508000"/>
          </a:xfrm>
          <a:prstGeom prst="rect">
            <a:avLst/>
          </a:prstGeom>
        </p:spPr>
      </p:pic>
      <p:sp>
        <p:nvSpPr>
          <p:cNvPr id="38" name="New shape"/>
          <p:cNvSpPr/>
          <p:nvPr/>
        </p:nvSpPr>
        <p:spPr>
          <a:xfrm>
            <a:off x="6985000" y="1968500"/>
            <a:ext cx="1841500" cy="381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indent="0" algn="ctr">
              <a:lnSpc>
                <a:spcPct val="100000"/>
              </a:lnSpc>
              <a:spcBef>
                <a:spcPct val="0"/>
              </a:spcBef>
              <a:spcAft>
                <a:spcPct val="0"/>
              </a:spcAft>
              <a:buNone/>
            </a:pPr>
            <a:r>
              <a:rPr sz="1400" b="1" i="0" u="none">
                <a:solidFill>
                  <a:schemeClr val="accent6"/>
                </a:solidFill>
                <a:latin typeface="+mj-lt"/>
              </a:rPr>
              <a:t>Kitchen Equipment</a:t>
            </a:r>
          </a:p>
          <a:p>
            <a:pPr marL="0" marR="0" indent="0" algn="ctr">
              <a:lnSpc>
                <a:spcPct val="100000"/>
              </a:lnSpc>
              <a:spcBef>
                <a:spcPct val="0"/>
              </a:spcBef>
              <a:spcAft>
                <a:spcPct val="0"/>
              </a:spcAft>
              <a:buNone/>
            </a:pPr>
            <a:r>
              <a:rPr sz="1100" b="1" i="0" u="none">
                <a:solidFill>
                  <a:schemeClr val="lt1"/>
                </a:solidFill>
                <a:latin typeface="+mn-lt"/>
              </a:rPr>
              <a:t>= Tools/Functions</a:t>
            </a:r>
          </a:p>
        </p:txBody>
      </p:sp>
      <p:sp>
        <p:nvSpPr>
          <p:cNvPr id="39" name="New shape"/>
          <p:cNvSpPr/>
          <p:nvPr/>
        </p:nvSpPr>
        <p:spPr>
          <a:xfrm>
            <a:off x="7048500" y="2413000"/>
            <a:ext cx="1714500" cy="0"/>
          </a:xfrm>
          <a:prstGeom prst="line">
            <a:avLst/>
          </a:prstGeom>
          <a:noFill/>
          <a:ln w="6350" cmpd="sng">
            <a:solidFill>
              <a:schemeClr val="accent3">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0" name="New shape"/>
          <p:cNvSpPr/>
          <p:nvPr/>
        </p:nvSpPr>
        <p:spPr>
          <a:xfrm>
            <a:off x="6985000" y="2476500"/>
            <a:ext cx="1841500" cy="889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indent="0" algn="l">
              <a:lnSpc>
                <a:spcPct val="100000"/>
              </a:lnSpc>
              <a:spcBef>
                <a:spcPct val="0"/>
              </a:spcBef>
              <a:spcAft>
                <a:spcPct val="0"/>
              </a:spcAft>
              <a:buNone/>
            </a:pPr>
            <a:r>
              <a:rPr sz="1000" b="0" i="0" u="none">
                <a:solidFill>
                  <a:schemeClr val="lt1"/>
                </a:solidFill>
                <a:latin typeface="+mn-lt"/>
              </a:rPr>
              <a:t>Tools help the chef gather ingredients, cook, and assemble the dish.</a:t>
            </a:r>
          </a:p>
        </p:txBody>
      </p:sp>
      <p:sp>
        <p:nvSpPr>
          <p:cNvPr id="41" name="New shape"/>
          <p:cNvSpPr/>
          <p:nvPr/>
        </p:nvSpPr>
        <p:spPr>
          <a:xfrm>
            <a:off x="7048500" y="3429000"/>
            <a:ext cx="1714500" cy="0"/>
          </a:xfrm>
          <a:prstGeom prst="line">
            <a:avLst/>
          </a:prstGeom>
          <a:noFill/>
          <a:ln w="12700" cmpd="sng">
            <a:solidFill>
              <a:schemeClr val="accent6">
                <a:lumMod val="75000"/>
                <a:alpha val="100000"/>
              </a:schemeClr>
            </a:solidFill>
            <a:prstDash val="dot"/>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2" name="New shape"/>
          <p:cNvSpPr/>
          <p:nvPr/>
        </p:nvSpPr>
        <p:spPr>
          <a:xfrm>
            <a:off x="7048500" y="3556000"/>
            <a:ext cx="317500" cy="317500"/>
          </a:xfrm>
          <a:prstGeom prst="ellipse">
            <a:avLst/>
          </a:prstGeom>
          <a:solidFill>
            <a:schemeClr val="dk2">
              <a:lumMod val="50000"/>
              <a:alpha val="100000"/>
            </a:schemeClr>
          </a:solidFill>
          <a:ln w="12700">
            <a:solidFill>
              <a:schemeClr val="accent6">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8" name="New picture"/>
          <p:cNvPicPr/>
          <p:nvPr>
            <p:custDataLst>
              <p:tags r:id="rId9"/>
            </p:custDataLst>
          </p:nvPr>
        </p:nvPicPr>
        <p:blipFill>
          <a:blip>
            <a:extLst>
              <a:ext uri="{96DAC541-7B7A-43D3-8B79-37D633B846F1}">
                <asvg:svgBlip xmlns:asvg="http://schemas.microsoft.com/office/drawing/2016/SVG/main" r:embed="rId19"/>
              </a:ext>
            </a:extLst>
          </a:blip>
          <a:stretch>
            <a:fillRect/>
          </a:stretch>
        </p:blipFill>
        <p:spPr>
          <a:xfrm>
            <a:off x="7112000" y="3619500"/>
            <a:ext cx="190500" cy="190500"/>
          </a:xfrm>
          <a:prstGeom prst="rect">
            <a:avLst/>
          </a:prstGeom>
        </p:spPr>
      </p:pic>
      <p:sp>
        <p:nvSpPr>
          <p:cNvPr id="44" name="New shape"/>
          <p:cNvSpPr/>
          <p:nvPr/>
        </p:nvSpPr>
        <p:spPr>
          <a:xfrm>
            <a:off x="7404100" y="3530600"/>
            <a:ext cx="14224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indent="0" algn="l">
              <a:lnSpc>
                <a:spcPct val="100000"/>
              </a:lnSpc>
              <a:spcBef>
                <a:spcPct val="0"/>
              </a:spcBef>
              <a:spcAft>
                <a:spcPct val="0"/>
              </a:spcAft>
              <a:buNone/>
            </a:pPr>
            <a:r>
              <a:rPr sz="900" b="1" i="0" u="none">
                <a:solidFill>
                  <a:schemeClr val="lt1"/>
                </a:solidFill>
                <a:latin typeface="+mn-lt"/>
              </a:rPr>
              <a:t>Example: </a:t>
            </a:r>
            <a:r>
              <a:rPr sz="900" b="0" i="1" u="none">
                <a:solidFill>
                  <a:schemeClr val="lt1"/>
                </a:solidFill>
                <a:latin typeface="+mn-lt"/>
              </a:rPr>
              <a:t>What capabilities can be used?</a:t>
            </a:r>
          </a:p>
        </p:txBody>
      </p:sp>
      <p:sp>
        <p:nvSpPr>
          <p:cNvPr id="45" name="New shape"/>
          <p:cNvSpPr/>
          <p:nvPr/>
        </p:nvSpPr>
        <p:spPr>
          <a:xfrm>
            <a:off x="2222500" y="2063750"/>
            <a:ext cx="254000" cy="190500"/>
          </a:xfrm>
          <a:prstGeom prst="rightArrow">
            <a:avLst/>
          </a:prstGeom>
          <a:solidFill>
            <a:schemeClr val="accent6">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445000" y="2063750"/>
            <a:ext cx="254000" cy="190500"/>
          </a:xfrm>
          <a:prstGeom prst="rightArrow">
            <a:avLst/>
          </a:prstGeom>
          <a:solidFill>
            <a:schemeClr val="accent6">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p:nvPr/>
        </p:nvSpPr>
        <p:spPr>
          <a:xfrm>
            <a:off x="6667500" y="2063750"/>
            <a:ext cx="254000" cy="190500"/>
          </a:xfrm>
          <a:prstGeom prst="rightArrow">
            <a:avLst/>
          </a:prstGeom>
          <a:solidFill>
            <a:schemeClr val="accent6">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8" name="New shape"/>
          <p:cNvSpPr/>
          <p:nvPr/>
        </p:nvSpPr>
        <p:spPr>
          <a:xfrm>
            <a:off x="254000" y="4318000"/>
            <a:ext cx="8636000" cy="6350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9" name="New picture"/>
          <p:cNvPicPr/>
          <p:nvPr>
            <p:custDataLst>
              <p:tags r:id="rId10"/>
            </p:custDataLst>
          </p:nvPr>
        </p:nvPicPr>
        <p:blipFill>
          <a:blip>
            <a:extLst>
              <a:ext uri="{96DAC541-7B7A-43D3-8B79-37D633B846F1}">
                <asvg:svgBlip xmlns:asvg="http://schemas.microsoft.com/office/drawing/2016/SVG/main" r:embed="rId20"/>
              </a:ext>
            </a:extLst>
          </a:blip>
          <a:stretch>
            <a:fillRect/>
          </a:stretch>
        </p:blipFill>
        <p:spPr>
          <a:xfrm>
            <a:off x="508000" y="4381500"/>
            <a:ext cx="508000" cy="508000"/>
          </a:xfrm>
          <a:prstGeom prst="rect">
            <a:avLst/>
          </a:prstGeom>
        </p:spPr>
      </p:pic>
      <p:sp>
        <p:nvSpPr>
          <p:cNvPr id="50" name="New shape"/>
          <p:cNvSpPr/>
          <p:nvPr/>
        </p:nvSpPr>
        <p:spPr>
          <a:xfrm>
            <a:off x="1143000" y="4381500"/>
            <a:ext cx="7747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indent="0" algn="l">
              <a:lnSpc>
                <a:spcPct val="100000"/>
              </a:lnSpc>
              <a:spcBef>
                <a:spcPct val="0"/>
              </a:spcBef>
              <a:spcAft>
                <a:spcPct val="0"/>
              </a:spcAft>
              <a:buNone/>
            </a:pPr>
            <a:r>
              <a:rPr sz="1200" b="1" i="0" u="none">
                <a:solidFill>
                  <a:schemeClr val="lt1"/>
                </a:solidFill>
                <a:latin typeface="+mn-lt"/>
              </a:rPr>
              <a:t>Business Question: </a:t>
            </a:r>
            <a:r>
              <a:rPr sz="1200" b="1" i="0" u="none">
                <a:solidFill>
                  <a:schemeClr val="accent6"/>
                </a:solidFill>
                <a:latin typeface="+mn-lt"/>
              </a:rPr>
              <a:t>"Can I get Chicken Biryani?"</a:t>
            </a:r>
          </a:p>
          <a:p>
            <a:pPr marL="0" marR="0" indent="0" algn="l">
              <a:lnSpc>
                <a:spcPct val="100000"/>
              </a:lnSpc>
              <a:spcBef>
                <a:spcPct val="30000"/>
              </a:spcBef>
              <a:spcAft>
                <a:spcPct val="0"/>
              </a:spcAft>
              <a:buNone/>
            </a:pPr>
            <a:r>
              <a:rPr sz="1100" b="1" i="0" u="none">
                <a:solidFill>
                  <a:schemeClr val="accent6"/>
                </a:solidFill>
                <a:latin typeface="+mn-lt"/>
              </a:rPr>
              <a:t>Goal: </a:t>
            </a:r>
            <a:r>
              <a:rPr sz="1100" b="0" i="0" u="none">
                <a:solidFill>
                  <a:schemeClr val="lt1"/>
                </a:solidFill>
                <a:latin typeface="+mn-lt"/>
              </a:rPr>
              <a:t>Deliver the right dish (answer) using the right process, recipe, and tools.</a:t>
            </a:r>
          </a:p>
        </p:txBody>
      </p:sp>
      <p:pic>
        <p:nvPicPr>
          <p:cNvPr id="17" name="Picture 16">
            <a:extLst>
              <a:ext uri="{FF2B5EF4-FFF2-40B4-BE49-F238E27FC236}">
                <a16:creationId xmlns:a16="http://schemas.microsoft.com/office/drawing/2014/main" id="{3554D486-6455-9F7D-F71C-D30795D9A0B5}"/>
              </a:ext>
            </a:extLst>
          </p:cNvPr>
          <p:cNvPicPr>
            <a:picLocks noChangeAspect="1"/>
          </p:cNvPicPr>
          <p:nvPr/>
        </p:nvPicPr>
        <p:blipFill>
          <a:blip r:embed="rId21"/>
          <a:srcRect l="-928" t="29746" r="928" b="36645"/>
          <a:stretch>
            <a:fillRect/>
          </a:stretch>
        </p:blipFill>
        <p:spPr>
          <a:xfrm>
            <a:off x="8218575" y="45720"/>
            <a:ext cx="861058" cy="289396"/>
          </a:xfrm>
          <a:prstGeom prst="rect">
            <a:avLst/>
          </a:prstGeom>
        </p:spPr>
      </p:pic>
      <p:sp>
        <p:nvSpPr>
          <p:cNvPr id="49" name="Shape 0">
            <a:extLst>
              <a:ext uri="{FF2B5EF4-FFF2-40B4-BE49-F238E27FC236}">
                <a16:creationId xmlns:a16="http://schemas.microsoft.com/office/drawing/2014/main" id="{854D961D-B74B-5A10-F250-6A31991C3181}"/>
              </a:ext>
            </a:extLst>
          </p:cNvPr>
          <p:cNvSpPr/>
          <p:nvPr/>
        </p:nvSpPr>
        <p:spPr>
          <a:xfrm>
            <a:off x="254000" y="127000"/>
            <a:ext cx="2011680" cy="292608"/>
          </a:xfrm>
          <a:prstGeom prst="roundRect">
            <a:avLst>
              <a:gd name="adj" fmla="val 25000"/>
            </a:avLst>
          </a:prstGeom>
          <a:solidFill>
            <a:srgbClr val="10B981">
              <a:alpha val="80000"/>
            </a:srgbClr>
          </a:solidFill>
          <a:ln w="12700">
            <a:solidFill>
              <a:srgbClr val="10B981"/>
            </a:solidFill>
            <a:prstDash val="solid"/>
          </a:ln>
        </p:spPr>
        <p:txBody>
          <a:bodyPr/>
          <a:lstStyle/>
          <a:p>
            <a:r>
              <a:rPr lang="en-US" sz="800" b="1" kern="0" spc="200" dirty="0">
                <a:solidFill>
                  <a:srgbClr val="F9FAFB"/>
                </a:solidFill>
              </a:rPr>
              <a:t>SECTION 1 — THE STORY</a:t>
            </a:r>
            <a:endParaRPr lang="en-US" sz="800" dirty="0"/>
          </a:p>
          <a:p>
            <a:endParaRPr lang="en-US" sz="800" dirty="0"/>
          </a:p>
        </p:txBody>
      </p:sp>
    </p:spTree>
    <p:extLst>
      <p:ext uri="{BB962C8B-B14F-4D97-AF65-F5344CB8AC3E}">
        <p14:creationId xmlns:p14="http://schemas.microsoft.com/office/powerpoint/2010/main" val="402270372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New shape"/>
          <p:cNvSpPr/>
          <p:nvPr/>
        </p:nvSpPr>
        <p:spPr>
          <a:xfrm>
            <a:off x="317500" y="190500"/>
            <a:ext cx="8509000" cy="381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0" rtlCol="0" anchor="b"/>
          <a:lstStyle/>
          <a:p>
            <a:pPr marL="0" marR="0" indent="0" algn="l">
              <a:lnSpc>
                <a:spcPct val="100000"/>
              </a:lnSpc>
              <a:spcBef>
                <a:spcPct val="0"/>
              </a:spcBef>
              <a:spcAft>
                <a:spcPct val="0"/>
              </a:spcAft>
              <a:buNone/>
            </a:pPr>
            <a:r>
              <a:rPr lang="en-US" sz="2200" b="1" i="0" u="none">
                <a:solidFill>
                  <a:schemeClr val="bg1"/>
                </a:solidFill>
                <a:latin typeface="+mj-lt"/>
              </a:rPr>
              <a:t>From Kitchen to Code: The Text-to-SQL </a:t>
            </a:r>
            <a:r>
              <a:rPr lang="en-US" sz="2200" b="1">
                <a:solidFill>
                  <a:schemeClr val="bg1"/>
                </a:solidFill>
                <a:latin typeface="+mj-lt"/>
              </a:rPr>
              <a:t>analogy</a:t>
            </a:r>
            <a:endParaRPr lang="en-US" sz="2200" b="1" i="0" u="none" dirty="0">
              <a:solidFill>
                <a:schemeClr val="bg1"/>
              </a:solidFill>
              <a:latin typeface="+mj-lt"/>
            </a:endParaRPr>
          </a:p>
        </p:txBody>
      </p:sp>
      <p:sp>
        <p:nvSpPr>
          <p:cNvPr id="3" name="New shape"/>
          <p:cNvSpPr/>
          <p:nvPr/>
        </p:nvSpPr>
        <p:spPr>
          <a:xfrm>
            <a:off x="317500" y="596900"/>
            <a:ext cx="8509000" cy="0"/>
          </a:xfrm>
          <a:prstGeom prst="line">
            <a:avLst/>
          </a:prstGeom>
          <a:noFill/>
          <a:ln w="19050" cmpd="sng">
            <a:solidFill>
              <a:schemeClr val="accent6">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New shape"/>
          <p:cNvSpPr/>
          <p:nvPr/>
        </p:nvSpPr>
        <p:spPr>
          <a:xfrm>
            <a:off x="317500" y="660400"/>
            <a:ext cx="8509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45720" rtlCol="0" anchor="t"/>
          <a:lstStyle/>
          <a:p>
            <a:pPr marL="0" marR="0" indent="0" algn="l">
              <a:lnSpc>
                <a:spcPct val="100000"/>
              </a:lnSpc>
              <a:spcBef>
                <a:spcPct val="0"/>
              </a:spcBef>
              <a:spcAft>
                <a:spcPct val="0"/>
              </a:spcAft>
              <a:buNone/>
            </a:pPr>
            <a:r>
              <a:rPr lang="en-US" sz="1200" b="0" i="0" u="none">
                <a:solidFill>
                  <a:schemeClr val="accent4"/>
                </a:solidFill>
                <a:latin typeface="+mn-lt"/>
              </a:rPr>
              <a:t>Translating our kitchen analogy to the Text-to-SQL journey.</a:t>
            </a:r>
            <a:endParaRPr lang="en-US" sz="1200" b="0" i="0" u="none" dirty="0">
              <a:solidFill>
                <a:schemeClr val="accent4"/>
              </a:solidFill>
              <a:latin typeface="+mn-lt"/>
            </a:endParaRPr>
          </a:p>
        </p:txBody>
      </p:sp>
      <p:sp>
        <p:nvSpPr>
          <p:cNvPr id="5" name="New shape"/>
          <p:cNvSpPr/>
          <p:nvPr/>
        </p:nvSpPr>
        <p:spPr>
          <a:xfrm>
            <a:off x="317500" y="1016000"/>
            <a:ext cx="2794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t"/>
          <a:lstStyle/>
          <a:p>
            <a:pPr marL="0" marR="0" indent="0" algn="ctr">
              <a:lnSpc>
                <a:spcPct val="100000"/>
              </a:lnSpc>
              <a:spcBef>
                <a:spcPct val="0"/>
              </a:spcBef>
              <a:spcAft>
                <a:spcPct val="0"/>
              </a:spcAft>
              <a:buNone/>
            </a:pPr>
            <a:r>
              <a:rPr lang="en-US" sz="1200" b="1" i="0" u="none">
                <a:solidFill>
                  <a:schemeClr val="accent6"/>
                </a:solidFill>
                <a:latin typeface="+mn-lt"/>
              </a:rPr>
              <a:t>Kitchen World</a:t>
            </a:r>
          </a:p>
        </p:txBody>
      </p:sp>
      <p:sp>
        <p:nvSpPr>
          <p:cNvPr id="6" name="New shape"/>
          <p:cNvSpPr/>
          <p:nvPr/>
        </p:nvSpPr>
        <p:spPr>
          <a:xfrm>
            <a:off x="3111500" y="1016000"/>
            <a:ext cx="635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t"/>
          <a:lstStyle/>
          <a:p>
            <a:pPr marL="0" marR="0" indent="0" algn="ctr">
              <a:lnSpc>
                <a:spcPct val="100000"/>
              </a:lnSpc>
              <a:spcBef>
                <a:spcPct val="0"/>
              </a:spcBef>
              <a:spcAft>
                <a:spcPct val="0"/>
              </a:spcAft>
              <a:buNone/>
            </a:pPr>
            <a:r>
              <a:rPr lang="en-US" sz="1100" b="1" i="0" u="none">
                <a:solidFill>
                  <a:schemeClr val="dk1"/>
                </a:solidFill>
                <a:latin typeface="+mn-lt"/>
              </a:rPr>
              <a:t>Maps To</a:t>
            </a:r>
          </a:p>
        </p:txBody>
      </p:sp>
      <p:sp>
        <p:nvSpPr>
          <p:cNvPr id="7" name="New shape"/>
          <p:cNvSpPr/>
          <p:nvPr/>
        </p:nvSpPr>
        <p:spPr>
          <a:xfrm>
            <a:off x="3746500" y="1016000"/>
            <a:ext cx="2667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t"/>
          <a:lstStyle/>
          <a:p>
            <a:pPr marL="0" marR="0" indent="0" algn="ctr">
              <a:lnSpc>
                <a:spcPct val="100000"/>
              </a:lnSpc>
              <a:spcBef>
                <a:spcPct val="0"/>
              </a:spcBef>
              <a:spcAft>
                <a:spcPct val="0"/>
              </a:spcAft>
              <a:buNone/>
            </a:pPr>
            <a:r>
              <a:rPr lang="en-US" sz="1200" b="1" i="0" u="none">
                <a:solidFill>
                  <a:schemeClr val="accent6"/>
                </a:solidFill>
                <a:latin typeface="+mn-lt"/>
              </a:rPr>
              <a:t>Text-to-SQL World</a:t>
            </a:r>
          </a:p>
        </p:txBody>
      </p:sp>
      <p:sp>
        <p:nvSpPr>
          <p:cNvPr id="8" name="New shape"/>
          <p:cNvSpPr/>
          <p:nvPr/>
        </p:nvSpPr>
        <p:spPr>
          <a:xfrm>
            <a:off x="6540500" y="1016000"/>
            <a:ext cx="2286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t"/>
          <a:lstStyle/>
          <a:p>
            <a:pPr marL="0" marR="0" indent="0" algn="ctr">
              <a:lnSpc>
                <a:spcPct val="100000"/>
              </a:lnSpc>
              <a:spcBef>
                <a:spcPct val="0"/>
              </a:spcBef>
              <a:spcAft>
                <a:spcPct val="0"/>
              </a:spcAft>
              <a:buNone/>
            </a:pPr>
            <a:r>
              <a:rPr lang="en-US" sz="1200" b="1" i="0" u="none">
                <a:solidFill>
                  <a:schemeClr val="dk1"/>
                </a:solidFill>
                <a:latin typeface="+mn-lt"/>
              </a:rPr>
              <a:t>Outcome</a:t>
            </a:r>
          </a:p>
        </p:txBody>
      </p:sp>
      <p:sp>
        <p:nvSpPr>
          <p:cNvPr id="9" name="New shape"/>
          <p:cNvSpPr/>
          <p:nvPr/>
        </p:nvSpPr>
        <p:spPr>
          <a:xfrm>
            <a:off x="317500" y="1333500"/>
            <a:ext cx="2794000" cy="57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571500" tIns="76200" rIns="63500" bIns="45720" rtlCol="0" anchor="t"/>
          <a:lstStyle/>
          <a:p>
            <a:pPr marL="0" marR="0" indent="0" algn="l">
              <a:lnSpc>
                <a:spcPct val="100000"/>
              </a:lnSpc>
              <a:spcBef>
                <a:spcPct val="0"/>
              </a:spcBef>
              <a:spcAft>
                <a:spcPts val="200"/>
              </a:spcAft>
              <a:buNone/>
            </a:pPr>
            <a:r>
              <a:rPr sz="1000" b="1" i="0" u="none">
                <a:solidFill>
                  <a:schemeClr val="accent6"/>
                </a:solidFill>
                <a:latin typeface="+mn-lt"/>
              </a:rPr>
              <a:t>Business Question</a:t>
            </a:r>
          </a:p>
          <a:p>
            <a:pPr marL="0" marR="0" indent="0" algn="l">
              <a:lnSpc>
                <a:spcPct val="100000"/>
              </a:lnSpc>
              <a:spcBef>
                <a:spcPct val="0"/>
              </a:spcBef>
              <a:spcAft>
                <a:spcPct val="0"/>
              </a:spcAft>
              <a:buNone/>
            </a:pPr>
            <a:r>
              <a:rPr sz="900" b="0" i="1" u="none">
                <a:solidFill>
                  <a:schemeClr val="lt1"/>
                </a:solidFill>
                <a:latin typeface="+mn-lt"/>
              </a:rPr>
              <a:t>"Can I get Chicken Biryani?"</a:t>
            </a:r>
          </a:p>
        </p:txBody>
      </p:sp>
      <p:sp>
        <p:nvSpPr>
          <p:cNvPr id="10" name="New shape"/>
          <p:cNvSpPr/>
          <p:nvPr/>
        </p:nvSpPr>
        <p:spPr>
          <a:xfrm>
            <a:off x="444500" y="1428750"/>
            <a:ext cx="381000" cy="381000"/>
          </a:xfrm>
          <a:prstGeom prst="ellipse">
            <a:avLst/>
          </a:prstGeom>
          <a:noFill/>
          <a:ln w="12700">
            <a:solidFill>
              <a:schemeClr val="lt1">
                <a:lumMod val="50000"/>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1" name="New picture"/>
          <p:cNvPicPr/>
          <p:nvPr>
            <p:custDataLst>
              <p:tags r:id="rId2"/>
            </p:custDataLst>
          </p:nvPr>
        </p:nvPicPr>
        <p:blipFill>
          <a:blip>
            <a:extLst>
              <a:ext uri="{96DAC541-7B7A-43D3-8B79-37D633B846F1}">
                <asvg:svgBlip xmlns:asvg="http://schemas.microsoft.com/office/drawing/2016/SVG/main" r:embed="rId11"/>
              </a:ext>
            </a:extLst>
          </a:blip>
          <a:stretch>
            <a:fillRect/>
          </a:stretch>
        </p:blipFill>
        <p:spPr>
          <a:xfrm>
            <a:off x="508000" y="1492250"/>
            <a:ext cx="254000" cy="254000"/>
          </a:xfrm>
          <a:prstGeom prst="rect">
            <a:avLst/>
          </a:prstGeom>
        </p:spPr>
      </p:pic>
      <p:sp>
        <p:nvSpPr>
          <p:cNvPr id="12" name="New shape"/>
          <p:cNvSpPr/>
          <p:nvPr/>
        </p:nvSpPr>
        <p:spPr>
          <a:xfrm>
            <a:off x="3111500" y="1619250"/>
            <a:ext cx="635000" cy="0"/>
          </a:xfrm>
          <a:prstGeom prst="line">
            <a:avLst/>
          </a:prstGeom>
          <a:noFill/>
          <a:ln w="12700" cmpd="sng">
            <a:solidFill>
              <a:schemeClr val="accent6">
                <a:alpha val="100000"/>
              </a:schemeClr>
            </a:solidFill>
            <a:prstDash val="sys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p:nvPr/>
        </p:nvSpPr>
        <p:spPr>
          <a:xfrm>
            <a:off x="3238500" y="1428750"/>
            <a:ext cx="381000" cy="381000"/>
          </a:xfrm>
          <a:prstGeom prst="ellipse">
            <a:avLst/>
          </a:prstGeom>
          <a:solidFill>
            <a:schemeClr val="lt1">
              <a:alpha val="100000"/>
            </a:schemeClr>
          </a:solidFill>
          <a:ln w="12700">
            <a:solidFill>
              <a:schemeClr val="lt2">
                <a:lumMod val="90000"/>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3302000" y="1492250"/>
            <a:ext cx="25400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p:nvPr/>
        </p:nvSpPr>
        <p:spPr>
          <a:xfrm>
            <a:off x="3746500" y="1333500"/>
            <a:ext cx="2667000" cy="57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127000" tIns="76200" rIns="127000" bIns="45720" rtlCol="0" anchor="t"/>
          <a:lstStyle/>
          <a:p>
            <a:pPr marL="0" marR="0" indent="0" algn="l">
              <a:lnSpc>
                <a:spcPct val="100000"/>
              </a:lnSpc>
              <a:spcBef>
                <a:spcPct val="0"/>
              </a:spcBef>
              <a:spcAft>
                <a:spcPts val="200"/>
              </a:spcAft>
              <a:buNone/>
            </a:pPr>
            <a:r>
              <a:rPr sz="1000" b="1" i="0" u="none">
                <a:solidFill>
                  <a:schemeClr val="accent6"/>
                </a:solidFill>
                <a:latin typeface="+mn-lt"/>
              </a:rPr>
              <a:t>User Query (Natural Language)</a:t>
            </a:r>
          </a:p>
          <a:p>
            <a:pPr marL="0" marR="0" indent="0" algn="l">
              <a:lnSpc>
                <a:spcPct val="100000"/>
              </a:lnSpc>
              <a:spcBef>
                <a:spcPct val="0"/>
              </a:spcBef>
              <a:spcAft>
                <a:spcPct val="0"/>
              </a:spcAft>
              <a:buNone/>
            </a:pPr>
            <a:r>
              <a:rPr sz="900" b="0" i="1" u="none">
                <a:solidFill>
                  <a:schemeClr val="lt1"/>
                </a:solidFill>
                <a:latin typeface="+mn-lt"/>
              </a:rPr>
              <a:t>"Show me total sales by region for last quarter."</a:t>
            </a:r>
          </a:p>
        </p:txBody>
      </p:sp>
      <p:sp>
        <p:nvSpPr>
          <p:cNvPr id="16" name="New shape"/>
          <p:cNvSpPr/>
          <p:nvPr/>
        </p:nvSpPr>
        <p:spPr>
          <a:xfrm>
            <a:off x="6540500" y="1333500"/>
            <a:ext cx="2286000" cy="57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571500" tIns="76200" rIns="63500" bIns="45720" rtlCol="0" anchor="t"/>
          <a:lstStyle/>
          <a:p>
            <a:pPr marL="0" marR="0" indent="0" algn="l">
              <a:lnSpc>
                <a:spcPct val="100000"/>
              </a:lnSpc>
              <a:spcBef>
                <a:spcPct val="0"/>
              </a:spcBef>
              <a:spcAft>
                <a:spcPts val="200"/>
              </a:spcAft>
              <a:buNone/>
            </a:pPr>
            <a:r>
              <a:rPr sz="1000" b="1" i="0" u="none">
                <a:solidFill>
                  <a:schemeClr val="accent6"/>
                </a:solidFill>
                <a:latin typeface="+mn-lt"/>
              </a:rPr>
              <a:t>Intent Captured</a:t>
            </a:r>
          </a:p>
          <a:p>
            <a:pPr marL="0" marR="0" indent="0" algn="l">
              <a:lnSpc>
                <a:spcPct val="100000"/>
              </a:lnSpc>
              <a:spcBef>
                <a:spcPct val="0"/>
              </a:spcBef>
              <a:spcAft>
                <a:spcPct val="0"/>
              </a:spcAft>
              <a:buNone/>
            </a:pPr>
            <a:r>
              <a:rPr sz="900" b="0" i="1" u="none">
                <a:solidFill>
                  <a:schemeClr val="lt1"/>
                </a:solidFill>
                <a:latin typeface="+mn-lt"/>
              </a:rPr>
              <a:t>User need understood</a:t>
            </a:r>
          </a:p>
        </p:txBody>
      </p:sp>
      <p:sp>
        <p:nvSpPr>
          <p:cNvPr id="17" name="New shape"/>
          <p:cNvSpPr/>
          <p:nvPr/>
        </p:nvSpPr>
        <p:spPr>
          <a:xfrm>
            <a:off x="6667500" y="1428750"/>
            <a:ext cx="381000" cy="381000"/>
          </a:xfrm>
          <a:prstGeom prst="ellipse">
            <a:avLst/>
          </a:prstGeom>
          <a:noFill/>
          <a:ln w="12700">
            <a:solidFill>
              <a:schemeClr val="lt1">
                <a:lumMod val="50000"/>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custDataLst>
              <p:tags r:id="rId3"/>
            </p:custDataLst>
          </p:nvPr>
        </p:nvPicPr>
        <p:blipFill>
          <a:blip>
            <a:extLst>
              <a:ext uri="{96DAC541-7B7A-43D3-8B79-37D633B846F1}">
                <asvg:svgBlip xmlns:asvg="http://schemas.microsoft.com/office/drawing/2016/SVG/main" r:embed="rId12"/>
              </a:ext>
            </a:extLst>
          </a:blip>
          <a:stretch>
            <a:fillRect/>
          </a:stretch>
        </p:blipFill>
        <p:spPr>
          <a:xfrm>
            <a:off x="6731000" y="1492250"/>
            <a:ext cx="254000" cy="254000"/>
          </a:xfrm>
          <a:prstGeom prst="rect">
            <a:avLst/>
          </a:prstGeom>
        </p:spPr>
      </p:pic>
      <p:sp>
        <p:nvSpPr>
          <p:cNvPr id="19" name="New shape"/>
          <p:cNvSpPr/>
          <p:nvPr/>
        </p:nvSpPr>
        <p:spPr>
          <a:xfrm>
            <a:off x="317500" y="2032000"/>
            <a:ext cx="2794000" cy="57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571500" tIns="76200" rIns="63500" bIns="45720" rtlCol="0" anchor="t"/>
          <a:lstStyle/>
          <a:p>
            <a:pPr marL="0" marR="0" indent="0" algn="l">
              <a:lnSpc>
                <a:spcPct val="100000"/>
              </a:lnSpc>
              <a:spcBef>
                <a:spcPct val="0"/>
              </a:spcBef>
              <a:spcAft>
                <a:spcPts val="200"/>
              </a:spcAft>
              <a:buNone/>
            </a:pPr>
            <a:r>
              <a:rPr sz="1000" b="1" i="0" u="none">
                <a:solidFill>
                  <a:schemeClr val="accent6"/>
                </a:solidFill>
                <a:latin typeface="+mn-lt"/>
              </a:rPr>
              <a:t>Chef (LLM)</a:t>
            </a:r>
          </a:p>
          <a:p>
            <a:pPr marL="0" marR="0" indent="0" algn="l">
              <a:lnSpc>
                <a:spcPct val="100000"/>
              </a:lnSpc>
              <a:spcBef>
                <a:spcPct val="0"/>
              </a:spcBef>
              <a:spcAft>
                <a:spcPct val="0"/>
              </a:spcAft>
              <a:buNone/>
            </a:pPr>
            <a:r>
              <a:rPr sz="900" b="0" i="1" u="none">
                <a:solidFill>
                  <a:schemeClr val="lt1"/>
                </a:solidFill>
                <a:latin typeface="+mn-lt"/>
              </a:rPr>
              <a:t>Understands the request and decides what to do.</a:t>
            </a:r>
          </a:p>
        </p:txBody>
      </p:sp>
      <p:sp>
        <p:nvSpPr>
          <p:cNvPr id="20" name="New shape"/>
          <p:cNvSpPr/>
          <p:nvPr/>
        </p:nvSpPr>
        <p:spPr>
          <a:xfrm>
            <a:off x="444500" y="2127250"/>
            <a:ext cx="381000" cy="381000"/>
          </a:xfrm>
          <a:prstGeom prst="ellipse">
            <a:avLst/>
          </a:prstGeom>
          <a:noFill/>
          <a:ln w="12700">
            <a:solidFill>
              <a:schemeClr val="lt1">
                <a:lumMod val="50000"/>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3" name="New picture"/>
          <p:cNvPicPr/>
          <p:nvPr>
            <p:custDataLst>
              <p:tags r:id="rId4"/>
            </p:custDataLst>
          </p:nvPr>
        </p:nvPicPr>
        <p:blipFill>
          <a:blip>
            <a:extLst>
              <a:ext uri="{96DAC541-7B7A-43D3-8B79-37D633B846F1}">
                <asvg:svgBlip xmlns:asvg="http://schemas.microsoft.com/office/drawing/2016/SVG/main" r:embed="rId13"/>
              </a:ext>
            </a:extLst>
          </a:blip>
          <a:stretch>
            <a:fillRect/>
          </a:stretch>
        </p:blipFill>
        <p:spPr>
          <a:xfrm>
            <a:off x="508000" y="2190750"/>
            <a:ext cx="254000" cy="254000"/>
          </a:xfrm>
          <a:prstGeom prst="rect">
            <a:avLst/>
          </a:prstGeom>
        </p:spPr>
      </p:pic>
      <p:sp>
        <p:nvSpPr>
          <p:cNvPr id="22" name="New shape"/>
          <p:cNvSpPr/>
          <p:nvPr/>
        </p:nvSpPr>
        <p:spPr>
          <a:xfrm>
            <a:off x="3111500" y="2317750"/>
            <a:ext cx="635000" cy="0"/>
          </a:xfrm>
          <a:prstGeom prst="line">
            <a:avLst/>
          </a:prstGeom>
          <a:noFill/>
          <a:ln w="12700" cmpd="sng">
            <a:solidFill>
              <a:schemeClr val="accent6">
                <a:alpha val="100000"/>
              </a:schemeClr>
            </a:solidFill>
            <a:prstDash val="sys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a:off x="3238500" y="2127250"/>
            <a:ext cx="381000" cy="381000"/>
          </a:xfrm>
          <a:prstGeom prst="ellipse">
            <a:avLst/>
          </a:prstGeom>
          <a:solidFill>
            <a:schemeClr val="lt1">
              <a:alpha val="100000"/>
            </a:schemeClr>
          </a:solidFill>
          <a:ln w="12700">
            <a:solidFill>
              <a:schemeClr val="lt2">
                <a:lumMod val="90000"/>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4" name="New shape"/>
          <p:cNvSpPr/>
          <p:nvPr/>
        </p:nvSpPr>
        <p:spPr>
          <a:xfrm>
            <a:off x="3302000" y="2190750"/>
            <a:ext cx="25400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New shape"/>
          <p:cNvSpPr/>
          <p:nvPr/>
        </p:nvSpPr>
        <p:spPr>
          <a:xfrm>
            <a:off x="3746500" y="2032000"/>
            <a:ext cx="2667000" cy="57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127000" tIns="76200" rIns="127000" bIns="45720" rtlCol="0" anchor="t"/>
          <a:lstStyle/>
          <a:p>
            <a:pPr marL="0" marR="0" indent="0" algn="l">
              <a:lnSpc>
                <a:spcPct val="100000"/>
              </a:lnSpc>
              <a:spcBef>
                <a:spcPct val="0"/>
              </a:spcBef>
              <a:spcAft>
                <a:spcPts val="200"/>
              </a:spcAft>
              <a:buNone/>
            </a:pPr>
            <a:r>
              <a:rPr sz="1000" b="1" i="0" u="none">
                <a:solidFill>
                  <a:schemeClr val="accent6"/>
                </a:solidFill>
                <a:latin typeface="+mn-lt"/>
              </a:rPr>
              <a:t>LLM (Reasoning + SQL Generation)</a:t>
            </a:r>
          </a:p>
          <a:p>
            <a:pPr marL="0" marR="0" indent="0" algn="l">
              <a:lnSpc>
                <a:spcPct val="100000"/>
              </a:lnSpc>
              <a:spcBef>
                <a:spcPct val="0"/>
              </a:spcBef>
              <a:spcAft>
                <a:spcPct val="0"/>
              </a:spcAft>
              <a:buNone/>
            </a:pPr>
            <a:r>
              <a:rPr sz="900" b="0" i="1" u="none">
                <a:solidFill>
                  <a:schemeClr val="lt1"/>
                </a:solidFill>
                <a:latin typeface="+mn-lt"/>
              </a:rPr>
              <a:t>Understands the intent and generates the right SQL.</a:t>
            </a:r>
          </a:p>
        </p:txBody>
      </p:sp>
      <p:sp>
        <p:nvSpPr>
          <p:cNvPr id="26" name="New shape"/>
          <p:cNvSpPr/>
          <p:nvPr/>
        </p:nvSpPr>
        <p:spPr>
          <a:xfrm>
            <a:off x="6540500" y="2032000"/>
            <a:ext cx="2286000" cy="57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571500" tIns="76200" rIns="63500" bIns="45720" rtlCol="0" anchor="t"/>
          <a:lstStyle/>
          <a:p>
            <a:pPr marL="0" marR="0" indent="0" algn="l">
              <a:lnSpc>
                <a:spcPct val="100000"/>
              </a:lnSpc>
              <a:spcBef>
                <a:spcPct val="0"/>
              </a:spcBef>
              <a:spcAft>
                <a:spcPts val="200"/>
              </a:spcAft>
              <a:buNone/>
            </a:pPr>
            <a:r>
              <a:rPr sz="1000" b="1" i="0" u="none">
                <a:solidFill>
                  <a:schemeClr val="accent6"/>
                </a:solidFill>
                <a:latin typeface="+mn-lt"/>
              </a:rPr>
              <a:t>SQL Generated</a:t>
            </a:r>
          </a:p>
          <a:p>
            <a:pPr marL="0" marR="0" indent="0" algn="l">
              <a:lnSpc>
                <a:spcPct val="100000"/>
              </a:lnSpc>
              <a:spcBef>
                <a:spcPct val="0"/>
              </a:spcBef>
              <a:spcAft>
                <a:spcPct val="0"/>
              </a:spcAft>
              <a:buNone/>
            </a:pPr>
            <a:r>
              <a:rPr sz="900" b="0" i="1" u="none">
                <a:solidFill>
                  <a:schemeClr val="lt1"/>
                </a:solidFill>
                <a:latin typeface="+mn-lt"/>
              </a:rPr>
              <a:t>Correct query constructed</a:t>
            </a:r>
          </a:p>
        </p:txBody>
      </p:sp>
      <p:sp>
        <p:nvSpPr>
          <p:cNvPr id="27" name="New shape"/>
          <p:cNvSpPr/>
          <p:nvPr/>
        </p:nvSpPr>
        <p:spPr>
          <a:xfrm>
            <a:off x="6667500" y="2127250"/>
            <a:ext cx="381000" cy="381000"/>
          </a:xfrm>
          <a:prstGeom prst="ellipse">
            <a:avLst/>
          </a:prstGeom>
          <a:noFill/>
          <a:ln w="12700">
            <a:solidFill>
              <a:schemeClr val="lt1">
                <a:lumMod val="50000"/>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4" name="New picture"/>
          <p:cNvPicPr/>
          <p:nvPr>
            <p:custDataLst>
              <p:tags r:id="rId5"/>
            </p:custDataLst>
          </p:nvPr>
        </p:nvPicPr>
        <p:blipFill>
          <a:blip>
            <a:extLst>
              <a:ext uri="{96DAC541-7B7A-43D3-8B79-37D633B846F1}">
                <asvg:svgBlip xmlns:asvg="http://schemas.microsoft.com/office/drawing/2016/SVG/main" r:embed="rId14"/>
              </a:ext>
            </a:extLst>
          </a:blip>
          <a:stretch>
            <a:fillRect/>
          </a:stretch>
        </p:blipFill>
        <p:spPr>
          <a:xfrm>
            <a:off x="6731000" y="2190750"/>
            <a:ext cx="254000" cy="254000"/>
          </a:xfrm>
          <a:prstGeom prst="rect">
            <a:avLst/>
          </a:prstGeom>
        </p:spPr>
      </p:pic>
      <p:sp>
        <p:nvSpPr>
          <p:cNvPr id="29" name="New shape"/>
          <p:cNvSpPr/>
          <p:nvPr/>
        </p:nvSpPr>
        <p:spPr>
          <a:xfrm>
            <a:off x="317500" y="2730500"/>
            <a:ext cx="2794000" cy="57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571500" tIns="76200" rIns="63500" bIns="45720" rtlCol="0" anchor="t"/>
          <a:lstStyle/>
          <a:p>
            <a:pPr marL="0" marR="0" indent="0" algn="l">
              <a:lnSpc>
                <a:spcPct val="100000"/>
              </a:lnSpc>
              <a:spcBef>
                <a:spcPct val="0"/>
              </a:spcBef>
              <a:spcAft>
                <a:spcPts val="200"/>
              </a:spcAft>
              <a:buNone/>
            </a:pPr>
            <a:r>
              <a:rPr sz="1000" b="1" i="0" u="none">
                <a:solidFill>
                  <a:schemeClr val="accent6"/>
                </a:solidFill>
                <a:latin typeface="+mn-lt"/>
              </a:rPr>
              <a:t>Recipe (Instructions)</a:t>
            </a:r>
          </a:p>
          <a:p>
            <a:pPr marL="0" marR="0" indent="0" algn="l">
              <a:lnSpc>
                <a:spcPct val="100000"/>
              </a:lnSpc>
              <a:spcBef>
                <a:spcPct val="0"/>
              </a:spcBef>
              <a:spcAft>
                <a:spcPct val="0"/>
              </a:spcAft>
              <a:buNone/>
            </a:pPr>
            <a:r>
              <a:rPr sz="900" b="0" i="1" u="none">
                <a:solidFill>
                  <a:schemeClr val="lt1"/>
                </a:solidFill>
                <a:latin typeface="+mn-lt"/>
              </a:rPr>
              <a:t>Provides the context, rules, and constraints for the dish.</a:t>
            </a:r>
          </a:p>
        </p:txBody>
      </p:sp>
      <p:sp>
        <p:nvSpPr>
          <p:cNvPr id="30" name="New shape"/>
          <p:cNvSpPr/>
          <p:nvPr/>
        </p:nvSpPr>
        <p:spPr>
          <a:xfrm>
            <a:off x="444500" y="2825750"/>
            <a:ext cx="381000" cy="381000"/>
          </a:xfrm>
          <a:prstGeom prst="ellipse">
            <a:avLst/>
          </a:prstGeom>
          <a:noFill/>
          <a:ln w="12700">
            <a:solidFill>
              <a:schemeClr val="lt1">
                <a:lumMod val="50000"/>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5" name="New picture"/>
          <p:cNvPicPr/>
          <p:nvPr>
            <p:custDataLst>
              <p:tags r:id="rId6"/>
            </p:custDataLst>
          </p:nvPr>
        </p:nvPicPr>
        <p:blipFill>
          <a:blip>
            <a:extLst>
              <a:ext uri="{96DAC541-7B7A-43D3-8B79-37D633B846F1}">
                <asvg:svgBlip xmlns:asvg="http://schemas.microsoft.com/office/drawing/2016/SVG/main" r:embed="rId15"/>
              </a:ext>
            </a:extLst>
          </a:blip>
          <a:stretch>
            <a:fillRect/>
          </a:stretch>
        </p:blipFill>
        <p:spPr>
          <a:xfrm>
            <a:off x="508000" y="2889250"/>
            <a:ext cx="254000" cy="254000"/>
          </a:xfrm>
          <a:prstGeom prst="rect">
            <a:avLst/>
          </a:prstGeom>
        </p:spPr>
      </p:pic>
      <p:sp>
        <p:nvSpPr>
          <p:cNvPr id="32" name="New shape"/>
          <p:cNvSpPr/>
          <p:nvPr/>
        </p:nvSpPr>
        <p:spPr>
          <a:xfrm>
            <a:off x="3111500" y="3016250"/>
            <a:ext cx="635000" cy="0"/>
          </a:xfrm>
          <a:prstGeom prst="line">
            <a:avLst/>
          </a:prstGeom>
          <a:noFill/>
          <a:ln w="12700" cmpd="sng">
            <a:solidFill>
              <a:schemeClr val="accent6">
                <a:alpha val="100000"/>
              </a:schemeClr>
            </a:solidFill>
            <a:prstDash val="sys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p:nvPr/>
        </p:nvSpPr>
        <p:spPr>
          <a:xfrm>
            <a:off x="3238500" y="2825750"/>
            <a:ext cx="381000" cy="381000"/>
          </a:xfrm>
          <a:prstGeom prst="ellipse">
            <a:avLst/>
          </a:prstGeom>
          <a:solidFill>
            <a:schemeClr val="lt1">
              <a:alpha val="100000"/>
            </a:schemeClr>
          </a:solidFill>
          <a:ln w="12700">
            <a:solidFill>
              <a:schemeClr val="lt2">
                <a:lumMod val="90000"/>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4" name="New shape"/>
          <p:cNvSpPr/>
          <p:nvPr/>
        </p:nvSpPr>
        <p:spPr>
          <a:xfrm>
            <a:off x="3302000" y="2889250"/>
            <a:ext cx="25400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5" name="New shape"/>
          <p:cNvSpPr/>
          <p:nvPr/>
        </p:nvSpPr>
        <p:spPr>
          <a:xfrm>
            <a:off x="3746500" y="2730500"/>
            <a:ext cx="2667000" cy="57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127000" tIns="76200" rIns="127000" bIns="45720" rtlCol="0" anchor="t"/>
          <a:lstStyle/>
          <a:p>
            <a:pPr marL="0" marR="0" indent="0" algn="l">
              <a:lnSpc>
                <a:spcPct val="100000"/>
              </a:lnSpc>
              <a:spcBef>
                <a:spcPct val="0"/>
              </a:spcBef>
              <a:spcAft>
                <a:spcPts val="200"/>
              </a:spcAft>
              <a:buNone/>
            </a:pPr>
            <a:r>
              <a:rPr sz="1000" b="1" i="0" u="none">
                <a:solidFill>
                  <a:schemeClr val="accent6"/>
                </a:solidFill>
                <a:latin typeface="+mn-lt"/>
              </a:rPr>
              <a:t>Schema &amp; Business Logic</a:t>
            </a:r>
          </a:p>
          <a:p>
            <a:pPr marL="0" marR="0" indent="0" algn="l">
              <a:lnSpc>
                <a:spcPct val="100000"/>
              </a:lnSpc>
              <a:spcBef>
                <a:spcPct val="0"/>
              </a:spcBef>
              <a:spcAft>
                <a:spcPct val="0"/>
              </a:spcAft>
              <a:buNone/>
            </a:pPr>
            <a:r>
              <a:rPr sz="900" b="0" i="1" u="none">
                <a:solidFill>
                  <a:schemeClr val="lt1"/>
                </a:solidFill>
                <a:latin typeface="+mn-lt"/>
              </a:rPr>
              <a:t>Provides table structures, relationships, metrics, and business rules.</a:t>
            </a:r>
          </a:p>
        </p:txBody>
      </p:sp>
      <p:sp>
        <p:nvSpPr>
          <p:cNvPr id="36" name="New shape"/>
          <p:cNvSpPr/>
          <p:nvPr/>
        </p:nvSpPr>
        <p:spPr>
          <a:xfrm>
            <a:off x="6540500" y="2730500"/>
            <a:ext cx="2286000" cy="57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571500" tIns="76200" rIns="63500" bIns="45720" rtlCol="0" anchor="t"/>
          <a:lstStyle/>
          <a:p>
            <a:pPr marL="0" marR="0" indent="0" algn="l">
              <a:lnSpc>
                <a:spcPct val="100000"/>
              </a:lnSpc>
              <a:spcBef>
                <a:spcPct val="0"/>
              </a:spcBef>
              <a:spcAft>
                <a:spcPts val="200"/>
              </a:spcAft>
              <a:buNone/>
            </a:pPr>
            <a:r>
              <a:rPr sz="1000" b="1" i="0" u="none">
                <a:solidFill>
                  <a:schemeClr val="accent6"/>
                </a:solidFill>
                <a:latin typeface="+mn-lt"/>
              </a:rPr>
              <a:t>Context Applied</a:t>
            </a:r>
          </a:p>
          <a:p>
            <a:pPr marL="0" marR="0" indent="0" algn="l">
              <a:lnSpc>
                <a:spcPct val="100000"/>
              </a:lnSpc>
              <a:spcBef>
                <a:spcPct val="0"/>
              </a:spcBef>
              <a:spcAft>
                <a:spcPct val="0"/>
              </a:spcAft>
              <a:buNone/>
            </a:pPr>
            <a:r>
              <a:rPr sz="900" b="0" i="1" u="none">
                <a:solidFill>
                  <a:schemeClr val="lt1"/>
                </a:solidFill>
                <a:latin typeface="+mn-lt"/>
              </a:rPr>
              <a:t>Accurate SQL informed by schema</a:t>
            </a:r>
          </a:p>
        </p:txBody>
      </p:sp>
      <p:sp>
        <p:nvSpPr>
          <p:cNvPr id="37" name="New shape"/>
          <p:cNvSpPr/>
          <p:nvPr/>
        </p:nvSpPr>
        <p:spPr>
          <a:xfrm>
            <a:off x="6667500" y="2825750"/>
            <a:ext cx="381000" cy="381000"/>
          </a:xfrm>
          <a:prstGeom prst="ellipse">
            <a:avLst/>
          </a:prstGeom>
          <a:noFill/>
          <a:ln w="12700">
            <a:solidFill>
              <a:schemeClr val="lt1">
                <a:lumMod val="50000"/>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6" name="New picture"/>
          <p:cNvPicPr/>
          <p:nvPr>
            <p:custDataLst>
              <p:tags r:id="rId7"/>
            </p:custDataLst>
          </p:nvPr>
        </p:nvPicPr>
        <p:blipFill>
          <a:blip>
            <a:extLst>
              <a:ext uri="{96DAC541-7B7A-43D3-8B79-37D633B846F1}">
                <asvg:svgBlip xmlns:asvg="http://schemas.microsoft.com/office/drawing/2016/SVG/main" r:embed="rId16"/>
              </a:ext>
            </a:extLst>
          </a:blip>
          <a:stretch>
            <a:fillRect/>
          </a:stretch>
        </p:blipFill>
        <p:spPr>
          <a:xfrm>
            <a:off x="6731000" y="2889250"/>
            <a:ext cx="254000" cy="254000"/>
          </a:xfrm>
          <a:prstGeom prst="rect">
            <a:avLst/>
          </a:prstGeom>
        </p:spPr>
      </p:pic>
      <p:sp>
        <p:nvSpPr>
          <p:cNvPr id="39" name="New shape"/>
          <p:cNvSpPr/>
          <p:nvPr/>
        </p:nvSpPr>
        <p:spPr>
          <a:xfrm>
            <a:off x="317500" y="3429000"/>
            <a:ext cx="2794000" cy="57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571500" tIns="76200" rIns="63500" bIns="45720" rtlCol="0" anchor="t"/>
          <a:lstStyle/>
          <a:p>
            <a:pPr marL="0" marR="0" indent="0" algn="l">
              <a:lnSpc>
                <a:spcPct val="100000"/>
              </a:lnSpc>
              <a:spcBef>
                <a:spcPct val="0"/>
              </a:spcBef>
              <a:spcAft>
                <a:spcPts val="200"/>
              </a:spcAft>
              <a:buNone/>
            </a:pPr>
            <a:r>
              <a:rPr sz="1000" b="1" i="0" u="none">
                <a:solidFill>
                  <a:schemeClr val="accent6"/>
                </a:solidFill>
                <a:latin typeface="+mn-lt"/>
              </a:rPr>
              <a:t>Kitchen Equipment (Tools)</a:t>
            </a:r>
          </a:p>
          <a:p>
            <a:pPr marL="0" marR="0" indent="0" algn="l">
              <a:lnSpc>
                <a:spcPct val="100000"/>
              </a:lnSpc>
              <a:spcBef>
                <a:spcPct val="0"/>
              </a:spcBef>
              <a:spcAft>
                <a:spcPct val="0"/>
              </a:spcAft>
              <a:buNone/>
            </a:pPr>
            <a:r>
              <a:rPr sz="900" b="0" i="1" u="none">
                <a:solidFill>
                  <a:schemeClr val="lt1"/>
                </a:solidFill>
                <a:latin typeface="+mn-lt"/>
              </a:rPr>
              <a:t>Helps the chef gather ingredients, cook, and assemble the dish.</a:t>
            </a:r>
          </a:p>
        </p:txBody>
      </p:sp>
      <p:sp>
        <p:nvSpPr>
          <p:cNvPr id="40" name="New shape"/>
          <p:cNvSpPr/>
          <p:nvPr/>
        </p:nvSpPr>
        <p:spPr>
          <a:xfrm>
            <a:off x="444500" y="3524250"/>
            <a:ext cx="381000" cy="381000"/>
          </a:xfrm>
          <a:prstGeom prst="ellipse">
            <a:avLst/>
          </a:prstGeom>
          <a:noFill/>
          <a:ln w="12700">
            <a:solidFill>
              <a:schemeClr val="lt1">
                <a:lumMod val="50000"/>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7" name="New picture"/>
          <p:cNvPicPr/>
          <p:nvPr>
            <p:custDataLst>
              <p:tags r:id="rId8"/>
            </p:custDataLst>
          </p:nvPr>
        </p:nvPicPr>
        <p:blipFill>
          <a:blip>
            <a:extLst>
              <a:ext uri="{96DAC541-7B7A-43D3-8B79-37D633B846F1}">
                <asvg:svgBlip xmlns:asvg="http://schemas.microsoft.com/office/drawing/2016/SVG/main" r:embed="rId17"/>
              </a:ext>
            </a:extLst>
          </a:blip>
          <a:stretch>
            <a:fillRect/>
          </a:stretch>
        </p:blipFill>
        <p:spPr>
          <a:xfrm>
            <a:off x="508000" y="3587750"/>
            <a:ext cx="254000" cy="254000"/>
          </a:xfrm>
          <a:prstGeom prst="rect">
            <a:avLst/>
          </a:prstGeom>
        </p:spPr>
      </p:pic>
      <p:sp>
        <p:nvSpPr>
          <p:cNvPr id="42" name="New shape"/>
          <p:cNvSpPr/>
          <p:nvPr/>
        </p:nvSpPr>
        <p:spPr>
          <a:xfrm>
            <a:off x="3111500" y="3714750"/>
            <a:ext cx="635000" cy="0"/>
          </a:xfrm>
          <a:prstGeom prst="line">
            <a:avLst/>
          </a:prstGeom>
          <a:noFill/>
          <a:ln w="12700" cmpd="sng">
            <a:solidFill>
              <a:schemeClr val="accent6">
                <a:alpha val="100000"/>
              </a:schemeClr>
            </a:solidFill>
            <a:prstDash val="sys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p:nvPr/>
        </p:nvSpPr>
        <p:spPr>
          <a:xfrm>
            <a:off x="3238500" y="3524250"/>
            <a:ext cx="381000" cy="381000"/>
          </a:xfrm>
          <a:prstGeom prst="ellipse">
            <a:avLst/>
          </a:prstGeom>
          <a:solidFill>
            <a:schemeClr val="lt1">
              <a:alpha val="100000"/>
            </a:schemeClr>
          </a:solidFill>
          <a:ln w="12700">
            <a:solidFill>
              <a:schemeClr val="lt2">
                <a:lumMod val="90000"/>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4" name="New shape"/>
          <p:cNvSpPr/>
          <p:nvPr/>
        </p:nvSpPr>
        <p:spPr>
          <a:xfrm>
            <a:off x="3302000" y="3587750"/>
            <a:ext cx="25400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5" name="New shape"/>
          <p:cNvSpPr/>
          <p:nvPr/>
        </p:nvSpPr>
        <p:spPr>
          <a:xfrm>
            <a:off x="3746500" y="3429000"/>
            <a:ext cx="2667000" cy="57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127000" tIns="76200" rIns="127000" bIns="45720" rtlCol="0" anchor="t"/>
          <a:lstStyle/>
          <a:p>
            <a:pPr marL="0" marR="0" indent="0" algn="l">
              <a:lnSpc>
                <a:spcPct val="100000"/>
              </a:lnSpc>
              <a:spcBef>
                <a:spcPct val="0"/>
              </a:spcBef>
              <a:spcAft>
                <a:spcPts val="200"/>
              </a:spcAft>
              <a:buNone/>
            </a:pPr>
            <a:r>
              <a:rPr sz="1000" b="1" i="0" u="none">
                <a:solidFill>
                  <a:schemeClr val="accent6"/>
                </a:solidFill>
                <a:latin typeface="+mn-lt"/>
              </a:rPr>
              <a:t>Database &amp; Execution Engine (Tools)</a:t>
            </a:r>
          </a:p>
          <a:p>
            <a:pPr marL="0" marR="0" indent="0" algn="l">
              <a:lnSpc>
                <a:spcPct val="100000"/>
              </a:lnSpc>
              <a:spcBef>
                <a:spcPct val="0"/>
              </a:spcBef>
              <a:spcAft>
                <a:spcPct val="0"/>
              </a:spcAft>
              <a:buNone/>
            </a:pPr>
            <a:r>
              <a:rPr sz="900" b="0" i="1" u="none">
                <a:solidFill>
                  <a:schemeClr val="lt1"/>
                </a:solidFill>
                <a:latin typeface="+mn-lt"/>
              </a:rPr>
              <a:t>Executes the SQL against the database and retrieves the data.</a:t>
            </a:r>
          </a:p>
        </p:txBody>
      </p:sp>
      <p:sp>
        <p:nvSpPr>
          <p:cNvPr id="46" name="New shape"/>
          <p:cNvSpPr/>
          <p:nvPr/>
        </p:nvSpPr>
        <p:spPr>
          <a:xfrm>
            <a:off x="6540500" y="3429000"/>
            <a:ext cx="2286000" cy="57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571500" tIns="76200" rIns="63500" bIns="45720" rtlCol="0" anchor="t"/>
          <a:lstStyle/>
          <a:p>
            <a:pPr marL="0" marR="0" indent="0" algn="l">
              <a:lnSpc>
                <a:spcPct val="100000"/>
              </a:lnSpc>
              <a:spcBef>
                <a:spcPct val="0"/>
              </a:spcBef>
              <a:spcAft>
                <a:spcPts val="200"/>
              </a:spcAft>
              <a:buNone/>
            </a:pPr>
            <a:r>
              <a:rPr sz="1000" b="1" i="0" u="none">
                <a:solidFill>
                  <a:schemeClr val="accent6"/>
                </a:solidFill>
                <a:latin typeface="+mn-lt"/>
              </a:rPr>
              <a:t>Result Delivered</a:t>
            </a:r>
          </a:p>
          <a:p>
            <a:pPr marL="0" marR="0" indent="0" algn="l">
              <a:lnSpc>
                <a:spcPct val="100000"/>
              </a:lnSpc>
              <a:spcBef>
                <a:spcPct val="0"/>
              </a:spcBef>
              <a:spcAft>
                <a:spcPct val="0"/>
              </a:spcAft>
              <a:buNone/>
            </a:pPr>
            <a:r>
              <a:rPr sz="900" b="0" i="1" u="none">
                <a:solidFill>
                  <a:schemeClr val="lt1"/>
                </a:solidFill>
                <a:latin typeface="+mn-lt"/>
              </a:rPr>
              <a:t>Final data returned to the user</a:t>
            </a:r>
          </a:p>
        </p:txBody>
      </p:sp>
      <p:sp>
        <p:nvSpPr>
          <p:cNvPr id="47" name="New shape"/>
          <p:cNvSpPr/>
          <p:nvPr/>
        </p:nvSpPr>
        <p:spPr>
          <a:xfrm>
            <a:off x="6667500" y="3524250"/>
            <a:ext cx="381000" cy="381000"/>
          </a:xfrm>
          <a:prstGeom prst="ellipse">
            <a:avLst/>
          </a:prstGeom>
          <a:noFill/>
          <a:ln w="12700">
            <a:solidFill>
              <a:schemeClr val="lt1">
                <a:lumMod val="50000"/>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8" name="New shape"/>
          <p:cNvSpPr/>
          <p:nvPr/>
        </p:nvSpPr>
        <p:spPr>
          <a:xfrm>
            <a:off x="6731000" y="3587750"/>
            <a:ext cx="254000" cy="25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9" name="New shape"/>
          <p:cNvSpPr/>
          <p:nvPr/>
        </p:nvSpPr>
        <p:spPr>
          <a:xfrm>
            <a:off x="317500" y="4191000"/>
            <a:ext cx="8509000" cy="5715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1016000" tIns="45720" rIns="127000" bIns="45720" rtlCol="0" anchor="ctr"/>
          <a:lstStyle/>
          <a:p>
            <a:pPr marL="0" marR="0" indent="0" algn="l">
              <a:lnSpc>
                <a:spcPct val="100000"/>
              </a:lnSpc>
              <a:spcBef>
                <a:spcPct val="0"/>
              </a:spcBef>
              <a:spcAft>
                <a:spcPct val="0"/>
              </a:spcAft>
              <a:buNone/>
            </a:pPr>
            <a:r>
              <a:rPr sz="1100" b="1" i="0" u="none">
                <a:solidFill>
                  <a:schemeClr val="lt1"/>
                </a:solidFill>
                <a:latin typeface="+mn-lt"/>
              </a:rPr>
              <a:t>Our Goal: </a:t>
            </a:r>
            <a:r>
              <a:rPr sz="1100" b="1" i="0" u="none">
                <a:solidFill>
                  <a:schemeClr val="accent6"/>
                </a:solidFill>
                <a:latin typeface="+mn-lt"/>
              </a:rPr>
              <a:t>Deliver the right data (answer) </a:t>
            </a:r>
            <a:r>
              <a:rPr sz="1100" b="0" i="0" u="none">
                <a:solidFill>
                  <a:schemeClr val="lt1"/>
                </a:solidFill>
                <a:latin typeface="+mn-lt"/>
              </a:rPr>
              <a:t>using the right process, context, and tools.</a:t>
            </a:r>
          </a:p>
        </p:txBody>
      </p:sp>
      <p:pic>
        <p:nvPicPr>
          <p:cNvPr id="58" name="New picture"/>
          <p:cNvPicPr/>
          <p:nvPr>
            <p:custDataLst>
              <p:tags r:id="rId9"/>
            </p:custDataLst>
          </p:nvPr>
        </p:nvPicPr>
        <p:blipFill>
          <a:blip>
            <a:extLst>
              <a:ext uri="{96DAC541-7B7A-43D3-8B79-37D633B846F1}">
                <asvg:svgBlip xmlns:asvg="http://schemas.microsoft.com/office/drawing/2016/SVG/main" r:embed="rId18"/>
              </a:ext>
            </a:extLst>
          </a:blip>
          <a:stretch>
            <a:fillRect/>
          </a:stretch>
        </p:blipFill>
        <p:spPr>
          <a:xfrm>
            <a:off x="571500" y="4286250"/>
            <a:ext cx="381000" cy="381000"/>
          </a:xfrm>
          <a:prstGeom prst="rect">
            <a:avLst/>
          </a:prstGeom>
        </p:spPr>
      </p:pic>
      <p:pic>
        <p:nvPicPr>
          <p:cNvPr id="11" name="Picture 10">
            <a:extLst>
              <a:ext uri="{FF2B5EF4-FFF2-40B4-BE49-F238E27FC236}">
                <a16:creationId xmlns:a16="http://schemas.microsoft.com/office/drawing/2014/main" id="{0AFE2FFA-8B7C-93B3-2924-9A27A6778433}"/>
              </a:ext>
            </a:extLst>
          </p:cNvPr>
          <p:cNvPicPr>
            <a:picLocks noChangeAspect="1"/>
          </p:cNvPicPr>
          <p:nvPr/>
        </p:nvPicPr>
        <p:blipFill>
          <a:blip r:embed="rId19"/>
          <a:srcRect l="-928" t="29746" r="928" b="36645"/>
          <a:stretch>
            <a:fillRect/>
          </a:stretch>
        </p:blipFill>
        <p:spPr>
          <a:xfrm>
            <a:off x="8218575" y="45720"/>
            <a:ext cx="861058" cy="289396"/>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p:cNvGrpSpPr/>
        <p:nvPr/>
      </p:nvGrpSpPr>
      <p:grpSpPr>
        <a:xfrm>
          <a:off x="0" y="0"/>
          <a:ext cx="0" cy="0"/>
          <a:chOff x="0" y="0"/>
          <a:chExt cx="0" cy="0"/>
        </a:xfrm>
      </p:grpSpPr>
      <p:sp>
        <p:nvSpPr>
          <p:cNvPr id="2" name="New shape"/>
          <p:cNvSpPr/>
          <p:nvPr/>
        </p:nvSpPr>
        <p:spPr>
          <a:xfrm>
            <a:off x="381000" y="317500"/>
            <a:ext cx="8382000" cy="444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indent="0" algn="l">
              <a:lnSpc>
                <a:spcPct val="100000"/>
              </a:lnSpc>
              <a:spcBef>
                <a:spcPct val="0"/>
              </a:spcBef>
              <a:spcAft>
                <a:spcPct val="0"/>
              </a:spcAft>
              <a:buNone/>
            </a:pPr>
            <a:r>
              <a:rPr sz="2400" b="1" i="0" u="none" dirty="0">
                <a:solidFill>
                  <a:schemeClr val="bg1"/>
                </a:solidFill>
                <a:latin typeface="+mj-lt"/>
              </a:rPr>
              <a:t>The Genesis: Spider 2.0</a:t>
            </a:r>
          </a:p>
        </p:txBody>
      </p:sp>
      <p:sp>
        <p:nvSpPr>
          <p:cNvPr id="3" name="New shape"/>
          <p:cNvSpPr/>
          <p:nvPr/>
        </p:nvSpPr>
        <p:spPr>
          <a:xfrm>
            <a:off x="381000" y="762000"/>
            <a:ext cx="508000" cy="0"/>
          </a:xfrm>
          <a:prstGeom prst="line">
            <a:avLst/>
          </a:prstGeom>
          <a:noFill/>
          <a:ln w="31750" cmpd="sng">
            <a:solidFill>
              <a:schemeClr val="accent6">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381000" y="889000"/>
            <a:ext cx="8382000" cy="317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indent="0" algn="l">
              <a:lnSpc>
                <a:spcPct val="100000"/>
              </a:lnSpc>
              <a:spcBef>
                <a:spcPct val="0"/>
              </a:spcBef>
              <a:spcAft>
                <a:spcPct val="0"/>
              </a:spcAft>
              <a:buNone/>
            </a:pPr>
            <a:r>
              <a:rPr sz="1300" b="0" i="0" u="none" dirty="0">
                <a:solidFill>
                  <a:schemeClr val="accent2"/>
                </a:solidFill>
                <a:latin typeface="+mn-lt"/>
              </a:rPr>
              <a:t>The benchmark that redefined enterprise Text-to-SQL evaluation.</a:t>
            </a:r>
          </a:p>
        </p:txBody>
      </p:sp>
      <p:sp>
        <p:nvSpPr>
          <p:cNvPr id="5" name="New shape"/>
          <p:cNvSpPr/>
          <p:nvPr/>
        </p:nvSpPr>
        <p:spPr>
          <a:xfrm>
            <a:off x="381000" y="1397000"/>
            <a:ext cx="457200" cy="457200"/>
          </a:xfrm>
          <a:prstGeom prst="ellipse">
            <a:avLst/>
          </a:prstGeom>
          <a:noFill/>
          <a:ln w="12700">
            <a:solidFill>
              <a:schemeClr val="accent1">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2" name="New picture"/>
          <p:cNvPicPr/>
          <p:nvPr>
            <p:custDataLst>
              <p:tags r:id="rId2"/>
            </p:custDataLst>
          </p:nvPr>
        </p:nvPicPr>
        <p:blipFill>
          <a:blip>
            <a:extLst>
              <a:ext uri="{96DAC541-7B7A-43D3-8B79-37D633B846F1}">
                <asvg:svgBlip xmlns:asvg="http://schemas.microsoft.com/office/drawing/2016/SVG/main" r:embed="rId7"/>
              </a:ext>
            </a:extLst>
          </a:blip>
          <a:stretch>
            <a:fillRect/>
          </a:stretch>
        </p:blipFill>
        <p:spPr>
          <a:xfrm>
            <a:off x="495300" y="1511300"/>
            <a:ext cx="228600" cy="228600"/>
          </a:xfrm>
          <a:prstGeom prst="rect">
            <a:avLst/>
          </a:prstGeom>
        </p:spPr>
      </p:pic>
      <p:sp>
        <p:nvSpPr>
          <p:cNvPr id="7" name="New shape"/>
          <p:cNvSpPr/>
          <p:nvPr/>
        </p:nvSpPr>
        <p:spPr>
          <a:xfrm>
            <a:off x="1016000" y="1397000"/>
            <a:ext cx="3175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0" rIns="91440" bIns="0" rtlCol="0" anchor="t"/>
          <a:lstStyle/>
          <a:p>
            <a:pPr marL="0" marR="0" indent="0" algn="l">
              <a:lnSpc>
                <a:spcPct val="100000"/>
              </a:lnSpc>
              <a:spcBef>
                <a:spcPct val="0"/>
              </a:spcBef>
              <a:spcAft>
                <a:spcPct val="0"/>
              </a:spcAft>
              <a:buNone/>
            </a:pPr>
            <a:r>
              <a:rPr sz="1000" b="1" i="0" u="none">
                <a:solidFill>
                  <a:schemeClr val="accent6"/>
                </a:solidFill>
                <a:latin typeface="+mn-lt"/>
              </a:rPr>
              <a:t>THE PAPER</a:t>
            </a:r>
          </a:p>
        </p:txBody>
      </p:sp>
      <p:sp>
        <p:nvSpPr>
          <p:cNvPr id="8" name="New shape"/>
          <p:cNvSpPr/>
          <p:nvPr/>
        </p:nvSpPr>
        <p:spPr>
          <a:xfrm>
            <a:off x="1016000" y="1587500"/>
            <a:ext cx="3429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0" rIns="91440" bIns="0" rtlCol="0" anchor="t"/>
          <a:lstStyle/>
          <a:p>
            <a:pPr marL="0" marR="0" indent="0" algn="l">
              <a:lnSpc>
                <a:spcPct val="100000"/>
              </a:lnSpc>
              <a:spcBef>
                <a:spcPct val="0"/>
              </a:spcBef>
              <a:spcAft>
                <a:spcPct val="0"/>
              </a:spcAft>
              <a:buNone/>
            </a:pPr>
            <a:r>
              <a:rPr sz="1000" b="0" i="0" u="none" dirty="0">
                <a:solidFill>
                  <a:schemeClr val="bg1"/>
                </a:solidFill>
                <a:latin typeface="+mn-lt"/>
              </a:rPr>
              <a:t>Spider 2.0: Evaluating Language Models on Real-World Enterprise Text-to-SQL Workflows</a:t>
            </a:r>
          </a:p>
        </p:txBody>
      </p:sp>
      <p:sp>
        <p:nvSpPr>
          <p:cNvPr id="9" name="New shape"/>
          <p:cNvSpPr/>
          <p:nvPr/>
        </p:nvSpPr>
        <p:spPr>
          <a:xfrm>
            <a:off x="1016000" y="2095500"/>
            <a:ext cx="3302000" cy="0"/>
          </a:xfrm>
          <a:prstGeom prst="line">
            <a:avLst/>
          </a:prstGeom>
          <a:noFill/>
          <a:ln w="12700" cmpd="sng">
            <a:solidFill>
              <a:schemeClr val="lt1">
                <a:lumMod val="85000"/>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 name="New shape"/>
          <p:cNvSpPr/>
          <p:nvPr/>
        </p:nvSpPr>
        <p:spPr>
          <a:xfrm>
            <a:off x="381000" y="2222500"/>
            <a:ext cx="457200" cy="457200"/>
          </a:xfrm>
          <a:prstGeom prst="ellipse">
            <a:avLst/>
          </a:prstGeom>
          <a:noFill/>
          <a:ln w="12700">
            <a:solidFill>
              <a:schemeClr val="accent1">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3" name="New picture"/>
          <p:cNvPicPr/>
          <p:nvPr>
            <p:custDataLst>
              <p:tags r:id="rId3"/>
            </p:custDataLst>
          </p:nvPr>
        </p:nvPicPr>
        <p:blipFill>
          <a:blip>
            <a:extLst>
              <a:ext uri="{96DAC541-7B7A-43D3-8B79-37D633B846F1}">
                <asvg:svgBlip xmlns:asvg="http://schemas.microsoft.com/office/drawing/2016/SVG/main" r:embed="rId8"/>
              </a:ext>
            </a:extLst>
          </a:blip>
          <a:stretch>
            <a:fillRect/>
          </a:stretch>
        </p:blipFill>
        <p:spPr>
          <a:xfrm>
            <a:off x="495300" y="2336800"/>
            <a:ext cx="228600" cy="228600"/>
          </a:xfrm>
          <a:prstGeom prst="rect">
            <a:avLst/>
          </a:prstGeom>
        </p:spPr>
      </p:pic>
      <p:sp>
        <p:nvSpPr>
          <p:cNvPr id="12" name="New shape"/>
          <p:cNvSpPr/>
          <p:nvPr/>
        </p:nvSpPr>
        <p:spPr>
          <a:xfrm>
            <a:off x="1016000" y="2222500"/>
            <a:ext cx="3175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0" rIns="91440" bIns="0" rtlCol="0" anchor="t"/>
          <a:lstStyle/>
          <a:p>
            <a:pPr marL="0" marR="0" indent="0" algn="l">
              <a:lnSpc>
                <a:spcPct val="100000"/>
              </a:lnSpc>
              <a:spcBef>
                <a:spcPct val="0"/>
              </a:spcBef>
              <a:spcAft>
                <a:spcPct val="0"/>
              </a:spcAft>
              <a:buNone/>
            </a:pPr>
            <a:r>
              <a:rPr sz="1000" b="1" i="0" u="none">
                <a:solidFill>
                  <a:schemeClr val="accent6"/>
                </a:solidFill>
                <a:latin typeface="+mn-lt"/>
              </a:rPr>
              <a:t>FOCUS</a:t>
            </a:r>
          </a:p>
        </p:txBody>
      </p:sp>
      <p:sp>
        <p:nvSpPr>
          <p:cNvPr id="13" name="New shape"/>
          <p:cNvSpPr/>
          <p:nvPr/>
        </p:nvSpPr>
        <p:spPr>
          <a:xfrm>
            <a:off x="1016000" y="2413000"/>
            <a:ext cx="3429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0" rIns="91440" bIns="0" rtlCol="0" anchor="t"/>
          <a:lstStyle/>
          <a:p>
            <a:pPr marL="0" marR="0" indent="0" algn="l">
              <a:lnSpc>
                <a:spcPct val="100000"/>
              </a:lnSpc>
              <a:spcBef>
                <a:spcPct val="0"/>
              </a:spcBef>
              <a:spcAft>
                <a:spcPct val="0"/>
              </a:spcAft>
              <a:buNone/>
            </a:pPr>
            <a:r>
              <a:rPr sz="1000" b="0" i="0" u="none" dirty="0">
                <a:solidFill>
                  <a:schemeClr val="bg1"/>
                </a:solidFill>
                <a:latin typeface="+mn-lt"/>
              </a:rPr>
              <a:t>Real-world enterprise text-to-SQL across multiple databases, SQL dialects, and diverse operations.</a:t>
            </a:r>
          </a:p>
        </p:txBody>
      </p:sp>
      <p:sp>
        <p:nvSpPr>
          <p:cNvPr id="14" name="New shape"/>
          <p:cNvSpPr/>
          <p:nvPr/>
        </p:nvSpPr>
        <p:spPr>
          <a:xfrm>
            <a:off x="1016000" y="2921000"/>
            <a:ext cx="3302000" cy="0"/>
          </a:xfrm>
          <a:prstGeom prst="line">
            <a:avLst/>
          </a:prstGeom>
          <a:noFill/>
          <a:ln w="12700" cmpd="sng">
            <a:solidFill>
              <a:schemeClr val="lt1">
                <a:lumMod val="85000"/>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381000" y="3048000"/>
            <a:ext cx="457200" cy="457200"/>
          </a:xfrm>
          <a:prstGeom prst="ellipse">
            <a:avLst/>
          </a:prstGeom>
          <a:noFill/>
          <a:ln w="12700">
            <a:solidFill>
              <a:schemeClr val="accent1">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4" name="New picture"/>
          <p:cNvPicPr/>
          <p:nvPr>
            <p:custDataLst>
              <p:tags r:id="rId4"/>
            </p:custDataLst>
          </p:nvPr>
        </p:nvPicPr>
        <p:blipFill>
          <a:blip>
            <a:extLst>
              <a:ext uri="{96DAC541-7B7A-43D3-8B79-37D633B846F1}">
                <asvg:svgBlip xmlns:asvg="http://schemas.microsoft.com/office/drawing/2016/SVG/main" r:embed="rId9"/>
              </a:ext>
            </a:extLst>
          </a:blip>
          <a:stretch>
            <a:fillRect/>
          </a:stretch>
        </p:blipFill>
        <p:spPr>
          <a:xfrm>
            <a:off x="495300" y="3162300"/>
            <a:ext cx="228600" cy="228600"/>
          </a:xfrm>
          <a:prstGeom prst="rect">
            <a:avLst/>
          </a:prstGeom>
        </p:spPr>
      </p:pic>
      <p:sp>
        <p:nvSpPr>
          <p:cNvPr id="17" name="New shape"/>
          <p:cNvSpPr/>
          <p:nvPr/>
        </p:nvSpPr>
        <p:spPr>
          <a:xfrm>
            <a:off x="1016000" y="3048000"/>
            <a:ext cx="3175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0" rIns="91440" bIns="0" rtlCol="0" anchor="t"/>
          <a:lstStyle/>
          <a:p>
            <a:pPr marL="0" marR="0" indent="0" algn="l">
              <a:lnSpc>
                <a:spcPct val="100000"/>
              </a:lnSpc>
              <a:spcBef>
                <a:spcPct val="0"/>
              </a:spcBef>
              <a:spcAft>
                <a:spcPct val="0"/>
              </a:spcAft>
              <a:buNone/>
            </a:pPr>
            <a:r>
              <a:rPr sz="1000" b="1" i="0" u="none">
                <a:solidFill>
                  <a:schemeClr val="accent6"/>
                </a:solidFill>
                <a:latin typeface="+mn-lt"/>
              </a:rPr>
              <a:t>SCOPE</a:t>
            </a:r>
          </a:p>
        </p:txBody>
      </p:sp>
      <p:sp>
        <p:nvSpPr>
          <p:cNvPr id="18" name="New shape"/>
          <p:cNvSpPr/>
          <p:nvPr/>
        </p:nvSpPr>
        <p:spPr>
          <a:xfrm>
            <a:off x="1016000" y="3238500"/>
            <a:ext cx="3429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0" rIns="91440" bIns="0" rtlCol="0" anchor="t"/>
          <a:lstStyle/>
          <a:p>
            <a:pPr marL="0" marR="0" indent="0" algn="l">
              <a:lnSpc>
                <a:spcPct val="100000"/>
              </a:lnSpc>
              <a:spcBef>
                <a:spcPct val="0"/>
              </a:spcBef>
              <a:spcAft>
                <a:spcPct val="0"/>
              </a:spcAft>
              <a:buNone/>
            </a:pPr>
            <a:r>
              <a:rPr sz="1000" b="0" i="0" u="none" dirty="0">
                <a:solidFill>
                  <a:schemeClr val="bg1"/>
                </a:solidFill>
                <a:latin typeface="+mn-lt"/>
              </a:rPr>
              <a:t>Over 200 databases, 15k+ questions, and 83k+ real-world text-to-SQL workflows.</a:t>
            </a:r>
          </a:p>
        </p:txBody>
      </p:sp>
      <p:sp>
        <p:nvSpPr>
          <p:cNvPr id="19" name="New shape"/>
          <p:cNvSpPr/>
          <p:nvPr/>
        </p:nvSpPr>
        <p:spPr>
          <a:xfrm>
            <a:off x="254000" y="3873500"/>
            <a:ext cx="4318000" cy="952500"/>
          </a:xfrm>
          <a:prstGeom prst="roundRect">
            <a:avLst>
              <a:gd name="adj" fmla="val 4000"/>
            </a:avLst>
          </a:prstGeom>
          <a:solidFill>
            <a:schemeClr val="lt1">
              <a:lumMod val="95000"/>
              <a:alpha val="100000"/>
            </a:schemeClr>
          </a:solidFill>
          <a:ln w="12700">
            <a:solidFill>
              <a:schemeClr val="accent1">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381000" y="4064000"/>
            <a:ext cx="457200" cy="457200"/>
          </a:xfrm>
          <a:prstGeom prst="ellipse">
            <a:avLst/>
          </a:prstGeom>
          <a:noFill/>
          <a:ln w="12700">
            <a:solidFill>
              <a:schemeClr val="accent6">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5" name="New picture"/>
          <p:cNvPicPr/>
          <p:nvPr>
            <p:custDataLst>
              <p:tags r:id="rId5"/>
            </p:custDataLst>
          </p:nvPr>
        </p:nvPicPr>
        <p:blipFill>
          <a:blip>
            <a:extLst>
              <a:ext uri="{96DAC541-7B7A-43D3-8B79-37D633B846F1}">
                <asvg:svgBlip xmlns:asvg="http://schemas.microsoft.com/office/drawing/2016/SVG/main" r:embed="rId10"/>
              </a:ext>
            </a:extLst>
          </a:blip>
          <a:stretch>
            <a:fillRect/>
          </a:stretch>
        </p:blipFill>
        <p:spPr>
          <a:xfrm>
            <a:off x="495300" y="4178300"/>
            <a:ext cx="228600" cy="228600"/>
          </a:xfrm>
          <a:prstGeom prst="rect">
            <a:avLst/>
          </a:prstGeom>
        </p:spPr>
      </p:pic>
      <p:sp>
        <p:nvSpPr>
          <p:cNvPr id="22" name="New shape"/>
          <p:cNvSpPr/>
          <p:nvPr/>
        </p:nvSpPr>
        <p:spPr>
          <a:xfrm>
            <a:off x="1016000" y="4000500"/>
            <a:ext cx="3175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0" rIns="91440" bIns="0" rtlCol="0" anchor="t"/>
          <a:lstStyle/>
          <a:p>
            <a:pPr marL="0" marR="0" indent="0" algn="l">
              <a:lnSpc>
                <a:spcPct val="100000"/>
              </a:lnSpc>
              <a:spcBef>
                <a:spcPct val="0"/>
              </a:spcBef>
              <a:spcAft>
                <a:spcPct val="0"/>
              </a:spcAft>
              <a:buNone/>
            </a:pPr>
            <a:r>
              <a:rPr sz="1000" b="1" i="0" u="none">
                <a:solidFill>
                  <a:schemeClr val="accent6"/>
                </a:solidFill>
                <a:latin typeface="+mn-lt"/>
              </a:rPr>
              <a:t>KEY TAKEAWAY</a:t>
            </a:r>
          </a:p>
        </p:txBody>
      </p:sp>
      <p:sp>
        <p:nvSpPr>
          <p:cNvPr id="23" name="New shape"/>
          <p:cNvSpPr/>
          <p:nvPr/>
        </p:nvSpPr>
        <p:spPr>
          <a:xfrm>
            <a:off x="1016000" y="4191000"/>
            <a:ext cx="3302000" cy="571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0" rIns="91440" bIns="0" rtlCol="0" anchor="t"/>
          <a:lstStyle/>
          <a:p>
            <a:pPr marL="0" marR="0" indent="0" algn="l">
              <a:lnSpc>
                <a:spcPct val="100000"/>
              </a:lnSpc>
              <a:spcBef>
                <a:spcPct val="0"/>
              </a:spcBef>
              <a:spcAft>
                <a:spcPct val="0"/>
              </a:spcAft>
              <a:buNone/>
            </a:pPr>
            <a:r>
              <a:rPr sz="1000" b="0" i="0" u="none">
                <a:solidFill>
                  <a:schemeClr val="dk1"/>
                </a:solidFill>
                <a:latin typeface="+mn-lt"/>
              </a:rPr>
              <a:t>Spider 2.0 established a new standard for rigor, scale, and realism in enterprise Text-to-SQL evaluation.</a:t>
            </a:r>
          </a:p>
        </p:txBody>
      </p:sp>
      <p:sp>
        <p:nvSpPr>
          <p:cNvPr id="24" name="New shape"/>
          <p:cNvSpPr/>
          <p:nvPr/>
        </p:nvSpPr>
        <p:spPr>
          <a:xfrm>
            <a:off x="4826000" y="1397000"/>
            <a:ext cx="3937000" cy="3429000"/>
          </a:xfrm>
          <a:prstGeom prst="rect">
            <a:avLst/>
          </a:prstGeom>
          <a:solidFill>
            <a:schemeClr val="lt1">
              <a:alpha val="100000"/>
            </a:schemeClr>
          </a:solidFill>
          <a:ln w="12700">
            <a:solidFill>
              <a:schemeClr val="lt1">
                <a:lumMod val="85000"/>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New shape"/>
          <p:cNvSpPr/>
          <p:nvPr/>
        </p:nvSpPr>
        <p:spPr>
          <a:xfrm>
            <a:off x="5016500" y="1524000"/>
            <a:ext cx="3556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0" rtlCol="0" anchor="t"/>
          <a:lstStyle/>
          <a:p>
            <a:pPr marL="0" marR="0" indent="0" algn="l">
              <a:lnSpc>
                <a:spcPct val="100000"/>
              </a:lnSpc>
              <a:spcBef>
                <a:spcPct val="0"/>
              </a:spcBef>
              <a:spcAft>
                <a:spcPct val="0"/>
              </a:spcAft>
              <a:buNone/>
            </a:pPr>
            <a:r>
              <a:rPr sz="800" b="0" i="0" u="none">
                <a:solidFill>
                  <a:schemeClr val="lt1">
                    <a:lumMod val="50000"/>
                  </a:schemeClr>
                </a:solidFill>
                <a:latin typeface="+mn-lt"/>
              </a:rPr>
              <a:t>Published as a conference paper at ICLR 2025</a:t>
            </a:r>
          </a:p>
        </p:txBody>
      </p:sp>
      <p:sp>
        <p:nvSpPr>
          <p:cNvPr id="26" name="New shape"/>
          <p:cNvSpPr/>
          <p:nvPr/>
        </p:nvSpPr>
        <p:spPr>
          <a:xfrm>
            <a:off x="5016500" y="1714500"/>
            <a:ext cx="3556000" cy="0"/>
          </a:xfrm>
          <a:prstGeom prst="line">
            <a:avLst/>
          </a:prstGeom>
          <a:noFill/>
          <a:ln w="6350" cmpd="sng">
            <a:solidFill>
              <a:schemeClr val="lt1">
                <a:lumMod val="75000"/>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7" name="New shape"/>
          <p:cNvSpPr/>
          <p:nvPr/>
        </p:nvSpPr>
        <p:spPr>
          <a:xfrm>
            <a:off x="5016500" y="1841500"/>
            <a:ext cx="3556000" cy="571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0" rtlCol="0" anchor="t"/>
          <a:lstStyle/>
          <a:p>
            <a:pPr marL="0" marR="0" indent="0" algn="l">
              <a:lnSpc>
                <a:spcPct val="115000"/>
              </a:lnSpc>
              <a:spcBef>
                <a:spcPct val="0"/>
              </a:spcBef>
              <a:spcAft>
                <a:spcPct val="0"/>
              </a:spcAft>
              <a:buNone/>
            </a:pPr>
            <a:r>
              <a:rPr sz="1100" b="1" i="0" u="none">
                <a:solidFill>
                  <a:schemeClr val="dk1"/>
                </a:solidFill>
                <a:latin typeface="+mn-lt"/>
              </a:rPr>
              <a:t>SPIDER 2.0: EVALUATING LANGUAGE MODELS ON REAL-WORLD ENTERPRISE TEXT-TO-SQL WORKFLOWS</a:t>
            </a:r>
          </a:p>
        </p:txBody>
      </p:sp>
      <p:sp>
        <p:nvSpPr>
          <p:cNvPr id="28" name="New shape"/>
          <p:cNvSpPr/>
          <p:nvPr/>
        </p:nvSpPr>
        <p:spPr>
          <a:xfrm>
            <a:off x="5016500" y="2476500"/>
            <a:ext cx="3556000" cy="381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0" rtlCol="0" anchor="t"/>
          <a:lstStyle/>
          <a:p>
            <a:pPr marL="0" marR="0" indent="0" algn="l">
              <a:lnSpc>
                <a:spcPct val="100000"/>
              </a:lnSpc>
              <a:spcBef>
                <a:spcPct val="0"/>
              </a:spcBef>
              <a:spcAft>
                <a:spcPct val="0"/>
              </a:spcAft>
              <a:buNone/>
            </a:pPr>
            <a:r>
              <a:rPr sz="700" b="1" i="0" u="none">
                <a:solidFill>
                  <a:schemeClr val="dk2"/>
                </a:solidFill>
                <a:latin typeface="+mn-lt"/>
              </a:rPr>
              <a:t>Fangyu Lei, Jixuan Chen, Yuxiao Ye, Ruisheng Cao, Dongchan Shin, Hongjin Su, Zhuoqing Suo, Hongcheng Gao, Wenjing Hu, Pengcheng Yin</a:t>
            </a:r>
          </a:p>
        </p:txBody>
      </p:sp>
      <p:sp>
        <p:nvSpPr>
          <p:cNvPr id="29" name="New shape"/>
          <p:cNvSpPr/>
          <p:nvPr/>
        </p:nvSpPr>
        <p:spPr>
          <a:xfrm>
            <a:off x="5016500" y="2921000"/>
            <a:ext cx="3556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91440" bIns="0" rtlCol="0" anchor="t"/>
          <a:lstStyle/>
          <a:p>
            <a:pPr marL="0" marR="0" indent="0" algn="ctr">
              <a:lnSpc>
                <a:spcPct val="100000"/>
              </a:lnSpc>
              <a:spcBef>
                <a:spcPct val="0"/>
              </a:spcBef>
              <a:spcAft>
                <a:spcPct val="0"/>
              </a:spcAft>
              <a:buNone/>
            </a:pPr>
            <a:r>
              <a:rPr sz="900" b="1" i="0" u="none">
                <a:solidFill>
                  <a:schemeClr val="dk1"/>
                </a:solidFill>
                <a:latin typeface="+mn-lt"/>
              </a:rPr>
              <a:t>ABSTRACT</a:t>
            </a:r>
          </a:p>
        </p:txBody>
      </p:sp>
      <p:sp>
        <p:nvSpPr>
          <p:cNvPr id="30" name="New shape"/>
          <p:cNvSpPr/>
          <p:nvPr/>
        </p:nvSpPr>
        <p:spPr>
          <a:xfrm>
            <a:off x="5016500" y="3111500"/>
            <a:ext cx="3556000" cy="1651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0" rtlCol="0" anchor="t"/>
          <a:lstStyle/>
          <a:p>
            <a:pPr marL="0" marR="0" indent="0" algn="l">
              <a:lnSpc>
                <a:spcPct val="110000"/>
              </a:lnSpc>
              <a:spcBef>
                <a:spcPct val="0"/>
              </a:spcBef>
              <a:spcAft>
                <a:spcPct val="0"/>
              </a:spcAft>
              <a:buNone/>
            </a:pPr>
            <a:r>
              <a:rPr sz="800" b="0" i="0" u="none">
                <a:solidFill>
                  <a:schemeClr val="dk2"/>
                </a:solidFill>
                <a:latin typeface="+mn-lt"/>
              </a:rPr>
              <a:t>Real-world enterprise text-to-SQL workflows often involve complex cloud or local data across various database systems, multiple SQL queries in various dialects, and diverse operations from data transformation to analytics. We introduce Spider 2.0, an evaluation framework comprising 83k real-world text-to-SQL workflows derived from over 200 databases collected from diverse enterprise scenarios. Spider 2.0 evaluates both the final SQL predictions and intermediate reasoning processes.</a:t>
            </a:r>
          </a:p>
        </p:txBody>
      </p:sp>
      <p:sp>
        <p:nvSpPr>
          <p:cNvPr id="31" name="New shape"/>
          <p:cNvSpPr/>
          <p:nvPr/>
        </p:nvSpPr>
        <p:spPr>
          <a:xfrm rot="16200000">
            <a:off x="4508500" y="2540000"/>
            <a:ext cx="254000" cy="1016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0" rtlCol="0" anchor="t"/>
          <a:lstStyle/>
          <a:p>
            <a:pPr marL="0" marR="0" indent="0" algn="ctr">
              <a:lnSpc>
                <a:spcPct val="100000"/>
              </a:lnSpc>
              <a:spcBef>
                <a:spcPct val="0"/>
              </a:spcBef>
              <a:spcAft>
                <a:spcPct val="0"/>
              </a:spcAft>
              <a:buNone/>
            </a:pPr>
            <a:r>
              <a:rPr sz="1000" b="0" i="0" u="none">
                <a:solidFill>
                  <a:schemeClr val="accent3"/>
                </a:solidFill>
                <a:latin typeface="+mn-lt"/>
              </a:rPr>
              <a:t>17 Mar 2025</a:t>
            </a:r>
          </a:p>
        </p:txBody>
      </p:sp>
      <p:pic>
        <p:nvPicPr>
          <p:cNvPr id="6" name="Picture 5">
            <a:extLst>
              <a:ext uri="{FF2B5EF4-FFF2-40B4-BE49-F238E27FC236}">
                <a16:creationId xmlns:a16="http://schemas.microsoft.com/office/drawing/2014/main" id="{228D26D5-36F9-9CB1-F731-EBAF9D4DF6DF}"/>
              </a:ext>
            </a:extLst>
          </p:cNvPr>
          <p:cNvPicPr>
            <a:picLocks noChangeAspect="1"/>
          </p:cNvPicPr>
          <p:nvPr/>
        </p:nvPicPr>
        <p:blipFill>
          <a:blip r:embed="rId11"/>
          <a:srcRect l="-928" t="29746" r="928" b="36645"/>
          <a:stretch>
            <a:fillRect/>
          </a:stretch>
        </p:blipFill>
        <p:spPr>
          <a:xfrm>
            <a:off x="8218575" y="45720"/>
            <a:ext cx="861058" cy="289396"/>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New shape"/>
          <p:cNvSpPr/>
          <p:nvPr/>
        </p:nvSpPr>
        <p:spPr>
          <a:xfrm>
            <a:off x="0" y="0"/>
            <a:ext cx="9144000" cy="5143500"/>
          </a:xfrm>
          <a:prstGeom prst="rect">
            <a:avLst/>
          </a:prstGeom>
          <a:solidFill>
            <a:srgbClr val="0A0E1A">
              <a:alpha val="10000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p:nvPr/>
        </p:nvSpPr>
        <p:spPr>
          <a:xfrm>
            <a:off x="381000" y="190500"/>
            <a:ext cx="8382000" cy="444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0" rtlCol="0" anchor="t"/>
          <a:lstStyle/>
          <a:p>
            <a:pPr marL="0" marR="0" indent="0" algn="l">
              <a:lnSpc>
                <a:spcPct val="100000"/>
              </a:lnSpc>
              <a:spcBef>
                <a:spcPct val="0"/>
              </a:spcBef>
              <a:spcAft>
                <a:spcPct val="0"/>
              </a:spcAft>
              <a:buNone/>
            </a:pPr>
            <a:r>
              <a:rPr sz="2400" b="1" i="0" u="none" dirty="0">
                <a:solidFill>
                  <a:srgbClr val="F9FAFB"/>
                </a:solidFill>
                <a:latin typeface="+mj-lt"/>
              </a:rPr>
              <a:t>A </a:t>
            </a:r>
            <a:r>
              <a:rPr lang="en-US" sz="2400" b="1" i="0" u="none" dirty="0">
                <a:solidFill>
                  <a:srgbClr val="F9FAFB"/>
                </a:solidFill>
                <a:latin typeface="+mj-lt"/>
              </a:rPr>
              <a:t>Zero-Shot </a:t>
            </a:r>
            <a:r>
              <a:rPr sz="2400" b="1" i="0" u="none" dirty="0">
                <a:solidFill>
                  <a:srgbClr val="F9FAFB"/>
                </a:solidFill>
                <a:latin typeface="+mj-lt"/>
              </a:rPr>
              <a:t>Simple Start: Is This Enough?</a:t>
            </a:r>
          </a:p>
        </p:txBody>
      </p:sp>
      <p:sp>
        <p:nvSpPr>
          <p:cNvPr id="48" name="New shape"/>
          <p:cNvSpPr/>
          <p:nvPr/>
        </p:nvSpPr>
        <p:spPr>
          <a:xfrm>
            <a:off x="381000" y="571500"/>
            <a:ext cx="635000" cy="0"/>
          </a:xfrm>
          <a:prstGeom prst="line">
            <a:avLst/>
          </a:prstGeom>
          <a:noFill/>
          <a:ln w="31750" cmpd="sng">
            <a:solidFill>
              <a:srgbClr val="F59E0B"/>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9" name="New shape"/>
          <p:cNvSpPr/>
          <p:nvPr/>
        </p:nvSpPr>
        <p:spPr>
          <a:xfrm>
            <a:off x="381000" y="635000"/>
            <a:ext cx="8382000" cy="317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0" rtlCol="0" anchor="t"/>
          <a:lstStyle/>
          <a:p>
            <a:pPr>
              <a:spcBef>
                <a:spcPct val="0"/>
              </a:spcBef>
              <a:spcAft>
                <a:spcPct val="0"/>
              </a:spcAft>
            </a:pPr>
            <a:r>
              <a:rPr lang="en-US" sz="1400" dirty="0">
                <a:solidFill>
                  <a:srgbClr val="9CA3AF"/>
                </a:solidFill>
                <a:latin typeface="Calibri" pitchFamily="34" charset="0"/>
                <a:ea typeface="Calibri" pitchFamily="34" charset="-122"/>
                <a:cs typeface="Calibri" pitchFamily="34" charset="-120"/>
              </a:rPr>
              <a:t>I'll just pass the schema to GPT." — I started with this - Every junior dev, ever.</a:t>
            </a:r>
            <a:endParaRPr lang="en-US" sz="1400" dirty="0"/>
          </a:p>
          <a:p>
            <a:pPr marL="0" marR="0" indent="0" algn="l">
              <a:lnSpc>
                <a:spcPct val="100000"/>
              </a:lnSpc>
              <a:spcBef>
                <a:spcPct val="0"/>
              </a:spcBef>
              <a:spcAft>
                <a:spcPct val="0"/>
              </a:spcAft>
              <a:buNone/>
            </a:pPr>
            <a:endParaRPr sz="1400" b="0" i="0" u="none" dirty="0">
              <a:solidFill>
                <a:srgbClr val="9CA3AF"/>
              </a:solidFill>
              <a:latin typeface="+mn-lt"/>
            </a:endParaRPr>
          </a:p>
        </p:txBody>
      </p:sp>
      <p:sp>
        <p:nvSpPr>
          <p:cNvPr id="50" name="New shape"/>
          <p:cNvSpPr/>
          <p:nvPr/>
        </p:nvSpPr>
        <p:spPr>
          <a:xfrm>
            <a:off x="2032000" y="952500"/>
            <a:ext cx="5080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indent="0" algn="ctr">
              <a:lnSpc>
                <a:spcPct val="100000"/>
              </a:lnSpc>
              <a:spcBef>
                <a:spcPct val="0"/>
              </a:spcBef>
              <a:spcAft>
                <a:spcPct val="0"/>
              </a:spcAft>
              <a:buNone/>
            </a:pPr>
            <a:r>
              <a:rPr sz="1100" b="1" i="0" u="none">
                <a:solidFill>
                  <a:srgbClr val="F9FAFB"/>
                </a:solidFill>
                <a:latin typeface="+mn-lt"/>
              </a:rPr>
              <a:t>SIMPLE TEXT-TO-SQL ARCHITECTURE</a:t>
            </a:r>
          </a:p>
        </p:txBody>
      </p:sp>
      <p:sp>
        <p:nvSpPr>
          <p:cNvPr id="51" name="New shape"/>
          <p:cNvSpPr/>
          <p:nvPr/>
        </p:nvSpPr>
        <p:spPr>
          <a:xfrm>
            <a:off x="1397000" y="1270000"/>
            <a:ext cx="635000" cy="635000"/>
          </a:xfrm>
          <a:prstGeom prst="ellipse">
            <a:avLst/>
          </a:prstGeom>
          <a:noFill/>
          <a:ln w="19050">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5" name="New picture"/>
          <p:cNvPicPr/>
          <p:nvPr>
            <p:custDataLst>
              <p:tags r:id="rId1"/>
            </p:custDataLst>
          </p:nvPr>
        </p:nvPicPr>
        <p:blipFill>
          <a:blip>
            <a:extLst>
              <a:ext uri="{96DAC541-7B7A-43D3-8B79-37D633B846F1}">
                <asvg:svgBlip xmlns:asvg="http://schemas.microsoft.com/office/drawing/2016/SVG/main" r:embed="rId8"/>
              </a:ext>
            </a:extLst>
          </a:blip>
          <a:stretch>
            <a:fillRect/>
          </a:stretch>
        </p:blipFill>
        <p:spPr>
          <a:xfrm>
            <a:off x="1524000" y="1397000"/>
            <a:ext cx="381000" cy="381000"/>
          </a:xfrm>
          <a:prstGeom prst="rect">
            <a:avLst/>
          </a:prstGeom>
        </p:spPr>
      </p:pic>
      <p:sp>
        <p:nvSpPr>
          <p:cNvPr id="60" name="New shape"/>
          <p:cNvSpPr/>
          <p:nvPr/>
        </p:nvSpPr>
        <p:spPr>
          <a:xfrm>
            <a:off x="1016000" y="1968500"/>
            <a:ext cx="1397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0" rIns="91440" bIns="45720" rtlCol="0" anchor="t"/>
          <a:lstStyle/>
          <a:p>
            <a:pPr marL="0" marR="0" indent="0" algn="ctr">
              <a:lnSpc>
                <a:spcPct val="100000"/>
              </a:lnSpc>
              <a:spcBef>
                <a:spcPct val="0"/>
              </a:spcBef>
              <a:spcAft>
                <a:spcPct val="0"/>
              </a:spcAft>
              <a:buNone/>
            </a:pPr>
            <a:r>
              <a:rPr sz="1000" b="1" i="0" u="none">
                <a:solidFill>
                  <a:srgbClr val="F9FAFB"/>
                </a:solidFill>
                <a:latin typeface="+mn-lt"/>
              </a:rPr>
              <a:t>USER QUESTION</a:t>
            </a:r>
          </a:p>
          <a:p>
            <a:pPr marL="0" marR="0" indent="0" algn="ctr">
              <a:lnSpc>
                <a:spcPct val="100000"/>
              </a:lnSpc>
              <a:spcBef>
                <a:spcPct val="0"/>
              </a:spcBef>
              <a:spcAft>
                <a:spcPct val="0"/>
              </a:spcAft>
              <a:buNone/>
            </a:pPr>
            <a:r>
              <a:rPr sz="900" b="0" i="0" u="none">
                <a:solidFill>
                  <a:srgbClr val="9CA3AF"/>
                </a:solidFill>
                <a:latin typeface="+mn-lt"/>
              </a:rPr>
              <a:t>Natural language question</a:t>
            </a:r>
          </a:p>
        </p:txBody>
      </p:sp>
      <p:sp>
        <p:nvSpPr>
          <p:cNvPr id="52" name="New shape"/>
          <p:cNvSpPr/>
          <p:nvPr/>
        </p:nvSpPr>
        <p:spPr>
          <a:xfrm>
            <a:off x="3302000" y="1270000"/>
            <a:ext cx="635000" cy="635000"/>
          </a:xfrm>
          <a:prstGeom prst="ellipse">
            <a:avLst/>
          </a:prstGeom>
          <a:noFill/>
          <a:ln w="19050">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6" name="New picture"/>
          <p:cNvPicPr/>
          <p:nvPr>
            <p:custDataLst>
              <p:tags r:id="rId2"/>
            </p:custDataLst>
          </p:nvPr>
        </p:nvPicPr>
        <p:blipFill>
          <a:blip>
            <a:extLst>
              <a:ext uri="{96DAC541-7B7A-43D3-8B79-37D633B846F1}">
                <asvg:svgBlip xmlns:asvg="http://schemas.microsoft.com/office/drawing/2016/SVG/main" r:embed="rId9"/>
              </a:ext>
            </a:extLst>
          </a:blip>
          <a:stretch>
            <a:fillRect/>
          </a:stretch>
        </p:blipFill>
        <p:spPr>
          <a:xfrm>
            <a:off x="3429000" y="1397000"/>
            <a:ext cx="381000" cy="381000"/>
          </a:xfrm>
          <a:prstGeom prst="rect">
            <a:avLst/>
          </a:prstGeom>
        </p:spPr>
      </p:pic>
      <p:sp>
        <p:nvSpPr>
          <p:cNvPr id="62" name="New shape"/>
          <p:cNvSpPr/>
          <p:nvPr/>
        </p:nvSpPr>
        <p:spPr>
          <a:xfrm>
            <a:off x="2921000" y="1968500"/>
            <a:ext cx="1397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0" rIns="91440" bIns="45720" rtlCol="0" anchor="t"/>
          <a:lstStyle/>
          <a:p>
            <a:pPr marL="0" marR="0" indent="0" algn="ctr">
              <a:lnSpc>
                <a:spcPct val="100000"/>
              </a:lnSpc>
              <a:spcBef>
                <a:spcPct val="0"/>
              </a:spcBef>
              <a:spcAft>
                <a:spcPct val="0"/>
              </a:spcAft>
              <a:buNone/>
            </a:pPr>
            <a:r>
              <a:rPr sz="1000" b="1" i="0" u="none">
                <a:solidFill>
                  <a:srgbClr val="F9FAFB"/>
                </a:solidFill>
                <a:latin typeface="+mn-lt"/>
              </a:rPr>
              <a:t>LLM</a:t>
            </a:r>
          </a:p>
          <a:p>
            <a:pPr marL="0" marR="0" indent="0" algn="ctr">
              <a:lnSpc>
                <a:spcPct val="100000"/>
              </a:lnSpc>
              <a:spcBef>
                <a:spcPct val="0"/>
              </a:spcBef>
              <a:spcAft>
                <a:spcPct val="0"/>
              </a:spcAft>
              <a:buNone/>
            </a:pPr>
            <a:r>
              <a:rPr sz="900" b="0" i="0" u="none">
                <a:solidFill>
                  <a:srgbClr val="9CA3AF"/>
                </a:solidFill>
                <a:latin typeface="+mn-lt"/>
              </a:rPr>
              <a:t>Generates SQL from question</a:t>
            </a:r>
          </a:p>
        </p:txBody>
      </p:sp>
      <p:sp>
        <p:nvSpPr>
          <p:cNvPr id="53" name="New shape"/>
          <p:cNvSpPr/>
          <p:nvPr/>
        </p:nvSpPr>
        <p:spPr>
          <a:xfrm>
            <a:off x="5207000" y="1270000"/>
            <a:ext cx="635000" cy="635000"/>
          </a:xfrm>
          <a:prstGeom prst="ellipse">
            <a:avLst/>
          </a:prstGeom>
          <a:noFill/>
          <a:ln w="19050">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7" name="New picture"/>
          <p:cNvPicPr/>
          <p:nvPr>
            <p:custDataLst>
              <p:tags r:id="rId3"/>
            </p:custDataLst>
          </p:nvPr>
        </p:nvPicPr>
        <p:blipFill>
          <a:blip>
            <a:extLst>
              <a:ext uri="{96DAC541-7B7A-43D3-8B79-37D633B846F1}">
                <asvg:svgBlip xmlns:asvg="http://schemas.microsoft.com/office/drawing/2016/SVG/main" r:embed="rId10"/>
              </a:ext>
            </a:extLst>
          </a:blip>
          <a:stretch>
            <a:fillRect/>
          </a:stretch>
        </p:blipFill>
        <p:spPr>
          <a:xfrm>
            <a:off x="5334000" y="1397000"/>
            <a:ext cx="381000" cy="381000"/>
          </a:xfrm>
          <a:prstGeom prst="rect">
            <a:avLst/>
          </a:prstGeom>
        </p:spPr>
      </p:pic>
      <p:sp>
        <p:nvSpPr>
          <p:cNvPr id="64" name="New shape"/>
          <p:cNvSpPr/>
          <p:nvPr/>
        </p:nvSpPr>
        <p:spPr>
          <a:xfrm>
            <a:off x="4826000" y="1968500"/>
            <a:ext cx="1397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0" rIns="91440" bIns="45720" rtlCol="0" anchor="t"/>
          <a:lstStyle/>
          <a:p>
            <a:pPr marL="0" marR="0" indent="0" algn="ctr">
              <a:lnSpc>
                <a:spcPct val="100000"/>
              </a:lnSpc>
              <a:spcBef>
                <a:spcPct val="0"/>
              </a:spcBef>
              <a:spcAft>
                <a:spcPct val="0"/>
              </a:spcAft>
              <a:buNone/>
            </a:pPr>
            <a:r>
              <a:rPr sz="1000" b="1" i="0" u="none">
                <a:solidFill>
                  <a:srgbClr val="F9FAFB"/>
                </a:solidFill>
                <a:latin typeface="+mn-lt"/>
              </a:rPr>
              <a:t>SQL QUERY</a:t>
            </a:r>
          </a:p>
          <a:p>
            <a:pPr marL="0" marR="0" indent="0" algn="ctr">
              <a:lnSpc>
                <a:spcPct val="100000"/>
              </a:lnSpc>
              <a:spcBef>
                <a:spcPct val="0"/>
              </a:spcBef>
              <a:spcAft>
                <a:spcPct val="0"/>
              </a:spcAft>
              <a:buNone/>
            </a:pPr>
            <a:r>
              <a:rPr sz="900" b="0" i="0" u="none">
                <a:solidFill>
                  <a:srgbClr val="9CA3AF"/>
                </a:solidFill>
                <a:latin typeface="+mn-lt"/>
              </a:rPr>
              <a:t>Executable query generated</a:t>
            </a:r>
          </a:p>
        </p:txBody>
      </p:sp>
      <p:sp>
        <p:nvSpPr>
          <p:cNvPr id="54" name="New shape"/>
          <p:cNvSpPr/>
          <p:nvPr/>
        </p:nvSpPr>
        <p:spPr>
          <a:xfrm>
            <a:off x="7112000" y="1270000"/>
            <a:ext cx="635000" cy="635000"/>
          </a:xfrm>
          <a:prstGeom prst="ellipse">
            <a:avLst/>
          </a:prstGeom>
          <a:noFill/>
          <a:ln w="19050">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8" name="New picture"/>
          <p:cNvPicPr/>
          <p:nvPr>
            <p:custDataLst>
              <p:tags r:id="rId4"/>
            </p:custDataLst>
          </p:nvPr>
        </p:nvPicPr>
        <p:blipFill>
          <a:blip>
            <a:extLst>
              <a:ext uri="{96DAC541-7B7A-43D3-8B79-37D633B846F1}">
                <asvg:svgBlip xmlns:asvg="http://schemas.microsoft.com/office/drawing/2016/SVG/main" r:embed="rId11"/>
              </a:ext>
            </a:extLst>
          </a:blip>
          <a:stretch>
            <a:fillRect/>
          </a:stretch>
        </p:blipFill>
        <p:spPr>
          <a:xfrm>
            <a:off x="7239000" y="1397000"/>
            <a:ext cx="381000" cy="381000"/>
          </a:xfrm>
          <a:prstGeom prst="rect">
            <a:avLst/>
          </a:prstGeom>
        </p:spPr>
      </p:pic>
      <p:sp>
        <p:nvSpPr>
          <p:cNvPr id="66" name="New shape"/>
          <p:cNvSpPr/>
          <p:nvPr/>
        </p:nvSpPr>
        <p:spPr>
          <a:xfrm>
            <a:off x="6731000" y="1968500"/>
            <a:ext cx="1397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0" rIns="91440" bIns="45720" rtlCol="0" anchor="t"/>
          <a:lstStyle/>
          <a:p>
            <a:pPr marL="0" marR="0" indent="0" algn="ctr">
              <a:lnSpc>
                <a:spcPct val="100000"/>
              </a:lnSpc>
              <a:spcBef>
                <a:spcPct val="0"/>
              </a:spcBef>
              <a:spcAft>
                <a:spcPct val="0"/>
              </a:spcAft>
              <a:buNone/>
            </a:pPr>
            <a:r>
              <a:rPr sz="1000" b="1" i="0" u="none">
                <a:solidFill>
                  <a:srgbClr val="F9FAFB"/>
                </a:solidFill>
                <a:latin typeface="+mn-lt"/>
              </a:rPr>
              <a:t>DATABASE</a:t>
            </a:r>
          </a:p>
          <a:p>
            <a:pPr marL="0" marR="0" indent="0" algn="ctr">
              <a:lnSpc>
                <a:spcPct val="100000"/>
              </a:lnSpc>
              <a:spcBef>
                <a:spcPct val="0"/>
              </a:spcBef>
              <a:spcAft>
                <a:spcPct val="0"/>
              </a:spcAft>
              <a:buNone/>
            </a:pPr>
            <a:r>
              <a:rPr sz="900" b="0" i="0" u="none">
                <a:solidFill>
                  <a:srgbClr val="9CA3AF"/>
                </a:solidFill>
                <a:latin typeface="+mn-lt"/>
              </a:rPr>
              <a:t>Execute against database</a:t>
            </a:r>
          </a:p>
        </p:txBody>
      </p:sp>
      <p:cxnSp>
        <p:nvCxnSpPr>
          <p:cNvPr id="67" name="New connector"/>
          <p:cNvCxnSpPr/>
          <p:nvPr/>
        </p:nvCxnSpPr>
        <p:spPr>
          <a:xfrm>
            <a:off x="2032000" y="1587500"/>
            <a:ext cx="1270000" cy="0"/>
          </a:xfrm>
          <a:prstGeom prst="straightConnector1">
            <a:avLst/>
          </a:prstGeom>
          <a:noFill/>
          <a:ln w="12700" cmpd="sng">
            <a:solidFill>
              <a:srgbClr val="9CA3AF"/>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68" name="New connector"/>
          <p:cNvCxnSpPr/>
          <p:nvPr/>
        </p:nvCxnSpPr>
        <p:spPr>
          <a:xfrm>
            <a:off x="3937000" y="1587500"/>
            <a:ext cx="1270000" cy="0"/>
          </a:xfrm>
          <a:prstGeom prst="straightConnector1">
            <a:avLst/>
          </a:prstGeom>
          <a:noFill/>
          <a:ln w="12700" cmpd="sng">
            <a:solidFill>
              <a:srgbClr val="9CA3AF"/>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New connector"/>
          <p:cNvCxnSpPr/>
          <p:nvPr/>
        </p:nvCxnSpPr>
        <p:spPr>
          <a:xfrm>
            <a:off x="5842000" y="1587500"/>
            <a:ext cx="1270000" cy="0"/>
          </a:xfrm>
          <a:prstGeom prst="straightConnector1">
            <a:avLst/>
          </a:prstGeom>
          <a:noFill/>
          <a:ln w="12700" cmpd="sng">
            <a:solidFill>
              <a:srgbClr val="9CA3AF"/>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70" name="New shape"/>
          <p:cNvSpPr/>
          <p:nvPr/>
        </p:nvSpPr>
        <p:spPr>
          <a:xfrm>
            <a:off x="381000" y="2730500"/>
            <a:ext cx="4000500" cy="2222500"/>
          </a:xfrm>
          <a:prstGeom prst="roundRect">
            <a:avLst>
              <a:gd name="adj" fmla="val 4000"/>
            </a:avLst>
          </a:prstGeom>
          <a:solidFill>
            <a:srgbClr val="1A2535"/>
          </a:solidFill>
          <a:ln w="12700">
            <a:solidFill>
              <a:srgbClr val="1E3A5F">
                <a:alpha val="10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2" name="New shape"/>
          <p:cNvSpPr/>
          <p:nvPr/>
        </p:nvSpPr>
        <p:spPr>
          <a:xfrm>
            <a:off x="508000" y="2857500"/>
            <a:ext cx="381000" cy="381000"/>
          </a:xfrm>
          <a:prstGeom prst="ellipse">
            <a:avLst/>
          </a:prstGeom>
          <a:noFill/>
          <a:ln w="19050">
            <a:solidFill>
              <a:srgbClr val="10B98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9" name="New picture"/>
          <p:cNvPicPr/>
          <p:nvPr>
            <p:custDataLst>
              <p:tags r:id="rId5"/>
            </p:custDataLst>
          </p:nvPr>
        </p:nvPicPr>
        <p:blipFill>
          <a:blip>
            <a:extLst>
              <a:ext uri="{96DAC541-7B7A-43D3-8B79-37D633B846F1}">
                <asvg:svgBlip xmlns:asvg="http://schemas.microsoft.com/office/drawing/2016/SVG/main" r:embed="rId12"/>
              </a:ext>
            </a:extLst>
          </a:blip>
          <a:stretch>
            <a:fillRect/>
          </a:stretch>
        </p:blipFill>
        <p:spPr>
          <a:xfrm>
            <a:off x="571500" y="2921000"/>
            <a:ext cx="254000" cy="254000"/>
          </a:xfrm>
          <a:prstGeom prst="rect">
            <a:avLst/>
          </a:prstGeom>
        </p:spPr>
      </p:pic>
      <p:sp>
        <p:nvSpPr>
          <p:cNvPr id="74" name="New shape"/>
          <p:cNvSpPr/>
          <p:nvPr/>
        </p:nvSpPr>
        <p:spPr>
          <a:xfrm>
            <a:off x="1016000" y="2921000"/>
            <a:ext cx="2540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91440" bIns="45720" rtlCol="0" anchor="t"/>
          <a:lstStyle/>
          <a:p>
            <a:pPr marL="0" marR="0" indent="0" algn="l">
              <a:lnSpc>
                <a:spcPct val="100000"/>
              </a:lnSpc>
              <a:spcBef>
                <a:spcPct val="0"/>
              </a:spcBef>
              <a:spcAft>
                <a:spcPct val="0"/>
              </a:spcAft>
              <a:buNone/>
            </a:pPr>
            <a:r>
              <a:rPr sz="1200" b="1" i="0" u="none">
                <a:solidFill>
                  <a:srgbClr val="10B981"/>
                </a:solidFill>
                <a:latin typeface="+mn-lt"/>
              </a:rPr>
              <a:t>KEY QUESTIONS</a:t>
            </a:r>
          </a:p>
        </p:txBody>
      </p:sp>
      <p:sp>
        <p:nvSpPr>
          <p:cNvPr id="75" name="New shape"/>
          <p:cNvSpPr/>
          <p:nvPr/>
        </p:nvSpPr>
        <p:spPr>
          <a:xfrm>
            <a:off x="1016000" y="3175000"/>
            <a:ext cx="3111500" cy="0"/>
          </a:xfrm>
          <a:prstGeom prst="line">
            <a:avLst/>
          </a:prstGeom>
          <a:noFill/>
          <a:ln w="12700" cmpd="sng">
            <a:solidFill>
              <a:srgbClr val="374151"/>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7" name="New shape"/>
          <p:cNvSpPr/>
          <p:nvPr/>
        </p:nvSpPr>
        <p:spPr>
          <a:xfrm>
            <a:off x="1016000" y="3302000"/>
            <a:ext cx="3111500" cy="571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45720" rtlCol="0" anchor="t"/>
          <a:lstStyle/>
          <a:p>
            <a:pPr marL="190500" marR="0" indent="-190500" algn="l">
              <a:lnSpc>
                <a:spcPct val="100000"/>
              </a:lnSpc>
              <a:spcBef>
                <a:spcPct val="0"/>
              </a:spcBef>
              <a:spcAft>
                <a:spcPct val="0"/>
              </a:spcAft>
              <a:buClr>
                <a:srgbClr val="10B981"/>
              </a:buClr>
              <a:buSzTx/>
              <a:buFont typeface="Wingdings"/>
              <a:buChar char="Ø"/>
            </a:pPr>
            <a:r>
              <a:rPr sz="1100" b="0" i="0" u="none">
                <a:solidFill>
                  <a:srgbClr val="F9FAFB"/>
                </a:solidFill>
                <a:latin typeface="+mn-lt"/>
              </a:rPr>
              <a:t>Is this the problem solver?</a:t>
            </a:r>
          </a:p>
        </p:txBody>
      </p:sp>
      <p:sp>
        <p:nvSpPr>
          <p:cNvPr id="76" name="New shape"/>
          <p:cNvSpPr/>
          <p:nvPr/>
        </p:nvSpPr>
        <p:spPr>
          <a:xfrm>
            <a:off x="1016000" y="3937000"/>
            <a:ext cx="3111500" cy="0"/>
          </a:xfrm>
          <a:prstGeom prst="line">
            <a:avLst/>
          </a:prstGeom>
          <a:noFill/>
          <a:ln w="9525" cmpd="sng">
            <a:solidFill>
              <a:srgbClr val="374151"/>
            </a:solidFill>
            <a:prstDash val="sys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8" name="New shape"/>
          <p:cNvSpPr/>
          <p:nvPr/>
        </p:nvSpPr>
        <p:spPr>
          <a:xfrm>
            <a:off x="1016000" y="4064000"/>
            <a:ext cx="3111500" cy="698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45720" rtlCol="0" anchor="t"/>
          <a:lstStyle/>
          <a:p>
            <a:pPr marL="190500" marR="0" indent="-190500" algn="l">
              <a:lnSpc>
                <a:spcPct val="100000"/>
              </a:lnSpc>
              <a:spcBef>
                <a:spcPct val="0"/>
              </a:spcBef>
              <a:spcAft>
                <a:spcPct val="0"/>
              </a:spcAft>
              <a:buClr>
                <a:srgbClr val="10B981"/>
              </a:buClr>
              <a:buSzTx/>
              <a:buFont typeface="Wingdings"/>
              <a:buChar char="Ø"/>
            </a:pPr>
            <a:r>
              <a:rPr sz="1100" b="0" i="0" u="none">
                <a:solidFill>
                  <a:srgbClr val="F9FAFB"/>
                </a:solidFill>
                <a:latin typeface="+mn-lt"/>
              </a:rPr>
              <a:t>Have we solved enterprise Text-to-SQL with just this?</a:t>
            </a:r>
          </a:p>
        </p:txBody>
      </p:sp>
      <p:sp>
        <p:nvSpPr>
          <p:cNvPr id="79" name="New shape"/>
          <p:cNvSpPr/>
          <p:nvPr/>
        </p:nvSpPr>
        <p:spPr>
          <a:xfrm>
            <a:off x="4572000" y="2857500"/>
            <a:ext cx="0" cy="1968500"/>
          </a:xfrm>
          <a:prstGeom prst="line">
            <a:avLst/>
          </a:prstGeom>
          <a:noFill/>
          <a:ln w="12700" cmpd="sng">
            <a:solidFill>
              <a:srgbClr val="374151"/>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1" name="New shape"/>
          <p:cNvSpPr/>
          <p:nvPr/>
        </p:nvSpPr>
        <p:spPr>
          <a:xfrm>
            <a:off x="4762500" y="2730500"/>
            <a:ext cx="4000500" cy="2222500"/>
          </a:xfrm>
          <a:prstGeom prst="roundRect">
            <a:avLst>
              <a:gd name="adj" fmla="val 4000"/>
            </a:avLst>
          </a:prstGeom>
          <a:solidFill>
            <a:srgbClr val="2A1520">
              <a:alpha val="100000"/>
            </a:srgbClr>
          </a:solidFill>
          <a:ln w="12700">
            <a:solidFill>
              <a:srgbClr val="1E3A5F">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0" name="New picture"/>
          <p:cNvPicPr/>
          <p:nvPr>
            <p:custDataLst>
              <p:tags r:id="rId6"/>
            </p:custDataLst>
          </p:nvPr>
        </p:nvPicPr>
        <p:blipFill>
          <a:blip>
            <a:extLst>
              <a:ext uri="{96DAC541-7B7A-43D3-8B79-37D633B846F1}">
                <asvg:svgBlip xmlns:asvg="http://schemas.microsoft.com/office/drawing/2016/SVG/main" r:embed="rId13"/>
              </a:ext>
            </a:extLst>
          </a:blip>
          <a:stretch>
            <a:fillRect/>
          </a:stretch>
        </p:blipFill>
        <p:spPr>
          <a:xfrm>
            <a:off x="4889500" y="2857500"/>
            <a:ext cx="381000" cy="381000"/>
          </a:xfrm>
          <a:prstGeom prst="rect">
            <a:avLst/>
          </a:prstGeom>
        </p:spPr>
      </p:pic>
      <p:sp>
        <p:nvSpPr>
          <p:cNvPr id="82" name="New shape"/>
          <p:cNvSpPr/>
          <p:nvPr/>
        </p:nvSpPr>
        <p:spPr>
          <a:xfrm>
            <a:off x="5397500" y="2921000"/>
            <a:ext cx="3302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45720" rtlCol="0" anchor="t"/>
          <a:lstStyle/>
          <a:p>
            <a:pPr marL="0" marR="0" indent="0" algn="l">
              <a:lnSpc>
                <a:spcPct val="100000"/>
              </a:lnSpc>
              <a:spcBef>
                <a:spcPct val="0"/>
              </a:spcBef>
              <a:spcAft>
                <a:spcPct val="0"/>
              </a:spcAft>
              <a:buNone/>
            </a:pPr>
            <a:r>
              <a:rPr sz="1200" b="1" i="0" u="none">
                <a:solidFill>
                  <a:srgbClr val="EF4444"/>
                </a:solidFill>
                <a:latin typeface="+mn-lt"/>
              </a:rPr>
              <a:t>THE REALITY CHECK / ISSUES</a:t>
            </a:r>
          </a:p>
        </p:txBody>
      </p:sp>
      <p:sp>
        <p:nvSpPr>
          <p:cNvPr id="83" name="New shape"/>
          <p:cNvSpPr/>
          <p:nvPr/>
        </p:nvSpPr>
        <p:spPr>
          <a:xfrm>
            <a:off x="5397500" y="3175000"/>
            <a:ext cx="3302000" cy="0"/>
          </a:xfrm>
          <a:prstGeom prst="line">
            <a:avLst/>
          </a:prstGeom>
          <a:noFill/>
          <a:ln w="12700" cmpd="sng">
            <a:solidFill>
              <a:srgbClr val="374151"/>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8" name="New shape"/>
          <p:cNvSpPr/>
          <p:nvPr/>
        </p:nvSpPr>
        <p:spPr>
          <a:xfrm>
            <a:off x="5397500" y="3238500"/>
            <a:ext cx="3302000" cy="381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45720" rtlCol="0" anchor="t"/>
          <a:lstStyle/>
          <a:p>
            <a:pPr marL="190500" marR="0" indent="-190500" algn="l">
              <a:lnSpc>
                <a:spcPct val="100000"/>
              </a:lnSpc>
              <a:spcBef>
                <a:spcPct val="0"/>
              </a:spcBef>
              <a:spcAft>
                <a:spcPct val="0"/>
              </a:spcAft>
              <a:buClr>
                <a:srgbClr val="EF4444"/>
              </a:buClr>
              <a:buSzTx/>
              <a:buFont typeface="Arial"/>
              <a:buChar char="•"/>
            </a:pPr>
            <a:r>
              <a:rPr sz="1000" b="0" i="0" u="none">
                <a:solidFill>
                  <a:srgbClr val="F9FAFB"/>
                </a:solidFill>
                <a:latin typeface="+mn-lt"/>
              </a:rPr>
              <a:t>Hallucinated table/column names.</a:t>
            </a:r>
          </a:p>
        </p:txBody>
      </p:sp>
      <p:sp>
        <p:nvSpPr>
          <p:cNvPr id="84" name="New shape"/>
          <p:cNvSpPr/>
          <p:nvPr/>
        </p:nvSpPr>
        <p:spPr>
          <a:xfrm>
            <a:off x="5397500" y="3619500"/>
            <a:ext cx="3302000" cy="0"/>
          </a:xfrm>
          <a:prstGeom prst="line">
            <a:avLst/>
          </a:prstGeom>
          <a:noFill/>
          <a:ln w="9525" cmpd="sng">
            <a:solidFill>
              <a:srgbClr val="374151"/>
            </a:solidFill>
            <a:prstDash val="sys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0" name="New shape"/>
          <p:cNvSpPr/>
          <p:nvPr/>
        </p:nvSpPr>
        <p:spPr>
          <a:xfrm>
            <a:off x="5397500" y="3683000"/>
            <a:ext cx="3302000" cy="444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45720" rtlCol="0" anchor="t"/>
          <a:lstStyle/>
          <a:p>
            <a:pPr marL="190500" marR="0" indent="-190500" algn="l">
              <a:lnSpc>
                <a:spcPct val="100000"/>
              </a:lnSpc>
              <a:spcBef>
                <a:spcPct val="0"/>
              </a:spcBef>
              <a:spcAft>
                <a:spcPct val="0"/>
              </a:spcAft>
              <a:buClr>
                <a:srgbClr val="EF4444"/>
              </a:buClr>
              <a:buSzTx/>
              <a:buFont typeface="Arial"/>
              <a:buChar char="•"/>
            </a:pPr>
            <a:r>
              <a:rPr sz="1000" b="0" i="0" u="none">
                <a:solidFill>
                  <a:srgbClr val="F9FAFB"/>
                </a:solidFill>
                <a:latin typeface="+mn-lt"/>
              </a:rPr>
              <a:t>Complex joins and business logic missing.</a:t>
            </a:r>
          </a:p>
        </p:txBody>
      </p:sp>
      <p:sp>
        <p:nvSpPr>
          <p:cNvPr id="85" name="New shape"/>
          <p:cNvSpPr/>
          <p:nvPr/>
        </p:nvSpPr>
        <p:spPr>
          <a:xfrm>
            <a:off x="5397500" y="4127500"/>
            <a:ext cx="3302000" cy="0"/>
          </a:xfrm>
          <a:prstGeom prst="line">
            <a:avLst/>
          </a:prstGeom>
          <a:noFill/>
          <a:ln w="9525" cmpd="sng">
            <a:solidFill>
              <a:srgbClr val="374151"/>
            </a:solidFill>
            <a:prstDash val="sys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2" name="New shape"/>
          <p:cNvSpPr/>
          <p:nvPr/>
        </p:nvSpPr>
        <p:spPr>
          <a:xfrm>
            <a:off x="5397500" y="4191000"/>
            <a:ext cx="3302000" cy="381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45720" rtlCol="0" anchor="t"/>
          <a:lstStyle/>
          <a:p>
            <a:pPr marL="190500" marR="0" indent="-190500" algn="l">
              <a:lnSpc>
                <a:spcPct val="100000"/>
              </a:lnSpc>
              <a:spcBef>
                <a:spcPct val="0"/>
              </a:spcBef>
              <a:spcAft>
                <a:spcPct val="0"/>
              </a:spcAft>
              <a:buClr>
                <a:srgbClr val="EF4444"/>
              </a:buClr>
              <a:buSzTx/>
              <a:buFont typeface="Arial"/>
              <a:buChar char="•"/>
            </a:pPr>
            <a:r>
              <a:rPr sz="1000" b="0" i="0" u="none">
                <a:solidFill>
                  <a:srgbClr val="F9FAFB"/>
                </a:solidFill>
                <a:latin typeface="+mn-lt"/>
              </a:rPr>
              <a:t>No self-correction loop.</a:t>
            </a:r>
          </a:p>
        </p:txBody>
      </p:sp>
      <p:sp>
        <p:nvSpPr>
          <p:cNvPr id="86" name="New shape"/>
          <p:cNvSpPr/>
          <p:nvPr/>
        </p:nvSpPr>
        <p:spPr>
          <a:xfrm>
            <a:off x="5397500" y="4572000"/>
            <a:ext cx="3302000" cy="0"/>
          </a:xfrm>
          <a:prstGeom prst="line">
            <a:avLst/>
          </a:prstGeom>
          <a:noFill/>
          <a:ln w="9525" cmpd="sng">
            <a:solidFill>
              <a:srgbClr val="374151"/>
            </a:solidFill>
            <a:prstDash val="sys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4" name="New shape"/>
          <p:cNvSpPr/>
          <p:nvPr/>
        </p:nvSpPr>
        <p:spPr>
          <a:xfrm>
            <a:off x="5397500" y="4635500"/>
            <a:ext cx="3302000" cy="444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91440" bIns="45720" rtlCol="0" anchor="t"/>
          <a:lstStyle/>
          <a:p>
            <a:pPr marL="190500" marR="0" indent="-190500" algn="l">
              <a:lnSpc>
                <a:spcPct val="100000"/>
              </a:lnSpc>
              <a:spcBef>
                <a:spcPct val="0"/>
              </a:spcBef>
              <a:spcAft>
                <a:spcPct val="0"/>
              </a:spcAft>
              <a:buClr>
                <a:srgbClr val="EF4444"/>
              </a:buClr>
              <a:buSzTx/>
              <a:buFont typeface="Arial"/>
              <a:buChar char="•"/>
            </a:pPr>
            <a:r>
              <a:rPr sz="1000" b="0" i="0" u="none">
                <a:solidFill>
                  <a:srgbClr val="F9FAFB"/>
                </a:solidFill>
                <a:latin typeface="+mn-lt"/>
              </a:rPr>
              <a:t>Performance drops on large, messy schemas.</a:t>
            </a:r>
          </a:p>
        </p:txBody>
      </p:sp>
      <p:pic>
        <p:nvPicPr>
          <p:cNvPr id="2" name="Picture 1">
            <a:extLst>
              <a:ext uri="{FF2B5EF4-FFF2-40B4-BE49-F238E27FC236}">
                <a16:creationId xmlns:a16="http://schemas.microsoft.com/office/drawing/2014/main" id="{6C83A0F1-0288-872D-71C9-06BE2E5BF80F}"/>
              </a:ext>
            </a:extLst>
          </p:cNvPr>
          <p:cNvPicPr>
            <a:picLocks noChangeAspect="1"/>
          </p:cNvPicPr>
          <p:nvPr/>
        </p:nvPicPr>
        <p:blipFill>
          <a:blip r:embed="rId14"/>
          <a:srcRect l="-928" t="29746" r="928" b="36645"/>
          <a:stretch>
            <a:fillRect/>
          </a:stretch>
        </p:blipFill>
        <p:spPr>
          <a:xfrm>
            <a:off x="8218575" y="45720"/>
            <a:ext cx="861058" cy="289396"/>
          </a:xfrm>
          <a:prstGeom prst="rect">
            <a:avLst/>
          </a:prstGeom>
        </p:spPr>
      </p:pic>
    </p:spTree>
    <p:extLst>
      <p:ext uri="{BB962C8B-B14F-4D97-AF65-F5344CB8AC3E}">
        <p14:creationId xmlns:p14="http://schemas.microsoft.com/office/powerpoint/2010/main" val="82898090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0F14"/>
        </a:solidFill>
        <a:effectLst/>
      </p:bgPr>
    </p:bg>
    <p:spTree>
      <p:nvGrpSpPr>
        <p:cNvPr id="1" name=""/>
        <p:cNvGrpSpPr/>
        <p:nvPr/>
      </p:nvGrpSpPr>
      <p:grpSpPr>
        <a:xfrm>
          <a:off x="0" y="0"/>
          <a:ext cx="0" cy="0"/>
          <a:chOff x="0" y="0"/>
          <a:chExt cx="0" cy="0"/>
        </a:xfrm>
      </p:grpSpPr>
      <p:sp>
        <p:nvSpPr>
          <p:cNvPr id="2" name="Shape 0"/>
          <p:cNvSpPr/>
          <p:nvPr/>
        </p:nvSpPr>
        <p:spPr>
          <a:xfrm>
            <a:off x="685800" y="0"/>
            <a:ext cx="0" cy="5143500"/>
          </a:xfrm>
          <a:prstGeom prst="line">
            <a:avLst/>
          </a:prstGeom>
          <a:noFill/>
          <a:ln w="3175">
            <a:solidFill>
              <a:srgbClr val="FFFFFF">
                <a:alpha val="4000"/>
              </a:srgbClr>
            </a:solidFill>
            <a:prstDash val="solid"/>
          </a:ln>
        </p:spPr>
        <p:txBody>
          <a:bodyPr/>
          <a:lstStyle/>
          <a:p>
            <a:pPr defTabSz="685800"/>
            <a:endParaRPr lang="en-US" sz="1350">
              <a:solidFill>
                <a:prstClr val="black"/>
              </a:solidFill>
              <a:latin typeface="Calibri" panose="020F0502020204030204"/>
            </a:endParaRPr>
          </a:p>
        </p:txBody>
      </p:sp>
      <p:sp>
        <p:nvSpPr>
          <p:cNvPr id="3" name="Shape 1"/>
          <p:cNvSpPr/>
          <p:nvPr/>
        </p:nvSpPr>
        <p:spPr>
          <a:xfrm>
            <a:off x="1371600" y="0"/>
            <a:ext cx="0" cy="5143500"/>
          </a:xfrm>
          <a:prstGeom prst="line">
            <a:avLst/>
          </a:prstGeom>
          <a:noFill/>
          <a:ln w="3175">
            <a:solidFill>
              <a:srgbClr val="FFFFFF">
                <a:alpha val="4000"/>
              </a:srgbClr>
            </a:solidFill>
            <a:prstDash val="solid"/>
          </a:ln>
        </p:spPr>
        <p:txBody>
          <a:bodyPr/>
          <a:lstStyle/>
          <a:p>
            <a:pPr defTabSz="685800"/>
            <a:endParaRPr lang="en-US" sz="1350">
              <a:solidFill>
                <a:prstClr val="black"/>
              </a:solidFill>
              <a:latin typeface="Calibri" panose="020F0502020204030204"/>
            </a:endParaRPr>
          </a:p>
        </p:txBody>
      </p:sp>
      <p:sp>
        <p:nvSpPr>
          <p:cNvPr id="4" name="Shape 2"/>
          <p:cNvSpPr/>
          <p:nvPr/>
        </p:nvSpPr>
        <p:spPr>
          <a:xfrm>
            <a:off x="2057400" y="0"/>
            <a:ext cx="0" cy="5143500"/>
          </a:xfrm>
          <a:prstGeom prst="line">
            <a:avLst/>
          </a:prstGeom>
          <a:noFill/>
          <a:ln w="3175">
            <a:solidFill>
              <a:srgbClr val="FFFFFF">
                <a:alpha val="4000"/>
              </a:srgbClr>
            </a:solidFill>
            <a:prstDash val="solid"/>
          </a:ln>
        </p:spPr>
        <p:txBody>
          <a:bodyPr/>
          <a:lstStyle/>
          <a:p>
            <a:pPr defTabSz="685800"/>
            <a:endParaRPr lang="en-US" sz="1350">
              <a:solidFill>
                <a:prstClr val="black"/>
              </a:solidFill>
              <a:latin typeface="Calibri" panose="020F0502020204030204"/>
            </a:endParaRPr>
          </a:p>
        </p:txBody>
      </p:sp>
      <p:sp>
        <p:nvSpPr>
          <p:cNvPr id="5" name="Shape 3"/>
          <p:cNvSpPr/>
          <p:nvPr/>
        </p:nvSpPr>
        <p:spPr>
          <a:xfrm>
            <a:off x="2743200" y="0"/>
            <a:ext cx="0" cy="5143500"/>
          </a:xfrm>
          <a:prstGeom prst="line">
            <a:avLst/>
          </a:prstGeom>
          <a:noFill/>
          <a:ln w="3175">
            <a:solidFill>
              <a:srgbClr val="FFFFFF">
                <a:alpha val="4000"/>
              </a:srgbClr>
            </a:solidFill>
            <a:prstDash val="solid"/>
          </a:ln>
        </p:spPr>
        <p:txBody>
          <a:bodyPr/>
          <a:lstStyle/>
          <a:p>
            <a:pPr defTabSz="685800"/>
            <a:endParaRPr lang="en-US" sz="1350">
              <a:solidFill>
                <a:prstClr val="black"/>
              </a:solidFill>
              <a:latin typeface="Calibri" panose="020F0502020204030204"/>
            </a:endParaRPr>
          </a:p>
        </p:txBody>
      </p:sp>
      <p:sp>
        <p:nvSpPr>
          <p:cNvPr id="6" name="Shape 4"/>
          <p:cNvSpPr/>
          <p:nvPr/>
        </p:nvSpPr>
        <p:spPr>
          <a:xfrm>
            <a:off x="3429000" y="0"/>
            <a:ext cx="0" cy="5143500"/>
          </a:xfrm>
          <a:prstGeom prst="line">
            <a:avLst/>
          </a:prstGeom>
          <a:noFill/>
          <a:ln w="3175">
            <a:solidFill>
              <a:srgbClr val="FFFFFF">
                <a:alpha val="4000"/>
              </a:srgbClr>
            </a:solidFill>
            <a:prstDash val="solid"/>
          </a:ln>
        </p:spPr>
        <p:txBody>
          <a:bodyPr/>
          <a:lstStyle/>
          <a:p>
            <a:pPr defTabSz="685800"/>
            <a:endParaRPr lang="en-US" sz="1350">
              <a:solidFill>
                <a:prstClr val="black"/>
              </a:solidFill>
              <a:latin typeface="Calibri" panose="020F0502020204030204"/>
            </a:endParaRPr>
          </a:p>
        </p:txBody>
      </p:sp>
      <p:sp>
        <p:nvSpPr>
          <p:cNvPr id="7" name="Shape 5"/>
          <p:cNvSpPr/>
          <p:nvPr/>
        </p:nvSpPr>
        <p:spPr>
          <a:xfrm>
            <a:off x="4114800" y="0"/>
            <a:ext cx="0" cy="5143500"/>
          </a:xfrm>
          <a:prstGeom prst="line">
            <a:avLst/>
          </a:prstGeom>
          <a:noFill/>
          <a:ln w="3175">
            <a:solidFill>
              <a:srgbClr val="FFFFFF">
                <a:alpha val="4000"/>
              </a:srgbClr>
            </a:solidFill>
            <a:prstDash val="solid"/>
          </a:ln>
        </p:spPr>
        <p:txBody>
          <a:bodyPr/>
          <a:lstStyle/>
          <a:p>
            <a:pPr defTabSz="685800"/>
            <a:endParaRPr lang="en-US" sz="1350">
              <a:solidFill>
                <a:prstClr val="black"/>
              </a:solidFill>
              <a:latin typeface="Calibri" panose="020F0502020204030204"/>
            </a:endParaRPr>
          </a:p>
        </p:txBody>
      </p:sp>
      <p:sp>
        <p:nvSpPr>
          <p:cNvPr id="8" name="Shape 6"/>
          <p:cNvSpPr/>
          <p:nvPr/>
        </p:nvSpPr>
        <p:spPr>
          <a:xfrm>
            <a:off x="4800600" y="0"/>
            <a:ext cx="0" cy="5143500"/>
          </a:xfrm>
          <a:prstGeom prst="line">
            <a:avLst/>
          </a:prstGeom>
          <a:noFill/>
          <a:ln w="3175">
            <a:solidFill>
              <a:srgbClr val="FFFFFF">
                <a:alpha val="4000"/>
              </a:srgbClr>
            </a:solidFill>
            <a:prstDash val="solid"/>
          </a:ln>
        </p:spPr>
        <p:txBody>
          <a:bodyPr/>
          <a:lstStyle/>
          <a:p>
            <a:pPr defTabSz="685800"/>
            <a:endParaRPr lang="en-US" sz="1350">
              <a:solidFill>
                <a:prstClr val="black"/>
              </a:solidFill>
              <a:latin typeface="Calibri" panose="020F0502020204030204"/>
            </a:endParaRPr>
          </a:p>
        </p:txBody>
      </p:sp>
      <p:sp>
        <p:nvSpPr>
          <p:cNvPr id="9" name="Shape 7"/>
          <p:cNvSpPr/>
          <p:nvPr/>
        </p:nvSpPr>
        <p:spPr>
          <a:xfrm>
            <a:off x="5486400" y="0"/>
            <a:ext cx="0" cy="5143500"/>
          </a:xfrm>
          <a:prstGeom prst="line">
            <a:avLst/>
          </a:prstGeom>
          <a:noFill/>
          <a:ln w="3175">
            <a:solidFill>
              <a:srgbClr val="FFFFFF">
                <a:alpha val="4000"/>
              </a:srgbClr>
            </a:solidFill>
            <a:prstDash val="solid"/>
          </a:ln>
        </p:spPr>
        <p:txBody>
          <a:bodyPr/>
          <a:lstStyle/>
          <a:p>
            <a:pPr defTabSz="685800"/>
            <a:endParaRPr lang="en-US" sz="1350">
              <a:solidFill>
                <a:prstClr val="black"/>
              </a:solidFill>
              <a:latin typeface="Calibri" panose="020F0502020204030204"/>
            </a:endParaRPr>
          </a:p>
        </p:txBody>
      </p:sp>
      <p:sp>
        <p:nvSpPr>
          <p:cNvPr id="10" name="Shape 8"/>
          <p:cNvSpPr/>
          <p:nvPr/>
        </p:nvSpPr>
        <p:spPr>
          <a:xfrm>
            <a:off x="6172200" y="0"/>
            <a:ext cx="0" cy="5143500"/>
          </a:xfrm>
          <a:prstGeom prst="line">
            <a:avLst/>
          </a:prstGeom>
          <a:noFill/>
          <a:ln w="3175">
            <a:solidFill>
              <a:srgbClr val="FFFFFF">
                <a:alpha val="4000"/>
              </a:srgbClr>
            </a:solidFill>
            <a:prstDash val="solid"/>
          </a:ln>
        </p:spPr>
        <p:txBody>
          <a:bodyPr/>
          <a:lstStyle/>
          <a:p>
            <a:pPr defTabSz="685800"/>
            <a:endParaRPr lang="en-US" sz="1350">
              <a:solidFill>
                <a:prstClr val="black"/>
              </a:solidFill>
              <a:latin typeface="Calibri" panose="020F0502020204030204"/>
            </a:endParaRPr>
          </a:p>
        </p:txBody>
      </p:sp>
      <p:sp>
        <p:nvSpPr>
          <p:cNvPr id="11" name="Shape 9"/>
          <p:cNvSpPr/>
          <p:nvPr/>
        </p:nvSpPr>
        <p:spPr>
          <a:xfrm>
            <a:off x="6858000" y="0"/>
            <a:ext cx="0" cy="5143500"/>
          </a:xfrm>
          <a:prstGeom prst="line">
            <a:avLst/>
          </a:prstGeom>
          <a:noFill/>
          <a:ln w="3175">
            <a:solidFill>
              <a:srgbClr val="FFFFFF">
                <a:alpha val="4000"/>
              </a:srgbClr>
            </a:solidFill>
            <a:prstDash val="solid"/>
          </a:ln>
        </p:spPr>
        <p:txBody>
          <a:bodyPr/>
          <a:lstStyle/>
          <a:p>
            <a:pPr defTabSz="685800"/>
            <a:endParaRPr lang="en-US" sz="1350">
              <a:solidFill>
                <a:prstClr val="black"/>
              </a:solidFill>
              <a:latin typeface="Calibri" panose="020F0502020204030204"/>
            </a:endParaRPr>
          </a:p>
        </p:txBody>
      </p:sp>
      <p:sp>
        <p:nvSpPr>
          <p:cNvPr id="12" name="Shape 10"/>
          <p:cNvSpPr/>
          <p:nvPr/>
        </p:nvSpPr>
        <p:spPr>
          <a:xfrm>
            <a:off x="7543800" y="0"/>
            <a:ext cx="0" cy="5143500"/>
          </a:xfrm>
          <a:prstGeom prst="line">
            <a:avLst/>
          </a:prstGeom>
          <a:noFill/>
          <a:ln w="3175">
            <a:solidFill>
              <a:srgbClr val="FFFFFF">
                <a:alpha val="4000"/>
              </a:srgbClr>
            </a:solidFill>
            <a:prstDash val="solid"/>
          </a:ln>
        </p:spPr>
        <p:txBody>
          <a:bodyPr/>
          <a:lstStyle/>
          <a:p>
            <a:pPr defTabSz="685800"/>
            <a:endParaRPr lang="en-US" sz="1350">
              <a:solidFill>
                <a:prstClr val="black"/>
              </a:solidFill>
              <a:latin typeface="Calibri" panose="020F0502020204030204"/>
            </a:endParaRPr>
          </a:p>
        </p:txBody>
      </p:sp>
      <p:sp>
        <p:nvSpPr>
          <p:cNvPr id="13" name="Shape 11"/>
          <p:cNvSpPr/>
          <p:nvPr/>
        </p:nvSpPr>
        <p:spPr>
          <a:xfrm>
            <a:off x="8229600" y="0"/>
            <a:ext cx="0" cy="5143500"/>
          </a:xfrm>
          <a:prstGeom prst="line">
            <a:avLst/>
          </a:prstGeom>
          <a:noFill/>
          <a:ln w="3175">
            <a:solidFill>
              <a:srgbClr val="FFFFFF">
                <a:alpha val="4000"/>
              </a:srgbClr>
            </a:solidFill>
            <a:prstDash val="solid"/>
          </a:ln>
        </p:spPr>
        <p:txBody>
          <a:bodyPr/>
          <a:lstStyle/>
          <a:p>
            <a:pPr defTabSz="685800"/>
            <a:endParaRPr lang="en-US" sz="1350">
              <a:solidFill>
                <a:prstClr val="black"/>
              </a:solidFill>
              <a:latin typeface="Calibri" panose="020F0502020204030204"/>
            </a:endParaRPr>
          </a:p>
        </p:txBody>
      </p:sp>
      <p:sp>
        <p:nvSpPr>
          <p:cNvPr id="14" name="Shape 12"/>
          <p:cNvSpPr/>
          <p:nvPr/>
        </p:nvSpPr>
        <p:spPr>
          <a:xfrm>
            <a:off x="8915400" y="0"/>
            <a:ext cx="0" cy="5143500"/>
          </a:xfrm>
          <a:prstGeom prst="line">
            <a:avLst/>
          </a:prstGeom>
          <a:noFill/>
          <a:ln w="3175">
            <a:solidFill>
              <a:srgbClr val="FFFFFF">
                <a:alpha val="4000"/>
              </a:srgbClr>
            </a:solidFill>
            <a:prstDash val="solid"/>
          </a:ln>
        </p:spPr>
        <p:txBody>
          <a:bodyPr/>
          <a:lstStyle/>
          <a:p>
            <a:pPr defTabSz="685800"/>
            <a:endParaRPr lang="en-US" sz="1350">
              <a:solidFill>
                <a:prstClr val="black"/>
              </a:solidFill>
              <a:latin typeface="Calibri" panose="020F0502020204030204"/>
            </a:endParaRPr>
          </a:p>
        </p:txBody>
      </p:sp>
      <p:sp>
        <p:nvSpPr>
          <p:cNvPr id="15" name="Shape 13"/>
          <p:cNvSpPr/>
          <p:nvPr/>
        </p:nvSpPr>
        <p:spPr>
          <a:xfrm>
            <a:off x="342900" y="246888"/>
            <a:ext cx="1028700" cy="192024"/>
          </a:xfrm>
          <a:prstGeom prst="rect">
            <a:avLst/>
          </a:prstGeom>
          <a:solidFill>
            <a:srgbClr val="F87171"/>
          </a:solidFill>
          <a:ln w="12700">
            <a:solidFill>
              <a:srgbClr val="F87171"/>
            </a:solidFill>
            <a:prstDash val="solid"/>
          </a:ln>
        </p:spPr>
        <p:txBody>
          <a:bodyPr/>
          <a:lstStyle/>
          <a:p>
            <a:pPr defTabSz="685800"/>
            <a:endParaRPr lang="en-US" sz="1350">
              <a:solidFill>
                <a:prstClr val="black"/>
              </a:solidFill>
              <a:latin typeface="Calibri" panose="020F0502020204030204"/>
            </a:endParaRPr>
          </a:p>
        </p:txBody>
      </p:sp>
      <p:sp>
        <p:nvSpPr>
          <p:cNvPr id="16" name="Text 14"/>
          <p:cNvSpPr/>
          <p:nvPr/>
        </p:nvSpPr>
        <p:spPr>
          <a:xfrm>
            <a:off x="342900" y="246888"/>
            <a:ext cx="1028700" cy="192024"/>
          </a:xfrm>
          <a:prstGeom prst="rect">
            <a:avLst/>
          </a:prstGeom>
          <a:noFill/>
          <a:ln/>
        </p:spPr>
        <p:txBody>
          <a:bodyPr wrap="square" lIns="0" tIns="0" rIns="0" bIns="0" rtlCol="0" anchor="ctr"/>
          <a:lstStyle/>
          <a:p>
            <a:pPr algn="ctr" defTabSz="685800"/>
            <a:r>
              <a:rPr lang="en-US" sz="563" b="1" kern="0" spc="113" dirty="0">
                <a:solidFill>
                  <a:srgbClr val="0D0F14"/>
                </a:solidFill>
                <a:latin typeface="Calibri" panose="020F0502020204030204"/>
              </a:rPr>
              <a:t>THE GAP</a:t>
            </a:r>
            <a:endParaRPr lang="en-US" sz="563" dirty="0">
              <a:solidFill>
                <a:prstClr val="black"/>
              </a:solidFill>
              <a:latin typeface="Calibri" panose="020F0502020204030204"/>
            </a:endParaRPr>
          </a:p>
        </p:txBody>
      </p:sp>
      <p:sp>
        <p:nvSpPr>
          <p:cNvPr id="17" name="Text 15"/>
          <p:cNvSpPr/>
          <p:nvPr/>
        </p:nvSpPr>
        <p:spPr>
          <a:xfrm>
            <a:off x="8641080" y="226314"/>
            <a:ext cx="342900" cy="205740"/>
          </a:xfrm>
          <a:prstGeom prst="rect">
            <a:avLst/>
          </a:prstGeom>
          <a:noFill/>
          <a:ln/>
        </p:spPr>
        <p:txBody>
          <a:bodyPr wrap="square" rtlCol="0" anchor="ctr"/>
          <a:lstStyle/>
          <a:p>
            <a:pPr algn="r" defTabSz="685800"/>
            <a:r>
              <a:rPr lang="en-US" sz="825" dirty="0">
                <a:solidFill>
                  <a:srgbClr val="5A6070"/>
                </a:solidFill>
                <a:latin typeface="Calibri" panose="020F0502020204030204"/>
              </a:rPr>
              <a:t>03</a:t>
            </a:r>
            <a:endParaRPr lang="en-US" sz="825" dirty="0">
              <a:solidFill>
                <a:prstClr val="black"/>
              </a:solidFill>
              <a:latin typeface="Calibri" panose="020F0502020204030204"/>
            </a:endParaRPr>
          </a:p>
        </p:txBody>
      </p:sp>
      <p:sp>
        <p:nvSpPr>
          <p:cNvPr id="18" name="Text 16"/>
          <p:cNvSpPr/>
          <p:nvPr/>
        </p:nvSpPr>
        <p:spPr>
          <a:xfrm>
            <a:off x="342900" y="521208"/>
            <a:ext cx="8366760" cy="493776"/>
          </a:xfrm>
          <a:prstGeom prst="rect">
            <a:avLst/>
          </a:prstGeom>
          <a:noFill/>
          <a:ln/>
        </p:spPr>
        <p:txBody>
          <a:bodyPr wrap="square" rtlCol="0" anchor="ctr"/>
          <a:lstStyle/>
          <a:p>
            <a:pPr defTabSz="685800"/>
            <a:r>
              <a:rPr lang="en-US" sz="2100" b="1" dirty="0">
                <a:solidFill>
                  <a:srgbClr val="F0EDE6"/>
                </a:solidFill>
                <a:latin typeface="Georgia" pitchFamily="34" charset="0"/>
                <a:ea typeface="Georgia" pitchFamily="34" charset="-122"/>
                <a:cs typeface="Georgia" pitchFamily="34" charset="-120"/>
              </a:rPr>
              <a:t>Zero-shot gets you started.</a:t>
            </a:r>
            <a:r>
              <a:rPr lang="en-US" sz="2100" b="1" dirty="0">
                <a:solidFill>
                  <a:srgbClr val="5A6070"/>
                </a:solidFill>
                <a:latin typeface="Georgia" pitchFamily="34" charset="0"/>
                <a:ea typeface="Georgia" pitchFamily="34" charset="-122"/>
                <a:cs typeface="Georgia" pitchFamily="34" charset="-120"/>
              </a:rPr>
              <a:t>  It doesn't get you </a:t>
            </a:r>
            <a:r>
              <a:rPr lang="en-US" sz="2100" b="1" dirty="0">
                <a:solidFill>
                  <a:srgbClr val="F59E0B"/>
                </a:solidFill>
                <a:latin typeface="Georgia" pitchFamily="34" charset="0"/>
                <a:ea typeface="Georgia" pitchFamily="34" charset="-122"/>
                <a:cs typeface="Georgia" pitchFamily="34" charset="-120"/>
              </a:rPr>
              <a:t>there.</a:t>
            </a:r>
            <a:endParaRPr lang="en-US" sz="2100" dirty="0">
              <a:solidFill>
                <a:prstClr val="black"/>
              </a:solidFill>
              <a:latin typeface="Calibri" panose="020F0502020204030204"/>
            </a:endParaRPr>
          </a:p>
        </p:txBody>
      </p:sp>
      <p:sp>
        <p:nvSpPr>
          <p:cNvPr id="19" name="Text 17"/>
          <p:cNvSpPr/>
          <p:nvPr/>
        </p:nvSpPr>
        <p:spPr>
          <a:xfrm>
            <a:off x="342900" y="1014984"/>
            <a:ext cx="6515100" cy="260604"/>
          </a:xfrm>
          <a:prstGeom prst="rect">
            <a:avLst/>
          </a:prstGeom>
          <a:noFill/>
          <a:ln/>
        </p:spPr>
        <p:txBody>
          <a:bodyPr wrap="square" rtlCol="0" anchor="ctr"/>
          <a:lstStyle/>
          <a:p>
            <a:pPr defTabSz="685800"/>
            <a:r>
              <a:rPr lang="en-US" sz="788" dirty="0">
                <a:solidFill>
                  <a:schemeClr val="bg1"/>
                </a:solidFill>
                <a:latin typeface="Calibri" pitchFamily="34" charset="0"/>
                <a:ea typeface="Calibri" pitchFamily="34" charset="-122"/>
                <a:cs typeface="Calibri" pitchFamily="34" charset="-120"/>
              </a:rPr>
              <a:t>Between a natural language question and a trusted SQL result, six decisions must be made explicitly. Zero-shot makes none of them.</a:t>
            </a:r>
            <a:endParaRPr lang="en-US" sz="788" dirty="0">
              <a:solidFill>
                <a:schemeClr val="bg1"/>
              </a:solidFill>
              <a:latin typeface="Calibri" panose="020F0502020204030204"/>
            </a:endParaRPr>
          </a:p>
        </p:txBody>
      </p:sp>
      <p:sp>
        <p:nvSpPr>
          <p:cNvPr id="20" name="Shape 18"/>
          <p:cNvSpPr/>
          <p:nvPr/>
        </p:nvSpPr>
        <p:spPr>
          <a:xfrm>
            <a:off x="342900" y="1344168"/>
            <a:ext cx="3429000" cy="17145"/>
          </a:xfrm>
          <a:prstGeom prst="rect">
            <a:avLst/>
          </a:prstGeom>
          <a:solidFill>
            <a:srgbClr val="F59E0B">
              <a:alpha val="55000"/>
            </a:srgbClr>
          </a:solidFill>
          <a:ln w="12700">
            <a:solidFill>
              <a:srgbClr val="F59E0B">
                <a:alpha val="55000"/>
              </a:srgbClr>
            </a:solidFill>
            <a:prstDash val="solid"/>
          </a:ln>
        </p:spPr>
        <p:txBody>
          <a:bodyPr/>
          <a:lstStyle/>
          <a:p>
            <a:pPr defTabSz="685800"/>
            <a:endParaRPr lang="en-US" sz="1350">
              <a:solidFill>
                <a:prstClr val="black"/>
              </a:solidFill>
              <a:latin typeface="Calibri" panose="020F0502020204030204"/>
            </a:endParaRPr>
          </a:p>
        </p:txBody>
      </p:sp>
      <p:sp>
        <p:nvSpPr>
          <p:cNvPr id="21" name="Shape 19"/>
          <p:cNvSpPr/>
          <p:nvPr/>
        </p:nvSpPr>
        <p:spPr>
          <a:xfrm>
            <a:off x="342900" y="1453896"/>
            <a:ext cx="2674620" cy="1275588"/>
          </a:xfrm>
          <a:prstGeom prst="rect">
            <a:avLst/>
          </a:prstGeom>
          <a:solidFill>
            <a:srgbClr val="1A1E29"/>
          </a:solidFill>
          <a:ln w="6350">
            <a:solidFill>
              <a:srgbClr val="FFFFFF">
                <a:alpha val="8000"/>
              </a:srgbClr>
            </a:solidFill>
            <a:prstDash val="solid"/>
          </a:ln>
          <a:effectLst>
            <a:outerShdw blurRad="152400" dist="38100" dir="8100000" algn="bl" rotWithShape="0">
              <a:srgbClr val="000000">
                <a:alpha val="30000"/>
              </a:srgbClr>
            </a:outerShdw>
          </a:effectLst>
        </p:spPr>
        <p:txBody>
          <a:bodyPr/>
          <a:lstStyle/>
          <a:p>
            <a:pPr defTabSz="685800"/>
            <a:endParaRPr lang="en-US" sz="1350">
              <a:solidFill>
                <a:prstClr val="black"/>
              </a:solidFill>
              <a:latin typeface="Calibri" panose="020F0502020204030204"/>
            </a:endParaRPr>
          </a:p>
        </p:txBody>
      </p:sp>
      <p:sp>
        <p:nvSpPr>
          <p:cNvPr id="22" name="Shape 20"/>
          <p:cNvSpPr/>
          <p:nvPr/>
        </p:nvSpPr>
        <p:spPr>
          <a:xfrm>
            <a:off x="342900" y="1453896"/>
            <a:ext cx="34290" cy="1275588"/>
          </a:xfrm>
          <a:prstGeom prst="rect">
            <a:avLst/>
          </a:prstGeom>
          <a:solidFill>
            <a:srgbClr val="60A5FA"/>
          </a:solidFill>
          <a:ln w="12700">
            <a:solidFill>
              <a:srgbClr val="60A5FA"/>
            </a:solidFill>
            <a:prstDash val="solid"/>
          </a:ln>
        </p:spPr>
        <p:txBody>
          <a:bodyPr/>
          <a:lstStyle/>
          <a:p>
            <a:pPr defTabSz="685800"/>
            <a:endParaRPr lang="en-US" sz="1350">
              <a:solidFill>
                <a:prstClr val="black"/>
              </a:solidFill>
              <a:latin typeface="Calibri" panose="020F0502020204030204"/>
            </a:endParaRPr>
          </a:p>
        </p:txBody>
      </p:sp>
      <p:sp>
        <p:nvSpPr>
          <p:cNvPr id="23" name="Shape 21"/>
          <p:cNvSpPr/>
          <p:nvPr/>
        </p:nvSpPr>
        <p:spPr>
          <a:xfrm>
            <a:off x="452628" y="1577340"/>
            <a:ext cx="260604" cy="178308"/>
          </a:xfrm>
          <a:prstGeom prst="rect">
            <a:avLst/>
          </a:prstGeom>
          <a:solidFill>
            <a:srgbClr val="60A5FA">
              <a:alpha val="18000"/>
            </a:srgbClr>
          </a:solidFill>
          <a:ln w="5080">
            <a:solidFill>
              <a:srgbClr val="60A5FA">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24" name="Text 22"/>
          <p:cNvSpPr/>
          <p:nvPr/>
        </p:nvSpPr>
        <p:spPr>
          <a:xfrm>
            <a:off x="452628" y="1577340"/>
            <a:ext cx="260604" cy="178308"/>
          </a:xfrm>
          <a:prstGeom prst="rect">
            <a:avLst/>
          </a:prstGeom>
          <a:noFill/>
          <a:ln/>
        </p:spPr>
        <p:txBody>
          <a:bodyPr wrap="square" lIns="0" tIns="0" rIns="0" bIns="0" rtlCol="0" anchor="ctr"/>
          <a:lstStyle/>
          <a:p>
            <a:pPr algn="ctr" defTabSz="685800"/>
            <a:r>
              <a:rPr lang="en-US" sz="600" b="1" kern="0" spc="75" dirty="0">
                <a:solidFill>
                  <a:srgbClr val="60A5FA"/>
                </a:solidFill>
                <a:latin typeface="Calibri" panose="020F0502020204030204"/>
              </a:rPr>
              <a:t>01</a:t>
            </a:r>
            <a:endParaRPr lang="en-US" sz="600" dirty="0">
              <a:solidFill>
                <a:prstClr val="black"/>
              </a:solidFill>
              <a:latin typeface="Calibri" panose="020F0502020204030204"/>
            </a:endParaRPr>
          </a:p>
        </p:txBody>
      </p:sp>
      <p:sp>
        <p:nvSpPr>
          <p:cNvPr id="25" name="Shape 23"/>
          <p:cNvSpPr/>
          <p:nvPr/>
        </p:nvSpPr>
        <p:spPr>
          <a:xfrm>
            <a:off x="795528" y="1563624"/>
            <a:ext cx="205740" cy="205740"/>
          </a:xfrm>
          <a:prstGeom prst="ellipse">
            <a:avLst/>
          </a:prstGeom>
          <a:solidFill>
            <a:srgbClr val="60A5FA">
              <a:alpha val="14000"/>
            </a:srgbClr>
          </a:solidFill>
          <a:ln w="5080">
            <a:solidFill>
              <a:srgbClr val="60A5FA">
                <a:alpha val="35000"/>
              </a:srgbClr>
            </a:solidFill>
            <a:prstDash val="solid"/>
          </a:ln>
        </p:spPr>
        <p:txBody>
          <a:bodyPr/>
          <a:lstStyle/>
          <a:p>
            <a:pPr defTabSz="685800"/>
            <a:endParaRPr lang="en-US" sz="1350">
              <a:solidFill>
                <a:prstClr val="black"/>
              </a:solidFill>
              <a:latin typeface="Calibri" panose="020F0502020204030204"/>
            </a:endParaRPr>
          </a:p>
        </p:txBody>
      </p:sp>
      <p:pic>
        <p:nvPicPr>
          <p:cNvPr id="26" name="Image 0" descr="preencoded.png"/>
          <p:cNvPicPr>
            <a:picLocks noChangeAspect="1"/>
          </p:cNvPicPr>
          <p:nvPr/>
        </p:nvPicPr>
        <p:blipFill>
          <a:blip r:embed="rId3"/>
          <a:stretch>
            <a:fillRect/>
          </a:stretch>
        </p:blipFill>
        <p:spPr>
          <a:xfrm>
            <a:off x="816102" y="1584198"/>
            <a:ext cx="164592" cy="164592"/>
          </a:xfrm>
          <a:prstGeom prst="rect">
            <a:avLst/>
          </a:prstGeom>
        </p:spPr>
      </p:pic>
      <p:sp>
        <p:nvSpPr>
          <p:cNvPr id="27" name="Text 24"/>
          <p:cNvSpPr/>
          <p:nvPr/>
        </p:nvSpPr>
        <p:spPr>
          <a:xfrm>
            <a:off x="425196" y="1810512"/>
            <a:ext cx="2537460" cy="219456"/>
          </a:xfrm>
          <a:prstGeom prst="rect">
            <a:avLst/>
          </a:prstGeom>
          <a:noFill/>
          <a:ln/>
        </p:spPr>
        <p:txBody>
          <a:bodyPr wrap="square" lIns="0" tIns="0" rIns="0" bIns="0" rtlCol="0" anchor="ctr"/>
          <a:lstStyle/>
          <a:p>
            <a:pPr defTabSz="685800"/>
            <a:r>
              <a:rPr lang="en-US" sz="900" b="1" dirty="0">
                <a:solidFill>
                  <a:srgbClr val="F0EDE6"/>
                </a:solidFill>
                <a:latin typeface="Calibri" pitchFamily="34" charset="0"/>
                <a:ea typeface="Calibri" pitchFamily="34" charset="-122"/>
                <a:cs typeface="Calibri" pitchFamily="34" charset="-120"/>
              </a:rPr>
              <a:t>Schema Grounding</a:t>
            </a:r>
            <a:endParaRPr lang="en-US" sz="900" dirty="0">
              <a:solidFill>
                <a:prstClr val="black"/>
              </a:solidFill>
              <a:latin typeface="Calibri" panose="020F0502020204030204"/>
            </a:endParaRPr>
          </a:p>
        </p:txBody>
      </p:sp>
      <p:sp>
        <p:nvSpPr>
          <p:cNvPr id="28" name="Shape 25"/>
          <p:cNvSpPr/>
          <p:nvPr/>
        </p:nvSpPr>
        <p:spPr>
          <a:xfrm>
            <a:off x="425196" y="2057400"/>
            <a:ext cx="2468880" cy="0"/>
          </a:xfrm>
          <a:prstGeom prst="line">
            <a:avLst/>
          </a:prstGeom>
          <a:noFill/>
          <a:ln w="5080">
            <a:solidFill>
              <a:srgbClr val="FFFFFF">
                <a:alpha val="10000"/>
              </a:srgbClr>
            </a:solidFill>
            <a:prstDash val="solid"/>
          </a:ln>
        </p:spPr>
        <p:txBody>
          <a:bodyPr/>
          <a:lstStyle/>
          <a:p>
            <a:pPr defTabSz="685800"/>
            <a:endParaRPr lang="en-US" sz="1350">
              <a:solidFill>
                <a:prstClr val="black"/>
              </a:solidFill>
              <a:latin typeface="Calibri" panose="020F0502020204030204"/>
            </a:endParaRPr>
          </a:p>
        </p:txBody>
      </p:sp>
      <p:sp>
        <p:nvSpPr>
          <p:cNvPr id="29" name="Text 26"/>
          <p:cNvSpPr/>
          <p:nvPr/>
        </p:nvSpPr>
        <p:spPr>
          <a:xfrm>
            <a:off x="425196" y="2098548"/>
            <a:ext cx="2523744" cy="548640"/>
          </a:xfrm>
          <a:prstGeom prst="rect">
            <a:avLst/>
          </a:prstGeom>
          <a:noFill/>
          <a:ln/>
        </p:spPr>
        <p:txBody>
          <a:bodyPr wrap="square" rtlCol="0" anchor="t"/>
          <a:lstStyle/>
          <a:p>
            <a:pPr defTabSz="685800">
              <a:lnSpc>
                <a:spcPct val="140000"/>
              </a:lnSpc>
            </a:pPr>
            <a:r>
              <a:rPr lang="en-US" sz="713" dirty="0">
                <a:solidFill>
                  <a:schemeClr val="bg1"/>
                </a:solidFill>
                <a:latin typeface="Calibri" pitchFamily="34" charset="0"/>
                <a:ea typeface="Calibri" pitchFamily="34" charset="-122"/>
                <a:cs typeface="Calibri" pitchFamily="34" charset="-120"/>
              </a:rPr>
              <a:t>Map every query concept to an exact TABLE.COLUMN. Without this, the LLM hallucinates column names that don't exist.</a:t>
            </a:r>
            <a:endParaRPr lang="en-US" sz="713" dirty="0">
              <a:solidFill>
                <a:schemeClr val="bg1"/>
              </a:solidFill>
              <a:latin typeface="Calibri" panose="020F0502020204030204"/>
            </a:endParaRPr>
          </a:p>
        </p:txBody>
      </p:sp>
      <p:sp>
        <p:nvSpPr>
          <p:cNvPr id="30" name="Shape 27"/>
          <p:cNvSpPr/>
          <p:nvPr/>
        </p:nvSpPr>
        <p:spPr>
          <a:xfrm>
            <a:off x="3209544" y="1453896"/>
            <a:ext cx="2674620" cy="1275588"/>
          </a:xfrm>
          <a:prstGeom prst="rect">
            <a:avLst/>
          </a:prstGeom>
          <a:solidFill>
            <a:srgbClr val="1A1E29"/>
          </a:solidFill>
          <a:ln w="6350">
            <a:solidFill>
              <a:srgbClr val="FFFFFF">
                <a:alpha val="8000"/>
              </a:srgbClr>
            </a:solidFill>
            <a:prstDash val="solid"/>
          </a:ln>
          <a:effectLst>
            <a:outerShdw blurRad="152400" dist="38100" dir="8100000" algn="bl" rotWithShape="0">
              <a:srgbClr val="000000">
                <a:alpha val="30000"/>
              </a:srgbClr>
            </a:outerShdw>
          </a:effectLst>
        </p:spPr>
        <p:txBody>
          <a:bodyPr/>
          <a:lstStyle/>
          <a:p>
            <a:pPr defTabSz="685800"/>
            <a:endParaRPr lang="en-US" sz="1350">
              <a:solidFill>
                <a:prstClr val="black"/>
              </a:solidFill>
              <a:latin typeface="Calibri" panose="020F0502020204030204"/>
            </a:endParaRPr>
          </a:p>
        </p:txBody>
      </p:sp>
      <p:sp>
        <p:nvSpPr>
          <p:cNvPr id="31" name="Shape 28"/>
          <p:cNvSpPr/>
          <p:nvPr/>
        </p:nvSpPr>
        <p:spPr>
          <a:xfrm>
            <a:off x="3209544" y="1453896"/>
            <a:ext cx="34290" cy="1275588"/>
          </a:xfrm>
          <a:prstGeom prst="rect">
            <a:avLst/>
          </a:prstGeom>
          <a:solidFill>
            <a:srgbClr val="4ADE80"/>
          </a:solidFill>
          <a:ln w="12700">
            <a:solidFill>
              <a:srgbClr val="4ADE80"/>
            </a:solidFill>
            <a:prstDash val="solid"/>
          </a:ln>
        </p:spPr>
        <p:txBody>
          <a:bodyPr/>
          <a:lstStyle/>
          <a:p>
            <a:pPr defTabSz="685800"/>
            <a:endParaRPr lang="en-US" sz="1350">
              <a:solidFill>
                <a:prstClr val="black"/>
              </a:solidFill>
              <a:latin typeface="Calibri" panose="020F0502020204030204"/>
            </a:endParaRPr>
          </a:p>
        </p:txBody>
      </p:sp>
      <p:sp>
        <p:nvSpPr>
          <p:cNvPr id="32" name="Shape 29"/>
          <p:cNvSpPr/>
          <p:nvPr/>
        </p:nvSpPr>
        <p:spPr>
          <a:xfrm>
            <a:off x="3319272" y="1577340"/>
            <a:ext cx="260604" cy="178308"/>
          </a:xfrm>
          <a:prstGeom prst="rect">
            <a:avLst/>
          </a:prstGeom>
          <a:solidFill>
            <a:srgbClr val="4ADE80">
              <a:alpha val="18000"/>
            </a:srgbClr>
          </a:solidFill>
          <a:ln w="5080">
            <a:solidFill>
              <a:srgbClr val="4ADE80">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33" name="Text 30"/>
          <p:cNvSpPr/>
          <p:nvPr/>
        </p:nvSpPr>
        <p:spPr>
          <a:xfrm>
            <a:off x="3319272" y="1577340"/>
            <a:ext cx="260604" cy="178308"/>
          </a:xfrm>
          <a:prstGeom prst="rect">
            <a:avLst/>
          </a:prstGeom>
          <a:noFill/>
          <a:ln/>
        </p:spPr>
        <p:txBody>
          <a:bodyPr wrap="square" lIns="0" tIns="0" rIns="0" bIns="0" rtlCol="0" anchor="ctr"/>
          <a:lstStyle/>
          <a:p>
            <a:pPr algn="ctr" defTabSz="685800"/>
            <a:r>
              <a:rPr lang="en-US" sz="600" b="1" kern="0" spc="75" dirty="0">
                <a:solidFill>
                  <a:srgbClr val="4ADE80"/>
                </a:solidFill>
                <a:latin typeface="Calibri" panose="020F0502020204030204"/>
              </a:rPr>
              <a:t>02</a:t>
            </a:r>
            <a:endParaRPr lang="en-US" sz="600" dirty="0">
              <a:solidFill>
                <a:prstClr val="black"/>
              </a:solidFill>
              <a:latin typeface="Calibri" panose="020F0502020204030204"/>
            </a:endParaRPr>
          </a:p>
        </p:txBody>
      </p:sp>
      <p:sp>
        <p:nvSpPr>
          <p:cNvPr id="34" name="Shape 31"/>
          <p:cNvSpPr/>
          <p:nvPr/>
        </p:nvSpPr>
        <p:spPr>
          <a:xfrm>
            <a:off x="3662172" y="1563624"/>
            <a:ext cx="205740" cy="205740"/>
          </a:xfrm>
          <a:prstGeom prst="ellipse">
            <a:avLst/>
          </a:prstGeom>
          <a:solidFill>
            <a:srgbClr val="4ADE80">
              <a:alpha val="14000"/>
            </a:srgbClr>
          </a:solidFill>
          <a:ln w="5080">
            <a:solidFill>
              <a:srgbClr val="4ADE80">
                <a:alpha val="35000"/>
              </a:srgbClr>
            </a:solidFill>
            <a:prstDash val="solid"/>
          </a:ln>
        </p:spPr>
        <p:txBody>
          <a:bodyPr/>
          <a:lstStyle/>
          <a:p>
            <a:pPr defTabSz="685800"/>
            <a:endParaRPr lang="en-US" sz="1350">
              <a:solidFill>
                <a:prstClr val="black"/>
              </a:solidFill>
              <a:latin typeface="Calibri" panose="020F0502020204030204"/>
            </a:endParaRPr>
          </a:p>
        </p:txBody>
      </p:sp>
      <p:pic>
        <p:nvPicPr>
          <p:cNvPr id="35" name="Image 1" descr="preencoded.png"/>
          <p:cNvPicPr>
            <a:picLocks noChangeAspect="1"/>
          </p:cNvPicPr>
          <p:nvPr/>
        </p:nvPicPr>
        <p:blipFill>
          <a:blip r:embed="rId4"/>
          <a:stretch>
            <a:fillRect/>
          </a:stretch>
        </p:blipFill>
        <p:spPr>
          <a:xfrm>
            <a:off x="3682746" y="1584198"/>
            <a:ext cx="164592" cy="164592"/>
          </a:xfrm>
          <a:prstGeom prst="rect">
            <a:avLst/>
          </a:prstGeom>
        </p:spPr>
      </p:pic>
      <p:sp>
        <p:nvSpPr>
          <p:cNvPr id="36" name="Text 32"/>
          <p:cNvSpPr/>
          <p:nvPr/>
        </p:nvSpPr>
        <p:spPr>
          <a:xfrm>
            <a:off x="3291840" y="1810512"/>
            <a:ext cx="2537460" cy="219456"/>
          </a:xfrm>
          <a:prstGeom prst="rect">
            <a:avLst/>
          </a:prstGeom>
          <a:noFill/>
          <a:ln/>
        </p:spPr>
        <p:txBody>
          <a:bodyPr wrap="square" lIns="0" tIns="0" rIns="0" bIns="0" rtlCol="0" anchor="ctr"/>
          <a:lstStyle/>
          <a:p>
            <a:pPr defTabSz="685800"/>
            <a:r>
              <a:rPr lang="en-US" sz="900" b="1" dirty="0">
                <a:solidFill>
                  <a:srgbClr val="F0EDE6"/>
                </a:solidFill>
                <a:latin typeface="Calibri" pitchFamily="34" charset="0"/>
                <a:ea typeface="Calibri" pitchFamily="34" charset="-122"/>
                <a:cs typeface="Calibri" pitchFamily="34" charset="-120"/>
              </a:rPr>
              <a:t>Join Path Resolution</a:t>
            </a:r>
            <a:endParaRPr lang="en-US" sz="900" dirty="0">
              <a:solidFill>
                <a:prstClr val="black"/>
              </a:solidFill>
              <a:latin typeface="Calibri" panose="020F0502020204030204"/>
            </a:endParaRPr>
          </a:p>
        </p:txBody>
      </p:sp>
      <p:sp>
        <p:nvSpPr>
          <p:cNvPr id="37" name="Shape 33"/>
          <p:cNvSpPr/>
          <p:nvPr/>
        </p:nvSpPr>
        <p:spPr>
          <a:xfrm>
            <a:off x="3291840" y="2057400"/>
            <a:ext cx="2468880" cy="0"/>
          </a:xfrm>
          <a:prstGeom prst="line">
            <a:avLst/>
          </a:prstGeom>
          <a:noFill/>
          <a:ln w="5080">
            <a:solidFill>
              <a:srgbClr val="FFFFFF">
                <a:alpha val="10000"/>
              </a:srgbClr>
            </a:solidFill>
            <a:prstDash val="solid"/>
          </a:ln>
        </p:spPr>
        <p:txBody>
          <a:bodyPr/>
          <a:lstStyle/>
          <a:p>
            <a:pPr defTabSz="685800"/>
            <a:endParaRPr lang="en-US" sz="1350">
              <a:solidFill>
                <a:prstClr val="black"/>
              </a:solidFill>
              <a:latin typeface="Calibri" panose="020F0502020204030204"/>
            </a:endParaRPr>
          </a:p>
        </p:txBody>
      </p:sp>
      <p:sp>
        <p:nvSpPr>
          <p:cNvPr id="38" name="Text 34"/>
          <p:cNvSpPr/>
          <p:nvPr/>
        </p:nvSpPr>
        <p:spPr>
          <a:xfrm>
            <a:off x="3291840" y="2098548"/>
            <a:ext cx="2523744" cy="548640"/>
          </a:xfrm>
          <a:prstGeom prst="rect">
            <a:avLst/>
          </a:prstGeom>
          <a:noFill/>
          <a:ln/>
        </p:spPr>
        <p:txBody>
          <a:bodyPr wrap="square" rtlCol="0" anchor="t"/>
          <a:lstStyle/>
          <a:p>
            <a:pPr defTabSz="685800">
              <a:lnSpc>
                <a:spcPct val="140000"/>
              </a:lnSpc>
            </a:pPr>
            <a:r>
              <a:rPr lang="en-US" sz="713" dirty="0">
                <a:solidFill>
                  <a:schemeClr val="bg1"/>
                </a:solidFill>
                <a:latin typeface="Calibri" pitchFamily="34" charset="0"/>
                <a:ea typeface="Calibri" pitchFamily="34" charset="-122"/>
                <a:cs typeface="Calibri" pitchFamily="34" charset="-120"/>
              </a:rPr>
              <a:t>Identify FK paths and bridge tables connecting fact to dimension. Missing joins silently drop data.</a:t>
            </a:r>
            <a:endParaRPr lang="en-US" sz="713" dirty="0">
              <a:solidFill>
                <a:schemeClr val="bg1"/>
              </a:solidFill>
              <a:latin typeface="Calibri" panose="020F0502020204030204"/>
            </a:endParaRPr>
          </a:p>
        </p:txBody>
      </p:sp>
      <p:sp>
        <p:nvSpPr>
          <p:cNvPr id="39" name="Shape 35"/>
          <p:cNvSpPr/>
          <p:nvPr/>
        </p:nvSpPr>
        <p:spPr>
          <a:xfrm>
            <a:off x="6076188" y="1453896"/>
            <a:ext cx="2674620" cy="1275588"/>
          </a:xfrm>
          <a:prstGeom prst="rect">
            <a:avLst/>
          </a:prstGeom>
          <a:solidFill>
            <a:srgbClr val="1A1E29"/>
          </a:solidFill>
          <a:ln w="6350">
            <a:solidFill>
              <a:srgbClr val="FFFFFF">
                <a:alpha val="8000"/>
              </a:srgbClr>
            </a:solidFill>
            <a:prstDash val="solid"/>
          </a:ln>
          <a:effectLst>
            <a:outerShdw blurRad="152400" dist="38100" dir="8100000" algn="bl" rotWithShape="0">
              <a:srgbClr val="000000">
                <a:alpha val="30000"/>
              </a:srgbClr>
            </a:outerShdw>
          </a:effectLst>
        </p:spPr>
        <p:txBody>
          <a:bodyPr/>
          <a:lstStyle/>
          <a:p>
            <a:pPr defTabSz="685800"/>
            <a:endParaRPr lang="en-US" sz="1350">
              <a:solidFill>
                <a:prstClr val="black"/>
              </a:solidFill>
              <a:latin typeface="Calibri" panose="020F0502020204030204"/>
            </a:endParaRPr>
          </a:p>
        </p:txBody>
      </p:sp>
      <p:sp>
        <p:nvSpPr>
          <p:cNvPr id="40" name="Shape 36"/>
          <p:cNvSpPr/>
          <p:nvPr/>
        </p:nvSpPr>
        <p:spPr>
          <a:xfrm>
            <a:off x="6076188" y="1453896"/>
            <a:ext cx="34290" cy="1275588"/>
          </a:xfrm>
          <a:prstGeom prst="rect">
            <a:avLst/>
          </a:prstGeom>
          <a:solidFill>
            <a:srgbClr val="F59E0B"/>
          </a:solidFill>
          <a:ln w="12700">
            <a:solidFill>
              <a:srgbClr val="F59E0B"/>
            </a:solidFill>
            <a:prstDash val="solid"/>
          </a:ln>
        </p:spPr>
        <p:txBody>
          <a:bodyPr/>
          <a:lstStyle/>
          <a:p>
            <a:pPr defTabSz="685800"/>
            <a:endParaRPr lang="en-US" sz="1350">
              <a:solidFill>
                <a:prstClr val="black"/>
              </a:solidFill>
              <a:latin typeface="Calibri" panose="020F0502020204030204"/>
            </a:endParaRPr>
          </a:p>
        </p:txBody>
      </p:sp>
      <p:sp>
        <p:nvSpPr>
          <p:cNvPr id="41" name="Shape 37"/>
          <p:cNvSpPr/>
          <p:nvPr/>
        </p:nvSpPr>
        <p:spPr>
          <a:xfrm>
            <a:off x="6185916" y="1577340"/>
            <a:ext cx="260604" cy="178308"/>
          </a:xfrm>
          <a:prstGeom prst="rect">
            <a:avLst/>
          </a:prstGeom>
          <a:solidFill>
            <a:srgbClr val="F59E0B">
              <a:alpha val="18000"/>
            </a:srgbClr>
          </a:solidFill>
          <a:ln w="5080">
            <a:solidFill>
              <a:srgbClr val="F59E0B">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42" name="Text 38"/>
          <p:cNvSpPr/>
          <p:nvPr/>
        </p:nvSpPr>
        <p:spPr>
          <a:xfrm>
            <a:off x="6185916" y="1577340"/>
            <a:ext cx="260604" cy="178308"/>
          </a:xfrm>
          <a:prstGeom prst="rect">
            <a:avLst/>
          </a:prstGeom>
          <a:noFill/>
          <a:ln/>
        </p:spPr>
        <p:txBody>
          <a:bodyPr wrap="square" lIns="0" tIns="0" rIns="0" bIns="0" rtlCol="0" anchor="ctr"/>
          <a:lstStyle/>
          <a:p>
            <a:pPr algn="ctr" defTabSz="685800"/>
            <a:r>
              <a:rPr lang="en-US" sz="600" b="1" kern="0" spc="75" dirty="0">
                <a:solidFill>
                  <a:srgbClr val="F59E0B"/>
                </a:solidFill>
                <a:latin typeface="Calibri" panose="020F0502020204030204"/>
              </a:rPr>
              <a:t>03</a:t>
            </a:r>
            <a:endParaRPr lang="en-US" sz="600" dirty="0">
              <a:solidFill>
                <a:prstClr val="black"/>
              </a:solidFill>
              <a:latin typeface="Calibri" panose="020F0502020204030204"/>
            </a:endParaRPr>
          </a:p>
        </p:txBody>
      </p:sp>
      <p:sp>
        <p:nvSpPr>
          <p:cNvPr id="43" name="Shape 39"/>
          <p:cNvSpPr/>
          <p:nvPr/>
        </p:nvSpPr>
        <p:spPr>
          <a:xfrm>
            <a:off x="6528816" y="1563624"/>
            <a:ext cx="205740" cy="205740"/>
          </a:xfrm>
          <a:prstGeom prst="ellipse">
            <a:avLst/>
          </a:prstGeom>
          <a:solidFill>
            <a:srgbClr val="F59E0B">
              <a:alpha val="14000"/>
            </a:srgbClr>
          </a:solidFill>
          <a:ln w="5080">
            <a:solidFill>
              <a:srgbClr val="F59E0B">
                <a:alpha val="35000"/>
              </a:srgbClr>
            </a:solidFill>
            <a:prstDash val="solid"/>
          </a:ln>
        </p:spPr>
        <p:txBody>
          <a:bodyPr/>
          <a:lstStyle/>
          <a:p>
            <a:pPr defTabSz="685800"/>
            <a:endParaRPr lang="en-US" sz="1350">
              <a:solidFill>
                <a:prstClr val="black"/>
              </a:solidFill>
              <a:latin typeface="Calibri" panose="020F0502020204030204"/>
            </a:endParaRPr>
          </a:p>
        </p:txBody>
      </p:sp>
      <p:pic>
        <p:nvPicPr>
          <p:cNvPr id="44" name="Image 2" descr="preencoded.png"/>
          <p:cNvPicPr>
            <a:picLocks noChangeAspect="1"/>
          </p:cNvPicPr>
          <p:nvPr/>
        </p:nvPicPr>
        <p:blipFill>
          <a:blip r:embed="rId5"/>
          <a:stretch>
            <a:fillRect/>
          </a:stretch>
        </p:blipFill>
        <p:spPr>
          <a:xfrm>
            <a:off x="6549390" y="1584198"/>
            <a:ext cx="164592" cy="164592"/>
          </a:xfrm>
          <a:prstGeom prst="rect">
            <a:avLst/>
          </a:prstGeom>
        </p:spPr>
      </p:pic>
      <p:sp>
        <p:nvSpPr>
          <p:cNvPr id="45" name="Text 40"/>
          <p:cNvSpPr/>
          <p:nvPr/>
        </p:nvSpPr>
        <p:spPr>
          <a:xfrm>
            <a:off x="6158484" y="1810512"/>
            <a:ext cx="2537460" cy="219456"/>
          </a:xfrm>
          <a:prstGeom prst="rect">
            <a:avLst/>
          </a:prstGeom>
          <a:noFill/>
          <a:ln/>
        </p:spPr>
        <p:txBody>
          <a:bodyPr wrap="square" lIns="0" tIns="0" rIns="0" bIns="0" rtlCol="0" anchor="ctr"/>
          <a:lstStyle/>
          <a:p>
            <a:pPr defTabSz="685800"/>
            <a:r>
              <a:rPr lang="en-US" sz="900" b="1" dirty="0">
                <a:solidFill>
                  <a:srgbClr val="F0EDE6"/>
                </a:solidFill>
                <a:latin typeface="Calibri" pitchFamily="34" charset="0"/>
                <a:ea typeface="Calibri" pitchFamily="34" charset="-122"/>
                <a:cs typeface="Calibri" pitchFamily="34" charset="-120"/>
              </a:rPr>
              <a:t>Value Mapping</a:t>
            </a:r>
            <a:endParaRPr lang="en-US" sz="900" dirty="0">
              <a:solidFill>
                <a:prstClr val="black"/>
              </a:solidFill>
              <a:latin typeface="Calibri" panose="020F0502020204030204"/>
            </a:endParaRPr>
          </a:p>
        </p:txBody>
      </p:sp>
      <p:sp>
        <p:nvSpPr>
          <p:cNvPr id="46" name="Shape 41"/>
          <p:cNvSpPr/>
          <p:nvPr/>
        </p:nvSpPr>
        <p:spPr>
          <a:xfrm>
            <a:off x="6158484" y="2057400"/>
            <a:ext cx="2468880" cy="0"/>
          </a:xfrm>
          <a:prstGeom prst="line">
            <a:avLst/>
          </a:prstGeom>
          <a:noFill/>
          <a:ln w="5080">
            <a:solidFill>
              <a:srgbClr val="FFFFFF">
                <a:alpha val="10000"/>
              </a:srgbClr>
            </a:solidFill>
            <a:prstDash val="solid"/>
          </a:ln>
        </p:spPr>
        <p:txBody>
          <a:bodyPr/>
          <a:lstStyle/>
          <a:p>
            <a:pPr defTabSz="685800"/>
            <a:endParaRPr lang="en-US" sz="1350">
              <a:solidFill>
                <a:prstClr val="black"/>
              </a:solidFill>
              <a:latin typeface="Calibri" panose="020F0502020204030204"/>
            </a:endParaRPr>
          </a:p>
        </p:txBody>
      </p:sp>
      <p:sp>
        <p:nvSpPr>
          <p:cNvPr id="47" name="Text 42"/>
          <p:cNvSpPr/>
          <p:nvPr/>
        </p:nvSpPr>
        <p:spPr>
          <a:xfrm>
            <a:off x="6158484" y="2098548"/>
            <a:ext cx="2523744" cy="548640"/>
          </a:xfrm>
          <a:prstGeom prst="rect">
            <a:avLst/>
          </a:prstGeom>
          <a:noFill/>
          <a:ln/>
        </p:spPr>
        <p:txBody>
          <a:bodyPr wrap="square" rtlCol="0" anchor="t"/>
          <a:lstStyle/>
          <a:p>
            <a:pPr defTabSz="685800">
              <a:lnSpc>
                <a:spcPct val="140000"/>
              </a:lnSpc>
            </a:pPr>
            <a:r>
              <a:rPr lang="en-US" sz="713" dirty="0">
                <a:solidFill>
                  <a:schemeClr val="bg1"/>
                </a:solidFill>
                <a:latin typeface="Calibri" pitchFamily="34" charset="0"/>
                <a:ea typeface="Calibri" pitchFamily="34" charset="-122"/>
                <a:cs typeface="Calibri" pitchFamily="34" charset="-120"/>
              </a:rPr>
              <a:t>Resolve user-facing terms like 'active' or 'TCGA-LUAD' to their exact stored database values.</a:t>
            </a:r>
            <a:endParaRPr lang="en-US" sz="713" dirty="0">
              <a:solidFill>
                <a:schemeClr val="bg1"/>
              </a:solidFill>
              <a:latin typeface="Calibri" panose="020F0502020204030204"/>
            </a:endParaRPr>
          </a:p>
        </p:txBody>
      </p:sp>
      <p:sp>
        <p:nvSpPr>
          <p:cNvPr id="48" name="Shape 43"/>
          <p:cNvSpPr/>
          <p:nvPr/>
        </p:nvSpPr>
        <p:spPr>
          <a:xfrm>
            <a:off x="342900" y="2852928"/>
            <a:ext cx="2674620" cy="1275588"/>
          </a:xfrm>
          <a:prstGeom prst="rect">
            <a:avLst/>
          </a:prstGeom>
          <a:solidFill>
            <a:srgbClr val="1A1E29"/>
          </a:solidFill>
          <a:ln w="6350">
            <a:solidFill>
              <a:srgbClr val="FFFFFF">
                <a:alpha val="8000"/>
              </a:srgbClr>
            </a:solidFill>
            <a:prstDash val="solid"/>
          </a:ln>
          <a:effectLst>
            <a:outerShdw blurRad="152400" dist="38100" dir="8100000" algn="bl" rotWithShape="0">
              <a:srgbClr val="000000">
                <a:alpha val="30000"/>
              </a:srgbClr>
            </a:outerShdw>
          </a:effectLst>
        </p:spPr>
        <p:txBody>
          <a:bodyPr/>
          <a:lstStyle/>
          <a:p>
            <a:pPr defTabSz="685800"/>
            <a:endParaRPr lang="en-US" sz="1350">
              <a:solidFill>
                <a:prstClr val="black"/>
              </a:solidFill>
              <a:latin typeface="Calibri" panose="020F0502020204030204"/>
            </a:endParaRPr>
          </a:p>
        </p:txBody>
      </p:sp>
      <p:sp>
        <p:nvSpPr>
          <p:cNvPr id="49" name="Shape 44"/>
          <p:cNvSpPr/>
          <p:nvPr/>
        </p:nvSpPr>
        <p:spPr>
          <a:xfrm>
            <a:off x="342900" y="2852928"/>
            <a:ext cx="34290" cy="1275588"/>
          </a:xfrm>
          <a:prstGeom prst="rect">
            <a:avLst/>
          </a:prstGeom>
          <a:solidFill>
            <a:srgbClr val="2DD4BF"/>
          </a:solidFill>
          <a:ln w="12700">
            <a:solidFill>
              <a:srgbClr val="2DD4BF"/>
            </a:solidFill>
            <a:prstDash val="solid"/>
          </a:ln>
        </p:spPr>
        <p:txBody>
          <a:bodyPr/>
          <a:lstStyle/>
          <a:p>
            <a:pPr defTabSz="685800"/>
            <a:endParaRPr lang="en-US" sz="1350">
              <a:solidFill>
                <a:prstClr val="black"/>
              </a:solidFill>
              <a:latin typeface="Calibri" panose="020F0502020204030204"/>
            </a:endParaRPr>
          </a:p>
        </p:txBody>
      </p:sp>
      <p:sp>
        <p:nvSpPr>
          <p:cNvPr id="50" name="Shape 45"/>
          <p:cNvSpPr/>
          <p:nvPr/>
        </p:nvSpPr>
        <p:spPr>
          <a:xfrm>
            <a:off x="452628" y="2976372"/>
            <a:ext cx="260604" cy="178308"/>
          </a:xfrm>
          <a:prstGeom prst="rect">
            <a:avLst/>
          </a:prstGeom>
          <a:solidFill>
            <a:srgbClr val="2DD4BF">
              <a:alpha val="18000"/>
            </a:srgbClr>
          </a:solidFill>
          <a:ln w="5080">
            <a:solidFill>
              <a:srgbClr val="2DD4BF">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51" name="Text 46"/>
          <p:cNvSpPr/>
          <p:nvPr/>
        </p:nvSpPr>
        <p:spPr>
          <a:xfrm>
            <a:off x="452628" y="2976372"/>
            <a:ext cx="260604" cy="178308"/>
          </a:xfrm>
          <a:prstGeom prst="rect">
            <a:avLst/>
          </a:prstGeom>
          <a:noFill/>
          <a:ln/>
        </p:spPr>
        <p:txBody>
          <a:bodyPr wrap="square" lIns="0" tIns="0" rIns="0" bIns="0" rtlCol="0" anchor="ctr"/>
          <a:lstStyle/>
          <a:p>
            <a:pPr algn="ctr" defTabSz="685800"/>
            <a:r>
              <a:rPr lang="en-US" sz="600" b="1" kern="0" spc="75" dirty="0">
                <a:solidFill>
                  <a:srgbClr val="2DD4BF"/>
                </a:solidFill>
                <a:latin typeface="Calibri" panose="020F0502020204030204"/>
              </a:rPr>
              <a:t>04</a:t>
            </a:r>
            <a:endParaRPr lang="en-US" sz="600" dirty="0">
              <a:solidFill>
                <a:prstClr val="black"/>
              </a:solidFill>
              <a:latin typeface="Calibri" panose="020F0502020204030204"/>
            </a:endParaRPr>
          </a:p>
        </p:txBody>
      </p:sp>
      <p:sp>
        <p:nvSpPr>
          <p:cNvPr id="52" name="Shape 47"/>
          <p:cNvSpPr/>
          <p:nvPr/>
        </p:nvSpPr>
        <p:spPr>
          <a:xfrm>
            <a:off x="795528" y="2962656"/>
            <a:ext cx="205740" cy="205740"/>
          </a:xfrm>
          <a:prstGeom prst="ellipse">
            <a:avLst/>
          </a:prstGeom>
          <a:solidFill>
            <a:srgbClr val="2DD4BF">
              <a:alpha val="14000"/>
            </a:srgbClr>
          </a:solidFill>
          <a:ln w="5080">
            <a:solidFill>
              <a:srgbClr val="2DD4BF">
                <a:alpha val="35000"/>
              </a:srgbClr>
            </a:solidFill>
            <a:prstDash val="solid"/>
          </a:ln>
        </p:spPr>
        <p:txBody>
          <a:bodyPr/>
          <a:lstStyle/>
          <a:p>
            <a:pPr defTabSz="685800"/>
            <a:endParaRPr lang="en-US" sz="1350">
              <a:solidFill>
                <a:prstClr val="black"/>
              </a:solidFill>
              <a:latin typeface="Calibri" panose="020F0502020204030204"/>
            </a:endParaRPr>
          </a:p>
        </p:txBody>
      </p:sp>
      <p:pic>
        <p:nvPicPr>
          <p:cNvPr id="53" name="Image 3" descr="preencoded.png"/>
          <p:cNvPicPr>
            <a:picLocks noChangeAspect="1"/>
          </p:cNvPicPr>
          <p:nvPr/>
        </p:nvPicPr>
        <p:blipFill>
          <a:blip r:embed="rId6"/>
          <a:stretch>
            <a:fillRect/>
          </a:stretch>
        </p:blipFill>
        <p:spPr>
          <a:xfrm>
            <a:off x="816102" y="2983230"/>
            <a:ext cx="164592" cy="164592"/>
          </a:xfrm>
          <a:prstGeom prst="rect">
            <a:avLst/>
          </a:prstGeom>
        </p:spPr>
      </p:pic>
      <p:sp>
        <p:nvSpPr>
          <p:cNvPr id="54" name="Text 48"/>
          <p:cNvSpPr/>
          <p:nvPr/>
        </p:nvSpPr>
        <p:spPr>
          <a:xfrm>
            <a:off x="425196" y="3209544"/>
            <a:ext cx="2537460" cy="219456"/>
          </a:xfrm>
          <a:prstGeom prst="rect">
            <a:avLst/>
          </a:prstGeom>
          <a:noFill/>
          <a:ln/>
        </p:spPr>
        <p:txBody>
          <a:bodyPr wrap="square" lIns="0" tIns="0" rIns="0" bIns="0" rtlCol="0" anchor="ctr"/>
          <a:lstStyle/>
          <a:p>
            <a:pPr defTabSz="685800"/>
            <a:r>
              <a:rPr lang="en-US" sz="900" b="1" dirty="0">
                <a:solidFill>
                  <a:srgbClr val="F0EDE6"/>
                </a:solidFill>
                <a:latin typeface="Calibri" pitchFamily="34" charset="0"/>
                <a:ea typeface="Calibri" pitchFamily="34" charset="-122"/>
                <a:cs typeface="Calibri" pitchFamily="34" charset="-120"/>
              </a:rPr>
              <a:t>Dialect Handling</a:t>
            </a:r>
            <a:endParaRPr lang="en-US" sz="900" dirty="0">
              <a:solidFill>
                <a:prstClr val="black"/>
              </a:solidFill>
              <a:latin typeface="Calibri" panose="020F0502020204030204"/>
            </a:endParaRPr>
          </a:p>
        </p:txBody>
      </p:sp>
      <p:sp>
        <p:nvSpPr>
          <p:cNvPr id="55" name="Shape 49"/>
          <p:cNvSpPr/>
          <p:nvPr/>
        </p:nvSpPr>
        <p:spPr>
          <a:xfrm>
            <a:off x="425196" y="3456432"/>
            <a:ext cx="2468880" cy="0"/>
          </a:xfrm>
          <a:prstGeom prst="line">
            <a:avLst/>
          </a:prstGeom>
          <a:noFill/>
          <a:ln w="5080">
            <a:solidFill>
              <a:srgbClr val="FFFFFF">
                <a:alpha val="10000"/>
              </a:srgbClr>
            </a:solidFill>
            <a:prstDash val="solid"/>
          </a:ln>
        </p:spPr>
        <p:txBody>
          <a:bodyPr/>
          <a:lstStyle/>
          <a:p>
            <a:pPr defTabSz="685800"/>
            <a:endParaRPr lang="en-US" sz="1350">
              <a:solidFill>
                <a:prstClr val="black"/>
              </a:solidFill>
              <a:latin typeface="Calibri" panose="020F0502020204030204"/>
            </a:endParaRPr>
          </a:p>
        </p:txBody>
      </p:sp>
      <p:sp>
        <p:nvSpPr>
          <p:cNvPr id="56" name="Text 50"/>
          <p:cNvSpPr/>
          <p:nvPr/>
        </p:nvSpPr>
        <p:spPr>
          <a:xfrm>
            <a:off x="425196" y="3497580"/>
            <a:ext cx="2523744" cy="548640"/>
          </a:xfrm>
          <a:prstGeom prst="rect">
            <a:avLst/>
          </a:prstGeom>
          <a:noFill/>
          <a:ln/>
        </p:spPr>
        <p:txBody>
          <a:bodyPr wrap="square" rtlCol="0" anchor="t"/>
          <a:lstStyle/>
          <a:p>
            <a:pPr defTabSz="685800">
              <a:lnSpc>
                <a:spcPct val="140000"/>
              </a:lnSpc>
            </a:pPr>
            <a:r>
              <a:rPr lang="en-US" sz="713" dirty="0">
                <a:solidFill>
                  <a:schemeClr val="bg1"/>
                </a:solidFill>
                <a:latin typeface="Calibri" pitchFamily="34" charset="0"/>
                <a:ea typeface="Calibri" pitchFamily="34" charset="-122"/>
                <a:cs typeface="Calibri" pitchFamily="34" charset="-120"/>
              </a:rPr>
              <a:t>Apply Snowflake-specific rules: identifier quoting, VARIANT access, FLATTEN, QUALIFY, and ARRAY_CONTAINS.</a:t>
            </a:r>
            <a:endParaRPr lang="en-US" sz="713" dirty="0">
              <a:solidFill>
                <a:schemeClr val="bg1"/>
              </a:solidFill>
              <a:latin typeface="Calibri" panose="020F0502020204030204"/>
            </a:endParaRPr>
          </a:p>
        </p:txBody>
      </p:sp>
      <p:sp>
        <p:nvSpPr>
          <p:cNvPr id="57" name="Shape 51"/>
          <p:cNvSpPr/>
          <p:nvPr/>
        </p:nvSpPr>
        <p:spPr>
          <a:xfrm>
            <a:off x="3209544" y="2852928"/>
            <a:ext cx="2674620" cy="1275588"/>
          </a:xfrm>
          <a:prstGeom prst="rect">
            <a:avLst/>
          </a:prstGeom>
          <a:solidFill>
            <a:srgbClr val="1A1E29"/>
          </a:solidFill>
          <a:ln w="6350">
            <a:solidFill>
              <a:srgbClr val="FFFFFF">
                <a:alpha val="8000"/>
              </a:srgbClr>
            </a:solidFill>
            <a:prstDash val="solid"/>
          </a:ln>
          <a:effectLst>
            <a:outerShdw blurRad="152400" dist="38100" dir="8100000" algn="bl" rotWithShape="0">
              <a:srgbClr val="000000">
                <a:alpha val="30000"/>
              </a:srgbClr>
            </a:outerShdw>
          </a:effectLst>
        </p:spPr>
        <p:txBody>
          <a:bodyPr/>
          <a:lstStyle/>
          <a:p>
            <a:pPr defTabSz="685800"/>
            <a:endParaRPr lang="en-US" sz="1350">
              <a:solidFill>
                <a:prstClr val="black"/>
              </a:solidFill>
              <a:latin typeface="Calibri" panose="020F0502020204030204"/>
            </a:endParaRPr>
          </a:p>
        </p:txBody>
      </p:sp>
      <p:sp>
        <p:nvSpPr>
          <p:cNvPr id="58" name="Shape 52"/>
          <p:cNvSpPr/>
          <p:nvPr/>
        </p:nvSpPr>
        <p:spPr>
          <a:xfrm>
            <a:off x="3209544" y="2852928"/>
            <a:ext cx="34290" cy="1275588"/>
          </a:xfrm>
          <a:prstGeom prst="rect">
            <a:avLst/>
          </a:prstGeom>
          <a:solidFill>
            <a:srgbClr val="A78BFA"/>
          </a:solidFill>
          <a:ln w="12700">
            <a:solidFill>
              <a:srgbClr val="A78BFA"/>
            </a:solidFill>
            <a:prstDash val="solid"/>
          </a:ln>
        </p:spPr>
        <p:txBody>
          <a:bodyPr/>
          <a:lstStyle/>
          <a:p>
            <a:pPr defTabSz="685800"/>
            <a:endParaRPr lang="en-US" sz="1350">
              <a:solidFill>
                <a:prstClr val="black"/>
              </a:solidFill>
              <a:latin typeface="Calibri" panose="020F0502020204030204"/>
            </a:endParaRPr>
          </a:p>
        </p:txBody>
      </p:sp>
      <p:sp>
        <p:nvSpPr>
          <p:cNvPr id="59" name="Shape 53"/>
          <p:cNvSpPr/>
          <p:nvPr/>
        </p:nvSpPr>
        <p:spPr>
          <a:xfrm>
            <a:off x="3319272" y="2976372"/>
            <a:ext cx="260604" cy="178308"/>
          </a:xfrm>
          <a:prstGeom prst="rect">
            <a:avLst/>
          </a:prstGeom>
          <a:solidFill>
            <a:srgbClr val="A78BFA">
              <a:alpha val="18000"/>
            </a:srgbClr>
          </a:solidFill>
          <a:ln w="5080">
            <a:solidFill>
              <a:srgbClr val="A78BFA">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60" name="Text 54"/>
          <p:cNvSpPr/>
          <p:nvPr/>
        </p:nvSpPr>
        <p:spPr>
          <a:xfrm>
            <a:off x="3319272" y="2976372"/>
            <a:ext cx="260604" cy="178308"/>
          </a:xfrm>
          <a:prstGeom prst="rect">
            <a:avLst/>
          </a:prstGeom>
          <a:noFill/>
          <a:ln/>
        </p:spPr>
        <p:txBody>
          <a:bodyPr wrap="square" lIns="0" tIns="0" rIns="0" bIns="0" rtlCol="0" anchor="ctr"/>
          <a:lstStyle/>
          <a:p>
            <a:pPr algn="ctr" defTabSz="685800"/>
            <a:r>
              <a:rPr lang="en-US" sz="600" b="1" kern="0" spc="75" dirty="0">
                <a:solidFill>
                  <a:srgbClr val="A78BFA"/>
                </a:solidFill>
                <a:latin typeface="Calibri" panose="020F0502020204030204"/>
              </a:rPr>
              <a:t>05</a:t>
            </a:r>
            <a:endParaRPr lang="en-US" sz="600" dirty="0">
              <a:solidFill>
                <a:prstClr val="black"/>
              </a:solidFill>
              <a:latin typeface="Calibri" panose="020F0502020204030204"/>
            </a:endParaRPr>
          </a:p>
        </p:txBody>
      </p:sp>
      <p:sp>
        <p:nvSpPr>
          <p:cNvPr id="61" name="Shape 55"/>
          <p:cNvSpPr/>
          <p:nvPr/>
        </p:nvSpPr>
        <p:spPr>
          <a:xfrm>
            <a:off x="3662172" y="2962656"/>
            <a:ext cx="205740" cy="205740"/>
          </a:xfrm>
          <a:prstGeom prst="ellipse">
            <a:avLst/>
          </a:prstGeom>
          <a:solidFill>
            <a:srgbClr val="A78BFA">
              <a:alpha val="14000"/>
            </a:srgbClr>
          </a:solidFill>
          <a:ln w="5080">
            <a:solidFill>
              <a:srgbClr val="A78BFA">
                <a:alpha val="35000"/>
              </a:srgbClr>
            </a:solidFill>
            <a:prstDash val="solid"/>
          </a:ln>
        </p:spPr>
        <p:txBody>
          <a:bodyPr/>
          <a:lstStyle/>
          <a:p>
            <a:pPr defTabSz="685800"/>
            <a:endParaRPr lang="en-US" sz="1350">
              <a:solidFill>
                <a:prstClr val="black"/>
              </a:solidFill>
              <a:latin typeface="Calibri" panose="020F0502020204030204"/>
            </a:endParaRPr>
          </a:p>
        </p:txBody>
      </p:sp>
      <p:pic>
        <p:nvPicPr>
          <p:cNvPr id="62" name="Image 4" descr="preencoded.png"/>
          <p:cNvPicPr>
            <a:picLocks noChangeAspect="1"/>
          </p:cNvPicPr>
          <p:nvPr/>
        </p:nvPicPr>
        <p:blipFill>
          <a:blip r:embed="rId7"/>
          <a:stretch>
            <a:fillRect/>
          </a:stretch>
        </p:blipFill>
        <p:spPr>
          <a:xfrm>
            <a:off x="3682746" y="2983230"/>
            <a:ext cx="164592" cy="164592"/>
          </a:xfrm>
          <a:prstGeom prst="rect">
            <a:avLst/>
          </a:prstGeom>
        </p:spPr>
      </p:pic>
      <p:sp>
        <p:nvSpPr>
          <p:cNvPr id="63" name="Text 56"/>
          <p:cNvSpPr/>
          <p:nvPr/>
        </p:nvSpPr>
        <p:spPr>
          <a:xfrm>
            <a:off x="3291840" y="3209544"/>
            <a:ext cx="2537460" cy="219456"/>
          </a:xfrm>
          <a:prstGeom prst="rect">
            <a:avLst/>
          </a:prstGeom>
          <a:noFill/>
          <a:ln/>
        </p:spPr>
        <p:txBody>
          <a:bodyPr wrap="square" lIns="0" tIns="0" rIns="0" bIns="0" rtlCol="0" anchor="ctr"/>
          <a:lstStyle/>
          <a:p>
            <a:pPr defTabSz="685800"/>
            <a:r>
              <a:rPr lang="en-US" sz="900" b="1" dirty="0">
                <a:solidFill>
                  <a:srgbClr val="F0EDE6"/>
                </a:solidFill>
                <a:latin typeface="Calibri" pitchFamily="34" charset="0"/>
                <a:ea typeface="Calibri" pitchFamily="34" charset="-122"/>
                <a:cs typeface="Calibri" pitchFamily="34" charset="-120"/>
              </a:rPr>
              <a:t>Self-Correction Loop</a:t>
            </a:r>
            <a:endParaRPr lang="en-US" sz="900" dirty="0">
              <a:solidFill>
                <a:prstClr val="black"/>
              </a:solidFill>
              <a:latin typeface="Calibri" panose="020F0502020204030204"/>
            </a:endParaRPr>
          </a:p>
        </p:txBody>
      </p:sp>
      <p:sp>
        <p:nvSpPr>
          <p:cNvPr id="64" name="Shape 57"/>
          <p:cNvSpPr/>
          <p:nvPr/>
        </p:nvSpPr>
        <p:spPr>
          <a:xfrm>
            <a:off x="3291840" y="3456432"/>
            <a:ext cx="2468880" cy="0"/>
          </a:xfrm>
          <a:prstGeom prst="line">
            <a:avLst/>
          </a:prstGeom>
          <a:noFill/>
          <a:ln w="5080">
            <a:solidFill>
              <a:srgbClr val="FFFFFF">
                <a:alpha val="10000"/>
              </a:srgbClr>
            </a:solidFill>
            <a:prstDash val="solid"/>
          </a:ln>
        </p:spPr>
        <p:txBody>
          <a:bodyPr/>
          <a:lstStyle/>
          <a:p>
            <a:pPr defTabSz="685800"/>
            <a:endParaRPr lang="en-US" sz="1350">
              <a:solidFill>
                <a:prstClr val="black"/>
              </a:solidFill>
              <a:latin typeface="Calibri" panose="020F0502020204030204"/>
            </a:endParaRPr>
          </a:p>
        </p:txBody>
      </p:sp>
      <p:sp>
        <p:nvSpPr>
          <p:cNvPr id="65" name="Text 58"/>
          <p:cNvSpPr/>
          <p:nvPr/>
        </p:nvSpPr>
        <p:spPr>
          <a:xfrm>
            <a:off x="3291840" y="3497580"/>
            <a:ext cx="2523744" cy="548640"/>
          </a:xfrm>
          <a:prstGeom prst="rect">
            <a:avLst/>
          </a:prstGeom>
          <a:noFill/>
          <a:ln/>
        </p:spPr>
        <p:txBody>
          <a:bodyPr wrap="square" rtlCol="0" anchor="t"/>
          <a:lstStyle/>
          <a:p>
            <a:pPr defTabSz="685800">
              <a:lnSpc>
                <a:spcPct val="140000"/>
              </a:lnSpc>
            </a:pPr>
            <a:r>
              <a:rPr lang="en-US" sz="713" dirty="0">
                <a:solidFill>
                  <a:schemeClr val="bg1"/>
                </a:solidFill>
                <a:latin typeface="Calibri" pitchFamily="34" charset="0"/>
                <a:ea typeface="Calibri" pitchFamily="34" charset="-122"/>
                <a:cs typeface="Calibri" pitchFamily="34" charset="-120"/>
              </a:rPr>
              <a:t>Catch compile errors, empty results, and row multiplication before the answer reaches the user.</a:t>
            </a:r>
            <a:endParaRPr lang="en-US" sz="713" dirty="0">
              <a:solidFill>
                <a:schemeClr val="bg1"/>
              </a:solidFill>
              <a:latin typeface="Calibri" panose="020F0502020204030204"/>
            </a:endParaRPr>
          </a:p>
        </p:txBody>
      </p:sp>
      <p:sp>
        <p:nvSpPr>
          <p:cNvPr id="66" name="Shape 59"/>
          <p:cNvSpPr/>
          <p:nvPr/>
        </p:nvSpPr>
        <p:spPr>
          <a:xfrm>
            <a:off x="6076188" y="2852928"/>
            <a:ext cx="2674620" cy="1275588"/>
          </a:xfrm>
          <a:prstGeom prst="rect">
            <a:avLst/>
          </a:prstGeom>
          <a:solidFill>
            <a:srgbClr val="1A1E29"/>
          </a:solidFill>
          <a:ln w="6350">
            <a:solidFill>
              <a:srgbClr val="FFFFFF">
                <a:alpha val="8000"/>
              </a:srgbClr>
            </a:solidFill>
            <a:prstDash val="solid"/>
          </a:ln>
          <a:effectLst>
            <a:outerShdw blurRad="152400" dist="38100" dir="8100000" algn="bl" rotWithShape="0">
              <a:srgbClr val="000000">
                <a:alpha val="30000"/>
              </a:srgbClr>
            </a:outerShdw>
          </a:effectLst>
        </p:spPr>
        <p:txBody>
          <a:bodyPr/>
          <a:lstStyle/>
          <a:p>
            <a:pPr defTabSz="685800"/>
            <a:endParaRPr lang="en-US" sz="1350">
              <a:solidFill>
                <a:prstClr val="black"/>
              </a:solidFill>
              <a:latin typeface="Calibri" panose="020F0502020204030204"/>
            </a:endParaRPr>
          </a:p>
        </p:txBody>
      </p:sp>
      <p:sp>
        <p:nvSpPr>
          <p:cNvPr id="67" name="Shape 60"/>
          <p:cNvSpPr/>
          <p:nvPr/>
        </p:nvSpPr>
        <p:spPr>
          <a:xfrm>
            <a:off x="6076188" y="2852928"/>
            <a:ext cx="34290" cy="1275588"/>
          </a:xfrm>
          <a:prstGeom prst="rect">
            <a:avLst/>
          </a:prstGeom>
          <a:solidFill>
            <a:srgbClr val="F87171"/>
          </a:solidFill>
          <a:ln w="12700">
            <a:solidFill>
              <a:srgbClr val="F87171"/>
            </a:solidFill>
            <a:prstDash val="solid"/>
          </a:ln>
        </p:spPr>
        <p:txBody>
          <a:bodyPr/>
          <a:lstStyle/>
          <a:p>
            <a:pPr defTabSz="685800"/>
            <a:endParaRPr lang="en-US" sz="1350">
              <a:solidFill>
                <a:prstClr val="black"/>
              </a:solidFill>
              <a:latin typeface="Calibri" panose="020F0502020204030204"/>
            </a:endParaRPr>
          </a:p>
        </p:txBody>
      </p:sp>
      <p:sp>
        <p:nvSpPr>
          <p:cNvPr id="68" name="Shape 61"/>
          <p:cNvSpPr/>
          <p:nvPr/>
        </p:nvSpPr>
        <p:spPr>
          <a:xfrm>
            <a:off x="6185916" y="2976372"/>
            <a:ext cx="260604" cy="178308"/>
          </a:xfrm>
          <a:prstGeom prst="rect">
            <a:avLst/>
          </a:prstGeom>
          <a:solidFill>
            <a:srgbClr val="F87171">
              <a:alpha val="18000"/>
            </a:srgbClr>
          </a:solidFill>
          <a:ln w="5080">
            <a:solidFill>
              <a:srgbClr val="F87171">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69" name="Text 62"/>
          <p:cNvSpPr/>
          <p:nvPr/>
        </p:nvSpPr>
        <p:spPr>
          <a:xfrm>
            <a:off x="6185916" y="2976372"/>
            <a:ext cx="260604" cy="178308"/>
          </a:xfrm>
          <a:prstGeom prst="rect">
            <a:avLst/>
          </a:prstGeom>
          <a:noFill/>
          <a:ln/>
        </p:spPr>
        <p:txBody>
          <a:bodyPr wrap="square" lIns="0" tIns="0" rIns="0" bIns="0" rtlCol="0" anchor="ctr"/>
          <a:lstStyle/>
          <a:p>
            <a:pPr algn="ctr" defTabSz="685800"/>
            <a:r>
              <a:rPr lang="en-US" sz="600" b="1" kern="0" spc="75" dirty="0">
                <a:solidFill>
                  <a:srgbClr val="F87171"/>
                </a:solidFill>
                <a:latin typeface="Calibri" panose="020F0502020204030204"/>
              </a:rPr>
              <a:t>06</a:t>
            </a:r>
            <a:endParaRPr lang="en-US" sz="600" dirty="0">
              <a:solidFill>
                <a:prstClr val="black"/>
              </a:solidFill>
              <a:latin typeface="Calibri" panose="020F0502020204030204"/>
            </a:endParaRPr>
          </a:p>
        </p:txBody>
      </p:sp>
      <p:sp>
        <p:nvSpPr>
          <p:cNvPr id="70" name="Shape 63"/>
          <p:cNvSpPr/>
          <p:nvPr/>
        </p:nvSpPr>
        <p:spPr>
          <a:xfrm>
            <a:off x="6528816" y="2962656"/>
            <a:ext cx="205740" cy="205740"/>
          </a:xfrm>
          <a:prstGeom prst="ellipse">
            <a:avLst/>
          </a:prstGeom>
          <a:solidFill>
            <a:srgbClr val="F87171">
              <a:alpha val="14000"/>
            </a:srgbClr>
          </a:solidFill>
          <a:ln w="5080">
            <a:solidFill>
              <a:srgbClr val="F87171">
                <a:alpha val="35000"/>
              </a:srgbClr>
            </a:solidFill>
            <a:prstDash val="solid"/>
          </a:ln>
        </p:spPr>
        <p:txBody>
          <a:bodyPr/>
          <a:lstStyle/>
          <a:p>
            <a:pPr defTabSz="685800"/>
            <a:endParaRPr lang="en-US" sz="1350">
              <a:solidFill>
                <a:prstClr val="black"/>
              </a:solidFill>
              <a:latin typeface="Calibri" panose="020F0502020204030204"/>
            </a:endParaRPr>
          </a:p>
        </p:txBody>
      </p:sp>
      <p:pic>
        <p:nvPicPr>
          <p:cNvPr id="71" name="Image 5" descr="preencoded.png"/>
          <p:cNvPicPr>
            <a:picLocks noChangeAspect="1"/>
          </p:cNvPicPr>
          <p:nvPr/>
        </p:nvPicPr>
        <p:blipFill>
          <a:blip r:embed="rId8"/>
          <a:stretch>
            <a:fillRect/>
          </a:stretch>
        </p:blipFill>
        <p:spPr>
          <a:xfrm>
            <a:off x="6549390" y="2983230"/>
            <a:ext cx="164592" cy="164592"/>
          </a:xfrm>
          <a:prstGeom prst="rect">
            <a:avLst/>
          </a:prstGeom>
        </p:spPr>
      </p:pic>
      <p:sp>
        <p:nvSpPr>
          <p:cNvPr id="72" name="Text 64"/>
          <p:cNvSpPr/>
          <p:nvPr/>
        </p:nvSpPr>
        <p:spPr>
          <a:xfrm>
            <a:off x="6158484" y="3209544"/>
            <a:ext cx="2537460" cy="219456"/>
          </a:xfrm>
          <a:prstGeom prst="rect">
            <a:avLst/>
          </a:prstGeom>
          <a:noFill/>
          <a:ln/>
        </p:spPr>
        <p:txBody>
          <a:bodyPr wrap="square" lIns="0" tIns="0" rIns="0" bIns="0" rtlCol="0" anchor="ctr"/>
          <a:lstStyle/>
          <a:p>
            <a:pPr defTabSz="685800"/>
            <a:r>
              <a:rPr lang="en-US" sz="900" b="1" dirty="0">
                <a:solidFill>
                  <a:srgbClr val="F0EDE6"/>
                </a:solidFill>
                <a:latin typeface="Calibri" pitchFamily="34" charset="0"/>
                <a:ea typeface="Calibri" pitchFamily="34" charset="-122"/>
                <a:cs typeface="Calibri" pitchFamily="34" charset="-120"/>
              </a:rPr>
              <a:t>Result Validation</a:t>
            </a:r>
            <a:endParaRPr lang="en-US" sz="900" dirty="0">
              <a:solidFill>
                <a:prstClr val="black"/>
              </a:solidFill>
              <a:latin typeface="Calibri" panose="020F0502020204030204"/>
            </a:endParaRPr>
          </a:p>
        </p:txBody>
      </p:sp>
      <p:sp>
        <p:nvSpPr>
          <p:cNvPr id="73" name="Shape 65"/>
          <p:cNvSpPr/>
          <p:nvPr/>
        </p:nvSpPr>
        <p:spPr>
          <a:xfrm>
            <a:off x="6158484" y="3456432"/>
            <a:ext cx="2468880" cy="0"/>
          </a:xfrm>
          <a:prstGeom prst="line">
            <a:avLst/>
          </a:prstGeom>
          <a:noFill/>
          <a:ln w="5080">
            <a:solidFill>
              <a:srgbClr val="FFFFFF">
                <a:alpha val="10000"/>
              </a:srgbClr>
            </a:solidFill>
            <a:prstDash val="solid"/>
          </a:ln>
        </p:spPr>
        <p:txBody>
          <a:bodyPr/>
          <a:lstStyle/>
          <a:p>
            <a:pPr defTabSz="685800"/>
            <a:endParaRPr lang="en-US" sz="1350">
              <a:solidFill>
                <a:prstClr val="black"/>
              </a:solidFill>
              <a:latin typeface="Calibri" panose="020F0502020204030204"/>
            </a:endParaRPr>
          </a:p>
        </p:txBody>
      </p:sp>
      <p:sp>
        <p:nvSpPr>
          <p:cNvPr id="74" name="Text 66"/>
          <p:cNvSpPr/>
          <p:nvPr/>
        </p:nvSpPr>
        <p:spPr>
          <a:xfrm>
            <a:off x="6158484" y="3497580"/>
            <a:ext cx="2523744" cy="548640"/>
          </a:xfrm>
          <a:prstGeom prst="rect">
            <a:avLst/>
          </a:prstGeom>
          <a:noFill/>
          <a:ln/>
        </p:spPr>
        <p:txBody>
          <a:bodyPr wrap="square" rtlCol="0" anchor="t"/>
          <a:lstStyle/>
          <a:p>
            <a:pPr defTabSz="685800">
              <a:lnSpc>
                <a:spcPct val="140000"/>
              </a:lnSpc>
            </a:pPr>
            <a:r>
              <a:rPr lang="en-US" sz="713" dirty="0">
                <a:solidFill>
                  <a:schemeClr val="bg1"/>
                </a:solidFill>
                <a:latin typeface="Calibri" pitchFamily="34" charset="0"/>
                <a:ea typeface="Calibri" pitchFamily="34" charset="-122"/>
                <a:cs typeface="Calibri" pitchFamily="34" charset="-120"/>
              </a:rPr>
              <a:t>Verify grain, magnitude, and completeness against known statistics. A confident SQL string is not a correct one.</a:t>
            </a:r>
            <a:endParaRPr lang="en-US" sz="713" dirty="0">
              <a:solidFill>
                <a:schemeClr val="bg1"/>
              </a:solidFill>
              <a:latin typeface="Calibri" panose="020F0502020204030204"/>
            </a:endParaRPr>
          </a:p>
        </p:txBody>
      </p:sp>
      <p:sp>
        <p:nvSpPr>
          <p:cNvPr id="75" name="Shape 67"/>
          <p:cNvSpPr/>
          <p:nvPr/>
        </p:nvSpPr>
        <p:spPr>
          <a:xfrm>
            <a:off x="342900" y="4183380"/>
            <a:ext cx="8435340" cy="288036"/>
          </a:xfrm>
          <a:prstGeom prst="rect">
            <a:avLst/>
          </a:prstGeom>
          <a:solidFill>
            <a:srgbClr val="F59E0B">
              <a:alpha val="10000"/>
            </a:srgbClr>
          </a:solidFill>
          <a:ln w="6350">
            <a:solidFill>
              <a:srgbClr val="F59E0B">
                <a:alpha val="30000"/>
              </a:srgbClr>
            </a:solidFill>
            <a:prstDash val="solid"/>
          </a:ln>
        </p:spPr>
        <p:txBody>
          <a:bodyPr/>
          <a:lstStyle/>
          <a:p>
            <a:pPr defTabSz="685800"/>
            <a:endParaRPr lang="en-US" sz="1350">
              <a:solidFill>
                <a:prstClr val="black"/>
              </a:solidFill>
              <a:latin typeface="Calibri" panose="020F0502020204030204"/>
            </a:endParaRPr>
          </a:p>
        </p:txBody>
      </p:sp>
      <p:sp>
        <p:nvSpPr>
          <p:cNvPr id="76" name="Text 68"/>
          <p:cNvSpPr/>
          <p:nvPr/>
        </p:nvSpPr>
        <p:spPr>
          <a:xfrm>
            <a:off x="480060" y="4183380"/>
            <a:ext cx="8161020" cy="288036"/>
          </a:xfrm>
          <a:prstGeom prst="rect">
            <a:avLst/>
          </a:prstGeom>
          <a:noFill/>
          <a:ln/>
        </p:spPr>
        <p:txBody>
          <a:bodyPr wrap="square" rtlCol="0" anchor="ctr"/>
          <a:lstStyle/>
          <a:p>
            <a:pPr algn="ctr" defTabSz="685800"/>
            <a:r>
              <a:rPr lang="en-US" sz="750" dirty="0">
                <a:solidFill>
                  <a:srgbClr val="F59E0B"/>
                </a:solidFill>
                <a:latin typeface="Calibri" pitchFamily="34" charset="0"/>
                <a:ea typeface="Calibri" pitchFamily="34" charset="-122"/>
                <a:cs typeface="Calibri" pitchFamily="34" charset="-120"/>
              </a:rPr>
              <a:t>Each of these six decisions is a dedicated agent in the SpiderDIN pipeline  —  not an afterthought.</a:t>
            </a:r>
            <a:endParaRPr lang="en-US" sz="750" dirty="0">
              <a:solidFill>
                <a:prstClr val="black"/>
              </a:solidFill>
              <a:latin typeface="Calibri" panose="020F0502020204030204"/>
            </a:endParaRPr>
          </a:p>
        </p:txBody>
      </p:sp>
      <p:sp>
        <p:nvSpPr>
          <p:cNvPr id="77" name="Shape 69"/>
          <p:cNvSpPr/>
          <p:nvPr/>
        </p:nvSpPr>
        <p:spPr>
          <a:xfrm>
            <a:off x="342900" y="4924044"/>
            <a:ext cx="8435340" cy="0"/>
          </a:xfrm>
          <a:prstGeom prst="line">
            <a:avLst/>
          </a:prstGeom>
          <a:noFill/>
          <a:ln w="5080">
            <a:solidFill>
              <a:srgbClr val="FFFFFF">
                <a:alpha val="10000"/>
              </a:srgbClr>
            </a:solidFill>
            <a:prstDash val="solid"/>
          </a:ln>
        </p:spPr>
        <p:txBody>
          <a:bodyPr/>
          <a:lstStyle/>
          <a:p>
            <a:pPr defTabSz="685800"/>
            <a:endParaRPr lang="en-US" sz="1350">
              <a:solidFill>
                <a:prstClr val="black"/>
              </a:solidFill>
              <a:latin typeface="Calibri" panose="020F0502020204030204"/>
            </a:endParaRPr>
          </a:p>
        </p:txBody>
      </p:sp>
      <p:sp>
        <p:nvSpPr>
          <p:cNvPr id="78" name="Text 70"/>
          <p:cNvSpPr/>
          <p:nvPr/>
        </p:nvSpPr>
        <p:spPr>
          <a:xfrm>
            <a:off x="342900" y="4951476"/>
            <a:ext cx="4800600" cy="150876"/>
          </a:xfrm>
          <a:prstGeom prst="rect">
            <a:avLst/>
          </a:prstGeom>
          <a:noFill/>
          <a:ln/>
        </p:spPr>
        <p:txBody>
          <a:bodyPr wrap="square" rtlCol="0" anchor="ctr"/>
          <a:lstStyle/>
          <a:p>
            <a:pPr defTabSz="685800"/>
            <a:r>
              <a:rPr lang="en-US" sz="600" dirty="0">
                <a:solidFill>
                  <a:srgbClr val="5A6070"/>
                </a:solidFill>
                <a:latin typeface="Calibri" pitchFamily="34" charset="0"/>
                <a:ea typeface="Calibri" pitchFamily="34" charset="-122"/>
                <a:cs typeface="Calibri" pitchFamily="34" charset="-120"/>
              </a:rPr>
              <a:t>SpiderDIN project walkthrough  |  current repository snapshot</a:t>
            </a:r>
            <a:endParaRPr lang="en-US" sz="600" dirty="0">
              <a:solidFill>
                <a:prstClr val="black"/>
              </a:solidFill>
              <a:latin typeface="Calibri" panose="020F0502020204030204"/>
            </a:endParaRPr>
          </a:p>
        </p:txBody>
      </p:sp>
      <p:pic>
        <p:nvPicPr>
          <p:cNvPr id="79" name="Picture 78">
            <a:extLst>
              <a:ext uri="{FF2B5EF4-FFF2-40B4-BE49-F238E27FC236}">
                <a16:creationId xmlns:a16="http://schemas.microsoft.com/office/drawing/2014/main" id="{2795FC5F-42D8-E6D3-25F5-E1B182E96401}"/>
              </a:ext>
            </a:extLst>
          </p:cNvPr>
          <p:cNvPicPr>
            <a:picLocks noChangeAspect="1"/>
          </p:cNvPicPr>
          <p:nvPr/>
        </p:nvPicPr>
        <p:blipFill>
          <a:blip r:embed="rId9"/>
          <a:srcRect l="-928" t="29746" r="928" b="36645"/>
          <a:stretch>
            <a:fillRect/>
          </a:stretch>
        </p:blipFill>
        <p:spPr>
          <a:xfrm>
            <a:off x="8218575" y="45720"/>
            <a:ext cx="861058" cy="2893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0F14"/>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810">
            <a:solidFill>
              <a:srgbClr val="FFFFFF">
                <a:alpha val="6000"/>
              </a:srgbClr>
            </a:solidFill>
            <a:prstDash val="solid"/>
          </a:ln>
        </p:spPr>
        <p:txBody>
          <a:bodyPr/>
          <a:lstStyle/>
          <a:p>
            <a:pPr defTabSz="685800"/>
            <a:endParaRPr lang="en-US" sz="1350">
              <a:solidFill>
                <a:prstClr val="black"/>
              </a:solidFill>
              <a:latin typeface="Calibri" panose="020F0502020204030204"/>
            </a:endParaRPr>
          </a:p>
        </p:txBody>
      </p:sp>
      <p:sp>
        <p:nvSpPr>
          <p:cNvPr id="3" name="Shape 1"/>
          <p:cNvSpPr/>
          <p:nvPr/>
        </p:nvSpPr>
        <p:spPr>
          <a:xfrm>
            <a:off x="685800" y="0"/>
            <a:ext cx="0" cy="5143500"/>
          </a:xfrm>
          <a:prstGeom prst="line">
            <a:avLst/>
          </a:prstGeom>
          <a:noFill/>
          <a:ln w="3810">
            <a:solidFill>
              <a:srgbClr val="FFFFFF">
                <a:alpha val="6000"/>
              </a:srgbClr>
            </a:solidFill>
            <a:prstDash val="solid"/>
          </a:ln>
        </p:spPr>
        <p:txBody>
          <a:bodyPr/>
          <a:lstStyle/>
          <a:p>
            <a:pPr defTabSz="685800"/>
            <a:endParaRPr lang="en-US" sz="1350">
              <a:solidFill>
                <a:prstClr val="black"/>
              </a:solidFill>
              <a:latin typeface="Calibri" panose="020F0502020204030204"/>
            </a:endParaRPr>
          </a:p>
        </p:txBody>
      </p:sp>
      <p:sp>
        <p:nvSpPr>
          <p:cNvPr id="4" name="Shape 2"/>
          <p:cNvSpPr/>
          <p:nvPr/>
        </p:nvSpPr>
        <p:spPr>
          <a:xfrm>
            <a:off x="1371600" y="0"/>
            <a:ext cx="0" cy="5143500"/>
          </a:xfrm>
          <a:prstGeom prst="line">
            <a:avLst/>
          </a:prstGeom>
          <a:noFill/>
          <a:ln w="3810">
            <a:solidFill>
              <a:srgbClr val="FFFFFF">
                <a:alpha val="6000"/>
              </a:srgbClr>
            </a:solidFill>
            <a:prstDash val="solid"/>
          </a:ln>
        </p:spPr>
        <p:txBody>
          <a:bodyPr/>
          <a:lstStyle/>
          <a:p>
            <a:pPr defTabSz="685800"/>
            <a:endParaRPr lang="en-US" sz="1350">
              <a:solidFill>
                <a:prstClr val="black"/>
              </a:solidFill>
              <a:latin typeface="Calibri" panose="020F0502020204030204"/>
            </a:endParaRPr>
          </a:p>
        </p:txBody>
      </p:sp>
      <p:sp>
        <p:nvSpPr>
          <p:cNvPr id="5" name="Shape 3"/>
          <p:cNvSpPr/>
          <p:nvPr/>
        </p:nvSpPr>
        <p:spPr>
          <a:xfrm>
            <a:off x="2057400" y="0"/>
            <a:ext cx="0" cy="5143500"/>
          </a:xfrm>
          <a:prstGeom prst="line">
            <a:avLst/>
          </a:prstGeom>
          <a:noFill/>
          <a:ln w="3810">
            <a:solidFill>
              <a:srgbClr val="FFFFFF">
                <a:alpha val="6000"/>
              </a:srgbClr>
            </a:solidFill>
            <a:prstDash val="solid"/>
          </a:ln>
        </p:spPr>
        <p:txBody>
          <a:bodyPr/>
          <a:lstStyle/>
          <a:p>
            <a:pPr defTabSz="685800"/>
            <a:endParaRPr lang="en-US" sz="1350">
              <a:solidFill>
                <a:prstClr val="black"/>
              </a:solidFill>
              <a:latin typeface="Calibri" panose="020F0502020204030204"/>
            </a:endParaRPr>
          </a:p>
        </p:txBody>
      </p:sp>
      <p:sp>
        <p:nvSpPr>
          <p:cNvPr id="6" name="Shape 4"/>
          <p:cNvSpPr/>
          <p:nvPr/>
        </p:nvSpPr>
        <p:spPr>
          <a:xfrm>
            <a:off x="2743200" y="0"/>
            <a:ext cx="0" cy="5143500"/>
          </a:xfrm>
          <a:prstGeom prst="line">
            <a:avLst/>
          </a:prstGeom>
          <a:noFill/>
          <a:ln w="3810">
            <a:solidFill>
              <a:srgbClr val="FFFFFF">
                <a:alpha val="6000"/>
              </a:srgbClr>
            </a:solidFill>
            <a:prstDash val="solid"/>
          </a:ln>
        </p:spPr>
        <p:txBody>
          <a:bodyPr/>
          <a:lstStyle/>
          <a:p>
            <a:pPr defTabSz="685800"/>
            <a:endParaRPr lang="en-US" sz="1350">
              <a:solidFill>
                <a:prstClr val="black"/>
              </a:solidFill>
              <a:latin typeface="Calibri" panose="020F0502020204030204"/>
            </a:endParaRPr>
          </a:p>
        </p:txBody>
      </p:sp>
      <p:sp>
        <p:nvSpPr>
          <p:cNvPr id="7" name="Shape 5"/>
          <p:cNvSpPr/>
          <p:nvPr/>
        </p:nvSpPr>
        <p:spPr>
          <a:xfrm>
            <a:off x="3429000" y="0"/>
            <a:ext cx="0" cy="5143500"/>
          </a:xfrm>
          <a:prstGeom prst="line">
            <a:avLst/>
          </a:prstGeom>
          <a:noFill/>
          <a:ln w="3810">
            <a:solidFill>
              <a:srgbClr val="FFFFFF">
                <a:alpha val="6000"/>
              </a:srgbClr>
            </a:solidFill>
            <a:prstDash val="solid"/>
          </a:ln>
        </p:spPr>
        <p:txBody>
          <a:bodyPr/>
          <a:lstStyle/>
          <a:p>
            <a:pPr defTabSz="685800"/>
            <a:endParaRPr lang="en-US" sz="1350">
              <a:solidFill>
                <a:prstClr val="black"/>
              </a:solidFill>
              <a:latin typeface="Calibri" panose="020F0502020204030204"/>
            </a:endParaRPr>
          </a:p>
        </p:txBody>
      </p:sp>
      <p:sp>
        <p:nvSpPr>
          <p:cNvPr id="8" name="Shape 6"/>
          <p:cNvSpPr/>
          <p:nvPr/>
        </p:nvSpPr>
        <p:spPr>
          <a:xfrm>
            <a:off x="4114800" y="0"/>
            <a:ext cx="0" cy="5143500"/>
          </a:xfrm>
          <a:prstGeom prst="line">
            <a:avLst/>
          </a:prstGeom>
          <a:noFill/>
          <a:ln w="3810">
            <a:solidFill>
              <a:srgbClr val="FFFFFF">
                <a:alpha val="6000"/>
              </a:srgbClr>
            </a:solidFill>
            <a:prstDash val="solid"/>
          </a:ln>
        </p:spPr>
        <p:txBody>
          <a:bodyPr/>
          <a:lstStyle/>
          <a:p>
            <a:pPr defTabSz="685800"/>
            <a:endParaRPr lang="en-US" sz="1350">
              <a:solidFill>
                <a:prstClr val="black"/>
              </a:solidFill>
              <a:latin typeface="Calibri" panose="020F0502020204030204"/>
            </a:endParaRPr>
          </a:p>
        </p:txBody>
      </p:sp>
      <p:sp>
        <p:nvSpPr>
          <p:cNvPr id="9" name="Shape 7"/>
          <p:cNvSpPr/>
          <p:nvPr/>
        </p:nvSpPr>
        <p:spPr>
          <a:xfrm>
            <a:off x="4800600" y="0"/>
            <a:ext cx="0" cy="5143500"/>
          </a:xfrm>
          <a:prstGeom prst="line">
            <a:avLst/>
          </a:prstGeom>
          <a:noFill/>
          <a:ln w="3810">
            <a:solidFill>
              <a:srgbClr val="FFFFFF">
                <a:alpha val="6000"/>
              </a:srgbClr>
            </a:solidFill>
            <a:prstDash val="solid"/>
          </a:ln>
        </p:spPr>
        <p:txBody>
          <a:bodyPr/>
          <a:lstStyle/>
          <a:p>
            <a:pPr defTabSz="685800"/>
            <a:endParaRPr lang="en-US" sz="1350">
              <a:solidFill>
                <a:prstClr val="black"/>
              </a:solidFill>
              <a:latin typeface="Calibri" panose="020F0502020204030204"/>
            </a:endParaRPr>
          </a:p>
        </p:txBody>
      </p:sp>
      <p:sp>
        <p:nvSpPr>
          <p:cNvPr id="10" name="Shape 8"/>
          <p:cNvSpPr/>
          <p:nvPr/>
        </p:nvSpPr>
        <p:spPr>
          <a:xfrm>
            <a:off x="5486400" y="0"/>
            <a:ext cx="0" cy="5143500"/>
          </a:xfrm>
          <a:prstGeom prst="line">
            <a:avLst/>
          </a:prstGeom>
          <a:noFill/>
          <a:ln w="3810">
            <a:solidFill>
              <a:srgbClr val="FFFFFF">
                <a:alpha val="6000"/>
              </a:srgbClr>
            </a:solidFill>
            <a:prstDash val="solid"/>
          </a:ln>
        </p:spPr>
        <p:txBody>
          <a:bodyPr/>
          <a:lstStyle/>
          <a:p>
            <a:pPr defTabSz="685800"/>
            <a:endParaRPr lang="en-US" sz="1350">
              <a:solidFill>
                <a:prstClr val="black"/>
              </a:solidFill>
              <a:latin typeface="Calibri" panose="020F0502020204030204"/>
            </a:endParaRPr>
          </a:p>
        </p:txBody>
      </p:sp>
      <p:sp>
        <p:nvSpPr>
          <p:cNvPr id="11" name="Shape 9"/>
          <p:cNvSpPr/>
          <p:nvPr/>
        </p:nvSpPr>
        <p:spPr>
          <a:xfrm>
            <a:off x="6172200" y="0"/>
            <a:ext cx="0" cy="5143500"/>
          </a:xfrm>
          <a:prstGeom prst="line">
            <a:avLst/>
          </a:prstGeom>
          <a:noFill/>
          <a:ln w="3810">
            <a:solidFill>
              <a:srgbClr val="FFFFFF">
                <a:alpha val="6000"/>
              </a:srgbClr>
            </a:solidFill>
            <a:prstDash val="solid"/>
          </a:ln>
        </p:spPr>
        <p:txBody>
          <a:bodyPr/>
          <a:lstStyle/>
          <a:p>
            <a:pPr defTabSz="685800"/>
            <a:endParaRPr lang="en-US" sz="1350">
              <a:solidFill>
                <a:prstClr val="black"/>
              </a:solidFill>
              <a:latin typeface="Calibri" panose="020F0502020204030204"/>
            </a:endParaRPr>
          </a:p>
        </p:txBody>
      </p:sp>
      <p:sp>
        <p:nvSpPr>
          <p:cNvPr id="12" name="Shape 10"/>
          <p:cNvSpPr/>
          <p:nvPr/>
        </p:nvSpPr>
        <p:spPr>
          <a:xfrm>
            <a:off x="6858000" y="0"/>
            <a:ext cx="0" cy="5143500"/>
          </a:xfrm>
          <a:prstGeom prst="line">
            <a:avLst/>
          </a:prstGeom>
          <a:noFill/>
          <a:ln w="3810">
            <a:solidFill>
              <a:srgbClr val="FFFFFF">
                <a:alpha val="6000"/>
              </a:srgbClr>
            </a:solidFill>
            <a:prstDash val="solid"/>
          </a:ln>
        </p:spPr>
        <p:txBody>
          <a:bodyPr/>
          <a:lstStyle/>
          <a:p>
            <a:pPr defTabSz="685800"/>
            <a:endParaRPr lang="en-US" sz="1350">
              <a:solidFill>
                <a:prstClr val="black"/>
              </a:solidFill>
              <a:latin typeface="Calibri" panose="020F0502020204030204"/>
            </a:endParaRPr>
          </a:p>
        </p:txBody>
      </p:sp>
      <p:sp>
        <p:nvSpPr>
          <p:cNvPr id="13" name="Shape 11"/>
          <p:cNvSpPr/>
          <p:nvPr/>
        </p:nvSpPr>
        <p:spPr>
          <a:xfrm>
            <a:off x="7543800" y="0"/>
            <a:ext cx="0" cy="5143500"/>
          </a:xfrm>
          <a:prstGeom prst="line">
            <a:avLst/>
          </a:prstGeom>
          <a:noFill/>
          <a:ln w="3810">
            <a:solidFill>
              <a:srgbClr val="FFFFFF">
                <a:alpha val="6000"/>
              </a:srgbClr>
            </a:solidFill>
            <a:prstDash val="solid"/>
          </a:ln>
        </p:spPr>
        <p:txBody>
          <a:bodyPr/>
          <a:lstStyle/>
          <a:p>
            <a:pPr defTabSz="685800"/>
            <a:endParaRPr lang="en-US" sz="1350">
              <a:solidFill>
                <a:prstClr val="black"/>
              </a:solidFill>
              <a:latin typeface="Calibri" panose="020F0502020204030204"/>
            </a:endParaRPr>
          </a:p>
        </p:txBody>
      </p:sp>
      <p:sp>
        <p:nvSpPr>
          <p:cNvPr id="14" name="Shape 12"/>
          <p:cNvSpPr/>
          <p:nvPr/>
        </p:nvSpPr>
        <p:spPr>
          <a:xfrm>
            <a:off x="8229600" y="0"/>
            <a:ext cx="0" cy="5143500"/>
          </a:xfrm>
          <a:prstGeom prst="line">
            <a:avLst/>
          </a:prstGeom>
          <a:noFill/>
          <a:ln w="3810">
            <a:solidFill>
              <a:srgbClr val="FFFFFF">
                <a:alpha val="6000"/>
              </a:srgbClr>
            </a:solidFill>
            <a:prstDash val="solid"/>
          </a:ln>
        </p:spPr>
        <p:txBody>
          <a:bodyPr/>
          <a:lstStyle/>
          <a:p>
            <a:pPr defTabSz="685800"/>
            <a:endParaRPr lang="en-US" sz="1350">
              <a:solidFill>
                <a:prstClr val="black"/>
              </a:solidFill>
              <a:latin typeface="Calibri" panose="020F0502020204030204"/>
            </a:endParaRPr>
          </a:p>
        </p:txBody>
      </p:sp>
      <p:sp>
        <p:nvSpPr>
          <p:cNvPr id="15" name="Shape 13"/>
          <p:cNvSpPr/>
          <p:nvPr/>
        </p:nvSpPr>
        <p:spPr>
          <a:xfrm>
            <a:off x="8915400" y="0"/>
            <a:ext cx="0" cy="5143500"/>
          </a:xfrm>
          <a:prstGeom prst="line">
            <a:avLst/>
          </a:prstGeom>
          <a:noFill/>
          <a:ln w="3810">
            <a:solidFill>
              <a:srgbClr val="FFFFFF">
                <a:alpha val="6000"/>
              </a:srgbClr>
            </a:solidFill>
            <a:prstDash val="solid"/>
          </a:ln>
        </p:spPr>
        <p:txBody>
          <a:bodyPr/>
          <a:lstStyle/>
          <a:p>
            <a:pPr defTabSz="685800"/>
            <a:endParaRPr lang="en-US" sz="1350">
              <a:solidFill>
                <a:prstClr val="black"/>
              </a:solidFill>
              <a:latin typeface="Calibri" panose="020F0502020204030204"/>
            </a:endParaRPr>
          </a:p>
        </p:txBody>
      </p:sp>
      <p:sp>
        <p:nvSpPr>
          <p:cNvPr id="16" name="Shape 14"/>
          <p:cNvSpPr/>
          <p:nvPr/>
        </p:nvSpPr>
        <p:spPr>
          <a:xfrm>
            <a:off x="342900" y="260604"/>
            <a:ext cx="1097280" cy="192024"/>
          </a:xfrm>
          <a:prstGeom prst="rect">
            <a:avLst/>
          </a:prstGeom>
          <a:solidFill>
            <a:srgbClr val="F59E0B"/>
          </a:solidFill>
          <a:ln w="12700">
            <a:solidFill>
              <a:srgbClr val="F59E0B"/>
            </a:solidFill>
            <a:prstDash val="solid"/>
          </a:ln>
        </p:spPr>
        <p:txBody>
          <a:bodyPr/>
          <a:lstStyle/>
          <a:p>
            <a:pPr defTabSz="685800"/>
            <a:endParaRPr lang="en-US" sz="1350">
              <a:solidFill>
                <a:prstClr val="black"/>
              </a:solidFill>
              <a:latin typeface="Calibri" panose="020F0502020204030204"/>
            </a:endParaRPr>
          </a:p>
        </p:txBody>
      </p:sp>
      <p:sp>
        <p:nvSpPr>
          <p:cNvPr id="17" name="Text 15"/>
          <p:cNvSpPr/>
          <p:nvPr/>
        </p:nvSpPr>
        <p:spPr>
          <a:xfrm>
            <a:off x="342900" y="260604"/>
            <a:ext cx="1097280" cy="192024"/>
          </a:xfrm>
          <a:prstGeom prst="rect">
            <a:avLst/>
          </a:prstGeom>
          <a:noFill/>
          <a:ln/>
        </p:spPr>
        <p:txBody>
          <a:bodyPr wrap="square" lIns="0" tIns="0" rIns="0" bIns="0" rtlCol="0" anchor="ctr"/>
          <a:lstStyle/>
          <a:p>
            <a:pPr algn="ctr" defTabSz="685800"/>
            <a:r>
              <a:rPr lang="en-US" sz="563" b="1" kern="0" spc="113" dirty="0">
                <a:solidFill>
                  <a:srgbClr val="0D0F14"/>
                </a:solidFill>
                <a:latin typeface="Calibri" panose="020F0502020204030204"/>
              </a:rPr>
              <a:t>WHY IT MATTERS</a:t>
            </a:r>
            <a:endParaRPr lang="en-US" sz="563" dirty="0">
              <a:solidFill>
                <a:prstClr val="black"/>
              </a:solidFill>
              <a:latin typeface="Calibri" panose="020F0502020204030204"/>
            </a:endParaRPr>
          </a:p>
        </p:txBody>
      </p:sp>
      <p:sp>
        <p:nvSpPr>
          <p:cNvPr id="18" name="Text 16"/>
          <p:cNvSpPr/>
          <p:nvPr/>
        </p:nvSpPr>
        <p:spPr>
          <a:xfrm>
            <a:off x="8641080" y="240030"/>
            <a:ext cx="342900" cy="205740"/>
          </a:xfrm>
          <a:prstGeom prst="rect">
            <a:avLst/>
          </a:prstGeom>
          <a:noFill/>
          <a:ln/>
        </p:spPr>
        <p:txBody>
          <a:bodyPr wrap="square" rtlCol="0" anchor="ctr"/>
          <a:lstStyle/>
          <a:p>
            <a:pPr algn="r" defTabSz="685800"/>
            <a:r>
              <a:rPr lang="en-US" sz="825" dirty="0">
                <a:solidFill>
                  <a:srgbClr val="6B7280"/>
                </a:solidFill>
                <a:latin typeface="Calibri" panose="020F0502020204030204"/>
              </a:rPr>
              <a:t>02</a:t>
            </a:r>
            <a:endParaRPr lang="en-US" sz="825" dirty="0">
              <a:solidFill>
                <a:prstClr val="black"/>
              </a:solidFill>
              <a:latin typeface="Calibri" panose="020F0502020204030204"/>
            </a:endParaRPr>
          </a:p>
        </p:txBody>
      </p:sp>
      <p:sp>
        <p:nvSpPr>
          <p:cNvPr id="19" name="Text 17"/>
          <p:cNvSpPr/>
          <p:nvPr/>
        </p:nvSpPr>
        <p:spPr>
          <a:xfrm>
            <a:off x="342900" y="548640"/>
            <a:ext cx="7200900" cy="754380"/>
          </a:xfrm>
          <a:prstGeom prst="rect">
            <a:avLst/>
          </a:prstGeom>
          <a:noFill/>
          <a:ln/>
        </p:spPr>
        <p:txBody>
          <a:bodyPr wrap="square" rtlCol="0" anchor="ctr"/>
          <a:lstStyle/>
          <a:p>
            <a:pPr defTabSz="685800">
              <a:lnSpc>
                <a:spcPct val="115000"/>
              </a:lnSpc>
            </a:pPr>
            <a:r>
              <a:rPr lang="en-US" sz="1950" b="1" dirty="0">
                <a:solidFill>
                  <a:schemeClr val="accent4"/>
                </a:solidFill>
                <a:latin typeface="Georgia" pitchFamily="34" charset="0"/>
                <a:ea typeface="Georgia" pitchFamily="34" charset="-122"/>
                <a:cs typeface="Georgia" pitchFamily="34" charset="-120"/>
              </a:rPr>
              <a:t>Why Text-2-SQL is Hard:   </a:t>
            </a:r>
            <a:r>
              <a:rPr lang="en-US" sz="1950" b="1" dirty="0">
                <a:solidFill>
                  <a:srgbClr val="F0EDE6"/>
                </a:solidFill>
                <a:latin typeface="Georgia" pitchFamily="34" charset="0"/>
                <a:ea typeface="Georgia" pitchFamily="34" charset="-122"/>
                <a:cs typeface="Georgia" pitchFamily="34" charset="-120"/>
              </a:rPr>
              <a:t>Natural language hides database decisions that must be made </a:t>
            </a:r>
            <a:r>
              <a:rPr lang="en-US" sz="1950" b="1" dirty="0">
                <a:solidFill>
                  <a:srgbClr val="F59E0B"/>
                </a:solidFill>
                <a:latin typeface="Georgia" pitchFamily="34" charset="0"/>
                <a:ea typeface="Georgia" pitchFamily="34" charset="-122"/>
                <a:cs typeface="Georgia" pitchFamily="34" charset="-120"/>
              </a:rPr>
              <a:t>explicitly.</a:t>
            </a:r>
            <a:endParaRPr lang="en-US" sz="1950" dirty="0">
              <a:solidFill>
                <a:prstClr val="black"/>
              </a:solidFill>
              <a:latin typeface="Calibri" panose="020F0502020204030204"/>
            </a:endParaRPr>
          </a:p>
        </p:txBody>
      </p:sp>
      <p:sp>
        <p:nvSpPr>
          <p:cNvPr id="20" name="Text 18"/>
          <p:cNvSpPr/>
          <p:nvPr/>
        </p:nvSpPr>
        <p:spPr>
          <a:xfrm>
            <a:off x="342900" y="1337310"/>
            <a:ext cx="6515100" cy="260604"/>
          </a:xfrm>
          <a:prstGeom prst="rect">
            <a:avLst/>
          </a:prstGeom>
          <a:noFill/>
          <a:ln/>
        </p:spPr>
        <p:txBody>
          <a:bodyPr wrap="square" rtlCol="0" anchor="ctr"/>
          <a:lstStyle/>
          <a:p>
            <a:pPr defTabSz="685800"/>
            <a:r>
              <a:rPr lang="en-US" sz="788" dirty="0">
                <a:solidFill>
                  <a:schemeClr val="bg1"/>
                </a:solidFill>
                <a:latin typeface="Calibri" pitchFamily="34" charset="0"/>
                <a:ea typeface="Calibri" pitchFamily="34" charset="-122"/>
                <a:cs typeface="Calibri" pitchFamily="34" charset="-120"/>
              </a:rPr>
              <a:t>A question sounds simple to a user — but the system must resolve several hidden structural problems before SQL can be trusted.</a:t>
            </a:r>
            <a:endParaRPr lang="en-US" sz="788" dirty="0">
              <a:solidFill>
                <a:schemeClr val="bg1"/>
              </a:solidFill>
              <a:latin typeface="Calibri" panose="020F0502020204030204"/>
            </a:endParaRPr>
          </a:p>
        </p:txBody>
      </p:sp>
      <p:sp>
        <p:nvSpPr>
          <p:cNvPr id="21" name="Shape 19"/>
          <p:cNvSpPr/>
          <p:nvPr/>
        </p:nvSpPr>
        <p:spPr>
          <a:xfrm>
            <a:off x="342900" y="1673352"/>
            <a:ext cx="3086100" cy="17145"/>
          </a:xfrm>
          <a:prstGeom prst="rect">
            <a:avLst/>
          </a:prstGeom>
          <a:solidFill>
            <a:srgbClr val="F59E0B">
              <a:alpha val="60000"/>
            </a:srgbClr>
          </a:solidFill>
          <a:ln w="12700">
            <a:solidFill>
              <a:srgbClr val="F59E0B">
                <a:alpha val="60000"/>
              </a:srgbClr>
            </a:solidFill>
            <a:prstDash val="solid"/>
          </a:ln>
        </p:spPr>
        <p:txBody>
          <a:bodyPr/>
          <a:lstStyle/>
          <a:p>
            <a:pPr defTabSz="685800"/>
            <a:endParaRPr lang="en-US" sz="1350">
              <a:solidFill>
                <a:prstClr val="black"/>
              </a:solidFill>
              <a:latin typeface="Calibri" panose="020F0502020204030204"/>
            </a:endParaRPr>
          </a:p>
        </p:txBody>
      </p:sp>
      <p:sp>
        <p:nvSpPr>
          <p:cNvPr id="22" name="Shape 20"/>
          <p:cNvSpPr/>
          <p:nvPr/>
        </p:nvSpPr>
        <p:spPr>
          <a:xfrm>
            <a:off x="342900" y="1796796"/>
            <a:ext cx="2674620" cy="1371600"/>
          </a:xfrm>
          <a:prstGeom prst="rect">
            <a:avLst/>
          </a:prstGeom>
          <a:solidFill>
            <a:srgbClr val="1A1E29"/>
          </a:solidFill>
          <a:ln w="6350">
            <a:solidFill>
              <a:srgbClr val="FFFFFF">
                <a:alpha val="8000"/>
              </a:srgbClr>
            </a:solidFill>
            <a:prstDash val="solid"/>
          </a:ln>
          <a:effectLst>
            <a:outerShdw blurRad="177800" dist="50800" dir="8100000" algn="bl" rotWithShape="0">
              <a:srgbClr val="000000">
                <a:alpha val="35000"/>
              </a:srgbClr>
            </a:outerShdw>
          </a:effectLst>
        </p:spPr>
        <p:txBody>
          <a:bodyPr/>
          <a:lstStyle/>
          <a:p>
            <a:pPr defTabSz="685800"/>
            <a:endParaRPr lang="en-US" sz="1350">
              <a:solidFill>
                <a:prstClr val="black"/>
              </a:solidFill>
              <a:latin typeface="Calibri" panose="020F0502020204030204"/>
            </a:endParaRPr>
          </a:p>
        </p:txBody>
      </p:sp>
      <p:sp>
        <p:nvSpPr>
          <p:cNvPr id="23" name="Shape 21"/>
          <p:cNvSpPr/>
          <p:nvPr/>
        </p:nvSpPr>
        <p:spPr>
          <a:xfrm>
            <a:off x="342900" y="1796796"/>
            <a:ext cx="2674620" cy="27432"/>
          </a:xfrm>
          <a:prstGeom prst="rect">
            <a:avLst/>
          </a:prstGeom>
          <a:solidFill>
            <a:srgbClr val="4ADE80"/>
          </a:solidFill>
          <a:ln w="12700">
            <a:solidFill>
              <a:srgbClr val="4ADE80"/>
            </a:solidFill>
            <a:prstDash val="solid"/>
          </a:ln>
        </p:spPr>
        <p:txBody>
          <a:bodyPr/>
          <a:lstStyle/>
          <a:p>
            <a:pPr defTabSz="685800"/>
            <a:endParaRPr lang="en-US" sz="1350">
              <a:solidFill>
                <a:prstClr val="black"/>
              </a:solidFill>
              <a:latin typeface="Calibri" panose="020F0502020204030204"/>
            </a:endParaRPr>
          </a:p>
        </p:txBody>
      </p:sp>
      <p:sp>
        <p:nvSpPr>
          <p:cNvPr id="24" name="Shape 22"/>
          <p:cNvSpPr/>
          <p:nvPr/>
        </p:nvSpPr>
        <p:spPr>
          <a:xfrm>
            <a:off x="493776" y="1947672"/>
            <a:ext cx="288036" cy="288036"/>
          </a:xfrm>
          <a:prstGeom prst="ellipse">
            <a:avLst/>
          </a:prstGeom>
          <a:solidFill>
            <a:srgbClr val="4ADE80">
              <a:alpha val="16000"/>
            </a:srgbClr>
          </a:solidFill>
          <a:ln w="6350">
            <a:solidFill>
              <a:srgbClr val="4ADE80">
                <a:alpha val="40000"/>
              </a:srgbClr>
            </a:solidFill>
            <a:prstDash val="solid"/>
          </a:ln>
        </p:spPr>
        <p:txBody>
          <a:bodyPr/>
          <a:lstStyle/>
          <a:p>
            <a:pPr defTabSz="685800"/>
            <a:endParaRPr lang="en-US" sz="1350">
              <a:solidFill>
                <a:prstClr val="black"/>
              </a:solidFill>
              <a:latin typeface="Calibri" panose="020F0502020204030204"/>
            </a:endParaRPr>
          </a:p>
        </p:txBody>
      </p:sp>
      <p:pic>
        <p:nvPicPr>
          <p:cNvPr id="25" name="Image 0" descr="preencoded.png"/>
          <p:cNvPicPr>
            <a:picLocks noChangeAspect="1"/>
          </p:cNvPicPr>
          <p:nvPr/>
        </p:nvPicPr>
        <p:blipFill>
          <a:blip r:embed="rId3"/>
          <a:stretch>
            <a:fillRect/>
          </a:stretch>
        </p:blipFill>
        <p:spPr>
          <a:xfrm>
            <a:off x="541782" y="1995678"/>
            <a:ext cx="192024" cy="192024"/>
          </a:xfrm>
          <a:prstGeom prst="rect">
            <a:avLst/>
          </a:prstGeom>
        </p:spPr>
      </p:pic>
      <p:sp>
        <p:nvSpPr>
          <p:cNvPr id="26" name="Text 23"/>
          <p:cNvSpPr/>
          <p:nvPr/>
        </p:nvSpPr>
        <p:spPr>
          <a:xfrm>
            <a:off x="836676" y="1961388"/>
            <a:ext cx="2091690" cy="246888"/>
          </a:xfrm>
          <a:prstGeom prst="rect">
            <a:avLst/>
          </a:prstGeom>
          <a:noFill/>
          <a:ln/>
        </p:spPr>
        <p:txBody>
          <a:bodyPr wrap="square" lIns="0" tIns="0" rIns="0" bIns="0" rtlCol="0" anchor="ctr"/>
          <a:lstStyle/>
          <a:p>
            <a:pPr defTabSz="685800"/>
            <a:r>
              <a:rPr lang="en-US" sz="938" b="1" dirty="0">
                <a:solidFill>
                  <a:srgbClr val="F0EDE6"/>
                </a:solidFill>
                <a:latin typeface="Calibri" pitchFamily="34" charset="0"/>
                <a:ea typeface="Calibri" pitchFamily="34" charset="-122"/>
                <a:cs typeface="Calibri" pitchFamily="34" charset="-120"/>
              </a:rPr>
              <a:t>Language Ambiguity</a:t>
            </a:r>
            <a:endParaRPr lang="en-US" sz="938" dirty="0">
              <a:solidFill>
                <a:prstClr val="black"/>
              </a:solidFill>
              <a:latin typeface="Calibri" panose="020F0502020204030204"/>
            </a:endParaRPr>
          </a:p>
        </p:txBody>
      </p:sp>
      <p:sp>
        <p:nvSpPr>
          <p:cNvPr id="27" name="Text 24"/>
          <p:cNvSpPr/>
          <p:nvPr/>
        </p:nvSpPr>
        <p:spPr>
          <a:xfrm>
            <a:off x="493776" y="2290572"/>
            <a:ext cx="2400300" cy="617220"/>
          </a:xfrm>
          <a:prstGeom prst="rect">
            <a:avLst/>
          </a:prstGeom>
          <a:noFill/>
          <a:ln/>
        </p:spPr>
        <p:txBody>
          <a:bodyPr wrap="square" rtlCol="0" anchor="t"/>
          <a:lstStyle/>
          <a:p>
            <a:pPr defTabSz="685800">
              <a:lnSpc>
                <a:spcPct val="135000"/>
              </a:lnSpc>
            </a:pPr>
            <a:r>
              <a:rPr lang="en-US" sz="750" dirty="0">
                <a:solidFill>
                  <a:schemeClr val="bg1"/>
                </a:solidFill>
                <a:latin typeface="Calibri" pitchFamily="34" charset="0"/>
                <a:ea typeface="Calibri" pitchFamily="34" charset="-122"/>
                <a:cs typeface="Calibri" pitchFamily="34" charset="-120"/>
              </a:rPr>
              <a:t>Terms like patient, study, sample, date, owner, or revenue may map to several possible tables and columns — with no clear winner.</a:t>
            </a:r>
            <a:endParaRPr lang="en-US" sz="750" dirty="0">
              <a:solidFill>
                <a:schemeClr val="bg1"/>
              </a:solidFill>
              <a:latin typeface="Calibri" panose="020F0502020204030204"/>
            </a:endParaRPr>
          </a:p>
        </p:txBody>
      </p:sp>
      <p:sp>
        <p:nvSpPr>
          <p:cNvPr id="28" name="Shape 25"/>
          <p:cNvSpPr/>
          <p:nvPr/>
        </p:nvSpPr>
        <p:spPr>
          <a:xfrm>
            <a:off x="493776" y="2948940"/>
            <a:ext cx="792099" cy="137160"/>
          </a:xfrm>
          <a:prstGeom prst="rect">
            <a:avLst/>
          </a:prstGeom>
          <a:solidFill>
            <a:srgbClr val="4ADE80">
              <a:alpha val="12000"/>
            </a:srgbClr>
          </a:solidFill>
          <a:ln w="3810">
            <a:solidFill>
              <a:srgbClr val="4ADE80">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29" name="Text 26"/>
          <p:cNvSpPr/>
          <p:nvPr/>
        </p:nvSpPr>
        <p:spPr>
          <a:xfrm>
            <a:off x="493776" y="2948940"/>
            <a:ext cx="792099" cy="137160"/>
          </a:xfrm>
          <a:prstGeom prst="rect">
            <a:avLst/>
          </a:prstGeom>
          <a:noFill/>
          <a:ln/>
        </p:spPr>
        <p:txBody>
          <a:bodyPr wrap="square" lIns="0" tIns="0" rIns="0" bIns="0" rtlCol="0" anchor="ctr"/>
          <a:lstStyle/>
          <a:p>
            <a:pPr algn="ctr" defTabSz="685800"/>
            <a:r>
              <a:rPr lang="en-US" sz="563" b="1" kern="0" spc="60" dirty="0">
                <a:solidFill>
                  <a:srgbClr val="4ADE80"/>
                </a:solidFill>
                <a:latin typeface="Calibri" panose="020F0502020204030204"/>
              </a:rPr>
              <a:t>NL → SCHEMA</a:t>
            </a:r>
            <a:endParaRPr lang="en-US" sz="563" dirty="0">
              <a:solidFill>
                <a:prstClr val="black"/>
              </a:solidFill>
              <a:latin typeface="Calibri" panose="020F0502020204030204"/>
            </a:endParaRPr>
          </a:p>
        </p:txBody>
      </p:sp>
      <p:sp>
        <p:nvSpPr>
          <p:cNvPr id="30" name="Shape 27"/>
          <p:cNvSpPr/>
          <p:nvPr/>
        </p:nvSpPr>
        <p:spPr>
          <a:xfrm>
            <a:off x="1354455" y="2948940"/>
            <a:ext cx="675513" cy="137160"/>
          </a:xfrm>
          <a:prstGeom prst="rect">
            <a:avLst/>
          </a:prstGeom>
          <a:solidFill>
            <a:srgbClr val="4ADE80">
              <a:alpha val="12000"/>
            </a:srgbClr>
          </a:solidFill>
          <a:ln w="3810">
            <a:solidFill>
              <a:srgbClr val="4ADE80">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31" name="Text 28"/>
          <p:cNvSpPr/>
          <p:nvPr/>
        </p:nvSpPr>
        <p:spPr>
          <a:xfrm>
            <a:off x="1354455" y="2948940"/>
            <a:ext cx="675513" cy="137160"/>
          </a:xfrm>
          <a:prstGeom prst="rect">
            <a:avLst/>
          </a:prstGeom>
          <a:noFill/>
          <a:ln/>
        </p:spPr>
        <p:txBody>
          <a:bodyPr wrap="square" lIns="0" tIns="0" rIns="0" bIns="0" rtlCol="0" anchor="ctr"/>
          <a:lstStyle/>
          <a:p>
            <a:pPr algn="ctr" defTabSz="685800"/>
            <a:r>
              <a:rPr lang="en-US" sz="563" b="1" kern="0" spc="60" dirty="0">
                <a:solidFill>
                  <a:srgbClr val="4ADE80"/>
                </a:solidFill>
                <a:latin typeface="Calibri" panose="020F0502020204030204"/>
              </a:rPr>
              <a:t>MULTI-MAP</a:t>
            </a:r>
            <a:endParaRPr lang="en-US" sz="563" dirty="0">
              <a:solidFill>
                <a:prstClr val="black"/>
              </a:solidFill>
              <a:latin typeface="Calibri" panose="020F0502020204030204"/>
            </a:endParaRPr>
          </a:p>
        </p:txBody>
      </p:sp>
      <p:sp>
        <p:nvSpPr>
          <p:cNvPr id="32" name="Shape 29"/>
          <p:cNvSpPr/>
          <p:nvPr/>
        </p:nvSpPr>
        <p:spPr>
          <a:xfrm>
            <a:off x="3209544" y="1796796"/>
            <a:ext cx="2674620" cy="1371600"/>
          </a:xfrm>
          <a:prstGeom prst="rect">
            <a:avLst/>
          </a:prstGeom>
          <a:solidFill>
            <a:srgbClr val="1A1E29"/>
          </a:solidFill>
          <a:ln w="6350">
            <a:solidFill>
              <a:srgbClr val="FFFFFF">
                <a:alpha val="8000"/>
              </a:srgbClr>
            </a:solidFill>
            <a:prstDash val="solid"/>
          </a:ln>
          <a:effectLst>
            <a:outerShdw blurRad="177800" dist="50800" dir="8100000" algn="bl" rotWithShape="0">
              <a:srgbClr val="000000">
                <a:alpha val="35000"/>
              </a:srgbClr>
            </a:outerShdw>
          </a:effectLst>
        </p:spPr>
        <p:txBody>
          <a:bodyPr/>
          <a:lstStyle/>
          <a:p>
            <a:pPr defTabSz="685800"/>
            <a:endParaRPr lang="en-US" sz="1350">
              <a:solidFill>
                <a:prstClr val="black"/>
              </a:solidFill>
              <a:latin typeface="Calibri" panose="020F0502020204030204"/>
            </a:endParaRPr>
          </a:p>
        </p:txBody>
      </p:sp>
      <p:sp>
        <p:nvSpPr>
          <p:cNvPr id="33" name="Shape 30"/>
          <p:cNvSpPr/>
          <p:nvPr/>
        </p:nvSpPr>
        <p:spPr>
          <a:xfrm>
            <a:off x="3209544" y="1796796"/>
            <a:ext cx="2674620" cy="27432"/>
          </a:xfrm>
          <a:prstGeom prst="rect">
            <a:avLst/>
          </a:prstGeom>
          <a:solidFill>
            <a:srgbClr val="F59E0B"/>
          </a:solidFill>
          <a:ln w="12700">
            <a:solidFill>
              <a:srgbClr val="F59E0B"/>
            </a:solidFill>
            <a:prstDash val="solid"/>
          </a:ln>
        </p:spPr>
        <p:txBody>
          <a:bodyPr/>
          <a:lstStyle/>
          <a:p>
            <a:pPr defTabSz="685800"/>
            <a:endParaRPr lang="en-US" sz="1350">
              <a:solidFill>
                <a:prstClr val="black"/>
              </a:solidFill>
              <a:latin typeface="Calibri" panose="020F0502020204030204"/>
            </a:endParaRPr>
          </a:p>
        </p:txBody>
      </p:sp>
      <p:sp>
        <p:nvSpPr>
          <p:cNvPr id="34" name="Shape 31"/>
          <p:cNvSpPr/>
          <p:nvPr/>
        </p:nvSpPr>
        <p:spPr>
          <a:xfrm>
            <a:off x="3360420" y="1947672"/>
            <a:ext cx="288036" cy="288036"/>
          </a:xfrm>
          <a:prstGeom prst="ellipse">
            <a:avLst/>
          </a:prstGeom>
          <a:solidFill>
            <a:srgbClr val="F59E0B">
              <a:alpha val="16000"/>
            </a:srgbClr>
          </a:solidFill>
          <a:ln w="6350">
            <a:solidFill>
              <a:srgbClr val="F59E0B">
                <a:alpha val="40000"/>
              </a:srgbClr>
            </a:solidFill>
            <a:prstDash val="solid"/>
          </a:ln>
        </p:spPr>
        <p:txBody>
          <a:bodyPr/>
          <a:lstStyle/>
          <a:p>
            <a:pPr defTabSz="685800"/>
            <a:endParaRPr lang="en-US" sz="1350">
              <a:solidFill>
                <a:prstClr val="black"/>
              </a:solidFill>
              <a:latin typeface="Calibri" panose="020F0502020204030204"/>
            </a:endParaRPr>
          </a:p>
        </p:txBody>
      </p:sp>
      <p:pic>
        <p:nvPicPr>
          <p:cNvPr id="35" name="Image 1" descr="preencoded.png"/>
          <p:cNvPicPr>
            <a:picLocks noChangeAspect="1"/>
          </p:cNvPicPr>
          <p:nvPr/>
        </p:nvPicPr>
        <p:blipFill>
          <a:blip r:embed="rId4"/>
          <a:stretch>
            <a:fillRect/>
          </a:stretch>
        </p:blipFill>
        <p:spPr>
          <a:xfrm>
            <a:off x="3408426" y="1995678"/>
            <a:ext cx="192024" cy="192024"/>
          </a:xfrm>
          <a:prstGeom prst="rect">
            <a:avLst/>
          </a:prstGeom>
        </p:spPr>
      </p:pic>
      <p:sp>
        <p:nvSpPr>
          <p:cNvPr id="36" name="Text 32"/>
          <p:cNvSpPr/>
          <p:nvPr/>
        </p:nvSpPr>
        <p:spPr>
          <a:xfrm>
            <a:off x="3703320" y="1961388"/>
            <a:ext cx="2091690" cy="246888"/>
          </a:xfrm>
          <a:prstGeom prst="rect">
            <a:avLst/>
          </a:prstGeom>
          <a:noFill/>
          <a:ln/>
        </p:spPr>
        <p:txBody>
          <a:bodyPr wrap="square" lIns="0" tIns="0" rIns="0" bIns="0" rtlCol="0" anchor="ctr"/>
          <a:lstStyle/>
          <a:p>
            <a:pPr defTabSz="685800"/>
            <a:r>
              <a:rPr lang="en-US" sz="938" b="1" dirty="0">
                <a:solidFill>
                  <a:srgbClr val="F0EDE6"/>
                </a:solidFill>
                <a:latin typeface="Calibri" pitchFamily="34" charset="0"/>
                <a:ea typeface="Calibri" pitchFamily="34" charset="-122"/>
                <a:cs typeface="Calibri" pitchFamily="34" charset="-120"/>
              </a:rPr>
              <a:t>Schema Scale</a:t>
            </a:r>
            <a:endParaRPr lang="en-US" sz="938" dirty="0">
              <a:solidFill>
                <a:prstClr val="black"/>
              </a:solidFill>
              <a:latin typeface="Calibri" panose="020F0502020204030204"/>
            </a:endParaRPr>
          </a:p>
        </p:txBody>
      </p:sp>
      <p:sp>
        <p:nvSpPr>
          <p:cNvPr id="37" name="Text 33"/>
          <p:cNvSpPr/>
          <p:nvPr/>
        </p:nvSpPr>
        <p:spPr>
          <a:xfrm>
            <a:off x="3360420" y="2290572"/>
            <a:ext cx="2400300" cy="617220"/>
          </a:xfrm>
          <a:prstGeom prst="rect">
            <a:avLst/>
          </a:prstGeom>
          <a:noFill/>
          <a:ln/>
        </p:spPr>
        <p:txBody>
          <a:bodyPr wrap="square" rtlCol="0" anchor="t"/>
          <a:lstStyle/>
          <a:p>
            <a:pPr defTabSz="685800">
              <a:lnSpc>
                <a:spcPct val="135000"/>
              </a:lnSpc>
            </a:pPr>
            <a:r>
              <a:rPr lang="en-US" sz="750" dirty="0">
                <a:solidFill>
                  <a:schemeClr val="bg1"/>
                </a:solidFill>
                <a:latin typeface="Calibri" pitchFamily="34" charset="0"/>
                <a:ea typeface="Calibri" pitchFamily="34" charset="-122"/>
                <a:cs typeface="Calibri" pitchFamily="34" charset="-120"/>
              </a:rPr>
              <a:t>Enterprise schemas contain 800+ tables, metadata layers, nested fields, and cryptic column names like col_nm_cd_17.</a:t>
            </a:r>
            <a:endParaRPr lang="en-US" sz="750" dirty="0">
              <a:solidFill>
                <a:schemeClr val="bg1"/>
              </a:solidFill>
              <a:latin typeface="Calibri" panose="020F0502020204030204"/>
            </a:endParaRPr>
          </a:p>
        </p:txBody>
      </p:sp>
      <p:sp>
        <p:nvSpPr>
          <p:cNvPr id="38" name="Shape 34"/>
          <p:cNvSpPr/>
          <p:nvPr/>
        </p:nvSpPr>
        <p:spPr>
          <a:xfrm>
            <a:off x="3360420" y="2948940"/>
            <a:ext cx="792099" cy="137160"/>
          </a:xfrm>
          <a:prstGeom prst="rect">
            <a:avLst/>
          </a:prstGeom>
          <a:solidFill>
            <a:srgbClr val="F59E0B">
              <a:alpha val="12000"/>
            </a:srgbClr>
          </a:solidFill>
          <a:ln w="3810">
            <a:solidFill>
              <a:srgbClr val="F59E0B">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39" name="Text 35"/>
          <p:cNvSpPr/>
          <p:nvPr/>
        </p:nvSpPr>
        <p:spPr>
          <a:xfrm>
            <a:off x="3360420" y="2948940"/>
            <a:ext cx="792099" cy="137160"/>
          </a:xfrm>
          <a:prstGeom prst="rect">
            <a:avLst/>
          </a:prstGeom>
          <a:noFill/>
          <a:ln/>
        </p:spPr>
        <p:txBody>
          <a:bodyPr wrap="square" lIns="0" tIns="0" rIns="0" bIns="0" rtlCol="0" anchor="ctr"/>
          <a:lstStyle/>
          <a:p>
            <a:pPr algn="ctr" defTabSz="685800"/>
            <a:r>
              <a:rPr lang="en-US" sz="563" b="1" kern="0" spc="60" dirty="0">
                <a:solidFill>
                  <a:srgbClr val="F59E0B"/>
                </a:solidFill>
                <a:latin typeface="Calibri" panose="020F0502020204030204"/>
              </a:rPr>
              <a:t>800+ TABLES</a:t>
            </a:r>
            <a:endParaRPr lang="en-US" sz="563" dirty="0">
              <a:solidFill>
                <a:prstClr val="black"/>
              </a:solidFill>
              <a:latin typeface="Calibri" panose="020F0502020204030204"/>
            </a:endParaRPr>
          </a:p>
        </p:txBody>
      </p:sp>
      <p:sp>
        <p:nvSpPr>
          <p:cNvPr id="40" name="Shape 36"/>
          <p:cNvSpPr/>
          <p:nvPr/>
        </p:nvSpPr>
        <p:spPr>
          <a:xfrm>
            <a:off x="4221099" y="2948940"/>
            <a:ext cx="558927" cy="137160"/>
          </a:xfrm>
          <a:prstGeom prst="rect">
            <a:avLst/>
          </a:prstGeom>
          <a:solidFill>
            <a:srgbClr val="F59E0B">
              <a:alpha val="12000"/>
            </a:srgbClr>
          </a:solidFill>
          <a:ln w="3810">
            <a:solidFill>
              <a:srgbClr val="F59E0B">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41" name="Text 37"/>
          <p:cNvSpPr/>
          <p:nvPr/>
        </p:nvSpPr>
        <p:spPr>
          <a:xfrm>
            <a:off x="4221099" y="2948940"/>
            <a:ext cx="558927" cy="137160"/>
          </a:xfrm>
          <a:prstGeom prst="rect">
            <a:avLst/>
          </a:prstGeom>
          <a:noFill/>
          <a:ln/>
        </p:spPr>
        <p:txBody>
          <a:bodyPr wrap="square" lIns="0" tIns="0" rIns="0" bIns="0" rtlCol="0" anchor="ctr"/>
          <a:lstStyle/>
          <a:p>
            <a:pPr algn="ctr" defTabSz="685800"/>
            <a:r>
              <a:rPr lang="en-US" sz="563" b="1" kern="0" spc="60" dirty="0">
                <a:solidFill>
                  <a:srgbClr val="F59E0B"/>
                </a:solidFill>
                <a:latin typeface="Calibri" panose="020F0502020204030204"/>
              </a:rPr>
              <a:t>VARIANT</a:t>
            </a:r>
            <a:endParaRPr lang="en-US" sz="563" dirty="0">
              <a:solidFill>
                <a:prstClr val="black"/>
              </a:solidFill>
              <a:latin typeface="Calibri" panose="020F0502020204030204"/>
            </a:endParaRPr>
          </a:p>
        </p:txBody>
      </p:sp>
      <p:sp>
        <p:nvSpPr>
          <p:cNvPr id="42" name="Shape 38"/>
          <p:cNvSpPr/>
          <p:nvPr/>
        </p:nvSpPr>
        <p:spPr>
          <a:xfrm>
            <a:off x="6076188" y="1796796"/>
            <a:ext cx="2674620" cy="1371600"/>
          </a:xfrm>
          <a:prstGeom prst="rect">
            <a:avLst/>
          </a:prstGeom>
          <a:solidFill>
            <a:srgbClr val="1A1E29"/>
          </a:solidFill>
          <a:ln w="6350">
            <a:solidFill>
              <a:srgbClr val="FFFFFF">
                <a:alpha val="8000"/>
              </a:srgbClr>
            </a:solidFill>
            <a:prstDash val="solid"/>
          </a:ln>
          <a:effectLst>
            <a:outerShdw blurRad="177800" dist="50800" dir="8100000" algn="bl" rotWithShape="0">
              <a:srgbClr val="000000">
                <a:alpha val="35000"/>
              </a:srgbClr>
            </a:outerShdw>
          </a:effectLst>
        </p:spPr>
        <p:txBody>
          <a:bodyPr/>
          <a:lstStyle/>
          <a:p>
            <a:pPr defTabSz="685800"/>
            <a:endParaRPr lang="en-US" sz="1350">
              <a:solidFill>
                <a:prstClr val="black"/>
              </a:solidFill>
              <a:latin typeface="Calibri" panose="020F0502020204030204"/>
            </a:endParaRPr>
          </a:p>
        </p:txBody>
      </p:sp>
      <p:sp>
        <p:nvSpPr>
          <p:cNvPr id="43" name="Shape 39"/>
          <p:cNvSpPr/>
          <p:nvPr/>
        </p:nvSpPr>
        <p:spPr>
          <a:xfrm>
            <a:off x="6076188" y="1796796"/>
            <a:ext cx="2674620" cy="27432"/>
          </a:xfrm>
          <a:prstGeom prst="rect">
            <a:avLst/>
          </a:prstGeom>
          <a:solidFill>
            <a:srgbClr val="F87171"/>
          </a:solidFill>
          <a:ln w="12700">
            <a:solidFill>
              <a:srgbClr val="F87171"/>
            </a:solidFill>
            <a:prstDash val="solid"/>
          </a:ln>
        </p:spPr>
        <p:txBody>
          <a:bodyPr/>
          <a:lstStyle/>
          <a:p>
            <a:pPr defTabSz="685800"/>
            <a:endParaRPr lang="en-US" sz="1350">
              <a:solidFill>
                <a:prstClr val="black"/>
              </a:solidFill>
              <a:latin typeface="Calibri" panose="020F0502020204030204"/>
            </a:endParaRPr>
          </a:p>
        </p:txBody>
      </p:sp>
      <p:sp>
        <p:nvSpPr>
          <p:cNvPr id="44" name="Shape 40"/>
          <p:cNvSpPr/>
          <p:nvPr/>
        </p:nvSpPr>
        <p:spPr>
          <a:xfrm>
            <a:off x="6227064" y="1947672"/>
            <a:ext cx="288036" cy="288036"/>
          </a:xfrm>
          <a:prstGeom prst="ellipse">
            <a:avLst/>
          </a:prstGeom>
          <a:solidFill>
            <a:srgbClr val="F87171">
              <a:alpha val="16000"/>
            </a:srgbClr>
          </a:solidFill>
          <a:ln w="6350">
            <a:solidFill>
              <a:srgbClr val="F87171">
                <a:alpha val="40000"/>
              </a:srgbClr>
            </a:solidFill>
            <a:prstDash val="solid"/>
          </a:ln>
        </p:spPr>
        <p:txBody>
          <a:bodyPr/>
          <a:lstStyle/>
          <a:p>
            <a:pPr defTabSz="685800"/>
            <a:endParaRPr lang="en-US" sz="1350">
              <a:solidFill>
                <a:prstClr val="black"/>
              </a:solidFill>
              <a:latin typeface="Calibri" panose="020F0502020204030204"/>
            </a:endParaRPr>
          </a:p>
        </p:txBody>
      </p:sp>
      <p:pic>
        <p:nvPicPr>
          <p:cNvPr id="45" name="Image 2" descr="preencoded.png"/>
          <p:cNvPicPr>
            <a:picLocks noChangeAspect="1"/>
          </p:cNvPicPr>
          <p:nvPr/>
        </p:nvPicPr>
        <p:blipFill>
          <a:blip r:embed="rId5"/>
          <a:stretch>
            <a:fillRect/>
          </a:stretch>
        </p:blipFill>
        <p:spPr>
          <a:xfrm>
            <a:off x="6275070" y="1995678"/>
            <a:ext cx="192024" cy="192024"/>
          </a:xfrm>
          <a:prstGeom prst="rect">
            <a:avLst/>
          </a:prstGeom>
        </p:spPr>
      </p:pic>
      <p:sp>
        <p:nvSpPr>
          <p:cNvPr id="46" name="Text 41"/>
          <p:cNvSpPr/>
          <p:nvPr/>
        </p:nvSpPr>
        <p:spPr>
          <a:xfrm>
            <a:off x="6569964" y="1961388"/>
            <a:ext cx="2091690" cy="246888"/>
          </a:xfrm>
          <a:prstGeom prst="rect">
            <a:avLst/>
          </a:prstGeom>
          <a:noFill/>
          <a:ln/>
        </p:spPr>
        <p:txBody>
          <a:bodyPr wrap="square" lIns="0" tIns="0" rIns="0" bIns="0" rtlCol="0" anchor="ctr"/>
          <a:lstStyle/>
          <a:p>
            <a:pPr defTabSz="685800"/>
            <a:r>
              <a:rPr lang="en-US" sz="938" b="1" dirty="0">
                <a:solidFill>
                  <a:srgbClr val="F0EDE6"/>
                </a:solidFill>
                <a:latin typeface="Calibri" pitchFamily="34" charset="0"/>
                <a:ea typeface="Calibri" pitchFamily="34" charset="-122"/>
                <a:cs typeface="Calibri" pitchFamily="34" charset="-120"/>
              </a:rPr>
              <a:t>Dialect Friction</a:t>
            </a:r>
            <a:endParaRPr lang="en-US" sz="938" dirty="0">
              <a:solidFill>
                <a:prstClr val="black"/>
              </a:solidFill>
              <a:latin typeface="Calibri" panose="020F0502020204030204"/>
            </a:endParaRPr>
          </a:p>
        </p:txBody>
      </p:sp>
      <p:sp>
        <p:nvSpPr>
          <p:cNvPr id="47" name="Text 42"/>
          <p:cNvSpPr/>
          <p:nvPr/>
        </p:nvSpPr>
        <p:spPr>
          <a:xfrm>
            <a:off x="6227064" y="2290572"/>
            <a:ext cx="2400300" cy="617220"/>
          </a:xfrm>
          <a:prstGeom prst="rect">
            <a:avLst/>
          </a:prstGeom>
          <a:noFill/>
          <a:ln/>
        </p:spPr>
        <p:txBody>
          <a:bodyPr wrap="square" rtlCol="0" anchor="t"/>
          <a:lstStyle/>
          <a:p>
            <a:pPr defTabSz="685800">
              <a:lnSpc>
                <a:spcPct val="135000"/>
              </a:lnSpc>
            </a:pPr>
            <a:r>
              <a:rPr lang="en-US" sz="750" dirty="0">
                <a:solidFill>
                  <a:schemeClr val="bg1"/>
                </a:solidFill>
                <a:latin typeface="Calibri" pitchFamily="34" charset="0"/>
                <a:ea typeface="Calibri" pitchFamily="34" charset="-122"/>
                <a:cs typeface="Calibri" pitchFamily="34" charset="-120"/>
              </a:rPr>
              <a:t>Snowflake rules for identifiers, JSON / VARIANT, timestamps, and arrays are subtle — and easy places to silently fail.</a:t>
            </a:r>
            <a:endParaRPr lang="en-US" sz="750" dirty="0">
              <a:solidFill>
                <a:schemeClr val="bg1"/>
              </a:solidFill>
              <a:latin typeface="Calibri" panose="020F0502020204030204"/>
            </a:endParaRPr>
          </a:p>
        </p:txBody>
      </p:sp>
      <p:sp>
        <p:nvSpPr>
          <p:cNvPr id="48" name="Shape 43"/>
          <p:cNvSpPr/>
          <p:nvPr/>
        </p:nvSpPr>
        <p:spPr>
          <a:xfrm>
            <a:off x="6227064" y="2948940"/>
            <a:ext cx="733806" cy="137160"/>
          </a:xfrm>
          <a:prstGeom prst="rect">
            <a:avLst/>
          </a:prstGeom>
          <a:solidFill>
            <a:srgbClr val="F87171">
              <a:alpha val="12000"/>
            </a:srgbClr>
          </a:solidFill>
          <a:ln w="3810">
            <a:solidFill>
              <a:srgbClr val="F87171">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49" name="Text 44"/>
          <p:cNvSpPr/>
          <p:nvPr/>
        </p:nvSpPr>
        <p:spPr>
          <a:xfrm>
            <a:off x="6227064" y="2948940"/>
            <a:ext cx="733806" cy="137160"/>
          </a:xfrm>
          <a:prstGeom prst="rect">
            <a:avLst/>
          </a:prstGeom>
          <a:noFill/>
          <a:ln/>
        </p:spPr>
        <p:txBody>
          <a:bodyPr wrap="square" lIns="0" tIns="0" rIns="0" bIns="0" rtlCol="0" anchor="ctr"/>
          <a:lstStyle/>
          <a:p>
            <a:pPr algn="ctr" defTabSz="685800"/>
            <a:r>
              <a:rPr lang="en-US" sz="563" b="1" kern="0" spc="60" dirty="0">
                <a:solidFill>
                  <a:srgbClr val="F87171"/>
                </a:solidFill>
                <a:latin typeface="Calibri" panose="020F0502020204030204"/>
              </a:rPr>
              <a:t>IDENTIFIER</a:t>
            </a:r>
            <a:endParaRPr lang="en-US" sz="563" dirty="0">
              <a:solidFill>
                <a:prstClr val="black"/>
              </a:solidFill>
              <a:latin typeface="Calibri" panose="020F0502020204030204"/>
            </a:endParaRPr>
          </a:p>
        </p:txBody>
      </p:sp>
      <p:sp>
        <p:nvSpPr>
          <p:cNvPr id="50" name="Shape 45"/>
          <p:cNvSpPr/>
          <p:nvPr/>
        </p:nvSpPr>
        <p:spPr>
          <a:xfrm>
            <a:off x="7029450" y="2948940"/>
            <a:ext cx="558927" cy="137160"/>
          </a:xfrm>
          <a:prstGeom prst="rect">
            <a:avLst/>
          </a:prstGeom>
          <a:solidFill>
            <a:srgbClr val="F87171">
              <a:alpha val="12000"/>
            </a:srgbClr>
          </a:solidFill>
          <a:ln w="3810">
            <a:solidFill>
              <a:srgbClr val="F87171">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51" name="Text 46"/>
          <p:cNvSpPr/>
          <p:nvPr/>
        </p:nvSpPr>
        <p:spPr>
          <a:xfrm>
            <a:off x="7029450" y="2948940"/>
            <a:ext cx="558927" cy="137160"/>
          </a:xfrm>
          <a:prstGeom prst="rect">
            <a:avLst/>
          </a:prstGeom>
          <a:noFill/>
          <a:ln/>
        </p:spPr>
        <p:txBody>
          <a:bodyPr wrap="square" lIns="0" tIns="0" rIns="0" bIns="0" rtlCol="0" anchor="ctr"/>
          <a:lstStyle/>
          <a:p>
            <a:pPr algn="ctr" defTabSz="685800"/>
            <a:r>
              <a:rPr lang="en-US" sz="563" b="1" kern="0" spc="60" dirty="0">
                <a:solidFill>
                  <a:srgbClr val="F87171"/>
                </a:solidFill>
                <a:latin typeface="Calibri" panose="020F0502020204030204"/>
              </a:rPr>
              <a:t>FLATTEN</a:t>
            </a:r>
            <a:endParaRPr lang="en-US" sz="563" dirty="0">
              <a:solidFill>
                <a:prstClr val="black"/>
              </a:solidFill>
              <a:latin typeface="Calibri" panose="020F0502020204030204"/>
            </a:endParaRPr>
          </a:p>
        </p:txBody>
      </p:sp>
      <p:sp>
        <p:nvSpPr>
          <p:cNvPr id="52" name="Shape 47"/>
          <p:cNvSpPr/>
          <p:nvPr/>
        </p:nvSpPr>
        <p:spPr>
          <a:xfrm>
            <a:off x="1584198" y="3319272"/>
            <a:ext cx="2880360" cy="1303020"/>
          </a:xfrm>
          <a:prstGeom prst="rect">
            <a:avLst/>
          </a:prstGeom>
          <a:solidFill>
            <a:srgbClr val="1A1E29"/>
          </a:solidFill>
          <a:ln w="6350">
            <a:solidFill>
              <a:srgbClr val="FFFFFF">
                <a:alpha val="8000"/>
              </a:srgbClr>
            </a:solidFill>
            <a:prstDash val="solid"/>
          </a:ln>
          <a:effectLst>
            <a:outerShdw blurRad="177800" dist="50800" dir="8100000" algn="bl" rotWithShape="0">
              <a:srgbClr val="000000">
                <a:alpha val="35000"/>
              </a:srgbClr>
            </a:outerShdw>
          </a:effectLst>
        </p:spPr>
        <p:txBody>
          <a:bodyPr/>
          <a:lstStyle/>
          <a:p>
            <a:pPr defTabSz="685800"/>
            <a:endParaRPr lang="en-US" sz="1350">
              <a:solidFill>
                <a:prstClr val="black"/>
              </a:solidFill>
              <a:latin typeface="Calibri" panose="020F0502020204030204"/>
            </a:endParaRPr>
          </a:p>
        </p:txBody>
      </p:sp>
      <p:sp>
        <p:nvSpPr>
          <p:cNvPr id="53" name="Shape 48"/>
          <p:cNvSpPr/>
          <p:nvPr/>
        </p:nvSpPr>
        <p:spPr>
          <a:xfrm>
            <a:off x="1584198" y="3319272"/>
            <a:ext cx="2880360" cy="27432"/>
          </a:xfrm>
          <a:prstGeom prst="rect">
            <a:avLst/>
          </a:prstGeom>
          <a:solidFill>
            <a:srgbClr val="60A5FA"/>
          </a:solidFill>
          <a:ln w="12700">
            <a:solidFill>
              <a:srgbClr val="60A5FA"/>
            </a:solidFill>
            <a:prstDash val="solid"/>
          </a:ln>
        </p:spPr>
        <p:txBody>
          <a:bodyPr/>
          <a:lstStyle/>
          <a:p>
            <a:pPr defTabSz="685800"/>
            <a:endParaRPr lang="en-US" sz="1350">
              <a:solidFill>
                <a:prstClr val="black"/>
              </a:solidFill>
              <a:latin typeface="Calibri" panose="020F0502020204030204"/>
            </a:endParaRPr>
          </a:p>
        </p:txBody>
      </p:sp>
      <p:sp>
        <p:nvSpPr>
          <p:cNvPr id="54" name="Shape 49"/>
          <p:cNvSpPr/>
          <p:nvPr/>
        </p:nvSpPr>
        <p:spPr>
          <a:xfrm>
            <a:off x="1735074" y="3470148"/>
            <a:ext cx="288036" cy="288036"/>
          </a:xfrm>
          <a:prstGeom prst="ellipse">
            <a:avLst/>
          </a:prstGeom>
          <a:solidFill>
            <a:srgbClr val="60A5FA">
              <a:alpha val="16000"/>
            </a:srgbClr>
          </a:solidFill>
          <a:ln w="6350">
            <a:solidFill>
              <a:srgbClr val="60A5FA">
                <a:alpha val="40000"/>
              </a:srgbClr>
            </a:solidFill>
            <a:prstDash val="solid"/>
          </a:ln>
        </p:spPr>
        <p:txBody>
          <a:bodyPr/>
          <a:lstStyle/>
          <a:p>
            <a:pPr defTabSz="685800"/>
            <a:endParaRPr lang="en-US" sz="1350">
              <a:solidFill>
                <a:prstClr val="black"/>
              </a:solidFill>
              <a:latin typeface="Calibri" panose="020F0502020204030204"/>
            </a:endParaRPr>
          </a:p>
        </p:txBody>
      </p:sp>
      <p:pic>
        <p:nvPicPr>
          <p:cNvPr id="55" name="Image 3" descr="preencoded.png"/>
          <p:cNvPicPr>
            <a:picLocks noChangeAspect="1"/>
          </p:cNvPicPr>
          <p:nvPr/>
        </p:nvPicPr>
        <p:blipFill>
          <a:blip r:embed="rId6"/>
          <a:stretch>
            <a:fillRect/>
          </a:stretch>
        </p:blipFill>
        <p:spPr>
          <a:xfrm>
            <a:off x="1783080" y="3518154"/>
            <a:ext cx="192024" cy="192024"/>
          </a:xfrm>
          <a:prstGeom prst="rect">
            <a:avLst/>
          </a:prstGeom>
        </p:spPr>
      </p:pic>
      <p:sp>
        <p:nvSpPr>
          <p:cNvPr id="56" name="Text 50"/>
          <p:cNvSpPr/>
          <p:nvPr/>
        </p:nvSpPr>
        <p:spPr>
          <a:xfrm>
            <a:off x="2077974" y="3483864"/>
            <a:ext cx="2297430" cy="246888"/>
          </a:xfrm>
          <a:prstGeom prst="rect">
            <a:avLst/>
          </a:prstGeom>
          <a:noFill/>
          <a:ln/>
        </p:spPr>
        <p:txBody>
          <a:bodyPr wrap="square" lIns="0" tIns="0" rIns="0" bIns="0" rtlCol="0" anchor="ctr"/>
          <a:lstStyle/>
          <a:p>
            <a:pPr defTabSz="685800"/>
            <a:r>
              <a:rPr lang="en-US" sz="938" b="1" dirty="0">
                <a:solidFill>
                  <a:srgbClr val="F0EDE6"/>
                </a:solidFill>
                <a:latin typeface="Calibri" pitchFamily="34" charset="0"/>
                <a:ea typeface="Calibri" pitchFamily="34" charset="-122"/>
                <a:cs typeface="Calibri" pitchFamily="34" charset="-120"/>
              </a:rPr>
              <a:t>Silent Failure</a:t>
            </a:r>
            <a:endParaRPr lang="en-US" sz="938" dirty="0">
              <a:solidFill>
                <a:prstClr val="black"/>
              </a:solidFill>
              <a:latin typeface="Calibri" panose="020F0502020204030204"/>
            </a:endParaRPr>
          </a:p>
        </p:txBody>
      </p:sp>
      <p:sp>
        <p:nvSpPr>
          <p:cNvPr id="57" name="Text 51"/>
          <p:cNvSpPr/>
          <p:nvPr/>
        </p:nvSpPr>
        <p:spPr>
          <a:xfrm>
            <a:off x="1735074" y="3813048"/>
            <a:ext cx="2606040" cy="548640"/>
          </a:xfrm>
          <a:prstGeom prst="rect">
            <a:avLst/>
          </a:prstGeom>
          <a:noFill/>
          <a:ln/>
        </p:spPr>
        <p:txBody>
          <a:bodyPr wrap="square" rtlCol="0" anchor="t"/>
          <a:lstStyle/>
          <a:p>
            <a:pPr defTabSz="685800">
              <a:lnSpc>
                <a:spcPct val="135000"/>
              </a:lnSpc>
            </a:pPr>
            <a:r>
              <a:rPr lang="en-US" sz="750" dirty="0">
                <a:solidFill>
                  <a:schemeClr val="bg1"/>
                </a:solidFill>
                <a:latin typeface="Calibri" pitchFamily="34" charset="0"/>
                <a:ea typeface="Calibri" pitchFamily="34" charset="-122"/>
                <a:cs typeface="Calibri" pitchFamily="34" charset="-120"/>
              </a:rPr>
              <a:t>A query can compile and still be wrong: zero rows, duplicate explosions, or logically empty filters — no error raised.</a:t>
            </a:r>
            <a:endParaRPr lang="en-US" sz="750" dirty="0">
              <a:solidFill>
                <a:schemeClr val="bg1"/>
              </a:solidFill>
              <a:latin typeface="Calibri" panose="020F0502020204030204"/>
            </a:endParaRPr>
          </a:p>
        </p:txBody>
      </p:sp>
      <p:sp>
        <p:nvSpPr>
          <p:cNvPr id="58" name="Shape 52"/>
          <p:cNvSpPr/>
          <p:nvPr/>
        </p:nvSpPr>
        <p:spPr>
          <a:xfrm>
            <a:off x="1735074" y="4402836"/>
            <a:ext cx="850392" cy="137160"/>
          </a:xfrm>
          <a:prstGeom prst="rect">
            <a:avLst/>
          </a:prstGeom>
          <a:solidFill>
            <a:srgbClr val="60A5FA">
              <a:alpha val="12000"/>
            </a:srgbClr>
          </a:solidFill>
          <a:ln w="3810">
            <a:solidFill>
              <a:srgbClr val="60A5FA">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59" name="Text 53"/>
          <p:cNvSpPr/>
          <p:nvPr/>
        </p:nvSpPr>
        <p:spPr>
          <a:xfrm>
            <a:off x="1735074" y="4402836"/>
            <a:ext cx="850392" cy="137160"/>
          </a:xfrm>
          <a:prstGeom prst="rect">
            <a:avLst/>
          </a:prstGeom>
          <a:noFill/>
          <a:ln/>
        </p:spPr>
        <p:txBody>
          <a:bodyPr wrap="square" lIns="0" tIns="0" rIns="0" bIns="0" rtlCol="0" anchor="ctr"/>
          <a:lstStyle/>
          <a:p>
            <a:pPr algn="ctr" defTabSz="685800"/>
            <a:r>
              <a:rPr lang="en-US" sz="563" b="1" kern="0" spc="60" dirty="0">
                <a:solidFill>
                  <a:srgbClr val="60A5FA"/>
                </a:solidFill>
                <a:latin typeface="Calibri" panose="020F0502020204030204"/>
              </a:rPr>
              <a:t>EMPTY RESULT</a:t>
            </a:r>
            <a:endParaRPr lang="en-US" sz="563" dirty="0">
              <a:solidFill>
                <a:prstClr val="black"/>
              </a:solidFill>
              <a:latin typeface="Calibri" panose="020F0502020204030204"/>
            </a:endParaRPr>
          </a:p>
        </p:txBody>
      </p:sp>
      <p:sp>
        <p:nvSpPr>
          <p:cNvPr id="60" name="Shape 54"/>
          <p:cNvSpPr/>
          <p:nvPr/>
        </p:nvSpPr>
        <p:spPr>
          <a:xfrm>
            <a:off x="2654046" y="4402836"/>
            <a:ext cx="850392" cy="137160"/>
          </a:xfrm>
          <a:prstGeom prst="rect">
            <a:avLst/>
          </a:prstGeom>
          <a:solidFill>
            <a:srgbClr val="60A5FA">
              <a:alpha val="12000"/>
            </a:srgbClr>
          </a:solidFill>
          <a:ln w="3810">
            <a:solidFill>
              <a:srgbClr val="60A5FA">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61" name="Text 55"/>
          <p:cNvSpPr/>
          <p:nvPr/>
        </p:nvSpPr>
        <p:spPr>
          <a:xfrm>
            <a:off x="2654046" y="4402836"/>
            <a:ext cx="850392" cy="137160"/>
          </a:xfrm>
          <a:prstGeom prst="rect">
            <a:avLst/>
          </a:prstGeom>
          <a:noFill/>
          <a:ln/>
        </p:spPr>
        <p:txBody>
          <a:bodyPr wrap="square" lIns="0" tIns="0" rIns="0" bIns="0" rtlCol="0" anchor="ctr"/>
          <a:lstStyle/>
          <a:p>
            <a:pPr algn="ctr" defTabSz="685800"/>
            <a:r>
              <a:rPr lang="en-US" sz="563" b="1" kern="0" spc="60" dirty="0">
                <a:solidFill>
                  <a:srgbClr val="60A5FA"/>
                </a:solidFill>
                <a:latin typeface="Calibri" panose="020F0502020204030204"/>
              </a:rPr>
              <a:t>ROW MULTIPLY</a:t>
            </a:r>
            <a:endParaRPr lang="en-US" sz="563" dirty="0">
              <a:solidFill>
                <a:prstClr val="black"/>
              </a:solidFill>
              <a:latin typeface="Calibri" panose="020F0502020204030204"/>
            </a:endParaRPr>
          </a:p>
        </p:txBody>
      </p:sp>
      <p:sp>
        <p:nvSpPr>
          <p:cNvPr id="62" name="Shape 56"/>
          <p:cNvSpPr/>
          <p:nvPr/>
        </p:nvSpPr>
        <p:spPr>
          <a:xfrm>
            <a:off x="4656582" y="3319272"/>
            <a:ext cx="2880360" cy="1303020"/>
          </a:xfrm>
          <a:prstGeom prst="rect">
            <a:avLst/>
          </a:prstGeom>
          <a:solidFill>
            <a:srgbClr val="1A1E29"/>
          </a:solidFill>
          <a:ln w="6350">
            <a:solidFill>
              <a:srgbClr val="FFFFFF">
                <a:alpha val="8000"/>
              </a:srgbClr>
            </a:solidFill>
            <a:prstDash val="solid"/>
          </a:ln>
          <a:effectLst>
            <a:outerShdw blurRad="177800" dist="50800" dir="8100000" algn="bl" rotWithShape="0">
              <a:srgbClr val="000000">
                <a:alpha val="35000"/>
              </a:srgbClr>
            </a:outerShdw>
          </a:effectLst>
        </p:spPr>
        <p:txBody>
          <a:bodyPr/>
          <a:lstStyle/>
          <a:p>
            <a:pPr defTabSz="685800"/>
            <a:endParaRPr lang="en-US" sz="1350">
              <a:solidFill>
                <a:prstClr val="black"/>
              </a:solidFill>
              <a:latin typeface="Calibri" panose="020F0502020204030204"/>
            </a:endParaRPr>
          </a:p>
        </p:txBody>
      </p:sp>
      <p:sp>
        <p:nvSpPr>
          <p:cNvPr id="63" name="Shape 57"/>
          <p:cNvSpPr/>
          <p:nvPr/>
        </p:nvSpPr>
        <p:spPr>
          <a:xfrm>
            <a:off x="4656582" y="3319272"/>
            <a:ext cx="2880360" cy="27432"/>
          </a:xfrm>
          <a:prstGeom prst="rect">
            <a:avLst/>
          </a:prstGeom>
          <a:solidFill>
            <a:srgbClr val="2DD4BF"/>
          </a:solidFill>
          <a:ln w="12700">
            <a:solidFill>
              <a:srgbClr val="2DD4BF"/>
            </a:solidFill>
            <a:prstDash val="solid"/>
          </a:ln>
        </p:spPr>
        <p:txBody>
          <a:bodyPr/>
          <a:lstStyle/>
          <a:p>
            <a:pPr defTabSz="685800"/>
            <a:endParaRPr lang="en-US" sz="1350">
              <a:solidFill>
                <a:prstClr val="black"/>
              </a:solidFill>
              <a:latin typeface="Calibri" panose="020F0502020204030204"/>
            </a:endParaRPr>
          </a:p>
        </p:txBody>
      </p:sp>
      <p:sp>
        <p:nvSpPr>
          <p:cNvPr id="64" name="Shape 58"/>
          <p:cNvSpPr/>
          <p:nvPr/>
        </p:nvSpPr>
        <p:spPr>
          <a:xfrm>
            <a:off x="4807458" y="3470148"/>
            <a:ext cx="288036" cy="288036"/>
          </a:xfrm>
          <a:prstGeom prst="ellipse">
            <a:avLst/>
          </a:prstGeom>
          <a:solidFill>
            <a:srgbClr val="2DD4BF">
              <a:alpha val="16000"/>
            </a:srgbClr>
          </a:solidFill>
          <a:ln w="6350">
            <a:solidFill>
              <a:srgbClr val="2DD4BF">
                <a:alpha val="40000"/>
              </a:srgbClr>
            </a:solidFill>
            <a:prstDash val="solid"/>
          </a:ln>
        </p:spPr>
        <p:txBody>
          <a:bodyPr/>
          <a:lstStyle/>
          <a:p>
            <a:pPr defTabSz="685800"/>
            <a:endParaRPr lang="en-US" sz="1350">
              <a:solidFill>
                <a:prstClr val="black"/>
              </a:solidFill>
              <a:latin typeface="Calibri" panose="020F0502020204030204"/>
            </a:endParaRPr>
          </a:p>
        </p:txBody>
      </p:sp>
      <p:pic>
        <p:nvPicPr>
          <p:cNvPr id="65" name="Image 4" descr="preencoded.png"/>
          <p:cNvPicPr>
            <a:picLocks noChangeAspect="1"/>
          </p:cNvPicPr>
          <p:nvPr/>
        </p:nvPicPr>
        <p:blipFill>
          <a:blip r:embed="rId7"/>
          <a:stretch>
            <a:fillRect/>
          </a:stretch>
        </p:blipFill>
        <p:spPr>
          <a:xfrm>
            <a:off x="4855464" y="3518154"/>
            <a:ext cx="192024" cy="192024"/>
          </a:xfrm>
          <a:prstGeom prst="rect">
            <a:avLst/>
          </a:prstGeom>
        </p:spPr>
      </p:pic>
      <p:sp>
        <p:nvSpPr>
          <p:cNvPr id="66" name="Text 59"/>
          <p:cNvSpPr/>
          <p:nvPr/>
        </p:nvSpPr>
        <p:spPr>
          <a:xfrm>
            <a:off x="5150358" y="3483864"/>
            <a:ext cx="2297430" cy="246888"/>
          </a:xfrm>
          <a:prstGeom prst="rect">
            <a:avLst/>
          </a:prstGeom>
          <a:noFill/>
          <a:ln/>
        </p:spPr>
        <p:txBody>
          <a:bodyPr wrap="square" lIns="0" tIns="0" rIns="0" bIns="0" rtlCol="0" anchor="ctr"/>
          <a:lstStyle/>
          <a:p>
            <a:pPr defTabSz="685800"/>
            <a:r>
              <a:rPr lang="en-US" sz="938" b="1" dirty="0">
                <a:solidFill>
                  <a:srgbClr val="F0EDE6"/>
                </a:solidFill>
                <a:latin typeface="Calibri" pitchFamily="34" charset="0"/>
                <a:ea typeface="Calibri" pitchFamily="34" charset="-122"/>
                <a:cs typeface="Calibri" pitchFamily="34" charset="-120"/>
              </a:rPr>
              <a:t>Trust Gap</a:t>
            </a:r>
            <a:endParaRPr lang="en-US" sz="938" dirty="0">
              <a:solidFill>
                <a:prstClr val="black"/>
              </a:solidFill>
              <a:latin typeface="Calibri" panose="020F0502020204030204"/>
            </a:endParaRPr>
          </a:p>
        </p:txBody>
      </p:sp>
      <p:sp>
        <p:nvSpPr>
          <p:cNvPr id="67" name="Text 60"/>
          <p:cNvSpPr/>
          <p:nvPr/>
        </p:nvSpPr>
        <p:spPr>
          <a:xfrm>
            <a:off x="4807458" y="3813048"/>
            <a:ext cx="2606040" cy="548640"/>
          </a:xfrm>
          <a:prstGeom prst="rect">
            <a:avLst/>
          </a:prstGeom>
          <a:noFill/>
          <a:ln/>
        </p:spPr>
        <p:txBody>
          <a:bodyPr wrap="square" rtlCol="0" anchor="t"/>
          <a:lstStyle/>
          <a:p>
            <a:pPr defTabSz="685800">
              <a:lnSpc>
                <a:spcPct val="135000"/>
              </a:lnSpc>
            </a:pPr>
            <a:r>
              <a:rPr lang="en-US" sz="750" dirty="0">
                <a:solidFill>
                  <a:schemeClr val="bg1"/>
                </a:solidFill>
                <a:latin typeface="Calibri" pitchFamily="34" charset="0"/>
                <a:ea typeface="Calibri" pitchFamily="34" charset="-122"/>
                <a:cs typeface="Calibri" pitchFamily="34" charset="-120"/>
              </a:rPr>
              <a:t>Users need evidence that the answer is grounded in schema, not just a confident-looking SQL string that could be hallucinated.</a:t>
            </a:r>
            <a:endParaRPr lang="en-US" sz="750" dirty="0">
              <a:solidFill>
                <a:schemeClr val="bg1"/>
              </a:solidFill>
              <a:latin typeface="Calibri" panose="020F0502020204030204"/>
            </a:endParaRPr>
          </a:p>
        </p:txBody>
      </p:sp>
      <p:sp>
        <p:nvSpPr>
          <p:cNvPr id="68" name="Shape 61"/>
          <p:cNvSpPr/>
          <p:nvPr/>
        </p:nvSpPr>
        <p:spPr>
          <a:xfrm>
            <a:off x="4807458" y="4402836"/>
            <a:ext cx="675513" cy="137160"/>
          </a:xfrm>
          <a:prstGeom prst="rect">
            <a:avLst/>
          </a:prstGeom>
          <a:solidFill>
            <a:srgbClr val="2DD4BF">
              <a:alpha val="12000"/>
            </a:srgbClr>
          </a:solidFill>
          <a:ln w="3810">
            <a:solidFill>
              <a:srgbClr val="2DD4BF">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69" name="Text 62"/>
          <p:cNvSpPr/>
          <p:nvPr/>
        </p:nvSpPr>
        <p:spPr>
          <a:xfrm>
            <a:off x="4807458" y="4402836"/>
            <a:ext cx="675513" cy="137160"/>
          </a:xfrm>
          <a:prstGeom prst="rect">
            <a:avLst/>
          </a:prstGeom>
          <a:noFill/>
          <a:ln/>
        </p:spPr>
        <p:txBody>
          <a:bodyPr wrap="square" lIns="0" tIns="0" rIns="0" bIns="0" rtlCol="0" anchor="ctr"/>
          <a:lstStyle/>
          <a:p>
            <a:pPr algn="ctr" defTabSz="685800"/>
            <a:r>
              <a:rPr lang="en-US" sz="563" b="1" kern="0" spc="60" dirty="0">
                <a:solidFill>
                  <a:srgbClr val="2DD4BF"/>
                </a:solidFill>
                <a:latin typeface="Calibri" panose="020F0502020204030204"/>
              </a:rPr>
              <a:t>GROUNDING</a:t>
            </a:r>
            <a:endParaRPr lang="en-US" sz="563" dirty="0">
              <a:solidFill>
                <a:prstClr val="black"/>
              </a:solidFill>
              <a:latin typeface="Calibri" panose="020F0502020204030204"/>
            </a:endParaRPr>
          </a:p>
        </p:txBody>
      </p:sp>
      <p:sp>
        <p:nvSpPr>
          <p:cNvPr id="70" name="Shape 63"/>
          <p:cNvSpPr/>
          <p:nvPr/>
        </p:nvSpPr>
        <p:spPr>
          <a:xfrm>
            <a:off x="5551551" y="4402836"/>
            <a:ext cx="617220" cy="137160"/>
          </a:xfrm>
          <a:prstGeom prst="rect">
            <a:avLst/>
          </a:prstGeom>
          <a:solidFill>
            <a:srgbClr val="2DD4BF">
              <a:alpha val="12000"/>
            </a:srgbClr>
          </a:solidFill>
          <a:ln w="3810">
            <a:solidFill>
              <a:srgbClr val="2DD4BF">
                <a:alpha val="40000"/>
              </a:srgbClr>
            </a:solidFill>
            <a:prstDash val="solid"/>
          </a:ln>
        </p:spPr>
        <p:txBody>
          <a:bodyPr/>
          <a:lstStyle/>
          <a:p>
            <a:pPr defTabSz="685800"/>
            <a:endParaRPr lang="en-US" sz="1350">
              <a:solidFill>
                <a:prstClr val="black"/>
              </a:solidFill>
              <a:latin typeface="Calibri" panose="020F0502020204030204"/>
            </a:endParaRPr>
          </a:p>
        </p:txBody>
      </p:sp>
      <p:sp>
        <p:nvSpPr>
          <p:cNvPr id="71" name="Text 64"/>
          <p:cNvSpPr/>
          <p:nvPr/>
        </p:nvSpPr>
        <p:spPr>
          <a:xfrm>
            <a:off x="5551551" y="4402836"/>
            <a:ext cx="617220" cy="137160"/>
          </a:xfrm>
          <a:prstGeom prst="rect">
            <a:avLst/>
          </a:prstGeom>
          <a:noFill/>
          <a:ln/>
        </p:spPr>
        <p:txBody>
          <a:bodyPr wrap="square" lIns="0" tIns="0" rIns="0" bIns="0" rtlCol="0" anchor="ctr"/>
          <a:lstStyle/>
          <a:p>
            <a:pPr algn="ctr" defTabSz="685800"/>
            <a:r>
              <a:rPr lang="en-US" sz="563" b="1" kern="0" spc="60" dirty="0">
                <a:solidFill>
                  <a:srgbClr val="2DD4BF"/>
                </a:solidFill>
                <a:latin typeface="Calibri" panose="020F0502020204030204"/>
              </a:rPr>
              <a:t>EVIDENCE</a:t>
            </a:r>
            <a:endParaRPr lang="en-US" sz="563" dirty="0">
              <a:solidFill>
                <a:prstClr val="black"/>
              </a:solidFill>
              <a:latin typeface="Calibri" panose="020F0502020204030204"/>
            </a:endParaRPr>
          </a:p>
        </p:txBody>
      </p:sp>
      <p:sp>
        <p:nvSpPr>
          <p:cNvPr id="72" name="Shape 65"/>
          <p:cNvSpPr/>
          <p:nvPr/>
        </p:nvSpPr>
        <p:spPr>
          <a:xfrm>
            <a:off x="342900" y="4924044"/>
            <a:ext cx="8435340" cy="0"/>
          </a:xfrm>
          <a:prstGeom prst="line">
            <a:avLst/>
          </a:prstGeom>
          <a:noFill/>
          <a:ln w="5080">
            <a:solidFill>
              <a:srgbClr val="FFFFFF">
                <a:alpha val="10000"/>
              </a:srgbClr>
            </a:solidFill>
            <a:prstDash val="solid"/>
          </a:ln>
        </p:spPr>
        <p:txBody>
          <a:bodyPr/>
          <a:lstStyle/>
          <a:p>
            <a:pPr defTabSz="685800"/>
            <a:endParaRPr lang="en-US" sz="1350">
              <a:solidFill>
                <a:prstClr val="black"/>
              </a:solidFill>
              <a:latin typeface="Calibri" panose="020F0502020204030204"/>
            </a:endParaRPr>
          </a:p>
        </p:txBody>
      </p:sp>
      <p:sp>
        <p:nvSpPr>
          <p:cNvPr id="73" name="Text 66"/>
          <p:cNvSpPr/>
          <p:nvPr/>
        </p:nvSpPr>
        <p:spPr>
          <a:xfrm>
            <a:off x="342900" y="4951476"/>
            <a:ext cx="4800600" cy="150876"/>
          </a:xfrm>
          <a:prstGeom prst="rect">
            <a:avLst/>
          </a:prstGeom>
          <a:noFill/>
          <a:ln/>
        </p:spPr>
        <p:txBody>
          <a:bodyPr wrap="square" rtlCol="0" anchor="ctr"/>
          <a:lstStyle/>
          <a:p>
            <a:pPr defTabSz="685800"/>
            <a:r>
              <a:rPr lang="en-US" sz="600" dirty="0">
                <a:solidFill>
                  <a:srgbClr val="6B7280"/>
                </a:solidFill>
                <a:latin typeface="Calibri" pitchFamily="34" charset="0"/>
                <a:ea typeface="Calibri" pitchFamily="34" charset="-122"/>
                <a:cs typeface="Calibri" pitchFamily="34" charset="-120"/>
              </a:rPr>
              <a:t>SpiderDIN project walkthrough  |  current repository snapshot</a:t>
            </a:r>
            <a:endParaRPr lang="en-US" sz="600" dirty="0">
              <a:solidFill>
                <a:prstClr val="black"/>
              </a:solidFill>
              <a:latin typeface="Calibri" panose="020F0502020204030204"/>
            </a:endParaRPr>
          </a:p>
        </p:txBody>
      </p:sp>
      <p:pic>
        <p:nvPicPr>
          <p:cNvPr id="74" name="Picture 73">
            <a:extLst>
              <a:ext uri="{FF2B5EF4-FFF2-40B4-BE49-F238E27FC236}">
                <a16:creationId xmlns:a16="http://schemas.microsoft.com/office/drawing/2014/main" id="{A9770FCC-B817-0B88-1543-00BA6047E2F2}"/>
              </a:ext>
            </a:extLst>
          </p:cNvPr>
          <p:cNvPicPr>
            <a:picLocks noChangeAspect="1"/>
          </p:cNvPicPr>
          <p:nvPr/>
        </p:nvPicPr>
        <p:blipFill>
          <a:blip r:embed="rId8"/>
          <a:srcRect l="-928" t="29746" r="928" b="36645"/>
          <a:stretch>
            <a:fillRect/>
          </a:stretch>
        </p:blipFill>
        <p:spPr>
          <a:xfrm>
            <a:off x="8218575" y="45720"/>
            <a:ext cx="861058" cy="2893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0C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p:cNvSpPr/>
          <p:nvPr/>
        </p:nvSpPr>
        <p:spPr>
          <a:xfrm>
            <a:off x="685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p:cNvSpPr/>
          <p:nvPr/>
        </p:nvSpPr>
        <p:spPr>
          <a:xfrm>
            <a:off x="1371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2057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2743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p:cNvSpPr/>
          <p:nvPr/>
        </p:nvSpPr>
        <p:spPr>
          <a:xfrm>
            <a:off x="3429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114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4800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5486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6172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6858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7543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8229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ectangle 14"/>
          <p:cNvSpPr/>
          <p:nvPr/>
        </p:nvSpPr>
        <p:spPr>
          <a:xfrm>
            <a:off x="8915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1" y="685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ectangle 16"/>
          <p:cNvSpPr/>
          <p:nvPr/>
        </p:nvSpPr>
        <p:spPr>
          <a:xfrm>
            <a:off x="1" y="1371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ectangle 17"/>
          <p:cNvSpPr/>
          <p:nvPr/>
        </p:nvSpPr>
        <p:spPr>
          <a:xfrm>
            <a:off x="1" y="20574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ectangle 18"/>
          <p:cNvSpPr/>
          <p:nvPr/>
        </p:nvSpPr>
        <p:spPr>
          <a:xfrm>
            <a:off x="1" y="27432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ectangle 19"/>
          <p:cNvSpPr/>
          <p:nvPr/>
        </p:nvSpPr>
        <p:spPr>
          <a:xfrm>
            <a:off x="1" y="34290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Rectangle 20"/>
          <p:cNvSpPr/>
          <p:nvPr/>
        </p:nvSpPr>
        <p:spPr>
          <a:xfrm>
            <a:off x="1" y="4114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Rectangle 21"/>
          <p:cNvSpPr/>
          <p:nvPr/>
        </p:nvSpPr>
        <p:spPr>
          <a:xfrm>
            <a:off x="1" y="4800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Rectangle 22"/>
          <p:cNvSpPr/>
          <p:nvPr/>
        </p:nvSpPr>
        <p:spPr>
          <a:xfrm>
            <a:off x="342900" y="260604"/>
            <a:ext cx="1131570" cy="20574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528066" y="315468"/>
            <a:ext cx="788670" cy="99258"/>
          </a:xfrm>
          <a:prstGeom prst="rect">
            <a:avLst/>
          </a:prstGeom>
          <a:noFill/>
        </p:spPr>
        <p:txBody>
          <a:bodyPr wrap="square" lIns="13716" tIns="13716" rIns="13716" bIns="13716" anchor="t">
            <a:spAutoFit/>
          </a:bodyPr>
          <a:lstStyle/>
          <a:p>
            <a:pPr algn="ctr"/>
            <a:r>
              <a:rPr sz="465" b="1">
                <a:solidFill>
                  <a:srgbClr val="0C0F14"/>
                </a:solidFill>
                <a:latin typeface="Aptos"/>
              </a:rPr>
              <a:t>TAXONOMY</a:t>
            </a:r>
          </a:p>
        </p:txBody>
      </p:sp>
      <p:sp>
        <p:nvSpPr>
          <p:cNvPr id="25" name="TextBox 24"/>
          <p:cNvSpPr txBox="1"/>
          <p:nvPr/>
        </p:nvSpPr>
        <p:spPr>
          <a:xfrm>
            <a:off x="8572500" y="240030"/>
            <a:ext cx="240030" cy="131574"/>
          </a:xfrm>
          <a:prstGeom prst="rect">
            <a:avLst/>
          </a:prstGeom>
          <a:noFill/>
        </p:spPr>
        <p:txBody>
          <a:bodyPr wrap="square" lIns="13716" tIns="13716" rIns="13716" bIns="13716" anchor="t">
            <a:spAutoFit/>
          </a:bodyPr>
          <a:lstStyle/>
          <a:p>
            <a:pPr algn="r"/>
            <a:r>
              <a:rPr sz="675">
                <a:solidFill>
                  <a:srgbClr val="666C76"/>
                </a:solidFill>
                <a:latin typeface="Aptos"/>
              </a:rPr>
              <a:t>01</a:t>
            </a:r>
          </a:p>
        </p:txBody>
      </p:sp>
      <p:sp>
        <p:nvSpPr>
          <p:cNvPr id="26" name="TextBox 25"/>
          <p:cNvSpPr txBox="1"/>
          <p:nvPr/>
        </p:nvSpPr>
        <p:spPr>
          <a:xfrm>
            <a:off x="425196" y="788670"/>
            <a:ext cx="7680960" cy="784830"/>
          </a:xfrm>
          <a:prstGeom prst="rect">
            <a:avLst/>
          </a:prstGeom>
          <a:noFill/>
        </p:spPr>
        <p:txBody>
          <a:bodyPr wrap="square" lIns="0" tIns="0" rIns="0" bIns="0">
            <a:spAutoFit/>
          </a:bodyPr>
          <a:lstStyle/>
          <a:p>
            <a:pPr algn="l"/>
            <a:r>
              <a:rPr sz="2550" b="1">
                <a:solidFill>
                  <a:srgbClr val="FFBE18"/>
                </a:solidFill>
                <a:latin typeface="Georgia"/>
              </a:rPr>
              <a:t>Text-to-SQL Problems: </a:t>
            </a:r>
            <a:r>
              <a:rPr sz="2550" b="1">
                <a:solidFill>
                  <a:srgbClr val="F1EFE9"/>
                </a:solidFill>
                <a:latin typeface="Georgia"/>
              </a:rPr>
              <a:t>What Breaks Before SQL Can Be Trusted</a:t>
            </a:r>
          </a:p>
        </p:txBody>
      </p:sp>
      <p:sp>
        <p:nvSpPr>
          <p:cNvPr id="27" name="TextBox 26"/>
          <p:cNvSpPr txBox="1"/>
          <p:nvPr/>
        </p:nvSpPr>
        <p:spPr>
          <a:xfrm>
            <a:off x="438913" y="1817370"/>
            <a:ext cx="5966459" cy="316369"/>
          </a:xfrm>
          <a:prstGeom prst="rect">
            <a:avLst/>
          </a:prstGeom>
          <a:noFill/>
        </p:spPr>
        <p:txBody>
          <a:bodyPr wrap="square" lIns="13716" tIns="13716" rIns="13716" bIns="13716" anchor="t">
            <a:spAutoFit/>
          </a:bodyPr>
          <a:lstStyle/>
          <a:p>
            <a:pPr algn="l"/>
            <a:r>
              <a:rPr sz="938">
                <a:solidFill>
                  <a:srgbClr val="F1EFE9"/>
                </a:solidFill>
                <a:latin typeface="Aptos"/>
              </a:rPr>
              <a:t>A practical taxonomy from our SpiderDIN journey: separating genuine Text-to-SQL difficulty from architecture and pipeline engineering failure modes.</a:t>
            </a:r>
          </a:p>
        </p:txBody>
      </p:sp>
      <p:sp>
        <p:nvSpPr>
          <p:cNvPr id="28" name="Rectangle 27"/>
          <p:cNvSpPr/>
          <p:nvPr/>
        </p:nvSpPr>
        <p:spPr>
          <a:xfrm>
            <a:off x="514350" y="2777490"/>
            <a:ext cx="2331720" cy="92583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9" name="Rectangle 28"/>
          <p:cNvSpPr/>
          <p:nvPr/>
        </p:nvSpPr>
        <p:spPr>
          <a:xfrm>
            <a:off x="514350" y="2777490"/>
            <a:ext cx="2331720" cy="34290"/>
          </a:xfrm>
          <a:prstGeom prst="rect">
            <a:avLst/>
          </a:prstGeom>
          <a:solidFill>
            <a:srgbClr val="41D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Oval 29"/>
          <p:cNvSpPr/>
          <p:nvPr/>
        </p:nvSpPr>
        <p:spPr>
          <a:xfrm>
            <a:off x="665226" y="2962656"/>
            <a:ext cx="301752" cy="301752"/>
          </a:xfrm>
          <a:prstGeom prst="ellipse">
            <a:avLst/>
          </a:prstGeom>
          <a:solidFill>
            <a:srgbClr val="1F3434"/>
          </a:solidFill>
          <a:ln w="1270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1" name="TextBox 30"/>
          <p:cNvSpPr txBox="1"/>
          <p:nvPr/>
        </p:nvSpPr>
        <p:spPr>
          <a:xfrm>
            <a:off x="665226" y="3044952"/>
            <a:ext cx="301752" cy="120033"/>
          </a:xfrm>
          <a:prstGeom prst="rect">
            <a:avLst/>
          </a:prstGeom>
          <a:noFill/>
        </p:spPr>
        <p:txBody>
          <a:bodyPr wrap="square" lIns="13716" tIns="13716" rIns="13716" bIns="13716" anchor="t">
            <a:spAutoFit/>
          </a:bodyPr>
          <a:lstStyle/>
          <a:p>
            <a:pPr algn="ctr"/>
            <a:r>
              <a:rPr sz="600" b="1">
                <a:solidFill>
                  <a:srgbClr val="41DA8E"/>
                </a:solidFill>
                <a:latin typeface="Aptos"/>
              </a:rPr>
              <a:t>A</a:t>
            </a:r>
          </a:p>
        </p:txBody>
      </p:sp>
      <p:sp>
        <p:nvSpPr>
          <p:cNvPr id="32" name="TextBox 31"/>
          <p:cNvSpPr txBox="1"/>
          <p:nvPr/>
        </p:nvSpPr>
        <p:spPr>
          <a:xfrm>
            <a:off x="1008126" y="3010662"/>
            <a:ext cx="1680210" cy="145296"/>
          </a:xfrm>
          <a:prstGeom prst="rect">
            <a:avLst/>
          </a:prstGeom>
          <a:noFill/>
        </p:spPr>
        <p:txBody>
          <a:bodyPr wrap="square" lIns="13716" tIns="13716" rIns="13716" bIns="13716" anchor="t">
            <a:spAutoFit/>
          </a:bodyPr>
          <a:lstStyle/>
          <a:p>
            <a:pPr algn="l"/>
            <a:r>
              <a:rPr sz="764" b="1">
                <a:solidFill>
                  <a:srgbClr val="F1EFE9"/>
                </a:solidFill>
                <a:latin typeface="Aptos"/>
              </a:rPr>
              <a:t>Genuine task problems</a:t>
            </a:r>
          </a:p>
        </p:txBody>
      </p:sp>
      <p:sp>
        <p:nvSpPr>
          <p:cNvPr id="33" name="TextBox 32"/>
          <p:cNvSpPr txBox="1"/>
          <p:nvPr/>
        </p:nvSpPr>
        <p:spPr>
          <a:xfrm>
            <a:off x="761237" y="3380994"/>
            <a:ext cx="1906524" cy="212366"/>
          </a:xfrm>
          <a:prstGeom prst="rect">
            <a:avLst/>
          </a:prstGeom>
          <a:noFill/>
        </p:spPr>
        <p:txBody>
          <a:bodyPr wrap="square" lIns="13716" tIns="13716" rIns="13716" bIns="13716" anchor="t">
            <a:spAutoFit/>
          </a:bodyPr>
          <a:lstStyle/>
          <a:p>
            <a:pPr algn="l"/>
            <a:r>
              <a:rPr sz="600">
                <a:solidFill>
                  <a:srgbClr val="F1EFE9"/>
                </a:solidFill>
                <a:latin typeface="Aptos"/>
              </a:rPr>
              <a:t>Hard because human meaning must become exact relational logic.</a:t>
            </a:r>
          </a:p>
        </p:txBody>
      </p:sp>
      <p:sp>
        <p:nvSpPr>
          <p:cNvPr id="34" name="Rectangle 33"/>
          <p:cNvSpPr/>
          <p:nvPr/>
        </p:nvSpPr>
        <p:spPr>
          <a:xfrm>
            <a:off x="761237" y="3483864"/>
            <a:ext cx="754380" cy="123444"/>
          </a:xfrm>
          <a:prstGeom prst="rect">
            <a:avLst/>
          </a:prstGeom>
          <a:solidFill>
            <a:srgbClr val="162C30"/>
          </a:solidFill>
          <a:ln w="508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5" name="TextBox 34"/>
          <p:cNvSpPr txBox="1"/>
          <p:nvPr/>
        </p:nvSpPr>
        <p:spPr>
          <a:xfrm>
            <a:off x="761237" y="3501009"/>
            <a:ext cx="754380" cy="90025"/>
          </a:xfrm>
          <a:prstGeom prst="rect">
            <a:avLst/>
          </a:prstGeom>
          <a:noFill/>
        </p:spPr>
        <p:txBody>
          <a:bodyPr wrap="square" lIns="13716" tIns="13716" rIns="13716" bIns="13716" anchor="t">
            <a:spAutoFit/>
          </a:bodyPr>
          <a:lstStyle/>
          <a:p>
            <a:pPr algn="ctr"/>
            <a:r>
              <a:rPr sz="405" b="1" dirty="0">
                <a:solidFill>
                  <a:srgbClr val="41DA8E"/>
                </a:solidFill>
                <a:latin typeface="Aptos"/>
              </a:rPr>
              <a:t>INTENT</a:t>
            </a:r>
          </a:p>
        </p:txBody>
      </p:sp>
      <p:sp>
        <p:nvSpPr>
          <p:cNvPr id="36" name="Rectangle 35"/>
          <p:cNvSpPr/>
          <p:nvPr/>
        </p:nvSpPr>
        <p:spPr>
          <a:xfrm>
            <a:off x="1639061" y="3483864"/>
            <a:ext cx="754380" cy="123444"/>
          </a:xfrm>
          <a:prstGeom prst="rect">
            <a:avLst/>
          </a:prstGeom>
          <a:solidFill>
            <a:srgbClr val="162C30"/>
          </a:solidFill>
          <a:ln w="508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7" name="TextBox 36"/>
          <p:cNvSpPr txBox="1"/>
          <p:nvPr/>
        </p:nvSpPr>
        <p:spPr>
          <a:xfrm>
            <a:off x="1639061" y="3501009"/>
            <a:ext cx="754380" cy="90025"/>
          </a:xfrm>
          <a:prstGeom prst="rect">
            <a:avLst/>
          </a:prstGeom>
          <a:noFill/>
        </p:spPr>
        <p:txBody>
          <a:bodyPr wrap="square" lIns="13716" tIns="13716" rIns="13716" bIns="13716" anchor="t">
            <a:spAutoFit/>
          </a:bodyPr>
          <a:lstStyle/>
          <a:p>
            <a:pPr algn="ctr"/>
            <a:r>
              <a:rPr sz="405" b="1">
                <a:solidFill>
                  <a:srgbClr val="41DA8E"/>
                </a:solidFill>
                <a:latin typeface="Aptos"/>
              </a:rPr>
              <a:t>SCHEMA</a:t>
            </a:r>
          </a:p>
        </p:txBody>
      </p:sp>
      <p:sp>
        <p:nvSpPr>
          <p:cNvPr id="38" name="Rectangle 37"/>
          <p:cNvSpPr/>
          <p:nvPr/>
        </p:nvSpPr>
        <p:spPr>
          <a:xfrm>
            <a:off x="2516886" y="3483864"/>
            <a:ext cx="754380" cy="123444"/>
          </a:xfrm>
          <a:prstGeom prst="rect">
            <a:avLst/>
          </a:prstGeom>
          <a:solidFill>
            <a:srgbClr val="162C30"/>
          </a:solidFill>
          <a:ln w="508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9" name="TextBox 38"/>
          <p:cNvSpPr txBox="1"/>
          <p:nvPr/>
        </p:nvSpPr>
        <p:spPr>
          <a:xfrm>
            <a:off x="2516886" y="3501009"/>
            <a:ext cx="754380" cy="90025"/>
          </a:xfrm>
          <a:prstGeom prst="rect">
            <a:avLst/>
          </a:prstGeom>
          <a:noFill/>
        </p:spPr>
        <p:txBody>
          <a:bodyPr wrap="square" lIns="13716" tIns="13716" rIns="13716" bIns="13716" anchor="t">
            <a:spAutoFit/>
          </a:bodyPr>
          <a:lstStyle/>
          <a:p>
            <a:pPr algn="ctr"/>
            <a:r>
              <a:rPr sz="405" b="1">
                <a:solidFill>
                  <a:srgbClr val="41DA8E"/>
                </a:solidFill>
                <a:latin typeface="Aptos"/>
              </a:rPr>
              <a:t>LOGIC</a:t>
            </a:r>
          </a:p>
        </p:txBody>
      </p:sp>
      <p:sp>
        <p:nvSpPr>
          <p:cNvPr id="40" name="Rectangle 39"/>
          <p:cNvSpPr/>
          <p:nvPr/>
        </p:nvSpPr>
        <p:spPr>
          <a:xfrm>
            <a:off x="3326130" y="2777490"/>
            <a:ext cx="2331720" cy="92583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1" name="Rectangle 40"/>
          <p:cNvSpPr/>
          <p:nvPr/>
        </p:nvSpPr>
        <p:spPr>
          <a:xfrm>
            <a:off x="3326130" y="2777490"/>
            <a:ext cx="2331720" cy="3429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2" name="Oval 41"/>
          <p:cNvSpPr/>
          <p:nvPr/>
        </p:nvSpPr>
        <p:spPr>
          <a:xfrm>
            <a:off x="3477005" y="2962656"/>
            <a:ext cx="301752" cy="301752"/>
          </a:xfrm>
          <a:prstGeom prst="ellipse">
            <a:avLst/>
          </a:prstGeom>
          <a:solidFill>
            <a:srgbClr val="252D3A"/>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3" name="TextBox 42"/>
          <p:cNvSpPr txBox="1"/>
          <p:nvPr/>
        </p:nvSpPr>
        <p:spPr>
          <a:xfrm>
            <a:off x="3477005" y="3044952"/>
            <a:ext cx="301752" cy="120033"/>
          </a:xfrm>
          <a:prstGeom prst="rect">
            <a:avLst/>
          </a:prstGeom>
          <a:noFill/>
        </p:spPr>
        <p:txBody>
          <a:bodyPr wrap="square" lIns="13716" tIns="13716" rIns="13716" bIns="13716" anchor="t">
            <a:spAutoFit/>
          </a:bodyPr>
          <a:lstStyle/>
          <a:p>
            <a:pPr algn="ctr"/>
            <a:r>
              <a:rPr sz="600" b="1">
                <a:solidFill>
                  <a:srgbClr val="F5A012"/>
                </a:solidFill>
                <a:latin typeface="Aptos"/>
              </a:rPr>
              <a:t>B</a:t>
            </a:r>
          </a:p>
        </p:txBody>
      </p:sp>
      <p:sp>
        <p:nvSpPr>
          <p:cNvPr id="44" name="TextBox 43"/>
          <p:cNvSpPr txBox="1"/>
          <p:nvPr/>
        </p:nvSpPr>
        <p:spPr>
          <a:xfrm>
            <a:off x="3819905" y="3010662"/>
            <a:ext cx="1680210" cy="145296"/>
          </a:xfrm>
          <a:prstGeom prst="rect">
            <a:avLst/>
          </a:prstGeom>
          <a:noFill/>
        </p:spPr>
        <p:txBody>
          <a:bodyPr wrap="square" lIns="13716" tIns="13716" rIns="13716" bIns="13716" anchor="t">
            <a:spAutoFit/>
          </a:bodyPr>
          <a:lstStyle/>
          <a:p>
            <a:pPr algn="l"/>
            <a:r>
              <a:rPr sz="764" b="1">
                <a:solidFill>
                  <a:srgbClr val="F1EFE9"/>
                </a:solidFill>
                <a:latin typeface="Aptos"/>
              </a:rPr>
              <a:t>Architecture problems</a:t>
            </a:r>
          </a:p>
        </p:txBody>
      </p:sp>
      <p:sp>
        <p:nvSpPr>
          <p:cNvPr id="45" name="TextBox 44"/>
          <p:cNvSpPr txBox="1"/>
          <p:nvPr/>
        </p:nvSpPr>
        <p:spPr>
          <a:xfrm>
            <a:off x="3573018" y="3380995"/>
            <a:ext cx="1906524" cy="212366"/>
          </a:xfrm>
          <a:prstGeom prst="rect">
            <a:avLst/>
          </a:prstGeom>
          <a:noFill/>
        </p:spPr>
        <p:txBody>
          <a:bodyPr wrap="square" lIns="13716" tIns="13716" rIns="13716" bIns="13716" anchor="t">
            <a:spAutoFit/>
          </a:bodyPr>
          <a:lstStyle/>
          <a:p>
            <a:pPr algn="l"/>
            <a:r>
              <a:rPr sz="600">
                <a:solidFill>
                  <a:srgbClr val="F1EFE9"/>
                </a:solidFill>
                <a:latin typeface="Aptos"/>
              </a:rPr>
              <a:t>Hard because reliable systems need retrieval, validation, correction, and observability.</a:t>
            </a:r>
          </a:p>
        </p:txBody>
      </p:sp>
      <p:sp>
        <p:nvSpPr>
          <p:cNvPr id="46" name="Rectangle 45"/>
          <p:cNvSpPr/>
          <p:nvPr/>
        </p:nvSpPr>
        <p:spPr>
          <a:xfrm>
            <a:off x="3573018" y="3483864"/>
            <a:ext cx="754380" cy="123444"/>
          </a:xfrm>
          <a:prstGeom prst="rect">
            <a:avLst/>
          </a:prstGeom>
          <a:solidFill>
            <a:srgbClr val="272B3A"/>
          </a:solidFill>
          <a:ln w="508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7" name="TextBox 46"/>
          <p:cNvSpPr txBox="1"/>
          <p:nvPr/>
        </p:nvSpPr>
        <p:spPr>
          <a:xfrm>
            <a:off x="3573018" y="3501009"/>
            <a:ext cx="754380" cy="90025"/>
          </a:xfrm>
          <a:prstGeom prst="rect">
            <a:avLst/>
          </a:prstGeom>
          <a:noFill/>
        </p:spPr>
        <p:txBody>
          <a:bodyPr wrap="square" lIns="13716" tIns="13716" rIns="13716" bIns="13716" anchor="t">
            <a:spAutoFit/>
          </a:bodyPr>
          <a:lstStyle/>
          <a:p>
            <a:pPr algn="ctr"/>
            <a:r>
              <a:rPr sz="405" b="1">
                <a:solidFill>
                  <a:srgbClr val="F5A012"/>
                </a:solidFill>
                <a:latin typeface="Aptos"/>
              </a:rPr>
              <a:t>PIPELINE</a:t>
            </a:r>
          </a:p>
        </p:txBody>
      </p:sp>
      <p:sp>
        <p:nvSpPr>
          <p:cNvPr id="48" name="Rectangle 47"/>
          <p:cNvSpPr/>
          <p:nvPr/>
        </p:nvSpPr>
        <p:spPr>
          <a:xfrm>
            <a:off x="4450842" y="3483864"/>
            <a:ext cx="754380" cy="123444"/>
          </a:xfrm>
          <a:prstGeom prst="rect">
            <a:avLst/>
          </a:prstGeom>
          <a:solidFill>
            <a:srgbClr val="272B3A"/>
          </a:solidFill>
          <a:ln w="508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9" name="TextBox 48"/>
          <p:cNvSpPr txBox="1"/>
          <p:nvPr/>
        </p:nvSpPr>
        <p:spPr>
          <a:xfrm>
            <a:off x="4450842" y="3501009"/>
            <a:ext cx="754380" cy="90025"/>
          </a:xfrm>
          <a:prstGeom prst="rect">
            <a:avLst/>
          </a:prstGeom>
          <a:noFill/>
        </p:spPr>
        <p:txBody>
          <a:bodyPr wrap="square" lIns="13716" tIns="13716" rIns="13716" bIns="13716" anchor="t">
            <a:spAutoFit/>
          </a:bodyPr>
          <a:lstStyle/>
          <a:p>
            <a:pPr algn="ctr"/>
            <a:r>
              <a:rPr sz="405" b="1">
                <a:solidFill>
                  <a:srgbClr val="F5A012"/>
                </a:solidFill>
                <a:latin typeface="Aptos"/>
              </a:rPr>
              <a:t>AGENTS</a:t>
            </a:r>
          </a:p>
        </p:txBody>
      </p:sp>
      <p:sp>
        <p:nvSpPr>
          <p:cNvPr id="50" name="Rectangle 49"/>
          <p:cNvSpPr/>
          <p:nvPr/>
        </p:nvSpPr>
        <p:spPr>
          <a:xfrm>
            <a:off x="5328666" y="3483864"/>
            <a:ext cx="754380" cy="123444"/>
          </a:xfrm>
          <a:prstGeom prst="rect">
            <a:avLst/>
          </a:prstGeom>
          <a:solidFill>
            <a:srgbClr val="272B3A"/>
          </a:solidFill>
          <a:ln w="508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1" name="TextBox 50"/>
          <p:cNvSpPr txBox="1"/>
          <p:nvPr/>
        </p:nvSpPr>
        <p:spPr>
          <a:xfrm>
            <a:off x="5328666" y="3501009"/>
            <a:ext cx="754380" cy="90025"/>
          </a:xfrm>
          <a:prstGeom prst="rect">
            <a:avLst/>
          </a:prstGeom>
          <a:noFill/>
        </p:spPr>
        <p:txBody>
          <a:bodyPr wrap="square" lIns="13716" tIns="13716" rIns="13716" bIns="13716" anchor="t">
            <a:spAutoFit/>
          </a:bodyPr>
          <a:lstStyle/>
          <a:p>
            <a:pPr algn="ctr"/>
            <a:r>
              <a:rPr sz="405" b="1">
                <a:solidFill>
                  <a:srgbClr val="F5A012"/>
                </a:solidFill>
                <a:latin typeface="Aptos"/>
              </a:rPr>
              <a:t>OPS</a:t>
            </a:r>
          </a:p>
        </p:txBody>
      </p:sp>
      <p:sp>
        <p:nvSpPr>
          <p:cNvPr id="52" name="Rectangle 51"/>
          <p:cNvSpPr/>
          <p:nvPr/>
        </p:nvSpPr>
        <p:spPr>
          <a:xfrm>
            <a:off x="6137909" y="2777490"/>
            <a:ext cx="2331720" cy="92583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3" name="Rectangle 52"/>
          <p:cNvSpPr/>
          <p:nvPr/>
        </p:nvSpPr>
        <p:spPr>
          <a:xfrm>
            <a:off x="6137909" y="2777490"/>
            <a:ext cx="2331720" cy="34290"/>
          </a:xfrm>
          <a:prstGeom prst="rect">
            <a:avLst/>
          </a:prstGeom>
          <a:solidFill>
            <a:srgbClr val="2BD3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4" name="Oval 53"/>
          <p:cNvSpPr/>
          <p:nvPr/>
        </p:nvSpPr>
        <p:spPr>
          <a:xfrm>
            <a:off x="6288786" y="2962656"/>
            <a:ext cx="301752" cy="301752"/>
          </a:xfrm>
          <a:prstGeom prst="ellipse">
            <a:avLst/>
          </a:prstGeom>
          <a:solidFill>
            <a:srgbClr val="1F3434"/>
          </a:solidFill>
          <a:ln w="1270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5" name="TextBox 54"/>
          <p:cNvSpPr txBox="1"/>
          <p:nvPr/>
        </p:nvSpPr>
        <p:spPr>
          <a:xfrm>
            <a:off x="6288786" y="3044952"/>
            <a:ext cx="301752" cy="120033"/>
          </a:xfrm>
          <a:prstGeom prst="rect">
            <a:avLst/>
          </a:prstGeom>
          <a:noFill/>
        </p:spPr>
        <p:txBody>
          <a:bodyPr wrap="square" lIns="13716" tIns="13716" rIns="13716" bIns="13716" anchor="t">
            <a:spAutoFit/>
          </a:bodyPr>
          <a:lstStyle/>
          <a:p>
            <a:pPr algn="ctr"/>
            <a:r>
              <a:rPr sz="600" b="1">
                <a:solidFill>
                  <a:srgbClr val="2BD3C0"/>
                </a:solidFill>
                <a:latin typeface="Aptos"/>
              </a:rPr>
              <a:t>C</a:t>
            </a:r>
          </a:p>
        </p:txBody>
      </p:sp>
      <p:sp>
        <p:nvSpPr>
          <p:cNvPr id="56" name="TextBox 55"/>
          <p:cNvSpPr txBox="1"/>
          <p:nvPr/>
        </p:nvSpPr>
        <p:spPr>
          <a:xfrm>
            <a:off x="6631686" y="3010662"/>
            <a:ext cx="1680210" cy="145296"/>
          </a:xfrm>
          <a:prstGeom prst="rect">
            <a:avLst/>
          </a:prstGeom>
          <a:noFill/>
        </p:spPr>
        <p:txBody>
          <a:bodyPr wrap="square" lIns="13716" tIns="13716" rIns="13716" bIns="13716" anchor="t">
            <a:spAutoFit/>
          </a:bodyPr>
          <a:lstStyle/>
          <a:p>
            <a:pPr algn="l"/>
            <a:r>
              <a:rPr sz="764" b="1">
                <a:solidFill>
                  <a:srgbClr val="F1EFE9"/>
                </a:solidFill>
                <a:latin typeface="Aptos"/>
              </a:rPr>
              <a:t>Core lesson</a:t>
            </a:r>
          </a:p>
        </p:txBody>
      </p:sp>
      <p:sp>
        <p:nvSpPr>
          <p:cNvPr id="57" name="TextBox 56"/>
          <p:cNvSpPr txBox="1"/>
          <p:nvPr/>
        </p:nvSpPr>
        <p:spPr>
          <a:xfrm>
            <a:off x="6384797" y="3380994"/>
            <a:ext cx="1906524" cy="212366"/>
          </a:xfrm>
          <a:prstGeom prst="rect">
            <a:avLst/>
          </a:prstGeom>
          <a:noFill/>
        </p:spPr>
        <p:txBody>
          <a:bodyPr wrap="square" lIns="13716" tIns="13716" rIns="13716" bIns="13716" anchor="t">
            <a:spAutoFit/>
          </a:bodyPr>
          <a:lstStyle/>
          <a:p>
            <a:pPr algn="l"/>
            <a:r>
              <a:rPr sz="600">
                <a:solidFill>
                  <a:srgbClr val="F1EFE9"/>
                </a:solidFill>
                <a:latin typeface="Aptos"/>
              </a:rPr>
              <a:t>The real product is not SQL generation. It is trustworthy SQL production.</a:t>
            </a:r>
          </a:p>
        </p:txBody>
      </p:sp>
      <p:sp>
        <p:nvSpPr>
          <p:cNvPr id="58" name="Rectangle 57"/>
          <p:cNvSpPr/>
          <p:nvPr/>
        </p:nvSpPr>
        <p:spPr>
          <a:xfrm>
            <a:off x="6384797" y="3483864"/>
            <a:ext cx="754380" cy="123444"/>
          </a:xfrm>
          <a:prstGeom prst="rect">
            <a:avLst/>
          </a:prstGeom>
          <a:solidFill>
            <a:srgbClr val="162C30"/>
          </a:solidFill>
          <a:ln w="508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9" name="TextBox 58"/>
          <p:cNvSpPr txBox="1"/>
          <p:nvPr/>
        </p:nvSpPr>
        <p:spPr>
          <a:xfrm>
            <a:off x="6384797" y="3501009"/>
            <a:ext cx="754380" cy="90025"/>
          </a:xfrm>
          <a:prstGeom prst="rect">
            <a:avLst/>
          </a:prstGeom>
          <a:noFill/>
        </p:spPr>
        <p:txBody>
          <a:bodyPr wrap="square" lIns="13716" tIns="13716" rIns="13716" bIns="13716" anchor="t">
            <a:spAutoFit/>
          </a:bodyPr>
          <a:lstStyle/>
          <a:p>
            <a:pPr algn="ctr"/>
            <a:r>
              <a:rPr sz="405" b="1">
                <a:solidFill>
                  <a:srgbClr val="2BD3C0"/>
                </a:solidFill>
                <a:latin typeface="Aptos"/>
              </a:rPr>
              <a:t>TRUST</a:t>
            </a:r>
          </a:p>
        </p:txBody>
      </p:sp>
      <p:sp>
        <p:nvSpPr>
          <p:cNvPr id="60" name="Rectangle 59"/>
          <p:cNvSpPr/>
          <p:nvPr/>
        </p:nvSpPr>
        <p:spPr>
          <a:xfrm>
            <a:off x="7262621" y="3483864"/>
            <a:ext cx="754380" cy="123444"/>
          </a:xfrm>
          <a:prstGeom prst="rect">
            <a:avLst/>
          </a:prstGeom>
          <a:solidFill>
            <a:srgbClr val="162C30"/>
          </a:solidFill>
          <a:ln w="508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1" name="TextBox 60"/>
          <p:cNvSpPr txBox="1"/>
          <p:nvPr/>
        </p:nvSpPr>
        <p:spPr>
          <a:xfrm>
            <a:off x="7262621" y="3501009"/>
            <a:ext cx="754380" cy="90025"/>
          </a:xfrm>
          <a:prstGeom prst="rect">
            <a:avLst/>
          </a:prstGeom>
          <a:noFill/>
        </p:spPr>
        <p:txBody>
          <a:bodyPr wrap="square" lIns="13716" tIns="13716" rIns="13716" bIns="13716" anchor="t">
            <a:spAutoFit/>
          </a:bodyPr>
          <a:lstStyle/>
          <a:p>
            <a:pPr algn="ctr"/>
            <a:r>
              <a:rPr sz="405" b="1">
                <a:solidFill>
                  <a:srgbClr val="2BD3C0"/>
                </a:solidFill>
                <a:latin typeface="Aptos"/>
              </a:rPr>
              <a:t>EVIDENCE</a:t>
            </a:r>
          </a:p>
        </p:txBody>
      </p:sp>
      <p:sp>
        <p:nvSpPr>
          <p:cNvPr id="62" name="Rectangle 61"/>
          <p:cNvSpPr/>
          <p:nvPr/>
        </p:nvSpPr>
        <p:spPr>
          <a:xfrm>
            <a:off x="342900" y="4855464"/>
            <a:ext cx="8435340" cy="6858"/>
          </a:xfrm>
          <a:prstGeom prst="rect">
            <a:avLst/>
          </a:prstGeom>
          <a:solidFill>
            <a:srgbClr val="252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3" name="TextBox 62"/>
          <p:cNvSpPr txBox="1"/>
          <p:nvPr/>
        </p:nvSpPr>
        <p:spPr>
          <a:xfrm>
            <a:off x="425196" y="4910328"/>
            <a:ext cx="3566160" cy="108491"/>
          </a:xfrm>
          <a:prstGeom prst="rect">
            <a:avLst/>
          </a:prstGeom>
          <a:noFill/>
        </p:spPr>
        <p:txBody>
          <a:bodyPr wrap="square" lIns="13716" tIns="13716" rIns="13716" bIns="13716" anchor="t">
            <a:spAutoFit/>
          </a:bodyPr>
          <a:lstStyle/>
          <a:p>
            <a:pPr algn="l"/>
            <a:r>
              <a:rPr sz="525">
                <a:solidFill>
                  <a:srgbClr val="666C76"/>
                </a:solidFill>
                <a:latin typeface="Aptos"/>
              </a:rPr>
              <a:t>Text-to-SQL problem taxonomy | SpiderDIN project experience</a:t>
            </a:r>
          </a:p>
        </p:txBody>
      </p:sp>
      <p:pic>
        <p:nvPicPr>
          <p:cNvPr id="64" name="Picture 63">
            <a:extLst>
              <a:ext uri="{FF2B5EF4-FFF2-40B4-BE49-F238E27FC236}">
                <a16:creationId xmlns:a16="http://schemas.microsoft.com/office/drawing/2014/main" id="{9B07E419-0B2F-8E88-1EE5-997932FAB3F4}"/>
              </a:ext>
            </a:extLst>
          </p:cNvPr>
          <p:cNvPicPr>
            <a:picLocks noChangeAspect="1"/>
          </p:cNvPicPr>
          <p:nvPr/>
        </p:nvPicPr>
        <p:blipFill>
          <a:blip r:embed="rId2"/>
          <a:srcRect l="-928" t="29746" r="928" b="36645"/>
          <a:stretch>
            <a:fillRect/>
          </a:stretch>
        </p:blipFill>
        <p:spPr>
          <a:xfrm>
            <a:off x="8218575" y="45720"/>
            <a:ext cx="861058" cy="2893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0C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p:cNvSpPr/>
          <p:nvPr/>
        </p:nvSpPr>
        <p:spPr>
          <a:xfrm>
            <a:off x="685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p:cNvSpPr/>
          <p:nvPr/>
        </p:nvSpPr>
        <p:spPr>
          <a:xfrm>
            <a:off x="1371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2057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2743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p:cNvSpPr/>
          <p:nvPr/>
        </p:nvSpPr>
        <p:spPr>
          <a:xfrm>
            <a:off x="3429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114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4800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5486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6172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6858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7543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8229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ectangle 14"/>
          <p:cNvSpPr/>
          <p:nvPr/>
        </p:nvSpPr>
        <p:spPr>
          <a:xfrm>
            <a:off x="8915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1" y="685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ectangle 16"/>
          <p:cNvSpPr/>
          <p:nvPr/>
        </p:nvSpPr>
        <p:spPr>
          <a:xfrm>
            <a:off x="1" y="1371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ectangle 17"/>
          <p:cNvSpPr/>
          <p:nvPr/>
        </p:nvSpPr>
        <p:spPr>
          <a:xfrm>
            <a:off x="1" y="20574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ectangle 18"/>
          <p:cNvSpPr/>
          <p:nvPr/>
        </p:nvSpPr>
        <p:spPr>
          <a:xfrm>
            <a:off x="1" y="27432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ectangle 19"/>
          <p:cNvSpPr/>
          <p:nvPr/>
        </p:nvSpPr>
        <p:spPr>
          <a:xfrm>
            <a:off x="1" y="34290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Rectangle 20"/>
          <p:cNvSpPr/>
          <p:nvPr/>
        </p:nvSpPr>
        <p:spPr>
          <a:xfrm>
            <a:off x="1" y="4114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Rectangle 21"/>
          <p:cNvSpPr/>
          <p:nvPr/>
        </p:nvSpPr>
        <p:spPr>
          <a:xfrm>
            <a:off x="1" y="4800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Rectangle 22"/>
          <p:cNvSpPr/>
          <p:nvPr/>
        </p:nvSpPr>
        <p:spPr>
          <a:xfrm>
            <a:off x="342900" y="260604"/>
            <a:ext cx="1131570" cy="20574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528066" y="315468"/>
            <a:ext cx="788670" cy="99258"/>
          </a:xfrm>
          <a:prstGeom prst="rect">
            <a:avLst/>
          </a:prstGeom>
          <a:noFill/>
        </p:spPr>
        <p:txBody>
          <a:bodyPr wrap="square" lIns="13716" tIns="13716" rIns="13716" bIns="13716" anchor="t">
            <a:spAutoFit/>
          </a:bodyPr>
          <a:lstStyle/>
          <a:p>
            <a:pPr algn="ctr"/>
            <a:r>
              <a:rPr sz="465" b="1">
                <a:solidFill>
                  <a:srgbClr val="0C0F14"/>
                </a:solidFill>
                <a:latin typeface="Aptos"/>
              </a:rPr>
              <a:t>MENTAL MODEL</a:t>
            </a:r>
          </a:p>
        </p:txBody>
      </p:sp>
      <p:sp>
        <p:nvSpPr>
          <p:cNvPr id="25" name="TextBox 24"/>
          <p:cNvSpPr txBox="1"/>
          <p:nvPr/>
        </p:nvSpPr>
        <p:spPr>
          <a:xfrm>
            <a:off x="8572500" y="240030"/>
            <a:ext cx="240030" cy="131574"/>
          </a:xfrm>
          <a:prstGeom prst="rect">
            <a:avLst/>
          </a:prstGeom>
          <a:noFill/>
        </p:spPr>
        <p:txBody>
          <a:bodyPr wrap="square" lIns="13716" tIns="13716" rIns="13716" bIns="13716" anchor="t">
            <a:spAutoFit/>
          </a:bodyPr>
          <a:lstStyle/>
          <a:p>
            <a:pPr algn="r"/>
            <a:r>
              <a:rPr sz="675">
                <a:solidFill>
                  <a:srgbClr val="666C76"/>
                </a:solidFill>
                <a:latin typeface="Aptos"/>
              </a:rPr>
              <a:t>02</a:t>
            </a:r>
          </a:p>
        </p:txBody>
      </p:sp>
      <p:sp>
        <p:nvSpPr>
          <p:cNvPr id="26" name="TextBox 25"/>
          <p:cNvSpPr txBox="1"/>
          <p:nvPr/>
        </p:nvSpPr>
        <p:spPr>
          <a:xfrm>
            <a:off x="425196" y="630936"/>
            <a:ext cx="7680960" cy="646331"/>
          </a:xfrm>
          <a:prstGeom prst="rect">
            <a:avLst/>
          </a:prstGeom>
          <a:noFill/>
        </p:spPr>
        <p:txBody>
          <a:bodyPr wrap="square" lIns="0" tIns="0" rIns="0" bIns="0">
            <a:spAutoFit/>
          </a:bodyPr>
          <a:lstStyle/>
          <a:p>
            <a:pPr algn="l"/>
            <a:r>
              <a:rPr sz="2100" b="1">
                <a:solidFill>
                  <a:srgbClr val="FFBE18"/>
                </a:solidFill>
                <a:latin typeface="Georgia"/>
              </a:rPr>
              <a:t>Two layers of difficulty: </a:t>
            </a:r>
            <a:r>
              <a:rPr sz="2100" b="1">
                <a:solidFill>
                  <a:srgbClr val="F1EFE9"/>
                </a:solidFill>
                <a:latin typeface="Georgia"/>
              </a:rPr>
              <a:t>the SQL task and the system around it.</a:t>
            </a:r>
          </a:p>
        </p:txBody>
      </p:sp>
      <p:sp>
        <p:nvSpPr>
          <p:cNvPr id="27" name="TextBox 26"/>
          <p:cNvSpPr txBox="1"/>
          <p:nvPr/>
        </p:nvSpPr>
        <p:spPr>
          <a:xfrm>
            <a:off x="438912" y="1248156"/>
            <a:ext cx="6309360" cy="270202"/>
          </a:xfrm>
          <a:prstGeom prst="rect">
            <a:avLst/>
          </a:prstGeom>
          <a:noFill/>
        </p:spPr>
        <p:txBody>
          <a:bodyPr wrap="square" lIns="13716" tIns="13716" rIns="13716" bIns="13716" anchor="t">
            <a:spAutoFit/>
          </a:bodyPr>
          <a:lstStyle/>
          <a:p>
            <a:pPr algn="l"/>
            <a:r>
              <a:rPr sz="788">
                <a:solidFill>
                  <a:srgbClr val="F1EFE9"/>
                </a:solidFill>
                <a:latin typeface="Aptos"/>
              </a:rPr>
              <a:t>This separation helps explain failures clearly: some are inherent to translating language into SQL, while others come from building a robust production pipeline.</a:t>
            </a:r>
          </a:p>
        </p:txBody>
      </p:sp>
      <p:sp>
        <p:nvSpPr>
          <p:cNvPr id="28" name="Rectangle 27"/>
          <p:cNvSpPr/>
          <p:nvPr/>
        </p:nvSpPr>
        <p:spPr>
          <a:xfrm>
            <a:off x="514350" y="1817370"/>
            <a:ext cx="3737610" cy="154305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9" name="Rectangle 28"/>
          <p:cNvSpPr/>
          <p:nvPr/>
        </p:nvSpPr>
        <p:spPr>
          <a:xfrm>
            <a:off x="514350" y="1817370"/>
            <a:ext cx="3737610" cy="34290"/>
          </a:xfrm>
          <a:prstGeom prst="rect">
            <a:avLst/>
          </a:prstGeom>
          <a:solidFill>
            <a:srgbClr val="41D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Oval 29"/>
          <p:cNvSpPr/>
          <p:nvPr/>
        </p:nvSpPr>
        <p:spPr>
          <a:xfrm>
            <a:off x="665226" y="2002536"/>
            <a:ext cx="301752" cy="301752"/>
          </a:xfrm>
          <a:prstGeom prst="ellipse">
            <a:avLst/>
          </a:prstGeom>
          <a:solidFill>
            <a:srgbClr val="1F3434"/>
          </a:solidFill>
          <a:ln w="1270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1" name="TextBox 30"/>
          <p:cNvSpPr txBox="1"/>
          <p:nvPr/>
        </p:nvSpPr>
        <p:spPr>
          <a:xfrm>
            <a:off x="665226" y="2084832"/>
            <a:ext cx="301752" cy="120033"/>
          </a:xfrm>
          <a:prstGeom prst="rect">
            <a:avLst/>
          </a:prstGeom>
          <a:noFill/>
        </p:spPr>
        <p:txBody>
          <a:bodyPr wrap="square" lIns="13716" tIns="13716" rIns="13716" bIns="13716" anchor="t">
            <a:spAutoFit/>
          </a:bodyPr>
          <a:lstStyle/>
          <a:p>
            <a:pPr algn="ctr"/>
            <a:r>
              <a:rPr sz="600" b="1">
                <a:solidFill>
                  <a:srgbClr val="41DA8E"/>
                </a:solidFill>
                <a:latin typeface="Aptos"/>
              </a:rPr>
              <a:t>A</a:t>
            </a:r>
          </a:p>
        </p:txBody>
      </p:sp>
      <p:sp>
        <p:nvSpPr>
          <p:cNvPr id="32" name="TextBox 31"/>
          <p:cNvSpPr txBox="1"/>
          <p:nvPr/>
        </p:nvSpPr>
        <p:spPr>
          <a:xfrm>
            <a:off x="1008126" y="2050542"/>
            <a:ext cx="3086100" cy="145296"/>
          </a:xfrm>
          <a:prstGeom prst="rect">
            <a:avLst/>
          </a:prstGeom>
          <a:noFill/>
        </p:spPr>
        <p:txBody>
          <a:bodyPr wrap="square" lIns="13716" tIns="13716" rIns="13716" bIns="13716" anchor="t">
            <a:spAutoFit/>
          </a:bodyPr>
          <a:lstStyle/>
          <a:p>
            <a:pPr algn="l"/>
            <a:r>
              <a:rPr sz="764" b="1">
                <a:solidFill>
                  <a:srgbClr val="F1EFE9"/>
                </a:solidFill>
                <a:latin typeface="Aptos"/>
              </a:rPr>
              <a:t>A. Genuine Text-to-SQL problems</a:t>
            </a:r>
          </a:p>
        </p:txBody>
      </p:sp>
      <p:sp>
        <p:nvSpPr>
          <p:cNvPr id="33" name="TextBox 32"/>
          <p:cNvSpPr txBox="1"/>
          <p:nvPr/>
        </p:nvSpPr>
        <p:spPr>
          <a:xfrm>
            <a:off x="761237" y="2420875"/>
            <a:ext cx="3312414" cy="212366"/>
          </a:xfrm>
          <a:prstGeom prst="rect">
            <a:avLst/>
          </a:prstGeom>
          <a:noFill/>
        </p:spPr>
        <p:txBody>
          <a:bodyPr wrap="square" lIns="13716" tIns="13716" rIns="13716" bIns="13716" anchor="t">
            <a:spAutoFit/>
          </a:bodyPr>
          <a:lstStyle/>
          <a:p>
            <a:pPr algn="l"/>
            <a:r>
              <a:rPr sz="600">
                <a:solidFill>
                  <a:srgbClr val="F1EFE9"/>
                </a:solidFill>
                <a:latin typeface="Aptos"/>
              </a:rPr>
              <a:t>These exist in any approach: single prompt, fine-tuned model, retrieval system, or agent architecture. They come from ambiguity, schema complexity, relational logic, and SQL dialect rules.</a:t>
            </a:r>
          </a:p>
        </p:txBody>
      </p:sp>
      <p:sp>
        <p:nvSpPr>
          <p:cNvPr id="34" name="Rectangle 33"/>
          <p:cNvSpPr/>
          <p:nvPr/>
        </p:nvSpPr>
        <p:spPr>
          <a:xfrm>
            <a:off x="761237" y="3140964"/>
            <a:ext cx="754380" cy="123444"/>
          </a:xfrm>
          <a:prstGeom prst="rect">
            <a:avLst/>
          </a:prstGeom>
          <a:solidFill>
            <a:srgbClr val="162C30"/>
          </a:solidFill>
          <a:ln w="508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5" name="TextBox 34"/>
          <p:cNvSpPr txBox="1"/>
          <p:nvPr/>
        </p:nvSpPr>
        <p:spPr>
          <a:xfrm>
            <a:off x="761237" y="3158109"/>
            <a:ext cx="754380" cy="90025"/>
          </a:xfrm>
          <a:prstGeom prst="rect">
            <a:avLst/>
          </a:prstGeom>
          <a:noFill/>
        </p:spPr>
        <p:txBody>
          <a:bodyPr wrap="square" lIns="13716" tIns="13716" rIns="13716" bIns="13716" anchor="t">
            <a:spAutoFit/>
          </a:bodyPr>
          <a:lstStyle/>
          <a:p>
            <a:pPr algn="ctr"/>
            <a:r>
              <a:rPr sz="405" b="1">
                <a:solidFill>
                  <a:srgbClr val="41DA8E"/>
                </a:solidFill>
                <a:latin typeface="Aptos"/>
              </a:rPr>
              <a:t>TASK DIFFICULTY</a:t>
            </a:r>
          </a:p>
        </p:txBody>
      </p:sp>
      <p:sp>
        <p:nvSpPr>
          <p:cNvPr id="36" name="Rectangle 35"/>
          <p:cNvSpPr/>
          <p:nvPr/>
        </p:nvSpPr>
        <p:spPr>
          <a:xfrm>
            <a:off x="1639061" y="3140964"/>
            <a:ext cx="754380" cy="123444"/>
          </a:xfrm>
          <a:prstGeom prst="rect">
            <a:avLst/>
          </a:prstGeom>
          <a:solidFill>
            <a:srgbClr val="162C30"/>
          </a:solidFill>
          <a:ln w="508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7" name="TextBox 36"/>
          <p:cNvSpPr txBox="1"/>
          <p:nvPr/>
        </p:nvSpPr>
        <p:spPr>
          <a:xfrm>
            <a:off x="1639061" y="3158109"/>
            <a:ext cx="754380" cy="90025"/>
          </a:xfrm>
          <a:prstGeom prst="rect">
            <a:avLst/>
          </a:prstGeom>
          <a:noFill/>
        </p:spPr>
        <p:txBody>
          <a:bodyPr wrap="square" lIns="13716" tIns="13716" rIns="13716" bIns="13716" anchor="t">
            <a:spAutoFit/>
          </a:bodyPr>
          <a:lstStyle/>
          <a:p>
            <a:pPr algn="ctr"/>
            <a:r>
              <a:rPr sz="405" b="1">
                <a:solidFill>
                  <a:srgbClr val="41DA8E"/>
                </a:solidFill>
                <a:latin typeface="Aptos"/>
              </a:rPr>
              <a:t>SEMANTIC</a:t>
            </a:r>
          </a:p>
        </p:txBody>
      </p:sp>
      <p:sp>
        <p:nvSpPr>
          <p:cNvPr id="38" name="Rectangle 37"/>
          <p:cNvSpPr/>
          <p:nvPr/>
        </p:nvSpPr>
        <p:spPr>
          <a:xfrm>
            <a:off x="4800600" y="1817370"/>
            <a:ext cx="3737610" cy="154305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9" name="Rectangle 38"/>
          <p:cNvSpPr/>
          <p:nvPr/>
        </p:nvSpPr>
        <p:spPr>
          <a:xfrm>
            <a:off x="4800600" y="1817370"/>
            <a:ext cx="3737610" cy="3429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0" name="Oval 39"/>
          <p:cNvSpPr/>
          <p:nvPr/>
        </p:nvSpPr>
        <p:spPr>
          <a:xfrm>
            <a:off x="4951476" y="2002536"/>
            <a:ext cx="301752" cy="301752"/>
          </a:xfrm>
          <a:prstGeom prst="ellipse">
            <a:avLst/>
          </a:prstGeom>
          <a:solidFill>
            <a:srgbClr val="252D3A"/>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1" name="TextBox 40"/>
          <p:cNvSpPr txBox="1"/>
          <p:nvPr/>
        </p:nvSpPr>
        <p:spPr>
          <a:xfrm>
            <a:off x="4951476" y="2084832"/>
            <a:ext cx="301752" cy="120033"/>
          </a:xfrm>
          <a:prstGeom prst="rect">
            <a:avLst/>
          </a:prstGeom>
          <a:noFill/>
        </p:spPr>
        <p:txBody>
          <a:bodyPr wrap="square" lIns="13716" tIns="13716" rIns="13716" bIns="13716" anchor="t">
            <a:spAutoFit/>
          </a:bodyPr>
          <a:lstStyle/>
          <a:p>
            <a:pPr algn="ctr"/>
            <a:r>
              <a:rPr sz="600" b="1">
                <a:solidFill>
                  <a:srgbClr val="F5A012"/>
                </a:solidFill>
                <a:latin typeface="Aptos"/>
              </a:rPr>
              <a:t>B</a:t>
            </a:r>
          </a:p>
        </p:txBody>
      </p:sp>
      <p:sp>
        <p:nvSpPr>
          <p:cNvPr id="42" name="TextBox 41"/>
          <p:cNvSpPr txBox="1"/>
          <p:nvPr/>
        </p:nvSpPr>
        <p:spPr>
          <a:xfrm>
            <a:off x="5294376" y="2050542"/>
            <a:ext cx="3086100" cy="145296"/>
          </a:xfrm>
          <a:prstGeom prst="rect">
            <a:avLst/>
          </a:prstGeom>
          <a:noFill/>
        </p:spPr>
        <p:txBody>
          <a:bodyPr wrap="square" lIns="13716" tIns="13716" rIns="13716" bIns="13716" anchor="t">
            <a:spAutoFit/>
          </a:bodyPr>
          <a:lstStyle/>
          <a:p>
            <a:pPr algn="l"/>
            <a:r>
              <a:rPr sz="764" b="1">
                <a:solidFill>
                  <a:srgbClr val="F1EFE9"/>
                </a:solidFill>
                <a:latin typeface="Aptos"/>
              </a:rPr>
              <a:t>B. Architecture / pipeline problems</a:t>
            </a:r>
          </a:p>
        </p:txBody>
      </p:sp>
      <p:sp>
        <p:nvSpPr>
          <p:cNvPr id="43" name="TextBox 42"/>
          <p:cNvSpPr txBox="1"/>
          <p:nvPr/>
        </p:nvSpPr>
        <p:spPr>
          <a:xfrm>
            <a:off x="5047488" y="2420875"/>
            <a:ext cx="3312414" cy="212366"/>
          </a:xfrm>
          <a:prstGeom prst="rect">
            <a:avLst/>
          </a:prstGeom>
          <a:noFill/>
        </p:spPr>
        <p:txBody>
          <a:bodyPr wrap="square" lIns="13716" tIns="13716" rIns="13716" bIns="13716" anchor="t">
            <a:spAutoFit/>
          </a:bodyPr>
          <a:lstStyle/>
          <a:p>
            <a:pPr algn="l"/>
            <a:r>
              <a:rPr sz="600">
                <a:solidFill>
                  <a:srgbClr val="F1EFE9"/>
                </a:solidFill>
                <a:latin typeface="Aptos"/>
              </a:rPr>
              <a:t>These appear when we engineer reliability: context building, retrieval, pruning, critique, execution, validation, correction loops, caching, dashboards, and cost control.</a:t>
            </a:r>
          </a:p>
        </p:txBody>
      </p:sp>
      <p:sp>
        <p:nvSpPr>
          <p:cNvPr id="44" name="Rectangle 43"/>
          <p:cNvSpPr/>
          <p:nvPr/>
        </p:nvSpPr>
        <p:spPr>
          <a:xfrm>
            <a:off x="5047488" y="3140964"/>
            <a:ext cx="754380" cy="123444"/>
          </a:xfrm>
          <a:prstGeom prst="rect">
            <a:avLst/>
          </a:prstGeom>
          <a:solidFill>
            <a:srgbClr val="272B3A"/>
          </a:solidFill>
          <a:ln w="508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5" name="TextBox 44"/>
          <p:cNvSpPr txBox="1"/>
          <p:nvPr/>
        </p:nvSpPr>
        <p:spPr>
          <a:xfrm>
            <a:off x="5047488" y="3158109"/>
            <a:ext cx="754380" cy="90025"/>
          </a:xfrm>
          <a:prstGeom prst="rect">
            <a:avLst/>
          </a:prstGeom>
          <a:noFill/>
        </p:spPr>
        <p:txBody>
          <a:bodyPr wrap="square" lIns="13716" tIns="13716" rIns="13716" bIns="13716" anchor="t">
            <a:spAutoFit/>
          </a:bodyPr>
          <a:lstStyle/>
          <a:p>
            <a:pPr algn="ctr"/>
            <a:r>
              <a:rPr sz="405" b="1">
                <a:solidFill>
                  <a:srgbClr val="F5A012"/>
                </a:solidFill>
                <a:latin typeface="Aptos"/>
              </a:rPr>
              <a:t>SYSTEM DESIGN</a:t>
            </a:r>
          </a:p>
        </p:txBody>
      </p:sp>
      <p:sp>
        <p:nvSpPr>
          <p:cNvPr id="46" name="Rectangle 45"/>
          <p:cNvSpPr/>
          <p:nvPr/>
        </p:nvSpPr>
        <p:spPr>
          <a:xfrm>
            <a:off x="5925312" y="3140964"/>
            <a:ext cx="754380" cy="123444"/>
          </a:xfrm>
          <a:prstGeom prst="rect">
            <a:avLst/>
          </a:prstGeom>
          <a:solidFill>
            <a:srgbClr val="272B3A"/>
          </a:solidFill>
          <a:ln w="508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7" name="TextBox 46"/>
          <p:cNvSpPr txBox="1"/>
          <p:nvPr/>
        </p:nvSpPr>
        <p:spPr>
          <a:xfrm>
            <a:off x="5925312" y="3158109"/>
            <a:ext cx="754380" cy="90025"/>
          </a:xfrm>
          <a:prstGeom prst="rect">
            <a:avLst/>
          </a:prstGeom>
          <a:noFill/>
        </p:spPr>
        <p:txBody>
          <a:bodyPr wrap="square" lIns="13716" tIns="13716" rIns="13716" bIns="13716" anchor="t">
            <a:spAutoFit/>
          </a:bodyPr>
          <a:lstStyle/>
          <a:p>
            <a:pPr algn="ctr"/>
            <a:r>
              <a:rPr sz="405" b="1">
                <a:solidFill>
                  <a:srgbClr val="F5A012"/>
                </a:solidFill>
                <a:latin typeface="Aptos"/>
              </a:rPr>
              <a:t>RELIABILITY</a:t>
            </a:r>
          </a:p>
        </p:txBody>
      </p:sp>
      <p:sp>
        <p:nvSpPr>
          <p:cNvPr id="48" name="TextBox 47"/>
          <p:cNvSpPr txBox="1"/>
          <p:nvPr/>
        </p:nvSpPr>
        <p:spPr>
          <a:xfrm>
            <a:off x="720090" y="3943351"/>
            <a:ext cx="7543800" cy="350865"/>
          </a:xfrm>
          <a:prstGeom prst="rect">
            <a:avLst/>
          </a:prstGeom>
          <a:noFill/>
        </p:spPr>
        <p:txBody>
          <a:bodyPr wrap="square" lIns="13716" tIns="13716" rIns="13716" bIns="13716" anchor="t">
            <a:spAutoFit/>
          </a:bodyPr>
          <a:lstStyle/>
          <a:p>
            <a:pPr algn="ctr"/>
            <a:r>
              <a:rPr sz="1050" b="1">
                <a:solidFill>
                  <a:srgbClr val="FFBE18"/>
                </a:solidFill>
                <a:latin typeface="Georgia"/>
              </a:rPr>
              <a:t>Simple question: Can the model write SQL?  Serious question: Can the system prove the SQL is grounded, executable, correct, recoverable, and explainable?</a:t>
            </a:r>
          </a:p>
        </p:txBody>
      </p:sp>
      <p:sp>
        <p:nvSpPr>
          <p:cNvPr id="49" name="Rectangle 48"/>
          <p:cNvSpPr/>
          <p:nvPr/>
        </p:nvSpPr>
        <p:spPr>
          <a:xfrm>
            <a:off x="342900" y="4855464"/>
            <a:ext cx="8435340" cy="6858"/>
          </a:xfrm>
          <a:prstGeom prst="rect">
            <a:avLst/>
          </a:prstGeom>
          <a:solidFill>
            <a:srgbClr val="252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0" name="TextBox 49"/>
          <p:cNvSpPr txBox="1"/>
          <p:nvPr/>
        </p:nvSpPr>
        <p:spPr>
          <a:xfrm>
            <a:off x="425196" y="4910328"/>
            <a:ext cx="3566160" cy="108491"/>
          </a:xfrm>
          <a:prstGeom prst="rect">
            <a:avLst/>
          </a:prstGeom>
          <a:noFill/>
        </p:spPr>
        <p:txBody>
          <a:bodyPr wrap="square" lIns="13716" tIns="13716" rIns="13716" bIns="13716" anchor="t">
            <a:spAutoFit/>
          </a:bodyPr>
          <a:lstStyle/>
          <a:p>
            <a:pPr algn="l"/>
            <a:r>
              <a:rPr sz="525">
                <a:solidFill>
                  <a:srgbClr val="666C76"/>
                </a:solidFill>
                <a:latin typeface="Aptos"/>
              </a:rPr>
              <a:t>Text-to-SQL problem taxonomy | SpiderDIN project experience</a:t>
            </a:r>
          </a:p>
        </p:txBody>
      </p:sp>
      <p:pic>
        <p:nvPicPr>
          <p:cNvPr id="51" name="Picture 50">
            <a:extLst>
              <a:ext uri="{FF2B5EF4-FFF2-40B4-BE49-F238E27FC236}">
                <a16:creationId xmlns:a16="http://schemas.microsoft.com/office/drawing/2014/main" id="{A65CA3D0-0696-76D6-B2EC-26353D63C75D}"/>
              </a:ext>
            </a:extLst>
          </p:cNvPr>
          <p:cNvPicPr>
            <a:picLocks noChangeAspect="1"/>
          </p:cNvPicPr>
          <p:nvPr/>
        </p:nvPicPr>
        <p:blipFill>
          <a:blip r:embed="rId2"/>
          <a:srcRect l="-928" t="29746" r="928" b="36645"/>
          <a:stretch>
            <a:fillRect/>
          </a:stretch>
        </p:blipFill>
        <p:spPr>
          <a:xfrm>
            <a:off x="8218575" y="45720"/>
            <a:ext cx="861058" cy="2893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0C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p:cNvSpPr/>
          <p:nvPr/>
        </p:nvSpPr>
        <p:spPr>
          <a:xfrm>
            <a:off x="685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p:cNvSpPr/>
          <p:nvPr/>
        </p:nvSpPr>
        <p:spPr>
          <a:xfrm>
            <a:off x="1371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2057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2743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p:cNvSpPr/>
          <p:nvPr/>
        </p:nvSpPr>
        <p:spPr>
          <a:xfrm>
            <a:off x="3429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114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4800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5486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6172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6858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7543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8229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ectangle 14"/>
          <p:cNvSpPr/>
          <p:nvPr/>
        </p:nvSpPr>
        <p:spPr>
          <a:xfrm>
            <a:off x="8915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1" y="685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ectangle 16"/>
          <p:cNvSpPr/>
          <p:nvPr/>
        </p:nvSpPr>
        <p:spPr>
          <a:xfrm>
            <a:off x="1" y="1371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ectangle 17"/>
          <p:cNvSpPr/>
          <p:nvPr/>
        </p:nvSpPr>
        <p:spPr>
          <a:xfrm>
            <a:off x="1" y="20574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ectangle 18"/>
          <p:cNvSpPr/>
          <p:nvPr/>
        </p:nvSpPr>
        <p:spPr>
          <a:xfrm>
            <a:off x="1" y="27432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ectangle 19"/>
          <p:cNvSpPr/>
          <p:nvPr/>
        </p:nvSpPr>
        <p:spPr>
          <a:xfrm>
            <a:off x="1" y="34290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Rectangle 20"/>
          <p:cNvSpPr/>
          <p:nvPr/>
        </p:nvSpPr>
        <p:spPr>
          <a:xfrm>
            <a:off x="1" y="4114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Rectangle 21"/>
          <p:cNvSpPr/>
          <p:nvPr/>
        </p:nvSpPr>
        <p:spPr>
          <a:xfrm>
            <a:off x="1" y="4800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Rectangle 22"/>
          <p:cNvSpPr/>
          <p:nvPr/>
        </p:nvSpPr>
        <p:spPr>
          <a:xfrm>
            <a:off x="342900" y="260604"/>
            <a:ext cx="1131570" cy="20574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528066" y="315468"/>
            <a:ext cx="788670" cy="99258"/>
          </a:xfrm>
          <a:prstGeom prst="rect">
            <a:avLst/>
          </a:prstGeom>
          <a:noFill/>
        </p:spPr>
        <p:txBody>
          <a:bodyPr wrap="square" lIns="13716" tIns="13716" rIns="13716" bIns="13716" anchor="t">
            <a:spAutoFit/>
          </a:bodyPr>
          <a:lstStyle/>
          <a:p>
            <a:pPr algn="ctr"/>
            <a:r>
              <a:rPr sz="465" b="1">
                <a:solidFill>
                  <a:srgbClr val="0C0F14"/>
                </a:solidFill>
                <a:latin typeface="Aptos"/>
              </a:rPr>
              <a:t>GENUINE PROBLEMS</a:t>
            </a:r>
          </a:p>
        </p:txBody>
      </p:sp>
      <p:sp>
        <p:nvSpPr>
          <p:cNvPr id="25" name="TextBox 24"/>
          <p:cNvSpPr txBox="1"/>
          <p:nvPr/>
        </p:nvSpPr>
        <p:spPr>
          <a:xfrm>
            <a:off x="8572500" y="240030"/>
            <a:ext cx="240030" cy="131574"/>
          </a:xfrm>
          <a:prstGeom prst="rect">
            <a:avLst/>
          </a:prstGeom>
          <a:noFill/>
        </p:spPr>
        <p:txBody>
          <a:bodyPr wrap="square" lIns="13716" tIns="13716" rIns="13716" bIns="13716" anchor="t">
            <a:spAutoFit/>
          </a:bodyPr>
          <a:lstStyle/>
          <a:p>
            <a:pPr algn="r"/>
            <a:r>
              <a:rPr sz="675">
                <a:solidFill>
                  <a:srgbClr val="666C76"/>
                </a:solidFill>
                <a:latin typeface="Aptos"/>
              </a:rPr>
              <a:t>03</a:t>
            </a:r>
          </a:p>
        </p:txBody>
      </p:sp>
      <p:sp>
        <p:nvSpPr>
          <p:cNvPr id="26" name="TextBox 25"/>
          <p:cNvSpPr txBox="1"/>
          <p:nvPr/>
        </p:nvSpPr>
        <p:spPr>
          <a:xfrm>
            <a:off x="425196" y="617220"/>
            <a:ext cx="7680960" cy="600164"/>
          </a:xfrm>
          <a:prstGeom prst="rect">
            <a:avLst/>
          </a:prstGeom>
          <a:noFill/>
        </p:spPr>
        <p:txBody>
          <a:bodyPr wrap="square" lIns="0" tIns="0" rIns="0" bIns="0">
            <a:spAutoFit/>
          </a:bodyPr>
          <a:lstStyle/>
          <a:p>
            <a:pPr algn="l"/>
            <a:r>
              <a:rPr sz="1950" b="1">
                <a:solidFill>
                  <a:srgbClr val="FFBE18"/>
                </a:solidFill>
                <a:latin typeface="Georgia"/>
              </a:rPr>
              <a:t>A1. Language and schema mapping: </a:t>
            </a:r>
            <a:r>
              <a:rPr sz="1950" b="1">
                <a:solidFill>
                  <a:srgbClr val="F1EFE9"/>
                </a:solidFill>
                <a:latin typeface="Georgia"/>
              </a:rPr>
              <a:t>the user’s words rarely match the database.</a:t>
            </a:r>
          </a:p>
        </p:txBody>
      </p:sp>
      <p:sp>
        <p:nvSpPr>
          <p:cNvPr id="27" name="TextBox 26"/>
          <p:cNvSpPr txBox="1"/>
          <p:nvPr/>
        </p:nvSpPr>
        <p:spPr>
          <a:xfrm>
            <a:off x="438912" y="1179576"/>
            <a:ext cx="6446520" cy="146643"/>
          </a:xfrm>
          <a:prstGeom prst="rect">
            <a:avLst/>
          </a:prstGeom>
          <a:noFill/>
        </p:spPr>
        <p:txBody>
          <a:bodyPr wrap="square" lIns="13716" tIns="13716" rIns="13716" bIns="13716" anchor="t">
            <a:spAutoFit/>
          </a:bodyPr>
          <a:lstStyle/>
          <a:p>
            <a:pPr algn="l"/>
            <a:r>
              <a:rPr sz="773">
                <a:solidFill>
                  <a:srgbClr val="F1EFE9"/>
                </a:solidFill>
                <a:latin typeface="Aptos"/>
              </a:rPr>
              <a:t>The first failure zone is before SQL syntax exists: understanding intent and finding the right database objects.</a:t>
            </a:r>
          </a:p>
        </p:txBody>
      </p:sp>
      <p:sp>
        <p:nvSpPr>
          <p:cNvPr id="28" name="Rectangle 27"/>
          <p:cNvSpPr/>
          <p:nvPr/>
        </p:nvSpPr>
        <p:spPr>
          <a:xfrm>
            <a:off x="342900" y="1659636"/>
            <a:ext cx="2674620" cy="123444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9" name="Rectangle 28"/>
          <p:cNvSpPr/>
          <p:nvPr/>
        </p:nvSpPr>
        <p:spPr>
          <a:xfrm>
            <a:off x="342900" y="1659636"/>
            <a:ext cx="2674620" cy="34290"/>
          </a:xfrm>
          <a:prstGeom prst="rect">
            <a:avLst/>
          </a:prstGeom>
          <a:solidFill>
            <a:srgbClr val="41D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Oval 29"/>
          <p:cNvSpPr/>
          <p:nvPr/>
        </p:nvSpPr>
        <p:spPr>
          <a:xfrm>
            <a:off x="493776" y="1844802"/>
            <a:ext cx="301752" cy="301752"/>
          </a:xfrm>
          <a:prstGeom prst="ellipse">
            <a:avLst/>
          </a:prstGeom>
          <a:solidFill>
            <a:srgbClr val="1F3434"/>
          </a:solidFill>
          <a:ln w="1270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1" name="TextBox 30"/>
          <p:cNvSpPr txBox="1"/>
          <p:nvPr/>
        </p:nvSpPr>
        <p:spPr>
          <a:xfrm>
            <a:off x="493776" y="1927098"/>
            <a:ext cx="301752" cy="120033"/>
          </a:xfrm>
          <a:prstGeom prst="rect">
            <a:avLst/>
          </a:prstGeom>
          <a:noFill/>
        </p:spPr>
        <p:txBody>
          <a:bodyPr wrap="square" lIns="13716" tIns="13716" rIns="13716" bIns="13716" anchor="t">
            <a:spAutoFit/>
          </a:bodyPr>
          <a:lstStyle/>
          <a:p>
            <a:pPr algn="ctr"/>
            <a:r>
              <a:rPr sz="600" b="1">
                <a:solidFill>
                  <a:srgbClr val="41DA8E"/>
                </a:solidFill>
                <a:latin typeface="Aptos"/>
              </a:rPr>
              <a:t>1</a:t>
            </a:r>
          </a:p>
        </p:txBody>
      </p:sp>
      <p:sp>
        <p:nvSpPr>
          <p:cNvPr id="32" name="TextBox 31"/>
          <p:cNvSpPr txBox="1"/>
          <p:nvPr/>
        </p:nvSpPr>
        <p:spPr>
          <a:xfrm>
            <a:off x="836676" y="1892808"/>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Natural language ambiguity</a:t>
            </a:r>
          </a:p>
        </p:txBody>
      </p:sp>
      <p:sp>
        <p:nvSpPr>
          <p:cNvPr id="33" name="TextBox 32"/>
          <p:cNvSpPr txBox="1"/>
          <p:nvPr/>
        </p:nvSpPr>
        <p:spPr>
          <a:xfrm>
            <a:off x="589788" y="2263141"/>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Words like active, recent, top, valid, patient, customer, sample, or revenue require interpretation.</a:t>
            </a:r>
          </a:p>
        </p:txBody>
      </p:sp>
      <p:sp>
        <p:nvSpPr>
          <p:cNvPr id="34" name="Rectangle 33"/>
          <p:cNvSpPr/>
          <p:nvPr/>
        </p:nvSpPr>
        <p:spPr>
          <a:xfrm>
            <a:off x="589788" y="2674620"/>
            <a:ext cx="754380" cy="123444"/>
          </a:xfrm>
          <a:prstGeom prst="rect">
            <a:avLst/>
          </a:prstGeom>
          <a:solidFill>
            <a:srgbClr val="162C30"/>
          </a:solidFill>
          <a:ln w="508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5" name="TextBox 34"/>
          <p:cNvSpPr txBox="1"/>
          <p:nvPr/>
        </p:nvSpPr>
        <p:spPr>
          <a:xfrm>
            <a:off x="589788" y="2691765"/>
            <a:ext cx="754380" cy="90025"/>
          </a:xfrm>
          <a:prstGeom prst="rect">
            <a:avLst/>
          </a:prstGeom>
          <a:noFill/>
        </p:spPr>
        <p:txBody>
          <a:bodyPr wrap="square" lIns="13716" tIns="13716" rIns="13716" bIns="13716" anchor="t">
            <a:spAutoFit/>
          </a:bodyPr>
          <a:lstStyle/>
          <a:p>
            <a:pPr algn="ctr"/>
            <a:r>
              <a:rPr sz="405" b="1">
                <a:solidFill>
                  <a:srgbClr val="41DA8E"/>
                </a:solidFill>
                <a:latin typeface="Aptos"/>
              </a:rPr>
              <a:t>INTENT</a:t>
            </a:r>
          </a:p>
        </p:txBody>
      </p:sp>
      <p:sp>
        <p:nvSpPr>
          <p:cNvPr id="36" name="Rectangle 35"/>
          <p:cNvSpPr/>
          <p:nvPr/>
        </p:nvSpPr>
        <p:spPr>
          <a:xfrm>
            <a:off x="1467612" y="2674620"/>
            <a:ext cx="754380" cy="123444"/>
          </a:xfrm>
          <a:prstGeom prst="rect">
            <a:avLst/>
          </a:prstGeom>
          <a:solidFill>
            <a:srgbClr val="162C30"/>
          </a:solidFill>
          <a:ln w="508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7" name="TextBox 36"/>
          <p:cNvSpPr txBox="1"/>
          <p:nvPr/>
        </p:nvSpPr>
        <p:spPr>
          <a:xfrm>
            <a:off x="1467612" y="2691765"/>
            <a:ext cx="754380" cy="90025"/>
          </a:xfrm>
          <a:prstGeom prst="rect">
            <a:avLst/>
          </a:prstGeom>
          <a:noFill/>
        </p:spPr>
        <p:txBody>
          <a:bodyPr wrap="square" lIns="13716" tIns="13716" rIns="13716" bIns="13716" anchor="t">
            <a:spAutoFit/>
          </a:bodyPr>
          <a:lstStyle/>
          <a:p>
            <a:pPr algn="ctr"/>
            <a:r>
              <a:rPr sz="405" b="1">
                <a:solidFill>
                  <a:srgbClr val="41DA8E"/>
                </a:solidFill>
                <a:latin typeface="Aptos"/>
              </a:rPr>
              <a:t>JARGON</a:t>
            </a:r>
          </a:p>
        </p:txBody>
      </p:sp>
      <p:sp>
        <p:nvSpPr>
          <p:cNvPr id="38" name="Rectangle 37"/>
          <p:cNvSpPr/>
          <p:nvPr/>
        </p:nvSpPr>
        <p:spPr>
          <a:xfrm>
            <a:off x="3236976" y="1659636"/>
            <a:ext cx="2674620" cy="123444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9" name="Rectangle 38"/>
          <p:cNvSpPr/>
          <p:nvPr/>
        </p:nvSpPr>
        <p:spPr>
          <a:xfrm>
            <a:off x="3236976" y="1659636"/>
            <a:ext cx="2674620" cy="3429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0" name="Oval 39"/>
          <p:cNvSpPr/>
          <p:nvPr/>
        </p:nvSpPr>
        <p:spPr>
          <a:xfrm>
            <a:off x="3387852" y="1844802"/>
            <a:ext cx="301752" cy="301752"/>
          </a:xfrm>
          <a:prstGeom prst="ellipse">
            <a:avLst/>
          </a:prstGeom>
          <a:solidFill>
            <a:srgbClr val="252D3A"/>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1" name="TextBox 40"/>
          <p:cNvSpPr txBox="1"/>
          <p:nvPr/>
        </p:nvSpPr>
        <p:spPr>
          <a:xfrm>
            <a:off x="3387852" y="1927098"/>
            <a:ext cx="301752" cy="120033"/>
          </a:xfrm>
          <a:prstGeom prst="rect">
            <a:avLst/>
          </a:prstGeom>
          <a:noFill/>
        </p:spPr>
        <p:txBody>
          <a:bodyPr wrap="square" lIns="13716" tIns="13716" rIns="13716" bIns="13716" anchor="t">
            <a:spAutoFit/>
          </a:bodyPr>
          <a:lstStyle/>
          <a:p>
            <a:pPr algn="ctr"/>
            <a:r>
              <a:rPr sz="600" b="1">
                <a:solidFill>
                  <a:srgbClr val="F5A012"/>
                </a:solidFill>
                <a:latin typeface="Aptos"/>
              </a:rPr>
              <a:t>2</a:t>
            </a:r>
          </a:p>
        </p:txBody>
      </p:sp>
      <p:sp>
        <p:nvSpPr>
          <p:cNvPr id="42" name="TextBox 41"/>
          <p:cNvSpPr txBox="1"/>
          <p:nvPr/>
        </p:nvSpPr>
        <p:spPr>
          <a:xfrm>
            <a:off x="3730752" y="1892808"/>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Schema mapping</a:t>
            </a:r>
          </a:p>
        </p:txBody>
      </p:sp>
      <p:sp>
        <p:nvSpPr>
          <p:cNvPr id="43" name="TextBox 42"/>
          <p:cNvSpPr txBox="1"/>
          <p:nvPr/>
        </p:nvSpPr>
        <p:spPr>
          <a:xfrm>
            <a:off x="3483864" y="2263141"/>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User terms do not match table names, column names, abbreviations, internal naming, or metadata layers.</a:t>
            </a:r>
          </a:p>
        </p:txBody>
      </p:sp>
      <p:sp>
        <p:nvSpPr>
          <p:cNvPr id="44" name="Rectangle 43"/>
          <p:cNvSpPr/>
          <p:nvPr/>
        </p:nvSpPr>
        <p:spPr>
          <a:xfrm>
            <a:off x="3483864" y="2674620"/>
            <a:ext cx="754380" cy="123444"/>
          </a:xfrm>
          <a:prstGeom prst="rect">
            <a:avLst/>
          </a:prstGeom>
          <a:solidFill>
            <a:srgbClr val="272B3A"/>
          </a:solidFill>
          <a:ln w="508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5" name="TextBox 44"/>
          <p:cNvSpPr txBox="1"/>
          <p:nvPr/>
        </p:nvSpPr>
        <p:spPr>
          <a:xfrm>
            <a:off x="3483864" y="2691765"/>
            <a:ext cx="754380" cy="90025"/>
          </a:xfrm>
          <a:prstGeom prst="rect">
            <a:avLst/>
          </a:prstGeom>
          <a:noFill/>
        </p:spPr>
        <p:txBody>
          <a:bodyPr wrap="square" lIns="13716" tIns="13716" rIns="13716" bIns="13716" anchor="t">
            <a:spAutoFit/>
          </a:bodyPr>
          <a:lstStyle/>
          <a:p>
            <a:pPr algn="ctr"/>
            <a:r>
              <a:rPr sz="405" b="1">
                <a:solidFill>
                  <a:srgbClr val="F5A012"/>
                </a:solidFill>
                <a:latin typeface="Aptos"/>
              </a:rPr>
              <a:t>NL → SCHEMA</a:t>
            </a:r>
          </a:p>
        </p:txBody>
      </p:sp>
      <p:sp>
        <p:nvSpPr>
          <p:cNvPr id="46" name="Rectangle 45"/>
          <p:cNvSpPr/>
          <p:nvPr/>
        </p:nvSpPr>
        <p:spPr>
          <a:xfrm>
            <a:off x="6137909" y="1659636"/>
            <a:ext cx="2674620" cy="123444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7" name="Rectangle 46"/>
          <p:cNvSpPr/>
          <p:nvPr/>
        </p:nvSpPr>
        <p:spPr>
          <a:xfrm>
            <a:off x="6137909" y="1659636"/>
            <a:ext cx="2674620" cy="34290"/>
          </a:xfrm>
          <a:prstGeom prst="rect">
            <a:avLst/>
          </a:prstGeom>
          <a:solidFill>
            <a:srgbClr val="FF69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8" name="Oval 47"/>
          <p:cNvSpPr/>
          <p:nvPr/>
        </p:nvSpPr>
        <p:spPr>
          <a:xfrm>
            <a:off x="6288786" y="1844802"/>
            <a:ext cx="301752" cy="301752"/>
          </a:xfrm>
          <a:prstGeom prst="ellipse">
            <a:avLst/>
          </a:prstGeom>
          <a:solidFill>
            <a:srgbClr val="32262A"/>
          </a:solidFill>
          <a:ln w="12700">
            <a:solidFill>
              <a:srgbClr val="FF6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9" name="TextBox 48"/>
          <p:cNvSpPr txBox="1"/>
          <p:nvPr/>
        </p:nvSpPr>
        <p:spPr>
          <a:xfrm>
            <a:off x="6288786" y="1927098"/>
            <a:ext cx="301752" cy="120033"/>
          </a:xfrm>
          <a:prstGeom prst="rect">
            <a:avLst/>
          </a:prstGeom>
          <a:noFill/>
        </p:spPr>
        <p:txBody>
          <a:bodyPr wrap="square" lIns="13716" tIns="13716" rIns="13716" bIns="13716" anchor="t">
            <a:spAutoFit/>
          </a:bodyPr>
          <a:lstStyle/>
          <a:p>
            <a:pPr algn="ctr"/>
            <a:r>
              <a:rPr sz="600" b="1">
                <a:solidFill>
                  <a:srgbClr val="FF6974"/>
                </a:solidFill>
                <a:latin typeface="Aptos"/>
              </a:rPr>
              <a:t>3</a:t>
            </a:r>
          </a:p>
        </p:txBody>
      </p:sp>
      <p:sp>
        <p:nvSpPr>
          <p:cNvPr id="50" name="TextBox 49"/>
          <p:cNvSpPr txBox="1"/>
          <p:nvPr/>
        </p:nvSpPr>
        <p:spPr>
          <a:xfrm>
            <a:off x="6631686" y="1892808"/>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Value grounding</a:t>
            </a:r>
          </a:p>
        </p:txBody>
      </p:sp>
      <p:sp>
        <p:nvSpPr>
          <p:cNvPr id="51" name="TextBox 50"/>
          <p:cNvSpPr txBox="1"/>
          <p:nvPr/>
        </p:nvSpPr>
        <p:spPr>
          <a:xfrm>
            <a:off x="6384797" y="2263141"/>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The right filter value may be a code, synonym, lookup label, ontology value, or differently cased string.</a:t>
            </a:r>
          </a:p>
        </p:txBody>
      </p:sp>
      <p:sp>
        <p:nvSpPr>
          <p:cNvPr id="52" name="Rectangle 51"/>
          <p:cNvSpPr/>
          <p:nvPr/>
        </p:nvSpPr>
        <p:spPr>
          <a:xfrm>
            <a:off x="6384797" y="2674620"/>
            <a:ext cx="754380" cy="123444"/>
          </a:xfrm>
          <a:prstGeom prst="rect">
            <a:avLst/>
          </a:prstGeom>
          <a:solidFill>
            <a:srgbClr val="312326"/>
          </a:solidFill>
          <a:ln w="5080">
            <a:solidFill>
              <a:srgbClr val="FF6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3" name="TextBox 52"/>
          <p:cNvSpPr txBox="1"/>
          <p:nvPr/>
        </p:nvSpPr>
        <p:spPr>
          <a:xfrm>
            <a:off x="6384797" y="2691765"/>
            <a:ext cx="754380" cy="90025"/>
          </a:xfrm>
          <a:prstGeom prst="rect">
            <a:avLst/>
          </a:prstGeom>
          <a:noFill/>
        </p:spPr>
        <p:txBody>
          <a:bodyPr wrap="square" lIns="13716" tIns="13716" rIns="13716" bIns="13716" anchor="t">
            <a:spAutoFit/>
          </a:bodyPr>
          <a:lstStyle/>
          <a:p>
            <a:pPr algn="ctr"/>
            <a:r>
              <a:rPr sz="405" b="1">
                <a:solidFill>
                  <a:srgbClr val="FF6974"/>
                </a:solidFill>
                <a:latin typeface="Aptos"/>
              </a:rPr>
              <a:t>VALUES</a:t>
            </a:r>
          </a:p>
        </p:txBody>
      </p:sp>
      <p:sp>
        <p:nvSpPr>
          <p:cNvPr id="54" name="Rectangle 53"/>
          <p:cNvSpPr/>
          <p:nvPr/>
        </p:nvSpPr>
        <p:spPr>
          <a:xfrm>
            <a:off x="7262621" y="2674620"/>
            <a:ext cx="754380" cy="123444"/>
          </a:xfrm>
          <a:prstGeom prst="rect">
            <a:avLst/>
          </a:prstGeom>
          <a:solidFill>
            <a:srgbClr val="312326"/>
          </a:solidFill>
          <a:ln w="5080">
            <a:solidFill>
              <a:srgbClr val="FF6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5" name="TextBox 54"/>
          <p:cNvSpPr txBox="1"/>
          <p:nvPr/>
        </p:nvSpPr>
        <p:spPr>
          <a:xfrm>
            <a:off x="7262621" y="2691765"/>
            <a:ext cx="754380" cy="90025"/>
          </a:xfrm>
          <a:prstGeom prst="rect">
            <a:avLst/>
          </a:prstGeom>
          <a:noFill/>
        </p:spPr>
        <p:txBody>
          <a:bodyPr wrap="square" lIns="13716" tIns="13716" rIns="13716" bIns="13716" anchor="t">
            <a:spAutoFit/>
          </a:bodyPr>
          <a:lstStyle/>
          <a:p>
            <a:pPr algn="ctr"/>
            <a:r>
              <a:rPr sz="405" b="1">
                <a:solidFill>
                  <a:srgbClr val="FF6974"/>
                </a:solidFill>
                <a:latin typeface="Aptos"/>
              </a:rPr>
              <a:t>SAMPLES</a:t>
            </a:r>
          </a:p>
        </p:txBody>
      </p:sp>
      <p:sp>
        <p:nvSpPr>
          <p:cNvPr id="56" name="Rectangle 55"/>
          <p:cNvSpPr/>
          <p:nvPr/>
        </p:nvSpPr>
        <p:spPr>
          <a:xfrm>
            <a:off x="1748790" y="3188970"/>
            <a:ext cx="2674620" cy="92583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7" name="Rectangle 56"/>
          <p:cNvSpPr/>
          <p:nvPr/>
        </p:nvSpPr>
        <p:spPr>
          <a:xfrm>
            <a:off x="1748790" y="3188970"/>
            <a:ext cx="2674620" cy="34290"/>
          </a:xfrm>
          <a:prstGeom prst="rect">
            <a:avLst/>
          </a:prstGeom>
          <a:solidFill>
            <a:srgbClr val="59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8" name="Oval 57"/>
          <p:cNvSpPr/>
          <p:nvPr/>
        </p:nvSpPr>
        <p:spPr>
          <a:xfrm>
            <a:off x="1899666" y="3374136"/>
            <a:ext cx="301752" cy="301752"/>
          </a:xfrm>
          <a:prstGeom prst="ellipse">
            <a:avLst/>
          </a:prstGeom>
          <a:solidFill>
            <a:srgbClr val="252D3A"/>
          </a:solidFill>
          <a:ln w="12700">
            <a:solidFill>
              <a:srgbClr val="59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9" name="TextBox 58"/>
          <p:cNvSpPr txBox="1"/>
          <p:nvPr/>
        </p:nvSpPr>
        <p:spPr>
          <a:xfrm>
            <a:off x="1899666" y="3456432"/>
            <a:ext cx="301752" cy="120033"/>
          </a:xfrm>
          <a:prstGeom prst="rect">
            <a:avLst/>
          </a:prstGeom>
          <a:noFill/>
        </p:spPr>
        <p:txBody>
          <a:bodyPr wrap="square" lIns="13716" tIns="13716" rIns="13716" bIns="13716" anchor="t">
            <a:spAutoFit/>
          </a:bodyPr>
          <a:lstStyle/>
          <a:p>
            <a:pPr algn="ctr"/>
            <a:r>
              <a:rPr sz="600" b="1">
                <a:solidFill>
                  <a:srgbClr val="599DFF"/>
                </a:solidFill>
                <a:latin typeface="Aptos"/>
              </a:rPr>
              <a:t>4</a:t>
            </a:r>
          </a:p>
        </p:txBody>
      </p:sp>
      <p:sp>
        <p:nvSpPr>
          <p:cNvPr id="60" name="TextBox 59"/>
          <p:cNvSpPr txBox="1"/>
          <p:nvPr/>
        </p:nvSpPr>
        <p:spPr>
          <a:xfrm>
            <a:off x="2242565" y="3422142"/>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Intent classification</a:t>
            </a:r>
          </a:p>
        </p:txBody>
      </p:sp>
      <p:sp>
        <p:nvSpPr>
          <p:cNvPr id="61" name="TextBox 60"/>
          <p:cNvSpPr txBox="1"/>
          <p:nvPr/>
        </p:nvSpPr>
        <p:spPr>
          <a:xfrm>
            <a:off x="1995677" y="3792475"/>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Lookup, ranking, aggregation, comparison, temporal, nested, and cohort questions need different SQL strategies.</a:t>
            </a:r>
          </a:p>
        </p:txBody>
      </p:sp>
      <p:sp>
        <p:nvSpPr>
          <p:cNvPr id="62" name="Rectangle 61"/>
          <p:cNvSpPr/>
          <p:nvPr/>
        </p:nvSpPr>
        <p:spPr>
          <a:xfrm>
            <a:off x="1995677" y="3895344"/>
            <a:ext cx="754380" cy="123444"/>
          </a:xfrm>
          <a:prstGeom prst="rect">
            <a:avLst/>
          </a:prstGeom>
          <a:solidFill>
            <a:srgbClr val="272B3A"/>
          </a:solidFill>
          <a:ln w="5080">
            <a:solidFill>
              <a:srgbClr val="59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3" name="TextBox 62"/>
          <p:cNvSpPr txBox="1"/>
          <p:nvPr/>
        </p:nvSpPr>
        <p:spPr>
          <a:xfrm>
            <a:off x="1995677" y="3912489"/>
            <a:ext cx="754380" cy="90025"/>
          </a:xfrm>
          <a:prstGeom prst="rect">
            <a:avLst/>
          </a:prstGeom>
          <a:noFill/>
        </p:spPr>
        <p:txBody>
          <a:bodyPr wrap="square" lIns="13716" tIns="13716" rIns="13716" bIns="13716" anchor="t">
            <a:spAutoFit/>
          </a:bodyPr>
          <a:lstStyle/>
          <a:p>
            <a:pPr algn="ctr"/>
            <a:r>
              <a:rPr sz="405" b="1">
                <a:solidFill>
                  <a:srgbClr val="599DFF"/>
                </a:solidFill>
                <a:latin typeface="Aptos"/>
              </a:rPr>
              <a:t>QUERY TYPE</a:t>
            </a:r>
          </a:p>
        </p:txBody>
      </p:sp>
      <p:sp>
        <p:nvSpPr>
          <p:cNvPr id="64" name="Rectangle 63"/>
          <p:cNvSpPr/>
          <p:nvPr/>
        </p:nvSpPr>
        <p:spPr>
          <a:xfrm>
            <a:off x="4732020" y="3188970"/>
            <a:ext cx="2674620" cy="92583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5" name="Rectangle 64"/>
          <p:cNvSpPr/>
          <p:nvPr/>
        </p:nvSpPr>
        <p:spPr>
          <a:xfrm>
            <a:off x="4732020" y="3188970"/>
            <a:ext cx="2674620" cy="34290"/>
          </a:xfrm>
          <a:prstGeom prst="rect">
            <a:avLst/>
          </a:prstGeom>
          <a:solidFill>
            <a:srgbClr val="2BD3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6" name="Oval 65"/>
          <p:cNvSpPr/>
          <p:nvPr/>
        </p:nvSpPr>
        <p:spPr>
          <a:xfrm>
            <a:off x="4882896" y="3374136"/>
            <a:ext cx="301752" cy="301752"/>
          </a:xfrm>
          <a:prstGeom prst="ellipse">
            <a:avLst/>
          </a:prstGeom>
          <a:solidFill>
            <a:srgbClr val="1F3434"/>
          </a:solidFill>
          <a:ln w="1270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7" name="TextBox 66"/>
          <p:cNvSpPr txBox="1"/>
          <p:nvPr/>
        </p:nvSpPr>
        <p:spPr>
          <a:xfrm>
            <a:off x="4882896" y="3456432"/>
            <a:ext cx="301752" cy="120033"/>
          </a:xfrm>
          <a:prstGeom prst="rect">
            <a:avLst/>
          </a:prstGeom>
          <a:noFill/>
        </p:spPr>
        <p:txBody>
          <a:bodyPr wrap="square" lIns="13716" tIns="13716" rIns="13716" bIns="13716" anchor="t">
            <a:spAutoFit/>
          </a:bodyPr>
          <a:lstStyle/>
          <a:p>
            <a:pPr algn="ctr"/>
            <a:r>
              <a:rPr sz="600" b="1">
                <a:solidFill>
                  <a:srgbClr val="2BD3C0"/>
                </a:solidFill>
                <a:latin typeface="Aptos"/>
              </a:rPr>
              <a:t>5</a:t>
            </a:r>
          </a:p>
        </p:txBody>
      </p:sp>
      <p:sp>
        <p:nvSpPr>
          <p:cNvPr id="68" name="TextBox 67"/>
          <p:cNvSpPr txBox="1"/>
          <p:nvPr/>
        </p:nvSpPr>
        <p:spPr>
          <a:xfrm>
            <a:off x="5225796" y="3422142"/>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Output expectation</a:t>
            </a:r>
          </a:p>
        </p:txBody>
      </p:sp>
      <p:sp>
        <p:nvSpPr>
          <p:cNvPr id="69" name="TextBox 68"/>
          <p:cNvSpPr txBox="1"/>
          <p:nvPr/>
        </p:nvSpPr>
        <p:spPr>
          <a:xfrm>
            <a:off x="4978908" y="3792474"/>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The system must return the right columns, aliases, rows, sorting, limits, and granularity.</a:t>
            </a:r>
          </a:p>
        </p:txBody>
      </p:sp>
      <p:sp>
        <p:nvSpPr>
          <p:cNvPr id="70" name="Rectangle 69"/>
          <p:cNvSpPr/>
          <p:nvPr/>
        </p:nvSpPr>
        <p:spPr>
          <a:xfrm>
            <a:off x="4978908" y="3895344"/>
            <a:ext cx="754380" cy="123444"/>
          </a:xfrm>
          <a:prstGeom prst="rect">
            <a:avLst/>
          </a:prstGeom>
          <a:solidFill>
            <a:srgbClr val="162C30"/>
          </a:solidFill>
          <a:ln w="508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1" name="TextBox 70"/>
          <p:cNvSpPr txBox="1"/>
          <p:nvPr/>
        </p:nvSpPr>
        <p:spPr>
          <a:xfrm>
            <a:off x="4978908" y="3912489"/>
            <a:ext cx="754380" cy="90025"/>
          </a:xfrm>
          <a:prstGeom prst="rect">
            <a:avLst/>
          </a:prstGeom>
          <a:noFill/>
        </p:spPr>
        <p:txBody>
          <a:bodyPr wrap="square" lIns="13716" tIns="13716" rIns="13716" bIns="13716" anchor="t">
            <a:spAutoFit/>
          </a:bodyPr>
          <a:lstStyle/>
          <a:p>
            <a:pPr algn="ctr"/>
            <a:r>
              <a:rPr sz="405" b="1">
                <a:solidFill>
                  <a:srgbClr val="2BD3C0"/>
                </a:solidFill>
                <a:latin typeface="Aptos"/>
              </a:rPr>
              <a:t>SHAPE</a:t>
            </a:r>
          </a:p>
        </p:txBody>
      </p:sp>
      <p:sp>
        <p:nvSpPr>
          <p:cNvPr id="72" name="Rectangle 71"/>
          <p:cNvSpPr/>
          <p:nvPr/>
        </p:nvSpPr>
        <p:spPr>
          <a:xfrm>
            <a:off x="342900" y="4855464"/>
            <a:ext cx="8435340" cy="6858"/>
          </a:xfrm>
          <a:prstGeom prst="rect">
            <a:avLst/>
          </a:prstGeom>
          <a:solidFill>
            <a:srgbClr val="252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3" name="TextBox 72"/>
          <p:cNvSpPr txBox="1"/>
          <p:nvPr/>
        </p:nvSpPr>
        <p:spPr>
          <a:xfrm>
            <a:off x="425196" y="4910328"/>
            <a:ext cx="3566160" cy="108491"/>
          </a:xfrm>
          <a:prstGeom prst="rect">
            <a:avLst/>
          </a:prstGeom>
          <a:noFill/>
        </p:spPr>
        <p:txBody>
          <a:bodyPr wrap="square" lIns="13716" tIns="13716" rIns="13716" bIns="13716" anchor="t">
            <a:spAutoFit/>
          </a:bodyPr>
          <a:lstStyle/>
          <a:p>
            <a:pPr algn="l"/>
            <a:r>
              <a:rPr sz="525">
                <a:solidFill>
                  <a:srgbClr val="666C76"/>
                </a:solidFill>
                <a:latin typeface="Aptos"/>
              </a:rPr>
              <a:t>Text-to-SQL problem taxonomy | SpiderDIN project experience</a:t>
            </a:r>
          </a:p>
        </p:txBody>
      </p:sp>
      <p:pic>
        <p:nvPicPr>
          <p:cNvPr id="74" name="Picture 73">
            <a:extLst>
              <a:ext uri="{FF2B5EF4-FFF2-40B4-BE49-F238E27FC236}">
                <a16:creationId xmlns:a16="http://schemas.microsoft.com/office/drawing/2014/main" id="{65B25DE3-D3EE-C6E1-A920-19FB92939714}"/>
              </a:ext>
            </a:extLst>
          </p:cNvPr>
          <p:cNvPicPr>
            <a:picLocks noChangeAspect="1"/>
          </p:cNvPicPr>
          <p:nvPr/>
        </p:nvPicPr>
        <p:blipFill>
          <a:blip r:embed="rId2"/>
          <a:srcRect l="-928" t="29746" r="928" b="36645"/>
          <a:stretch>
            <a:fillRect/>
          </a:stretch>
        </p:blipFill>
        <p:spPr>
          <a:xfrm>
            <a:off x="8218575" y="58690"/>
            <a:ext cx="861058" cy="2893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0C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p:cNvSpPr/>
          <p:nvPr/>
        </p:nvSpPr>
        <p:spPr>
          <a:xfrm>
            <a:off x="685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p:cNvSpPr/>
          <p:nvPr/>
        </p:nvSpPr>
        <p:spPr>
          <a:xfrm>
            <a:off x="1371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2057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2743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p:cNvSpPr/>
          <p:nvPr/>
        </p:nvSpPr>
        <p:spPr>
          <a:xfrm>
            <a:off x="3429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114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4800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5486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6172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6858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7543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8229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ectangle 14"/>
          <p:cNvSpPr/>
          <p:nvPr/>
        </p:nvSpPr>
        <p:spPr>
          <a:xfrm>
            <a:off x="8915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1" y="685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ectangle 16"/>
          <p:cNvSpPr/>
          <p:nvPr/>
        </p:nvSpPr>
        <p:spPr>
          <a:xfrm>
            <a:off x="1" y="1371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ectangle 17"/>
          <p:cNvSpPr/>
          <p:nvPr/>
        </p:nvSpPr>
        <p:spPr>
          <a:xfrm>
            <a:off x="1" y="20574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ectangle 18"/>
          <p:cNvSpPr/>
          <p:nvPr/>
        </p:nvSpPr>
        <p:spPr>
          <a:xfrm>
            <a:off x="1" y="27432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ectangle 19"/>
          <p:cNvSpPr/>
          <p:nvPr/>
        </p:nvSpPr>
        <p:spPr>
          <a:xfrm>
            <a:off x="1" y="34290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Rectangle 20"/>
          <p:cNvSpPr/>
          <p:nvPr/>
        </p:nvSpPr>
        <p:spPr>
          <a:xfrm>
            <a:off x="1" y="4114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Rectangle 21"/>
          <p:cNvSpPr/>
          <p:nvPr/>
        </p:nvSpPr>
        <p:spPr>
          <a:xfrm>
            <a:off x="1" y="4800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Rectangle 22"/>
          <p:cNvSpPr/>
          <p:nvPr/>
        </p:nvSpPr>
        <p:spPr>
          <a:xfrm>
            <a:off x="342900" y="260604"/>
            <a:ext cx="1131570" cy="20574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528066" y="315468"/>
            <a:ext cx="788670" cy="99258"/>
          </a:xfrm>
          <a:prstGeom prst="rect">
            <a:avLst/>
          </a:prstGeom>
          <a:noFill/>
        </p:spPr>
        <p:txBody>
          <a:bodyPr wrap="square" lIns="13716" tIns="13716" rIns="13716" bIns="13716" anchor="t">
            <a:spAutoFit/>
          </a:bodyPr>
          <a:lstStyle/>
          <a:p>
            <a:pPr algn="ctr"/>
            <a:r>
              <a:rPr sz="465" b="1">
                <a:solidFill>
                  <a:srgbClr val="0C0F14"/>
                </a:solidFill>
                <a:latin typeface="Aptos"/>
              </a:rPr>
              <a:t>GENUINE PROBLEMS</a:t>
            </a:r>
          </a:p>
        </p:txBody>
      </p:sp>
      <p:sp>
        <p:nvSpPr>
          <p:cNvPr id="25" name="TextBox 24"/>
          <p:cNvSpPr txBox="1"/>
          <p:nvPr/>
        </p:nvSpPr>
        <p:spPr>
          <a:xfrm>
            <a:off x="8572500" y="240030"/>
            <a:ext cx="240030" cy="131574"/>
          </a:xfrm>
          <a:prstGeom prst="rect">
            <a:avLst/>
          </a:prstGeom>
          <a:noFill/>
        </p:spPr>
        <p:txBody>
          <a:bodyPr wrap="square" lIns="13716" tIns="13716" rIns="13716" bIns="13716" anchor="t">
            <a:spAutoFit/>
          </a:bodyPr>
          <a:lstStyle/>
          <a:p>
            <a:pPr algn="r"/>
            <a:r>
              <a:rPr sz="675">
                <a:solidFill>
                  <a:srgbClr val="666C76"/>
                </a:solidFill>
                <a:latin typeface="Aptos"/>
              </a:rPr>
              <a:t>04</a:t>
            </a:r>
          </a:p>
        </p:txBody>
      </p:sp>
      <p:sp>
        <p:nvSpPr>
          <p:cNvPr id="26" name="TextBox 25"/>
          <p:cNvSpPr txBox="1"/>
          <p:nvPr/>
        </p:nvSpPr>
        <p:spPr>
          <a:xfrm>
            <a:off x="425196" y="617220"/>
            <a:ext cx="7680960" cy="600164"/>
          </a:xfrm>
          <a:prstGeom prst="rect">
            <a:avLst/>
          </a:prstGeom>
          <a:noFill/>
        </p:spPr>
        <p:txBody>
          <a:bodyPr wrap="square" lIns="0" tIns="0" rIns="0" bIns="0">
            <a:spAutoFit/>
          </a:bodyPr>
          <a:lstStyle/>
          <a:p>
            <a:pPr algn="l"/>
            <a:r>
              <a:rPr sz="1950" b="1">
                <a:solidFill>
                  <a:srgbClr val="FFBE18"/>
                </a:solidFill>
                <a:latin typeface="Georgia"/>
              </a:rPr>
              <a:t>A2. Relational logic: </a:t>
            </a:r>
            <a:r>
              <a:rPr sz="1950" b="1">
                <a:solidFill>
                  <a:srgbClr val="F1EFE9"/>
                </a:solidFill>
                <a:latin typeface="Georgia"/>
              </a:rPr>
              <a:t>valid SQL can still answer the wrong question.</a:t>
            </a:r>
          </a:p>
        </p:txBody>
      </p:sp>
      <p:sp>
        <p:nvSpPr>
          <p:cNvPr id="27" name="TextBox 26"/>
          <p:cNvSpPr txBox="1"/>
          <p:nvPr/>
        </p:nvSpPr>
        <p:spPr>
          <a:xfrm>
            <a:off x="438912" y="1179576"/>
            <a:ext cx="6377940" cy="146643"/>
          </a:xfrm>
          <a:prstGeom prst="rect">
            <a:avLst/>
          </a:prstGeom>
          <a:noFill/>
        </p:spPr>
        <p:txBody>
          <a:bodyPr wrap="square" lIns="13716" tIns="13716" rIns="13716" bIns="13716" anchor="t">
            <a:spAutoFit/>
          </a:bodyPr>
          <a:lstStyle/>
          <a:p>
            <a:pPr algn="l"/>
            <a:r>
              <a:rPr sz="773">
                <a:solidFill>
                  <a:srgbClr val="F1EFE9"/>
                </a:solidFill>
                <a:latin typeface="Aptos"/>
              </a:rPr>
              <a:t>Most painful failures are semantic: the query executes, but joins, grain, or metrics change the meaning of the result.</a:t>
            </a:r>
          </a:p>
        </p:txBody>
      </p:sp>
      <p:sp>
        <p:nvSpPr>
          <p:cNvPr id="28" name="Rectangle 27"/>
          <p:cNvSpPr/>
          <p:nvPr/>
        </p:nvSpPr>
        <p:spPr>
          <a:xfrm>
            <a:off x="342900" y="1611630"/>
            <a:ext cx="2674620" cy="1371600"/>
          </a:xfrm>
          <a:prstGeom prst="rect">
            <a:avLst/>
          </a:prstGeom>
          <a:solidFill>
            <a:srgbClr val="181D27"/>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9" name="Rectangle 28"/>
          <p:cNvSpPr/>
          <p:nvPr/>
        </p:nvSpPr>
        <p:spPr>
          <a:xfrm>
            <a:off x="342900" y="1611630"/>
            <a:ext cx="2674620" cy="34290"/>
          </a:xfrm>
          <a:prstGeom prst="rect">
            <a:avLst/>
          </a:prstGeom>
          <a:solidFill>
            <a:srgbClr val="41D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Oval 29"/>
          <p:cNvSpPr/>
          <p:nvPr/>
        </p:nvSpPr>
        <p:spPr>
          <a:xfrm>
            <a:off x="466344" y="1762506"/>
            <a:ext cx="301752" cy="301752"/>
          </a:xfrm>
          <a:prstGeom prst="ellipse">
            <a:avLst/>
          </a:prstGeom>
          <a:solidFill>
            <a:srgbClr val="1F3434"/>
          </a:solidFill>
          <a:ln w="1270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1" name="TextBox 30"/>
          <p:cNvSpPr txBox="1"/>
          <p:nvPr/>
        </p:nvSpPr>
        <p:spPr>
          <a:xfrm>
            <a:off x="466344" y="1844802"/>
            <a:ext cx="301752" cy="120033"/>
          </a:xfrm>
          <a:prstGeom prst="rect">
            <a:avLst/>
          </a:prstGeom>
          <a:noFill/>
        </p:spPr>
        <p:txBody>
          <a:bodyPr wrap="square" lIns="13716" tIns="13716" rIns="13716" bIns="13716" anchor="t">
            <a:spAutoFit/>
          </a:bodyPr>
          <a:lstStyle/>
          <a:p>
            <a:pPr algn="ctr"/>
            <a:r>
              <a:rPr sz="600" b="1">
                <a:solidFill>
                  <a:srgbClr val="41DA8E"/>
                </a:solidFill>
                <a:latin typeface="Aptos"/>
              </a:rPr>
              <a:t>J</a:t>
            </a:r>
          </a:p>
        </p:txBody>
      </p:sp>
      <p:sp>
        <p:nvSpPr>
          <p:cNvPr id="32" name="TextBox 31"/>
          <p:cNvSpPr txBox="1"/>
          <p:nvPr/>
        </p:nvSpPr>
        <p:spPr>
          <a:xfrm>
            <a:off x="809244" y="1810512"/>
            <a:ext cx="2091690" cy="147733"/>
          </a:xfrm>
          <a:prstGeom prst="rect">
            <a:avLst/>
          </a:prstGeom>
          <a:noFill/>
        </p:spPr>
        <p:txBody>
          <a:bodyPr wrap="square" lIns="13716" tIns="13716" rIns="13716" bIns="13716" anchor="t">
            <a:spAutoFit/>
          </a:bodyPr>
          <a:lstStyle/>
          <a:p>
            <a:pPr algn="l"/>
            <a:r>
              <a:rPr sz="780" b="1">
                <a:solidFill>
                  <a:srgbClr val="F1EFE9"/>
                </a:solidFill>
                <a:latin typeface="Aptos"/>
              </a:rPr>
              <a:t>Join reasoning</a:t>
            </a:r>
          </a:p>
        </p:txBody>
      </p:sp>
      <p:sp>
        <p:nvSpPr>
          <p:cNvPr id="33" name="TextBox 32"/>
          <p:cNvSpPr txBox="1"/>
          <p:nvPr/>
        </p:nvSpPr>
        <p:spPr>
          <a:xfrm>
            <a:off x="534924" y="2105406"/>
            <a:ext cx="82296" cy="115416"/>
          </a:xfrm>
          <a:prstGeom prst="rect">
            <a:avLst/>
          </a:prstGeom>
          <a:noFill/>
        </p:spPr>
        <p:txBody>
          <a:bodyPr wrap="square" lIns="13716" tIns="13716" rIns="13716" bIns="13716" anchor="t">
            <a:spAutoFit/>
          </a:bodyPr>
          <a:lstStyle/>
          <a:p>
            <a:pPr algn="l"/>
            <a:r>
              <a:rPr sz="570" b="1">
                <a:solidFill>
                  <a:srgbClr val="41DA8E"/>
                </a:solidFill>
                <a:latin typeface="Aptos"/>
              </a:rPr>
              <a:t>•</a:t>
            </a:r>
          </a:p>
        </p:txBody>
      </p:sp>
      <p:sp>
        <p:nvSpPr>
          <p:cNvPr id="34" name="TextBox 33"/>
          <p:cNvSpPr txBox="1"/>
          <p:nvPr/>
        </p:nvSpPr>
        <p:spPr>
          <a:xfrm>
            <a:off x="658368" y="2105407"/>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wrong join key or join type</a:t>
            </a:r>
          </a:p>
        </p:txBody>
      </p:sp>
      <p:sp>
        <p:nvSpPr>
          <p:cNvPr id="35" name="TextBox 34"/>
          <p:cNvSpPr txBox="1"/>
          <p:nvPr/>
        </p:nvSpPr>
        <p:spPr>
          <a:xfrm>
            <a:off x="534924" y="2338578"/>
            <a:ext cx="82296" cy="115416"/>
          </a:xfrm>
          <a:prstGeom prst="rect">
            <a:avLst/>
          </a:prstGeom>
          <a:noFill/>
        </p:spPr>
        <p:txBody>
          <a:bodyPr wrap="square" lIns="13716" tIns="13716" rIns="13716" bIns="13716" anchor="t">
            <a:spAutoFit/>
          </a:bodyPr>
          <a:lstStyle/>
          <a:p>
            <a:pPr algn="l"/>
            <a:r>
              <a:rPr sz="570" b="1">
                <a:solidFill>
                  <a:srgbClr val="41DA8E"/>
                </a:solidFill>
                <a:latin typeface="Aptos"/>
              </a:rPr>
              <a:t>•</a:t>
            </a:r>
          </a:p>
        </p:txBody>
      </p:sp>
      <p:sp>
        <p:nvSpPr>
          <p:cNvPr id="36" name="TextBox 35"/>
          <p:cNvSpPr txBox="1"/>
          <p:nvPr/>
        </p:nvSpPr>
        <p:spPr>
          <a:xfrm>
            <a:off x="658368" y="2338579"/>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bridge / lookup table missed</a:t>
            </a:r>
          </a:p>
        </p:txBody>
      </p:sp>
      <p:sp>
        <p:nvSpPr>
          <p:cNvPr id="37" name="TextBox 36"/>
          <p:cNvSpPr txBox="1"/>
          <p:nvPr/>
        </p:nvSpPr>
        <p:spPr>
          <a:xfrm>
            <a:off x="534924" y="2571750"/>
            <a:ext cx="82296" cy="115416"/>
          </a:xfrm>
          <a:prstGeom prst="rect">
            <a:avLst/>
          </a:prstGeom>
          <a:noFill/>
        </p:spPr>
        <p:txBody>
          <a:bodyPr wrap="square" lIns="13716" tIns="13716" rIns="13716" bIns="13716" anchor="t">
            <a:spAutoFit/>
          </a:bodyPr>
          <a:lstStyle/>
          <a:p>
            <a:pPr algn="l"/>
            <a:r>
              <a:rPr sz="570" b="1">
                <a:solidFill>
                  <a:srgbClr val="41DA8E"/>
                </a:solidFill>
                <a:latin typeface="Aptos"/>
              </a:rPr>
              <a:t>•</a:t>
            </a:r>
          </a:p>
        </p:txBody>
      </p:sp>
      <p:sp>
        <p:nvSpPr>
          <p:cNvPr id="38" name="TextBox 37"/>
          <p:cNvSpPr txBox="1"/>
          <p:nvPr/>
        </p:nvSpPr>
        <p:spPr>
          <a:xfrm>
            <a:off x="658368" y="2571751"/>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many-to-many row multiplication</a:t>
            </a:r>
          </a:p>
        </p:txBody>
      </p:sp>
      <p:sp>
        <p:nvSpPr>
          <p:cNvPr id="39" name="TextBox 38"/>
          <p:cNvSpPr txBox="1"/>
          <p:nvPr/>
        </p:nvSpPr>
        <p:spPr>
          <a:xfrm>
            <a:off x="534924" y="2804922"/>
            <a:ext cx="82296" cy="115416"/>
          </a:xfrm>
          <a:prstGeom prst="rect">
            <a:avLst/>
          </a:prstGeom>
          <a:noFill/>
        </p:spPr>
        <p:txBody>
          <a:bodyPr wrap="square" lIns="13716" tIns="13716" rIns="13716" bIns="13716" anchor="t">
            <a:spAutoFit/>
          </a:bodyPr>
          <a:lstStyle/>
          <a:p>
            <a:pPr algn="l"/>
            <a:r>
              <a:rPr sz="570" b="1">
                <a:solidFill>
                  <a:srgbClr val="41DA8E"/>
                </a:solidFill>
                <a:latin typeface="Aptos"/>
              </a:rPr>
              <a:t>•</a:t>
            </a:r>
          </a:p>
        </p:txBody>
      </p:sp>
      <p:sp>
        <p:nvSpPr>
          <p:cNvPr id="40" name="TextBox 39"/>
          <p:cNvSpPr txBox="1"/>
          <p:nvPr/>
        </p:nvSpPr>
        <p:spPr>
          <a:xfrm>
            <a:off x="658368" y="2804923"/>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left join accidentally becomes inner</a:t>
            </a:r>
          </a:p>
        </p:txBody>
      </p:sp>
      <p:sp>
        <p:nvSpPr>
          <p:cNvPr id="41" name="Rectangle 40"/>
          <p:cNvSpPr/>
          <p:nvPr/>
        </p:nvSpPr>
        <p:spPr>
          <a:xfrm>
            <a:off x="3236976" y="1611630"/>
            <a:ext cx="2674620" cy="1371600"/>
          </a:xfrm>
          <a:prstGeom prst="rect">
            <a:avLst/>
          </a:prstGeom>
          <a:solidFill>
            <a:srgbClr val="181D27"/>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2" name="Rectangle 41"/>
          <p:cNvSpPr/>
          <p:nvPr/>
        </p:nvSpPr>
        <p:spPr>
          <a:xfrm>
            <a:off x="3236976" y="1611630"/>
            <a:ext cx="2674620" cy="3429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3" name="Oval 42"/>
          <p:cNvSpPr/>
          <p:nvPr/>
        </p:nvSpPr>
        <p:spPr>
          <a:xfrm>
            <a:off x="3360419" y="1762506"/>
            <a:ext cx="301752" cy="301752"/>
          </a:xfrm>
          <a:prstGeom prst="ellipse">
            <a:avLst/>
          </a:prstGeom>
          <a:solidFill>
            <a:srgbClr val="252D3A"/>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4" name="TextBox 43"/>
          <p:cNvSpPr txBox="1"/>
          <p:nvPr/>
        </p:nvSpPr>
        <p:spPr>
          <a:xfrm>
            <a:off x="3360419" y="1844802"/>
            <a:ext cx="301752" cy="120033"/>
          </a:xfrm>
          <a:prstGeom prst="rect">
            <a:avLst/>
          </a:prstGeom>
          <a:noFill/>
        </p:spPr>
        <p:txBody>
          <a:bodyPr wrap="square" lIns="13716" tIns="13716" rIns="13716" bIns="13716" anchor="t">
            <a:spAutoFit/>
          </a:bodyPr>
          <a:lstStyle/>
          <a:p>
            <a:pPr algn="ctr"/>
            <a:r>
              <a:rPr sz="600" b="1">
                <a:solidFill>
                  <a:srgbClr val="F5A012"/>
                </a:solidFill>
                <a:latin typeface="Aptos"/>
              </a:rPr>
              <a:t>G</a:t>
            </a:r>
          </a:p>
        </p:txBody>
      </p:sp>
      <p:sp>
        <p:nvSpPr>
          <p:cNvPr id="45" name="TextBox 44"/>
          <p:cNvSpPr txBox="1"/>
          <p:nvPr/>
        </p:nvSpPr>
        <p:spPr>
          <a:xfrm>
            <a:off x="3703319" y="1810512"/>
            <a:ext cx="2091690" cy="147733"/>
          </a:xfrm>
          <a:prstGeom prst="rect">
            <a:avLst/>
          </a:prstGeom>
          <a:noFill/>
        </p:spPr>
        <p:txBody>
          <a:bodyPr wrap="square" lIns="13716" tIns="13716" rIns="13716" bIns="13716" anchor="t">
            <a:spAutoFit/>
          </a:bodyPr>
          <a:lstStyle/>
          <a:p>
            <a:pPr algn="l"/>
            <a:r>
              <a:rPr sz="780" b="1">
                <a:solidFill>
                  <a:srgbClr val="F1EFE9"/>
                </a:solidFill>
                <a:latin typeface="Aptos"/>
              </a:rPr>
              <a:t>Grain control</a:t>
            </a:r>
          </a:p>
        </p:txBody>
      </p:sp>
      <p:sp>
        <p:nvSpPr>
          <p:cNvPr id="46" name="TextBox 45"/>
          <p:cNvSpPr txBox="1"/>
          <p:nvPr/>
        </p:nvSpPr>
        <p:spPr>
          <a:xfrm>
            <a:off x="3429000" y="2105406"/>
            <a:ext cx="82296" cy="115416"/>
          </a:xfrm>
          <a:prstGeom prst="rect">
            <a:avLst/>
          </a:prstGeom>
          <a:noFill/>
        </p:spPr>
        <p:txBody>
          <a:bodyPr wrap="square" lIns="13716" tIns="13716" rIns="13716" bIns="13716" anchor="t">
            <a:spAutoFit/>
          </a:bodyPr>
          <a:lstStyle/>
          <a:p>
            <a:pPr algn="l"/>
            <a:r>
              <a:rPr sz="570" b="1">
                <a:solidFill>
                  <a:srgbClr val="F5A012"/>
                </a:solidFill>
                <a:latin typeface="Aptos"/>
              </a:rPr>
              <a:t>•</a:t>
            </a:r>
          </a:p>
        </p:txBody>
      </p:sp>
      <p:sp>
        <p:nvSpPr>
          <p:cNvPr id="47" name="TextBox 46"/>
          <p:cNvSpPr txBox="1"/>
          <p:nvPr/>
        </p:nvSpPr>
        <p:spPr>
          <a:xfrm>
            <a:off x="3552444" y="2105407"/>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row vs entity confusion</a:t>
            </a:r>
          </a:p>
        </p:txBody>
      </p:sp>
      <p:sp>
        <p:nvSpPr>
          <p:cNvPr id="48" name="TextBox 47"/>
          <p:cNvSpPr txBox="1"/>
          <p:nvPr/>
        </p:nvSpPr>
        <p:spPr>
          <a:xfrm>
            <a:off x="3429000" y="2338578"/>
            <a:ext cx="82296" cy="115416"/>
          </a:xfrm>
          <a:prstGeom prst="rect">
            <a:avLst/>
          </a:prstGeom>
          <a:noFill/>
        </p:spPr>
        <p:txBody>
          <a:bodyPr wrap="square" lIns="13716" tIns="13716" rIns="13716" bIns="13716" anchor="t">
            <a:spAutoFit/>
          </a:bodyPr>
          <a:lstStyle/>
          <a:p>
            <a:pPr algn="l"/>
            <a:r>
              <a:rPr sz="570" b="1">
                <a:solidFill>
                  <a:srgbClr val="F5A012"/>
                </a:solidFill>
                <a:latin typeface="Aptos"/>
              </a:rPr>
              <a:t>•</a:t>
            </a:r>
          </a:p>
        </p:txBody>
      </p:sp>
      <p:sp>
        <p:nvSpPr>
          <p:cNvPr id="49" name="TextBox 48"/>
          <p:cNvSpPr txBox="1"/>
          <p:nvPr/>
        </p:nvSpPr>
        <p:spPr>
          <a:xfrm>
            <a:off x="3552444" y="2338579"/>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event vs account confusion</a:t>
            </a:r>
          </a:p>
        </p:txBody>
      </p:sp>
      <p:sp>
        <p:nvSpPr>
          <p:cNvPr id="50" name="TextBox 49"/>
          <p:cNvSpPr txBox="1"/>
          <p:nvPr/>
        </p:nvSpPr>
        <p:spPr>
          <a:xfrm>
            <a:off x="3429000" y="2571750"/>
            <a:ext cx="82296" cy="115416"/>
          </a:xfrm>
          <a:prstGeom prst="rect">
            <a:avLst/>
          </a:prstGeom>
          <a:noFill/>
        </p:spPr>
        <p:txBody>
          <a:bodyPr wrap="square" lIns="13716" tIns="13716" rIns="13716" bIns="13716" anchor="t">
            <a:spAutoFit/>
          </a:bodyPr>
          <a:lstStyle/>
          <a:p>
            <a:pPr algn="l"/>
            <a:r>
              <a:rPr sz="570" b="1">
                <a:solidFill>
                  <a:srgbClr val="F5A012"/>
                </a:solidFill>
                <a:latin typeface="Aptos"/>
              </a:rPr>
              <a:t>•</a:t>
            </a:r>
          </a:p>
        </p:txBody>
      </p:sp>
      <p:sp>
        <p:nvSpPr>
          <p:cNvPr id="51" name="TextBox 50"/>
          <p:cNvSpPr txBox="1"/>
          <p:nvPr/>
        </p:nvSpPr>
        <p:spPr>
          <a:xfrm>
            <a:off x="3552444" y="2571751"/>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sample vs patient confusion</a:t>
            </a:r>
          </a:p>
        </p:txBody>
      </p:sp>
      <p:sp>
        <p:nvSpPr>
          <p:cNvPr id="52" name="TextBox 51"/>
          <p:cNvSpPr txBox="1"/>
          <p:nvPr/>
        </p:nvSpPr>
        <p:spPr>
          <a:xfrm>
            <a:off x="3429000" y="2804922"/>
            <a:ext cx="82296" cy="115416"/>
          </a:xfrm>
          <a:prstGeom prst="rect">
            <a:avLst/>
          </a:prstGeom>
          <a:noFill/>
        </p:spPr>
        <p:txBody>
          <a:bodyPr wrap="square" lIns="13716" tIns="13716" rIns="13716" bIns="13716" anchor="t">
            <a:spAutoFit/>
          </a:bodyPr>
          <a:lstStyle/>
          <a:p>
            <a:pPr algn="l"/>
            <a:r>
              <a:rPr sz="570" b="1">
                <a:solidFill>
                  <a:srgbClr val="F5A012"/>
                </a:solidFill>
                <a:latin typeface="Aptos"/>
              </a:rPr>
              <a:t>•</a:t>
            </a:r>
          </a:p>
        </p:txBody>
      </p:sp>
      <p:sp>
        <p:nvSpPr>
          <p:cNvPr id="53" name="TextBox 52"/>
          <p:cNvSpPr txBox="1"/>
          <p:nvPr/>
        </p:nvSpPr>
        <p:spPr>
          <a:xfrm>
            <a:off x="3552444" y="2804923"/>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grouping too broad or too narrow</a:t>
            </a:r>
          </a:p>
        </p:txBody>
      </p:sp>
      <p:sp>
        <p:nvSpPr>
          <p:cNvPr id="54" name="Rectangle 53"/>
          <p:cNvSpPr/>
          <p:nvPr/>
        </p:nvSpPr>
        <p:spPr>
          <a:xfrm>
            <a:off x="6137909" y="1611630"/>
            <a:ext cx="2674620" cy="1371600"/>
          </a:xfrm>
          <a:prstGeom prst="rect">
            <a:avLst/>
          </a:prstGeom>
          <a:solidFill>
            <a:srgbClr val="181D27"/>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5" name="Rectangle 54"/>
          <p:cNvSpPr/>
          <p:nvPr/>
        </p:nvSpPr>
        <p:spPr>
          <a:xfrm>
            <a:off x="6137909" y="1611630"/>
            <a:ext cx="2674620" cy="34290"/>
          </a:xfrm>
          <a:prstGeom prst="rect">
            <a:avLst/>
          </a:prstGeom>
          <a:solidFill>
            <a:srgbClr val="FF69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6" name="Oval 55"/>
          <p:cNvSpPr/>
          <p:nvPr/>
        </p:nvSpPr>
        <p:spPr>
          <a:xfrm>
            <a:off x="6261353" y="1762506"/>
            <a:ext cx="301752" cy="301752"/>
          </a:xfrm>
          <a:prstGeom prst="ellipse">
            <a:avLst/>
          </a:prstGeom>
          <a:solidFill>
            <a:srgbClr val="32262A"/>
          </a:solidFill>
          <a:ln w="12700">
            <a:solidFill>
              <a:srgbClr val="FF6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7" name="TextBox 56"/>
          <p:cNvSpPr txBox="1"/>
          <p:nvPr/>
        </p:nvSpPr>
        <p:spPr>
          <a:xfrm>
            <a:off x="6261353" y="1844802"/>
            <a:ext cx="301752" cy="120033"/>
          </a:xfrm>
          <a:prstGeom prst="rect">
            <a:avLst/>
          </a:prstGeom>
          <a:noFill/>
        </p:spPr>
        <p:txBody>
          <a:bodyPr wrap="square" lIns="13716" tIns="13716" rIns="13716" bIns="13716" anchor="t">
            <a:spAutoFit/>
          </a:bodyPr>
          <a:lstStyle/>
          <a:p>
            <a:pPr algn="ctr"/>
            <a:r>
              <a:rPr sz="600" b="1">
                <a:solidFill>
                  <a:srgbClr val="FF6974"/>
                </a:solidFill>
                <a:latin typeface="Aptos"/>
              </a:rPr>
              <a:t>M</a:t>
            </a:r>
          </a:p>
        </p:txBody>
      </p:sp>
      <p:sp>
        <p:nvSpPr>
          <p:cNvPr id="58" name="TextBox 57"/>
          <p:cNvSpPr txBox="1"/>
          <p:nvPr/>
        </p:nvSpPr>
        <p:spPr>
          <a:xfrm>
            <a:off x="6604254" y="1810512"/>
            <a:ext cx="2091690" cy="147733"/>
          </a:xfrm>
          <a:prstGeom prst="rect">
            <a:avLst/>
          </a:prstGeom>
          <a:noFill/>
        </p:spPr>
        <p:txBody>
          <a:bodyPr wrap="square" lIns="13716" tIns="13716" rIns="13716" bIns="13716" anchor="t">
            <a:spAutoFit/>
          </a:bodyPr>
          <a:lstStyle/>
          <a:p>
            <a:pPr algn="l"/>
            <a:r>
              <a:rPr sz="780" b="1">
                <a:solidFill>
                  <a:srgbClr val="F1EFE9"/>
                </a:solidFill>
                <a:latin typeface="Aptos"/>
              </a:rPr>
              <a:t>Metric definition</a:t>
            </a:r>
          </a:p>
        </p:txBody>
      </p:sp>
      <p:sp>
        <p:nvSpPr>
          <p:cNvPr id="59" name="TextBox 58"/>
          <p:cNvSpPr txBox="1"/>
          <p:nvPr/>
        </p:nvSpPr>
        <p:spPr>
          <a:xfrm>
            <a:off x="6329933" y="2105406"/>
            <a:ext cx="82296" cy="115416"/>
          </a:xfrm>
          <a:prstGeom prst="rect">
            <a:avLst/>
          </a:prstGeom>
          <a:noFill/>
        </p:spPr>
        <p:txBody>
          <a:bodyPr wrap="square" lIns="13716" tIns="13716" rIns="13716" bIns="13716" anchor="t">
            <a:spAutoFit/>
          </a:bodyPr>
          <a:lstStyle/>
          <a:p>
            <a:pPr algn="l"/>
            <a:r>
              <a:rPr sz="570" b="1">
                <a:solidFill>
                  <a:srgbClr val="FF6974"/>
                </a:solidFill>
                <a:latin typeface="Aptos"/>
              </a:rPr>
              <a:t>•</a:t>
            </a:r>
          </a:p>
        </p:txBody>
      </p:sp>
      <p:sp>
        <p:nvSpPr>
          <p:cNvPr id="60" name="TextBox 59"/>
          <p:cNvSpPr txBox="1"/>
          <p:nvPr/>
        </p:nvSpPr>
        <p:spPr>
          <a:xfrm>
            <a:off x="6453378" y="2105407"/>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count vs count distinct</a:t>
            </a:r>
          </a:p>
        </p:txBody>
      </p:sp>
      <p:sp>
        <p:nvSpPr>
          <p:cNvPr id="61" name="TextBox 60"/>
          <p:cNvSpPr txBox="1"/>
          <p:nvPr/>
        </p:nvSpPr>
        <p:spPr>
          <a:xfrm>
            <a:off x="6329933" y="2338578"/>
            <a:ext cx="82296" cy="115416"/>
          </a:xfrm>
          <a:prstGeom prst="rect">
            <a:avLst/>
          </a:prstGeom>
          <a:noFill/>
        </p:spPr>
        <p:txBody>
          <a:bodyPr wrap="square" lIns="13716" tIns="13716" rIns="13716" bIns="13716" anchor="t">
            <a:spAutoFit/>
          </a:bodyPr>
          <a:lstStyle/>
          <a:p>
            <a:pPr algn="l"/>
            <a:r>
              <a:rPr sz="570" b="1">
                <a:solidFill>
                  <a:srgbClr val="FF6974"/>
                </a:solidFill>
                <a:latin typeface="Aptos"/>
              </a:rPr>
              <a:t>•</a:t>
            </a:r>
          </a:p>
        </p:txBody>
      </p:sp>
      <p:sp>
        <p:nvSpPr>
          <p:cNvPr id="62" name="TextBox 61"/>
          <p:cNvSpPr txBox="1"/>
          <p:nvPr/>
        </p:nvSpPr>
        <p:spPr>
          <a:xfrm>
            <a:off x="6453378" y="2338579"/>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wrong denominator</a:t>
            </a:r>
          </a:p>
        </p:txBody>
      </p:sp>
      <p:sp>
        <p:nvSpPr>
          <p:cNvPr id="63" name="TextBox 62"/>
          <p:cNvSpPr txBox="1"/>
          <p:nvPr/>
        </p:nvSpPr>
        <p:spPr>
          <a:xfrm>
            <a:off x="6329933" y="2571750"/>
            <a:ext cx="82296" cy="115416"/>
          </a:xfrm>
          <a:prstGeom prst="rect">
            <a:avLst/>
          </a:prstGeom>
          <a:noFill/>
        </p:spPr>
        <p:txBody>
          <a:bodyPr wrap="square" lIns="13716" tIns="13716" rIns="13716" bIns="13716" anchor="t">
            <a:spAutoFit/>
          </a:bodyPr>
          <a:lstStyle/>
          <a:p>
            <a:pPr algn="l"/>
            <a:r>
              <a:rPr sz="570" b="1">
                <a:solidFill>
                  <a:srgbClr val="FF6974"/>
                </a:solidFill>
                <a:latin typeface="Aptos"/>
              </a:rPr>
              <a:t>•</a:t>
            </a:r>
          </a:p>
        </p:txBody>
      </p:sp>
      <p:sp>
        <p:nvSpPr>
          <p:cNvPr id="64" name="TextBox 63"/>
          <p:cNvSpPr txBox="1"/>
          <p:nvPr/>
        </p:nvSpPr>
        <p:spPr>
          <a:xfrm>
            <a:off x="6453378" y="2571751"/>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gross vs net confusion</a:t>
            </a:r>
          </a:p>
        </p:txBody>
      </p:sp>
      <p:sp>
        <p:nvSpPr>
          <p:cNvPr id="65" name="TextBox 64"/>
          <p:cNvSpPr txBox="1"/>
          <p:nvPr/>
        </p:nvSpPr>
        <p:spPr>
          <a:xfrm>
            <a:off x="6329933" y="2804922"/>
            <a:ext cx="82296" cy="115416"/>
          </a:xfrm>
          <a:prstGeom prst="rect">
            <a:avLst/>
          </a:prstGeom>
          <a:noFill/>
        </p:spPr>
        <p:txBody>
          <a:bodyPr wrap="square" lIns="13716" tIns="13716" rIns="13716" bIns="13716" anchor="t">
            <a:spAutoFit/>
          </a:bodyPr>
          <a:lstStyle/>
          <a:p>
            <a:pPr algn="l"/>
            <a:r>
              <a:rPr sz="570" b="1">
                <a:solidFill>
                  <a:srgbClr val="FF6974"/>
                </a:solidFill>
                <a:latin typeface="Aptos"/>
              </a:rPr>
              <a:t>•</a:t>
            </a:r>
          </a:p>
        </p:txBody>
      </p:sp>
      <p:sp>
        <p:nvSpPr>
          <p:cNvPr id="66" name="TextBox 65"/>
          <p:cNvSpPr txBox="1"/>
          <p:nvPr/>
        </p:nvSpPr>
        <p:spPr>
          <a:xfrm>
            <a:off x="6453378" y="2804923"/>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nulls and duplicates mishandled</a:t>
            </a:r>
          </a:p>
        </p:txBody>
      </p:sp>
      <p:sp>
        <p:nvSpPr>
          <p:cNvPr id="67" name="Rectangle 66"/>
          <p:cNvSpPr/>
          <p:nvPr/>
        </p:nvSpPr>
        <p:spPr>
          <a:xfrm>
            <a:off x="1748790" y="3278124"/>
            <a:ext cx="2674620" cy="994410"/>
          </a:xfrm>
          <a:prstGeom prst="rect">
            <a:avLst/>
          </a:prstGeom>
          <a:solidFill>
            <a:srgbClr val="181D27"/>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8" name="Rectangle 67"/>
          <p:cNvSpPr/>
          <p:nvPr/>
        </p:nvSpPr>
        <p:spPr>
          <a:xfrm>
            <a:off x="1748790" y="3278124"/>
            <a:ext cx="2674620" cy="34290"/>
          </a:xfrm>
          <a:prstGeom prst="rect">
            <a:avLst/>
          </a:prstGeom>
          <a:solidFill>
            <a:srgbClr val="59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9" name="Oval 68"/>
          <p:cNvSpPr/>
          <p:nvPr/>
        </p:nvSpPr>
        <p:spPr>
          <a:xfrm>
            <a:off x="1872234" y="3429000"/>
            <a:ext cx="301752" cy="301752"/>
          </a:xfrm>
          <a:prstGeom prst="ellipse">
            <a:avLst/>
          </a:prstGeom>
          <a:solidFill>
            <a:srgbClr val="252D3A"/>
          </a:solidFill>
          <a:ln w="12700">
            <a:solidFill>
              <a:srgbClr val="59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0" name="TextBox 69"/>
          <p:cNvSpPr txBox="1"/>
          <p:nvPr/>
        </p:nvSpPr>
        <p:spPr>
          <a:xfrm>
            <a:off x="1872234" y="3511296"/>
            <a:ext cx="301752" cy="120033"/>
          </a:xfrm>
          <a:prstGeom prst="rect">
            <a:avLst/>
          </a:prstGeom>
          <a:noFill/>
        </p:spPr>
        <p:txBody>
          <a:bodyPr wrap="square" lIns="13716" tIns="13716" rIns="13716" bIns="13716" anchor="t">
            <a:spAutoFit/>
          </a:bodyPr>
          <a:lstStyle/>
          <a:p>
            <a:pPr algn="ctr"/>
            <a:r>
              <a:rPr sz="600" b="1">
                <a:solidFill>
                  <a:srgbClr val="599DFF"/>
                </a:solidFill>
                <a:latin typeface="Aptos"/>
              </a:rPr>
              <a:t>N</a:t>
            </a:r>
          </a:p>
        </p:txBody>
      </p:sp>
      <p:sp>
        <p:nvSpPr>
          <p:cNvPr id="71" name="TextBox 70"/>
          <p:cNvSpPr txBox="1"/>
          <p:nvPr/>
        </p:nvSpPr>
        <p:spPr>
          <a:xfrm>
            <a:off x="2215134" y="3477006"/>
            <a:ext cx="2091690" cy="147733"/>
          </a:xfrm>
          <a:prstGeom prst="rect">
            <a:avLst/>
          </a:prstGeom>
          <a:noFill/>
        </p:spPr>
        <p:txBody>
          <a:bodyPr wrap="square" lIns="13716" tIns="13716" rIns="13716" bIns="13716" anchor="t">
            <a:spAutoFit/>
          </a:bodyPr>
          <a:lstStyle/>
          <a:p>
            <a:pPr algn="l"/>
            <a:r>
              <a:rPr sz="780" b="1">
                <a:solidFill>
                  <a:srgbClr val="F1EFE9"/>
                </a:solidFill>
                <a:latin typeface="Aptos"/>
              </a:rPr>
              <a:t>Nested reasoning</a:t>
            </a:r>
          </a:p>
        </p:txBody>
      </p:sp>
      <p:sp>
        <p:nvSpPr>
          <p:cNvPr id="72" name="TextBox 71"/>
          <p:cNvSpPr txBox="1"/>
          <p:nvPr/>
        </p:nvSpPr>
        <p:spPr>
          <a:xfrm>
            <a:off x="1940814" y="3771900"/>
            <a:ext cx="82296" cy="115416"/>
          </a:xfrm>
          <a:prstGeom prst="rect">
            <a:avLst/>
          </a:prstGeom>
          <a:noFill/>
        </p:spPr>
        <p:txBody>
          <a:bodyPr wrap="square" lIns="13716" tIns="13716" rIns="13716" bIns="13716" anchor="t">
            <a:spAutoFit/>
          </a:bodyPr>
          <a:lstStyle/>
          <a:p>
            <a:pPr algn="l"/>
            <a:r>
              <a:rPr sz="570" b="1">
                <a:solidFill>
                  <a:srgbClr val="599DFF"/>
                </a:solidFill>
                <a:latin typeface="Aptos"/>
              </a:rPr>
              <a:t>•</a:t>
            </a:r>
          </a:p>
        </p:txBody>
      </p:sp>
      <p:sp>
        <p:nvSpPr>
          <p:cNvPr id="73" name="TextBox 72"/>
          <p:cNvSpPr txBox="1"/>
          <p:nvPr/>
        </p:nvSpPr>
        <p:spPr>
          <a:xfrm>
            <a:off x="2064258" y="3771901"/>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latest per group</a:t>
            </a:r>
          </a:p>
        </p:txBody>
      </p:sp>
      <p:sp>
        <p:nvSpPr>
          <p:cNvPr id="74" name="TextBox 73"/>
          <p:cNvSpPr txBox="1"/>
          <p:nvPr/>
        </p:nvSpPr>
        <p:spPr>
          <a:xfrm>
            <a:off x="1940814" y="4005072"/>
            <a:ext cx="82296" cy="115416"/>
          </a:xfrm>
          <a:prstGeom prst="rect">
            <a:avLst/>
          </a:prstGeom>
          <a:noFill/>
        </p:spPr>
        <p:txBody>
          <a:bodyPr wrap="square" lIns="13716" tIns="13716" rIns="13716" bIns="13716" anchor="t">
            <a:spAutoFit/>
          </a:bodyPr>
          <a:lstStyle/>
          <a:p>
            <a:pPr algn="l"/>
            <a:r>
              <a:rPr sz="570" b="1">
                <a:solidFill>
                  <a:srgbClr val="599DFF"/>
                </a:solidFill>
                <a:latin typeface="Aptos"/>
              </a:rPr>
              <a:t>•</a:t>
            </a:r>
          </a:p>
        </p:txBody>
      </p:sp>
      <p:sp>
        <p:nvSpPr>
          <p:cNvPr id="75" name="TextBox 74"/>
          <p:cNvSpPr txBox="1"/>
          <p:nvPr/>
        </p:nvSpPr>
        <p:spPr>
          <a:xfrm>
            <a:off x="2064258" y="4005073"/>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above group average</a:t>
            </a:r>
          </a:p>
        </p:txBody>
      </p:sp>
      <p:sp>
        <p:nvSpPr>
          <p:cNvPr id="76" name="TextBox 75"/>
          <p:cNvSpPr txBox="1"/>
          <p:nvPr/>
        </p:nvSpPr>
        <p:spPr>
          <a:xfrm>
            <a:off x="1940814" y="4238244"/>
            <a:ext cx="82296" cy="115416"/>
          </a:xfrm>
          <a:prstGeom prst="rect">
            <a:avLst/>
          </a:prstGeom>
          <a:noFill/>
        </p:spPr>
        <p:txBody>
          <a:bodyPr wrap="square" lIns="13716" tIns="13716" rIns="13716" bIns="13716" anchor="t">
            <a:spAutoFit/>
          </a:bodyPr>
          <a:lstStyle/>
          <a:p>
            <a:pPr algn="l"/>
            <a:r>
              <a:rPr sz="570" b="1">
                <a:solidFill>
                  <a:srgbClr val="599DFF"/>
                </a:solidFill>
                <a:latin typeface="Aptos"/>
              </a:rPr>
              <a:t>•</a:t>
            </a:r>
          </a:p>
        </p:txBody>
      </p:sp>
      <p:sp>
        <p:nvSpPr>
          <p:cNvPr id="77" name="TextBox 76"/>
          <p:cNvSpPr txBox="1"/>
          <p:nvPr/>
        </p:nvSpPr>
        <p:spPr>
          <a:xfrm>
            <a:off x="2064258" y="4238245"/>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exists / not exists</a:t>
            </a:r>
          </a:p>
        </p:txBody>
      </p:sp>
      <p:sp>
        <p:nvSpPr>
          <p:cNvPr id="78" name="TextBox 77"/>
          <p:cNvSpPr txBox="1"/>
          <p:nvPr/>
        </p:nvSpPr>
        <p:spPr>
          <a:xfrm>
            <a:off x="1940814" y="4471416"/>
            <a:ext cx="82296" cy="115416"/>
          </a:xfrm>
          <a:prstGeom prst="rect">
            <a:avLst/>
          </a:prstGeom>
          <a:noFill/>
        </p:spPr>
        <p:txBody>
          <a:bodyPr wrap="square" lIns="13716" tIns="13716" rIns="13716" bIns="13716" anchor="t">
            <a:spAutoFit/>
          </a:bodyPr>
          <a:lstStyle/>
          <a:p>
            <a:pPr algn="l"/>
            <a:r>
              <a:rPr sz="570" b="1">
                <a:solidFill>
                  <a:srgbClr val="599DFF"/>
                </a:solidFill>
                <a:latin typeface="Aptos"/>
              </a:rPr>
              <a:t>•</a:t>
            </a:r>
          </a:p>
        </p:txBody>
      </p:sp>
      <p:sp>
        <p:nvSpPr>
          <p:cNvPr id="79" name="TextBox 78"/>
          <p:cNvSpPr txBox="1"/>
          <p:nvPr/>
        </p:nvSpPr>
        <p:spPr>
          <a:xfrm>
            <a:off x="2064258" y="4471417"/>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set difference or relational division</a:t>
            </a:r>
          </a:p>
        </p:txBody>
      </p:sp>
      <p:sp>
        <p:nvSpPr>
          <p:cNvPr id="80" name="Rectangle 79"/>
          <p:cNvSpPr/>
          <p:nvPr/>
        </p:nvSpPr>
        <p:spPr>
          <a:xfrm>
            <a:off x="4732020" y="3278124"/>
            <a:ext cx="2674620" cy="994410"/>
          </a:xfrm>
          <a:prstGeom prst="rect">
            <a:avLst/>
          </a:prstGeom>
          <a:solidFill>
            <a:srgbClr val="181D27"/>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1" name="Rectangle 80"/>
          <p:cNvSpPr/>
          <p:nvPr/>
        </p:nvSpPr>
        <p:spPr>
          <a:xfrm>
            <a:off x="4732020" y="3278124"/>
            <a:ext cx="2674620" cy="34290"/>
          </a:xfrm>
          <a:prstGeom prst="rect">
            <a:avLst/>
          </a:prstGeom>
          <a:solidFill>
            <a:srgbClr val="2BD3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2" name="Oval 81"/>
          <p:cNvSpPr/>
          <p:nvPr/>
        </p:nvSpPr>
        <p:spPr>
          <a:xfrm>
            <a:off x="4855464" y="3429000"/>
            <a:ext cx="301752" cy="301752"/>
          </a:xfrm>
          <a:prstGeom prst="ellipse">
            <a:avLst/>
          </a:prstGeom>
          <a:solidFill>
            <a:srgbClr val="1F3434"/>
          </a:solidFill>
          <a:ln w="1270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3" name="TextBox 82"/>
          <p:cNvSpPr txBox="1"/>
          <p:nvPr/>
        </p:nvSpPr>
        <p:spPr>
          <a:xfrm>
            <a:off x="4855464" y="3511296"/>
            <a:ext cx="301752" cy="120033"/>
          </a:xfrm>
          <a:prstGeom prst="rect">
            <a:avLst/>
          </a:prstGeom>
          <a:noFill/>
        </p:spPr>
        <p:txBody>
          <a:bodyPr wrap="square" lIns="13716" tIns="13716" rIns="13716" bIns="13716" anchor="t">
            <a:spAutoFit/>
          </a:bodyPr>
          <a:lstStyle/>
          <a:p>
            <a:pPr algn="ctr"/>
            <a:r>
              <a:rPr sz="600" b="1">
                <a:solidFill>
                  <a:srgbClr val="2BD3C0"/>
                </a:solidFill>
                <a:latin typeface="Aptos"/>
              </a:rPr>
              <a:t>T</a:t>
            </a:r>
          </a:p>
        </p:txBody>
      </p:sp>
      <p:sp>
        <p:nvSpPr>
          <p:cNvPr id="84" name="TextBox 83"/>
          <p:cNvSpPr txBox="1"/>
          <p:nvPr/>
        </p:nvSpPr>
        <p:spPr>
          <a:xfrm>
            <a:off x="5198364" y="3477006"/>
            <a:ext cx="2091690" cy="147733"/>
          </a:xfrm>
          <a:prstGeom prst="rect">
            <a:avLst/>
          </a:prstGeom>
          <a:noFill/>
        </p:spPr>
        <p:txBody>
          <a:bodyPr wrap="square" lIns="13716" tIns="13716" rIns="13716" bIns="13716" anchor="t">
            <a:spAutoFit/>
          </a:bodyPr>
          <a:lstStyle/>
          <a:p>
            <a:pPr algn="l"/>
            <a:r>
              <a:rPr sz="780" b="1">
                <a:solidFill>
                  <a:srgbClr val="F1EFE9"/>
                </a:solidFill>
                <a:latin typeface="Aptos"/>
              </a:rPr>
              <a:t>Temporal reasoning</a:t>
            </a:r>
          </a:p>
        </p:txBody>
      </p:sp>
      <p:sp>
        <p:nvSpPr>
          <p:cNvPr id="85" name="TextBox 84"/>
          <p:cNvSpPr txBox="1"/>
          <p:nvPr/>
        </p:nvSpPr>
        <p:spPr>
          <a:xfrm>
            <a:off x="4924044" y="3771900"/>
            <a:ext cx="82296" cy="115416"/>
          </a:xfrm>
          <a:prstGeom prst="rect">
            <a:avLst/>
          </a:prstGeom>
          <a:noFill/>
        </p:spPr>
        <p:txBody>
          <a:bodyPr wrap="square" lIns="13716" tIns="13716" rIns="13716" bIns="13716" anchor="t">
            <a:spAutoFit/>
          </a:bodyPr>
          <a:lstStyle/>
          <a:p>
            <a:pPr algn="l"/>
            <a:r>
              <a:rPr sz="570" b="1">
                <a:solidFill>
                  <a:srgbClr val="2BD3C0"/>
                </a:solidFill>
                <a:latin typeface="Aptos"/>
              </a:rPr>
              <a:t>•</a:t>
            </a:r>
          </a:p>
        </p:txBody>
      </p:sp>
      <p:sp>
        <p:nvSpPr>
          <p:cNvPr id="86" name="TextBox 85"/>
          <p:cNvSpPr txBox="1"/>
          <p:nvPr/>
        </p:nvSpPr>
        <p:spPr>
          <a:xfrm>
            <a:off x="5047488" y="3771901"/>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last 30 days vs last month</a:t>
            </a:r>
          </a:p>
        </p:txBody>
      </p:sp>
      <p:sp>
        <p:nvSpPr>
          <p:cNvPr id="87" name="TextBox 86"/>
          <p:cNvSpPr txBox="1"/>
          <p:nvPr/>
        </p:nvSpPr>
        <p:spPr>
          <a:xfrm>
            <a:off x="4924044" y="4005072"/>
            <a:ext cx="82296" cy="115416"/>
          </a:xfrm>
          <a:prstGeom prst="rect">
            <a:avLst/>
          </a:prstGeom>
          <a:noFill/>
        </p:spPr>
        <p:txBody>
          <a:bodyPr wrap="square" lIns="13716" tIns="13716" rIns="13716" bIns="13716" anchor="t">
            <a:spAutoFit/>
          </a:bodyPr>
          <a:lstStyle/>
          <a:p>
            <a:pPr algn="l"/>
            <a:r>
              <a:rPr sz="570" b="1">
                <a:solidFill>
                  <a:srgbClr val="2BD3C0"/>
                </a:solidFill>
                <a:latin typeface="Aptos"/>
              </a:rPr>
              <a:t>•</a:t>
            </a:r>
          </a:p>
        </p:txBody>
      </p:sp>
      <p:sp>
        <p:nvSpPr>
          <p:cNvPr id="88" name="TextBox 87"/>
          <p:cNvSpPr txBox="1"/>
          <p:nvPr/>
        </p:nvSpPr>
        <p:spPr>
          <a:xfrm>
            <a:off x="5047488" y="4005073"/>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wrong date column</a:t>
            </a:r>
          </a:p>
        </p:txBody>
      </p:sp>
      <p:sp>
        <p:nvSpPr>
          <p:cNvPr id="89" name="TextBox 88"/>
          <p:cNvSpPr txBox="1"/>
          <p:nvPr/>
        </p:nvSpPr>
        <p:spPr>
          <a:xfrm>
            <a:off x="4924044" y="4238244"/>
            <a:ext cx="82296" cy="115416"/>
          </a:xfrm>
          <a:prstGeom prst="rect">
            <a:avLst/>
          </a:prstGeom>
          <a:noFill/>
        </p:spPr>
        <p:txBody>
          <a:bodyPr wrap="square" lIns="13716" tIns="13716" rIns="13716" bIns="13716" anchor="t">
            <a:spAutoFit/>
          </a:bodyPr>
          <a:lstStyle/>
          <a:p>
            <a:pPr algn="l"/>
            <a:r>
              <a:rPr sz="570" b="1">
                <a:solidFill>
                  <a:srgbClr val="2BD3C0"/>
                </a:solidFill>
                <a:latin typeface="Aptos"/>
              </a:rPr>
              <a:t>•</a:t>
            </a:r>
          </a:p>
        </p:txBody>
      </p:sp>
      <p:sp>
        <p:nvSpPr>
          <p:cNvPr id="90" name="TextBox 89"/>
          <p:cNvSpPr txBox="1"/>
          <p:nvPr/>
        </p:nvSpPr>
        <p:spPr>
          <a:xfrm>
            <a:off x="5047488" y="4238245"/>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timezone boundaries</a:t>
            </a:r>
          </a:p>
        </p:txBody>
      </p:sp>
      <p:sp>
        <p:nvSpPr>
          <p:cNvPr id="91" name="TextBox 90"/>
          <p:cNvSpPr txBox="1"/>
          <p:nvPr/>
        </p:nvSpPr>
        <p:spPr>
          <a:xfrm>
            <a:off x="4924044" y="4471416"/>
            <a:ext cx="82296" cy="115416"/>
          </a:xfrm>
          <a:prstGeom prst="rect">
            <a:avLst/>
          </a:prstGeom>
          <a:noFill/>
        </p:spPr>
        <p:txBody>
          <a:bodyPr wrap="square" lIns="13716" tIns="13716" rIns="13716" bIns="13716" anchor="t">
            <a:spAutoFit/>
          </a:bodyPr>
          <a:lstStyle/>
          <a:p>
            <a:pPr algn="l"/>
            <a:r>
              <a:rPr sz="570" b="1">
                <a:solidFill>
                  <a:srgbClr val="2BD3C0"/>
                </a:solidFill>
                <a:latin typeface="Aptos"/>
              </a:rPr>
              <a:t>•</a:t>
            </a:r>
          </a:p>
        </p:txBody>
      </p:sp>
      <p:sp>
        <p:nvSpPr>
          <p:cNvPr id="92" name="TextBox 91"/>
          <p:cNvSpPr txBox="1"/>
          <p:nvPr/>
        </p:nvSpPr>
        <p:spPr>
          <a:xfrm>
            <a:off x="5047488" y="4471417"/>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snapshot vs event table</a:t>
            </a:r>
          </a:p>
        </p:txBody>
      </p:sp>
      <p:sp>
        <p:nvSpPr>
          <p:cNvPr id="93" name="Rectangle 92"/>
          <p:cNvSpPr/>
          <p:nvPr/>
        </p:nvSpPr>
        <p:spPr>
          <a:xfrm>
            <a:off x="342900" y="4855464"/>
            <a:ext cx="8435340" cy="6858"/>
          </a:xfrm>
          <a:prstGeom prst="rect">
            <a:avLst/>
          </a:prstGeom>
          <a:solidFill>
            <a:srgbClr val="252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4" name="TextBox 93"/>
          <p:cNvSpPr txBox="1"/>
          <p:nvPr/>
        </p:nvSpPr>
        <p:spPr>
          <a:xfrm>
            <a:off x="425196" y="4910328"/>
            <a:ext cx="3566160" cy="108491"/>
          </a:xfrm>
          <a:prstGeom prst="rect">
            <a:avLst/>
          </a:prstGeom>
          <a:noFill/>
        </p:spPr>
        <p:txBody>
          <a:bodyPr wrap="square" lIns="13716" tIns="13716" rIns="13716" bIns="13716" anchor="t">
            <a:spAutoFit/>
          </a:bodyPr>
          <a:lstStyle/>
          <a:p>
            <a:pPr algn="l"/>
            <a:r>
              <a:rPr sz="525">
                <a:solidFill>
                  <a:srgbClr val="666C76"/>
                </a:solidFill>
                <a:latin typeface="Aptos"/>
              </a:rPr>
              <a:t>Text-to-SQL problem taxonomy | SpiderDIN project experience</a:t>
            </a:r>
          </a:p>
        </p:txBody>
      </p:sp>
      <p:pic>
        <p:nvPicPr>
          <p:cNvPr id="95" name="Picture 94">
            <a:extLst>
              <a:ext uri="{FF2B5EF4-FFF2-40B4-BE49-F238E27FC236}">
                <a16:creationId xmlns:a16="http://schemas.microsoft.com/office/drawing/2014/main" id="{E4BDF14D-EB43-4AF8-3FC7-6C78F9CAE752}"/>
              </a:ext>
            </a:extLst>
          </p:cNvPr>
          <p:cNvPicPr>
            <a:picLocks noChangeAspect="1"/>
          </p:cNvPicPr>
          <p:nvPr/>
        </p:nvPicPr>
        <p:blipFill>
          <a:blip r:embed="rId2"/>
          <a:srcRect l="-928" t="29746" r="928" b="36645"/>
          <a:stretch>
            <a:fillRect/>
          </a:stretch>
        </p:blipFill>
        <p:spPr>
          <a:xfrm>
            <a:off x="8218575" y="45720"/>
            <a:ext cx="861058" cy="28939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0C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p:cNvSpPr/>
          <p:nvPr/>
        </p:nvSpPr>
        <p:spPr>
          <a:xfrm>
            <a:off x="685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p:cNvSpPr/>
          <p:nvPr/>
        </p:nvSpPr>
        <p:spPr>
          <a:xfrm>
            <a:off x="1371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2057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2743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p:cNvSpPr/>
          <p:nvPr/>
        </p:nvSpPr>
        <p:spPr>
          <a:xfrm>
            <a:off x="3429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114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4800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5486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6172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6858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7543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8229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ectangle 14"/>
          <p:cNvSpPr/>
          <p:nvPr/>
        </p:nvSpPr>
        <p:spPr>
          <a:xfrm>
            <a:off x="8915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1" y="685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ectangle 16"/>
          <p:cNvSpPr/>
          <p:nvPr/>
        </p:nvSpPr>
        <p:spPr>
          <a:xfrm>
            <a:off x="1" y="1371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ectangle 17"/>
          <p:cNvSpPr/>
          <p:nvPr/>
        </p:nvSpPr>
        <p:spPr>
          <a:xfrm>
            <a:off x="1" y="20574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ectangle 18"/>
          <p:cNvSpPr/>
          <p:nvPr/>
        </p:nvSpPr>
        <p:spPr>
          <a:xfrm>
            <a:off x="1" y="27432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ectangle 19"/>
          <p:cNvSpPr/>
          <p:nvPr/>
        </p:nvSpPr>
        <p:spPr>
          <a:xfrm>
            <a:off x="1" y="34290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Rectangle 20"/>
          <p:cNvSpPr/>
          <p:nvPr/>
        </p:nvSpPr>
        <p:spPr>
          <a:xfrm>
            <a:off x="1" y="4114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Rectangle 21"/>
          <p:cNvSpPr/>
          <p:nvPr/>
        </p:nvSpPr>
        <p:spPr>
          <a:xfrm>
            <a:off x="1" y="4800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Rectangle 22"/>
          <p:cNvSpPr/>
          <p:nvPr/>
        </p:nvSpPr>
        <p:spPr>
          <a:xfrm>
            <a:off x="342900" y="260604"/>
            <a:ext cx="1131570" cy="20574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528066" y="315468"/>
            <a:ext cx="788670" cy="99258"/>
          </a:xfrm>
          <a:prstGeom prst="rect">
            <a:avLst/>
          </a:prstGeom>
          <a:noFill/>
        </p:spPr>
        <p:txBody>
          <a:bodyPr wrap="square" lIns="13716" tIns="13716" rIns="13716" bIns="13716" anchor="t">
            <a:spAutoFit/>
          </a:bodyPr>
          <a:lstStyle/>
          <a:p>
            <a:pPr algn="ctr"/>
            <a:r>
              <a:rPr sz="465" b="1">
                <a:solidFill>
                  <a:srgbClr val="0C0F14"/>
                </a:solidFill>
                <a:latin typeface="Aptos"/>
              </a:rPr>
              <a:t>GENUINE PROBLEMS</a:t>
            </a:r>
          </a:p>
        </p:txBody>
      </p:sp>
      <p:sp>
        <p:nvSpPr>
          <p:cNvPr id="25" name="TextBox 24"/>
          <p:cNvSpPr txBox="1"/>
          <p:nvPr/>
        </p:nvSpPr>
        <p:spPr>
          <a:xfrm>
            <a:off x="8572500" y="240030"/>
            <a:ext cx="240030" cy="131574"/>
          </a:xfrm>
          <a:prstGeom prst="rect">
            <a:avLst/>
          </a:prstGeom>
          <a:noFill/>
        </p:spPr>
        <p:txBody>
          <a:bodyPr wrap="square" lIns="13716" tIns="13716" rIns="13716" bIns="13716" anchor="t">
            <a:spAutoFit/>
          </a:bodyPr>
          <a:lstStyle/>
          <a:p>
            <a:pPr algn="r"/>
            <a:r>
              <a:rPr sz="675">
                <a:solidFill>
                  <a:srgbClr val="666C76"/>
                </a:solidFill>
                <a:latin typeface="Aptos"/>
              </a:rPr>
              <a:t>05</a:t>
            </a:r>
          </a:p>
        </p:txBody>
      </p:sp>
      <p:sp>
        <p:nvSpPr>
          <p:cNvPr id="26" name="TextBox 25"/>
          <p:cNvSpPr txBox="1"/>
          <p:nvPr/>
        </p:nvSpPr>
        <p:spPr>
          <a:xfrm>
            <a:off x="425196" y="617221"/>
            <a:ext cx="7680960" cy="588751"/>
          </a:xfrm>
          <a:prstGeom prst="rect">
            <a:avLst/>
          </a:prstGeom>
          <a:noFill/>
        </p:spPr>
        <p:txBody>
          <a:bodyPr wrap="square" lIns="0" tIns="0" rIns="0" bIns="0">
            <a:spAutoFit/>
          </a:bodyPr>
          <a:lstStyle/>
          <a:p>
            <a:pPr algn="l"/>
            <a:r>
              <a:rPr sz="1913" b="1">
                <a:solidFill>
                  <a:srgbClr val="FFBE18"/>
                </a:solidFill>
                <a:latin typeface="Georgia"/>
              </a:rPr>
              <a:t>A3. Dialect and data reality: </a:t>
            </a:r>
            <a:r>
              <a:rPr sz="1913" b="1">
                <a:solidFill>
                  <a:srgbClr val="F1EFE9"/>
                </a:solidFill>
                <a:latin typeface="Georgia"/>
              </a:rPr>
              <a:t>SQL must match the engine and the messiness of data.</a:t>
            </a:r>
          </a:p>
        </p:txBody>
      </p:sp>
      <p:sp>
        <p:nvSpPr>
          <p:cNvPr id="27" name="TextBox 26"/>
          <p:cNvSpPr txBox="1"/>
          <p:nvPr/>
        </p:nvSpPr>
        <p:spPr>
          <a:xfrm>
            <a:off x="438912" y="1179576"/>
            <a:ext cx="6720840" cy="146643"/>
          </a:xfrm>
          <a:prstGeom prst="rect">
            <a:avLst/>
          </a:prstGeom>
          <a:noFill/>
        </p:spPr>
        <p:txBody>
          <a:bodyPr wrap="square" lIns="13716" tIns="13716" rIns="13716" bIns="13716" anchor="t">
            <a:spAutoFit/>
          </a:bodyPr>
          <a:lstStyle/>
          <a:p>
            <a:pPr algn="l"/>
            <a:r>
              <a:rPr sz="773">
                <a:solidFill>
                  <a:srgbClr val="F1EFE9"/>
                </a:solidFill>
                <a:latin typeface="Aptos"/>
              </a:rPr>
              <a:t>Even with correct intent and schema, execution can fail because each database engine and each dataset has its own sharp edges.</a:t>
            </a:r>
          </a:p>
        </p:txBody>
      </p:sp>
      <p:sp>
        <p:nvSpPr>
          <p:cNvPr id="28" name="Rectangle 27"/>
          <p:cNvSpPr/>
          <p:nvPr/>
        </p:nvSpPr>
        <p:spPr>
          <a:xfrm>
            <a:off x="342900" y="1632204"/>
            <a:ext cx="2674620" cy="1220724"/>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9" name="Rectangle 28"/>
          <p:cNvSpPr/>
          <p:nvPr/>
        </p:nvSpPr>
        <p:spPr>
          <a:xfrm>
            <a:off x="342900" y="1632204"/>
            <a:ext cx="2674620" cy="3429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Oval 29"/>
          <p:cNvSpPr/>
          <p:nvPr/>
        </p:nvSpPr>
        <p:spPr>
          <a:xfrm>
            <a:off x="493776" y="1817370"/>
            <a:ext cx="301752" cy="301752"/>
          </a:xfrm>
          <a:prstGeom prst="ellipse">
            <a:avLst/>
          </a:prstGeom>
          <a:solidFill>
            <a:srgbClr val="252D3A"/>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1" name="TextBox 30"/>
          <p:cNvSpPr txBox="1"/>
          <p:nvPr/>
        </p:nvSpPr>
        <p:spPr>
          <a:xfrm>
            <a:off x="493776" y="1899666"/>
            <a:ext cx="301752" cy="120033"/>
          </a:xfrm>
          <a:prstGeom prst="rect">
            <a:avLst/>
          </a:prstGeom>
          <a:noFill/>
        </p:spPr>
        <p:txBody>
          <a:bodyPr wrap="square" lIns="13716" tIns="13716" rIns="13716" bIns="13716" anchor="t">
            <a:spAutoFit/>
          </a:bodyPr>
          <a:lstStyle/>
          <a:p>
            <a:pPr algn="ctr"/>
            <a:r>
              <a:rPr sz="600" b="1">
                <a:solidFill>
                  <a:srgbClr val="F5A012"/>
                </a:solidFill>
                <a:latin typeface="Aptos"/>
              </a:rPr>
              <a:t>D</a:t>
            </a:r>
          </a:p>
        </p:txBody>
      </p:sp>
      <p:sp>
        <p:nvSpPr>
          <p:cNvPr id="32" name="TextBox 31"/>
          <p:cNvSpPr txBox="1"/>
          <p:nvPr/>
        </p:nvSpPr>
        <p:spPr>
          <a:xfrm>
            <a:off x="836676" y="1865376"/>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SQL dialect friction</a:t>
            </a:r>
          </a:p>
        </p:txBody>
      </p:sp>
      <p:sp>
        <p:nvSpPr>
          <p:cNvPr id="33" name="TextBox 32"/>
          <p:cNvSpPr txBox="1"/>
          <p:nvPr/>
        </p:nvSpPr>
        <p:spPr>
          <a:xfrm>
            <a:off x="589788" y="2235709"/>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Identifier quoting, case sensitivity, date functions, casting, regex, windows, limits, reserved words, and FQN rules.</a:t>
            </a:r>
          </a:p>
        </p:txBody>
      </p:sp>
      <p:sp>
        <p:nvSpPr>
          <p:cNvPr id="34" name="Rectangle 33"/>
          <p:cNvSpPr/>
          <p:nvPr/>
        </p:nvSpPr>
        <p:spPr>
          <a:xfrm>
            <a:off x="589788" y="2633472"/>
            <a:ext cx="754380" cy="123444"/>
          </a:xfrm>
          <a:prstGeom prst="rect">
            <a:avLst/>
          </a:prstGeom>
          <a:solidFill>
            <a:srgbClr val="272B3A"/>
          </a:solidFill>
          <a:ln w="508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5" name="TextBox 34"/>
          <p:cNvSpPr txBox="1"/>
          <p:nvPr/>
        </p:nvSpPr>
        <p:spPr>
          <a:xfrm>
            <a:off x="589788" y="2650617"/>
            <a:ext cx="754380" cy="90025"/>
          </a:xfrm>
          <a:prstGeom prst="rect">
            <a:avLst/>
          </a:prstGeom>
          <a:noFill/>
        </p:spPr>
        <p:txBody>
          <a:bodyPr wrap="square" lIns="13716" tIns="13716" rIns="13716" bIns="13716" anchor="t">
            <a:spAutoFit/>
          </a:bodyPr>
          <a:lstStyle/>
          <a:p>
            <a:pPr algn="ctr"/>
            <a:r>
              <a:rPr sz="405" b="1">
                <a:solidFill>
                  <a:srgbClr val="F5A012"/>
                </a:solidFill>
                <a:latin typeface="Aptos"/>
              </a:rPr>
              <a:t>DIALECT</a:t>
            </a:r>
          </a:p>
        </p:txBody>
      </p:sp>
      <p:sp>
        <p:nvSpPr>
          <p:cNvPr id="36" name="Rectangle 35"/>
          <p:cNvSpPr/>
          <p:nvPr/>
        </p:nvSpPr>
        <p:spPr>
          <a:xfrm>
            <a:off x="1467612" y="2633472"/>
            <a:ext cx="754380" cy="123444"/>
          </a:xfrm>
          <a:prstGeom prst="rect">
            <a:avLst/>
          </a:prstGeom>
          <a:solidFill>
            <a:srgbClr val="272B3A"/>
          </a:solidFill>
          <a:ln w="508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7" name="TextBox 36"/>
          <p:cNvSpPr txBox="1"/>
          <p:nvPr/>
        </p:nvSpPr>
        <p:spPr>
          <a:xfrm>
            <a:off x="1467612" y="2650617"/>
            <a:ext cx="754380" cy="90025"/>
          </a:xfrm>
          <a:prstGeom prst="rect">
            <a:avLst/>
          </a:prstGeom>
          <a:noFill/>
        </p:spPr>
        <p:txBody>
          <a:bodyPr wrap="square" lIns="13716" tIns="13716" rIns="13716" bIns="13716" anchor="t">
            <a:spAutoFit/>
          </a:bodyPr>
          <a:lstStyle/>
          <a:p>
            <a:pPr algn="ctr"/>
            <a:r>
              <a:rPr sz="405" b="1">
                <a:solidFill>
                  <a:srgbClr val="F5A012"/>
                </a:solidFill>
                <a:latin typeface="Aptos"/>
              </a:rPr>
              <a:t>SYNTAX</a:t>
            </a:r>
          </a:p>
        </p:txBody>
      </p:sp>
      <p:sp>
        <p:nvSpPr>
          <p:cNvPr id="38" name="Rectangle 37"/>
          <p:cNvSpPr/>
          <p:nvPr/>
        </p:nvSpPr>
        <p:spPr>
          <a:xfrm>
            <a:off x="3236976" y="1632204"/>
            <a:ext cx="2674620" cy="1220724"/>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9" name="Rectangle 38"/>
          <p:cNvSpPr/>
          <p:nvPr/>
        </p:nvSpPr>
        <p:spPr>
          <a:xfrm>
            <a:off x="3236976" y="1632204"/>
            <a:ext cx="2674620" cy="34290"/>
          </a:xfrm>
          <a:prstGeom prst="rect">
            <a:avLst/>
          </a:prstGeom>
          <a:solidFill>
            <a:srgbClr val="A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0" name="Oval 39"/>
          <p:cNvSpPr/>
          <p:nvPr/>
        </p:nvSpPr>
        <p:spPr>
          <a:xfrm>
            <a:off x="3387852" y="1817370"/>
            <a:ext cx="301752" cy="301752"/>
          </a:xfrm>
          <a:prstGeom prst="ellipse">
            <a:avLst/>
          </a:prstGeom>
          <a:solidFill>
            <a:srgbClr val="252D3A"/>
          </a:solidFill>
          <a:ln w="12700">
            <a:solidFill>
              <a:srgbClr val="A47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1" name="TextBox 40"/>
          <p:cNvSpPr txBox="1"/>
          <p:nvPr/>
        </p:nvSpPr>
        <p:spPr>
          <a:xfrm>
            <a:off x="3387852" y="1899666"/>
            <a:ext cx="301752" cy="120033"/>
          </a:xfrm>
          <a:prstGeom prst="rect">
            <a:avLst/>
          </a:prstGeom>
          <a:noFill/>
        </p:spPr>
        <p:txBody>
          <a:bodyPr wrap="square" lIns="13716" tIns="13716" rIns="13716" bIns="13716" anchor="t">
            <a:spAutoFit/>
          </a:bodyPr>
          <a:lstStyle/>
          <a:p>
            <a:pPr algn="ctr"/>
            <a:r>
              <a:rPr sz="600" b="1">
                <a:solidFill>
                  <a:srgbClr val="A47EFF"/>
                </a:solidFill>
                <a:latin typeface="Aptos"/>
              </a:rPr>
              <a:t>S</a:t>
            </a:r>
          </a:p>
        </p:txBody>
      </p:sp>
      <p:sp>
        <p:nvSpPr>
          <p:cNvPr id="42" name="TextBox 41"/>
          <p:cNvSpPr txBox="1"/>
          <p:nvPr/>
        </p:nvSpPr>
        <p:spPr>
          <a:xfrm>
            <a:off x="3730752" y="1865376"/>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Semi-structured data</a:t>
            </a:r>
          </a:p>
        </p:txBody>
      </p:sp>
      <p:sp>
        <p:nvSpPr>
          <p:cNvPr id="43" name="TextBox 42"/>
          <p:cNvSpPr txBox="1"/>
          <p:nvPr/>
        </p:nvSpPr>
        <p:spPr>
          <a:xfrm>
            <a:off x="3483864" y="2235709"/>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JSON paths, arrays, VARIANT fields, missing keys, scalar vs array values, and accidental flatten explosions.</a:t>
            </a:r>
          </a:p>
        </p:txBody>
      </p:sp>
      <p:sp>
        <p:nvSpPr>
          <p:cNvPr id="44" name="Rectangle 43"/>
          <p:cNvSpPr/>
          <p:nvPr/>
        </p:nvSpPr>
        <p:spPr>
          <a:xfrm>
            <a:off x="3483864" y="2633472"/>
            <a:ext cx="754380" cy="123444"/>
          </a:xfrm>
          <a:prstGeom prst="rect">
            <a:avLst/>
          </a:prstGeom>
          <a:solidFill>
            <a:srgbClr val="272B3A"/>
          </a:solidFill>
          <a:ln w="5080">
            <a:solidFill>
              <a:srgbClr val="A47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5" name="TextBox 44"/>
          <p:cNvSpPr txBox="1"/>
          <p:nvPr/>
        </p:nvSpPr>
        <p:spPr>
          <a:xfrm>
            <a:off x="3483864" y="2650617"/>
            <a:ext cx="754380" cy="90025"/>
          </a:xfrm>
          <a:prstGeom prst="rect">
            <a:avLst/>
          </a:prstGeom>
          <a:noFill/>
        </p:spPr>
        <p:txBody>
          <a:bodyPr wrap="square" lIns="13716" tIns="13716" rIns="13716" bIns="13716" anchor="t">
            <a:spAutoFit/>
          </a:bodyPr>
          <a:lstStyle/>
          <a:p>
            <a:pPr algn="ctr"/>
            <a:r>
              <a:rPr sz="405" b="1">
                <a:solidFill>
                  <a:srgbClr val="A47EFF"/>
                </a:solidFill>
                <a:latin typeface="Aptos"/>
              </a:rPr>
              <a:t>JSON</a:t>
            </a:r>
          </a:p>
        </p:txBody>
      </p:sp>
      <p:sp>
        <p:nvSpPr>
          <p:cNvPr id="46" name="Rectangle 45"/>
          <p:cNvSpPr/>
          <p:nvPr/>
        </p:nvSpPr>
        <p:spPr>
          <a:xfrm>
            <a:off x="4361688" y="2633472"/>
            <a:ext cx="754380" cy="123444"/>
          </a:xfrm>
          <a:prstGeom prst="rect">
            <a:avLst/>
          </a:prstGeom>
          <a:solidFill>
            <a:srgbClr val="272B3A"/>
          </a:solidFill>
          <a:ln w="5080">
            <a:solidFill>
              <a:srgbClr val="A47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7" name="TextBox 46"/>
          <p:cNvSpPr txBox="1"/>
          <p:nvPr/>
        </p:nvSpPr>
        <p:spPr>
          <a:xfrm>
            <a:off x="4361688" y="2650617"/>
            <a:ext cx="754380" cy="90025"/>
          </a:xfrm>
          <a:prstGeom prst="rect">
            <a:avLst/>
          </a:prstGeom>
          <a:noFill/>
        </p:spPr>
        <p:txBody>
          <a:bodyPr wrap="square" lIns="13716" tIns="13716" rIns="13716" bIns="13716" anchor="t">
            <a:spAutoFit/>
          </a:bodyPr>
          <a:lstStyle/>
          <a:p>
            <a:pPr algn="ctr"/>
            <a:r>
              <a:rPr sz="405" b="1">
                <a:solidFill>
                  <a:srgbClr val="A47EFF"/>
                </a:solidFill>
                <a:latin typeface="Aptos"/>
              </a:rPr>
              <a:t>VARIANT</a:t>
            </a:r>
          </a:p>
        </p:txBody>
      </p:sp>
      <p:sp>
        <p:nvSpPr>
          <p:cNvPr id="48" name="Rectangle 47"/>
          <p:cNvSpPr/>
          <p:nvPr/>
        </p:nvSpPr>
        <p:spPr>
          <a:xfrm>
            <a:off x="6137909" y="1632204"/>
            <a:ext cx="2674620" cy="1220724"/>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9" name="Rectangle 48"/>
          <p:cNvSpPr/>
          <p:nvPr/>
        </p:nvSpPr>
        <p:spPr>
          <a:xfrm>
            <a:off x="6137909" y="1632204"/>
            <a:ext cx="2674620" cy="34290"/>
          </a:xfrm>
          <a:prstGeom prst="rect">
            <a:avLst/>
          </a:prstGeom>
          <a:solidFill>
            <a:srgbClr val="59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0" name="Oval 49"/>
          <p:cNvSpPr/>
          <p:nvPr/>
        </p:nvSpPr>
        <p:spPr>
          <a:xfrm>
            <a:off x="6288786" y="1817370"/>
            <a:ext cx="301752" cy="301752"/>
          </a:xfrm>
          <a:prstGeom prst="ellipse">
            <a:avLst/>
          </a:prstGeom>
          <a:solidFill>
            <a:srgbClr val="252D3A"/>
          </a:solidFill>
          <a:ln w="12700">
            <a:solidFill>
              <a:srgbClr val="59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1" name="TextBox 50"/>
          <p:cNvSpPr txBox="1"/>
          <p:nvPr/>
        </p:nvSpPr>
        <p:spPr>
          <a:xfrm>
            <a:off x="6288786" y="1899666"/>
            <a:ext cx="301752" cy="120033"/>
          </a:xfrm>
          <a:prstGeom prst="rect">
            <a:avLst/>
          </a:prstGeom>
          <a:noFill/>
        </p:spPr>
        <p:txBody>
          <a:bodyPr wrap="square" lIns="13716" tIns="13716" rIns="13716" bIns="13716" anchor="t">
            <a:spAutoFit/>
          </a:bodyPr>
          <a:lstStyle/>
          <a:p>
            <a:pPr algn="ctr"/>
            <a:r>
              <a:rPr sz="600" b="1">
                <a:solidFill>
                  <a:srgbClr val="599DFF"/>
                </a:solidFill>
                <a:latin typeface="Aptos"/>
              </a:rPr>
              <a:t>Ø</a:t>
            </a:r>
          </a:p>
        </p:txBody>
      </p:sp>
      <p:sp>
        <p:nvSpPr>
          <p:cNvPr id="52" name="TextBox 51"/>
          <p:cNvSpPr txBox="1"/>
          <p:nvPr/>
        </p:nvSpPr>
        <p:spPr>
          <a:xfrm>
            <a:off x="6631686" y="1865376"/>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Null and missing data</a:t>
            </a:r>
          </a:p>
        </p:txBody>
      </p:sp>
      <p:sp>
        <p:nvSpPr>
          <p:cNvPr id="53" name="TextBox 52"/>
          <p:cNvSpPr txBox="1"/>
          <p:nvPr/>
        </p:nvSpPr>
        <p:spPr>
          <a:xfrm>
            <a:off x="6384797" y="2235709"/>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Nulls, empty strings, placeholders, unknown values, missing keys, and incomplete lookup mappings.</a:t>
            </a:r>
          </a:p>
        </p:txBody>
      </p:sp>
      <p:sp>
        <p:nvSpPr>
          <p:cNvPr id="54" name="Rectangle 53"/>
          <p:cNvSpPr/>
          <p:nvPr/>
        </p:nvSpPr>
        <p:spPr>
          <a:xfrm>
            <a:off x="6384797" y="2633472"/>
            <a:ext cx="754380" cy="123444"/>
          </a:xfrm>
          <a:prstGeom prst="rect">
            <a:avLst/>
          </a:prstGeom>
          <a:solidFill>
            <a:srgbClr val="272B3A"/>
          </a:solidFill>
          <a:ln w="5080">
            <a:solidFill>
              <a:srgbClr val="59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5" name="TextBox 54"/>
          <p:cNvSpPr txBox="1"/>
          <p:nvPr/>
        </p:nvSpPr>
        <p:spPr>
          <a:xfrm>
            <a:off x="6384797" y="2650617"/>
            <a:ext cx="754380" cy="90025"/>
          </a:xfrm>
          <a:prstGeom prst="rect">
            <a:avLst/>
          </a:prstGeom>
          <a:noFill/>
        </p:spPr>
        <p:txBody>
          <a:bodyPr wrap="square" lIns="13716" tIns="13716" rIns="13716" bIns="13716" anchor="t">
            <a:spAutoFit/>
          </a:bodyPr>
          <a:lstStyle/>
          <a:p>
            <a:pPr algn="ctr"/>
            <a:r>
              <a:rPr sz="405" b="1">
                <a:solidFill>
                  <a:srgbClr val="599DFF"/>
                </a:solidFill>
                <a:latin typeface="Aptos"/>
              </a:rPr>
              <a:t>NULL</a:t>
            </a:r>
          </a:p>
        </p:txBody>
      </p:sp>
      <p:sp>
        <p:nvSpPr>
          <p:cNvPr id="56" name="Rectangle 55"/>
          <p:cNvSpPr/>
          <p:nvPr/>
        </p:nvSpPr>
        <p:spPr>
          <a:xfrm>
            <a:off x="7262621" y="2633472"/>
            <a:ext cx="754380" cy="123444"/>
          </a:xfrm>
          <a:prstGeom prst="rect">
            <a:avLst/>
          </a:prstGeom>
          <a:solidFill>
            <a:srgbClr val="272B3A"/>
          </a:solidFill>
          <a:ln w="5080">
            <a:solidFill>
              <a:srgbClr val="59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7" name="TextBox 56"/>
          <p:cNvSpPr txBox="1"/>
          <p:nvPr/>
        </p:nvSpPr>
        <p:spPr>
          <a:xfrm>
            <a:off x="7262621" y="2650617"/>
            <a:ext cx="754380" cy="90025"/>
          </a:xfrm>
          <a:prstGeom prst="rect">
            <a:avLst/>
          </a:prstGeom>
          <a:noFill/>
        </p:spPr>
        <p:txBody>
          <a:bodyPr wrap="square" lIns="13716" tIns="13716" rIns="13716" bIns="13716" anchor="t">
            <a:spAutoFit/>
          </a:bodyPr>
          <a:lstStyle/>
          <a:p>
            <a:pPr algn="ctr"/>
            <a:r>
              <a:rPr sz="405" b="1">
                <a:solidFill>
                  <a:srgbClr val="599DFF"/>
                </a:solidFill>
                <a:latin typeface="Aptos"/>
              </a:rPr>
              <a:t>N/A</a:t>
            </a:r>
          </a:p>
        </p:txBody>
      </p:sp>
      <p:sp>
        <p:nvSpPr>
          <p:cNvPr id="58" name="Rectangle 57"/>
          <p:cNvSpPr/>
          <p:nvPr/>
        </p:nvSpPr>
        <p:spPr>
          <a:xfrm>
            <a:off x="1748790" y="3168396"/>
            <a:ext cx="2674620" cy="973836"/>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9" name="Rectangle 58"/>
          <p:cNvSpPr/>
          <p:nvPr/>
        </p:nvSpPr>
        <p:spPr>
          <a:xfrm>
            <a:off x="1748790" y="3168396"/>
            <a:ext cx="2674620" cy="34290"/>
          </a:xfrm>
          <a:prstGeom prst="rect">
            <a:avLst/>
          </a:prstGeom>
          <a:solidFill>
            <a:srgbClr val="FF69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0" name="Oval 59"/>
          <p:cNvSpPr/>
          <p:nvPr/>
        </p:nvSpPr>
        <p:spPr>
          <a:xfrm>
            <a:off x="1899666" y="3353562"/>
            <a:ext cx="301752" cy="301752"/>
          </a:xfrm>
          <a:prstGeom prst="ellipse">
            <a:avLst/>
          </a:prstGeom>
          <a:solidFill>
            <a:srgbClr val="32262A"/>
          </a:solidFill>
          <a:ln w="12700">
            <a:solidFill>
              <a:srgbClr val="FF6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1" name="TextBox 60"/>
          <p:cNvSpPr txBox="1"/>
          <p:nvPr/>
        </p:nvSpPr>
        <p:spPr>
          <a:xfrm>
            <a:off x="1899666" y="3435858"/>
            <a:ext cx="301752" cy="120033"/>
          </a:xfrm>
          <a:prstGeom prst="rect">
            <a:avLst/>
          </a:prstGeom>
          <a:noFill/>
        </p:spPr>
        <p:txBody>
          <a:bodyPr wrap="square" lIns="13716" tIns="13716" rIns="13716" bIns="13716" anchor="t">
            <a:spAutoFit/>
          </a:bodyPr>
          <a:lstStyle/>
          <a:p>
            <a:pPr algn="ctr"/>
            <a:r>
              <a:rPr sz="600" b="1">
                <a:solidFill>
                  <a:srgbClr val="FF6974"/>
                </a:solidFill>
                <a:latin typeface="Aptos"/>
              </a:rPr>
              <a:t>!</a:t>
            </a:r>
          </a:p>
        </p:txBody>
      </p:sp>
      <p:sp>
        <p:nvSpPr>
          <p:cNvPr id="62" name="TextBox 61"/>
          <p:cNvSpPr txBox="1"/>
          <p:nvPr/>
        </p:nvSpPr>
        <p:spPr>
          <a:xfrm>
            <a:off x="2242565" y="3401568"/>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Silent wrong results</a:t>
            </a:r>
          </a:p>
        </p:txBody>
      </p:sp>
      <p:sp>
        <p:nvSpPr>
          <p:cNvPr id="63" name="TextBox 62"/>
          <p:cNvSpPr txBox="1"/>
          <p:nvPr/>
        </p:nvSpPr>
        <p:spPr>
          <a:xfrm>
            <a:off x="1995677" y="3771900"/>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Rows return, numbers look plausible, but the answer is semantically wrong.</a:t>
            </a:r>
          </a:p>
        </p:txBody>
      </p:sp>
      <p:sp>
        <p:nvSpPr>
          <p:cNvPr id="64" name="Rectangle 63"/>
          <p:cNvSpPr/>
          <p:nvPr/>
        </p:nvSpPr>
        <p:spPr>
          <a:xfrm>
            <a:off x="1995677" y="3922776"/>
            <a:ext cx="754380" cy="123444"/>
          </a:xfrm>
          <a:prstGeom prst="rect">
            <a:avLst/>
          </a:prstGeom>
          <a:solidFill>
            <a:srgbClr val="312326"/>
          </a:solidFill>
          <a:ln w="5080">
            <a:solidFill>
              <a:srgbClr val="FF6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5" name="TextBox 64"/>
          <p:cNvSpPr txBox="1"/>
          <p:nvPr/>
        </p:nvSpPr>
        <p:spPr>
          <a:xfrm>
            <a:off x="1995677" y="3939921"/>
            <a:ext cx="754380" cy="90025"/>
          </a:xfrm>
          <a:prstGeom prst="rect">
            <a:avLst/>
          </a:prstGeom>
          <a:noFill/>
        </p:spPr>
        <p:txBody>
          <a:bodyPr wrap="square" lIns="13716" tIns="13716" rIns="13716" bIns="13716" anchor="t">
            <a:spAutoFit/>
          </a:bodyPr>
          <a:lstStyle/>
          <a:p>
            <a:pPr algn="ctr"/>
            <a:r>
              <a:rPr sz="405" b="1">
                <a:solidFill>
                  <a:srgbClr val="FF6974"/>
                </a:solidFill>
                <a:latin typeface="Aptos"/>
              </a:rPr>
              <a:t>PLAUSIBLE ≠ TRUE</a:t>
            </a:r>
          </a:p>
        </p:txBody>
      </p:sp>
      <p:sp>
        <p:nvSpPr>
          <p:cNvPr id="66" name="Rectangle 65"/>
          <p:cNvSpPr/>
          <p:nvPr/>
        </p:nvSpPr>
        <p:spPr>
          <a:xfrm>
            <a:off x="4732020" y="3168396"/>
            <a:ext cx="2674620" cy="973836"/>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7" name="Rectangle 66"/>
          <p:cNvSpPr/>
          <p:nvPr/>
        </p:nvSpPr>
        <p:spPr>
          <a:xfrm>
            <a:off x="4732020" y="3168396"/>
            <a:ext cx="2674620" cy="34290"/>
          </a:xfrm>
          <a:prstGeom prst="rect">
            <a:avLst/>
          </a:prstGeom>
          <a:solidFill>
            <a:srgbClr val="41D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8" name="Oval 67"/>
          <p:cNvSpPr/>
          <p:nvPr/>
        </p:nvSpPr>
        <p:spPr>
          <a:xfrm>
            <a:off x="4882896" y="3353562"/>
            <a:ext cx="301752" cy="301752"/>
          </a:xfrm>
          <a:prstGeom prst="ellipse">
            <a:avLst/>
          </a:prstGeom>
          <a:solidFill>
            <a:srgbClr val="1F3434"/>
          </a:solidFill>
          <a:ln w="1270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9" name="TextBox 68"/>
          <p:cNvSpPr txBox="1"/>
          <p:nvPr/>
        </p:nvSpPr>
        <p:spPr>
          <a:xfrm>
            <a:off x="4882896" y="3435858"/>
            <a:ext cx="301752" cy="120033"/>
          </a:xfrm>
          <a:prstGeom prst="rect">
            <a:avLst/>
          </a:prstGeom>
          <a:noFill/>
        </p:spPr>
        <p:txBody>
          <a:bodyPr wrap="square" lIns="13716" tIns="13716" rIns="13716" bIns="13716" anchor="t">
            <a:spAutoFit/>
          </a:bodyPr>
          <a:lstStyle/>
          <a:p>
            <a:pPr algn="ctr"/>
            <a:r>
              <a:rPr sz="600" b="1">
                <a:solidFill>
                  <a:srgbClr val="41DA8E"/>
                </a:solidFill>
                <a:latin typeface="Aptos"/>
              </a:rPr>
              <a:t>✓</a:t>
            </a:r>
          </a:p>
        </p:txBody>
      </p:sp>
      <p:sp>
        <p:nvSpPr>
          <p:cNvPr id="70" name="TextBox 69"/>
          <p:cNvSpPr txBox="1"/>
          <p:nvPr/>
        </p:nvSpPr>
        <p:spPr>
          <a:xfrm>
            <a:off x="5225796" y="3401568"/>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Verification difficulty</a:t>
            </a:r>
          </a:p>
        </p:txBody>
      </p:sp>
      <p:sp>
        <p:nvSpPr>
          <p:cNvPr id="71" name="TextBox 70"/>
          <p:cNvSpPr txBox="1"/>
          <p:nvPr/>
        </p:nvSpPr>
        <p:spPr>
          <a:xfrm>
            <a:off x="4978908" y="3771901"/>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Correctness may require gold results, tolerances, ordering rules, or human domain interpretation.</a:t>
            </a:r>
          </a:p>
        </p:txBody>
      </p:sp>
      <p:sp>
        <p:nvSpPr>
          <p:cNvPr id="72" name="Rectangle 71"/>
          <p:cNvSpPr/>
          <p:nvPr/>
        </p:nvSpPr>
        <p:spPr>
          <a:xfrm>
            <a:off x="4978908" y="3922776"/>
            <a:ext cx="754380" cy="123444"/>
          </a:xfrm>
          <a:prstGeom prst="rect">
            <a:avLst/>
          </a:prstGeom>
          <a:solidFill>
            <a:srgbClr val="162C30"/>
          </a:solidFill>
          <a:ln w="508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3" name="TextBox 72"/>
          <p:cNvSpPr txBox="1"/>
          <p:nvPr/>
        </p:nvSpPr>
        <p:spPr>
          <a:xfrm>
            <a:off x="4978908" y="3939921"/>
            <a:ext cx="754380" cy="90025"/>
          </a:xfrm>
          <a:prstGeom prst="rect">
            <a:avLst/>
          </a:prstGeom>
          <a:noFill/>
        </p:spPr>
        <p:txBody>
          <a:bodyPr wrap="square" lIns="13716" tIns="13716" rIns="13716" bIns="13716" anchor="t">
            <a:spAutoFit/>
          </a:bodyPr>
          <a:lstStyle/>
          <a:p>
            <a:pPr algn="ctr"/>
            <a:r>
              <a:rPr sz="405" b="1">
                <a:solidFill>
                  <a:srgbClr val="41DA8E"/>
                </a:solidFill>
                <a:latin typeface="Aptos"/>
              </a:rPr>
              <a:t>VALIDATION</a:t>
            </a:r>
          </a:p>
        </p:txBody>
      </p:sp>
      <p:sp>
        <p:nvSpPr>
          <p:cNvPr id="74" name="Rectangle 73"/>
          <p:cNvSpPr/>
          <p:nvPr/>
        </p:nvSpPr>
        <p:spPr>
          <a:xfrm>
            <a:off x="342900" y="4855464"/>
            <a:ext cx="8435340" cy="6858"/>
          </a:xfrm>
          <a:prstGeom prst="rect">
            <a:avLst/>
          </a:prstGeom>
          <a:solidFill>
            <a:srgbClr val="252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5" name="TextBox 74"/>
          <p:cNvSpPr txBox="1"/>
          <p:nvPr/>
        </p:nvSpPr>
        <p:spPr>
          <a:xfrm>
            <a:off x="425196" y="4910328"/>
            <a:ext cx="3566160" cy="108491"/>
          </a:xfrm>
          <a:prstGeom prst="rect">
            <a:avLst/>
          </a:prstGeom>
          <a:noFill/>
        </p:spPr>
        <p:txBody>
          <a:bodyPr wrap="square" lIns="13716" tIns="13716" rIns="13716" bIns="13716" anchor="t">
            <a:spAutoFit/>
          </a:bodyPr>
          <a:lstStyle/>
          <a:p>
            <a:pPr algn="l"/>
            <a:r>
              <a:rPr sz="525">
                <a:solidFill>
                  <a:srgbClr val="666C76"/>
                </a:solidFill>
                <a:latin typeface="Aptos"/>
              </a:rPr>
              <a:t>Text-to-SQL problem taxonomy | SpiderDIN project experience</a:t>
            </a:r>
          </a:p>
        </p:txBody>
      </p:sp>
      <p:pic>
        <p:nvPicPr>
          <p:cNvPr id="76" name="Picture 75">
            <a:extLst>
              <a:ext uri="{FF2B5EF4-FFF2-40B4-BE49-F238E27FC236}">
                <a16:creationId xmlns:a16="http://schemas.microsoft.com/office/drawing/2014/main" id="{08C230C9-6D6A-4545-DFF9-38E1D17F56E0}"/>
              </a:ext>
            </a:extLst>
          </p:cNvPr>
          <p:cNvPicPr>
            <a:picLocks noChangeAspect="1"/>
          </p:cNvPicPr>
          <p:nvPr/>
        </p:nvPicPr>
        <p:blipFill>
          <a:blip r:embed="rId2"/>
          <a:srcRect l="-928" t="29746" r="928" b="36645"/>
          <a:stretch>
            <a:fillRect/>
          </a:stretch>
        </p:blipFill>
        <p:spPr>
          <a:xfrm>
            <a:off x="8218575" y="45720"/>
            <a:ext cx="861058" cy="28939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0C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p:cNvSpPr/>
          <p:nvPr/>
        </p:nvSpPr>
        <p:spPr>
          <a:xfrm>
            <a:off x="685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p:cNvSpPr/>
          <p:nvPr/>
        </p:nvSpPr>
        <p:spPr>
          <a:xfrm>
            <a:off x="1371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2057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2743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p:cNvSpPr/>
          <p:nvPr/>
        </p:nvSpPr>
        <p:spPr>
          <a:xfrm>
            <a:off x="3429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114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4800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5486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6172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6858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7543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8229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ectangle 14"/>
          <p:cNvSpPr/>
          <p:nvPr/>
        </p:nvSpPr>
        <p:spPr>
          <a:xfrm>
            <a:off x="8915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1" y="685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ectangle 16"/>
          <p:cNvSpPr/>
          <p:nvPr/>
        </p:nvSpPr>
        <p:spPr>
          <a:xfrm>
            <a:off x="1" y="1371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ectangle 17"/>
          <p:cNvSpPr/>
          <p:nvPr/>
        </p:nvSpPr>
        <p:spPr>
          <a:xfrm>
            <a:off x="1" y="20574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ectangle 18"/>
          <p:cNvSpPr/>
          <p:nvPr/>
        </p:nvSpPr>
        <p:spPr>
          <a:xfrm>
            <a:off x="1" y="27432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ectangle 19"/>
          <p:cNvSpPr/>
          <p:nvPr/>
        </p:nvSpPr>
        <p:spPr>
          <a:xfrm>
            <a:off x="1" y="34290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Rectangle 20"/>
          <p:cNvSpPr/>
          <p:nvPr/>
        </p:nvSpPr>
        <p:spPr>
          <a:xfrm>
            <a:off x="1" y="4114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Rectangle 21"/>
          <p:cNvSpPr/>
          <p:nvPr/>
        </p:nvSpPr>
        <p:spPr>
          <a:xfrm>
            <a:off x="1" y="4800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Rectangle 22"/>
          <p:cNvSpPr/>
          <p:nvPr/>
        </p:nvSpPr>
        <p:spPr>
          <a:xfrm>
            <a:off x="342900" y="260604"/>
            <a:ext cx="1131570" cy="20574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528066" y="315468"/>
            <a:ext cx="788670" cy="99258"/>
          </a:xfrm>
          <a:prstGeom prst="rect">
            <a:avLst/>
          </a:prstGeom>
          <a:noFill/>
        </p:spPr>
        <p:txBody>
          <a:bodyPr wrap="square" lIns="13716" tIns="13716" rIns="13716" bIns="13716" anchor="t">
            <a:spAutoFit/>
          </a:bodyPr>
          <a:lstStyle/>
          <a:p>
            <a:pPr algn="ctr"/>
            <a:r>
              <a:rPr sz="465" b="1">
                <a:solidFill>
                  <a:srgbClr val="0C0F14"/>
                </a:solidFill>
                <a:latin typeface="Aptos"/>
              </a:rPr>
              <a:t>ARCHITECTURE PROBLEMS</a:t>
            </a:r>
          </a:p>
        </p:txBody>
      </p:sp>
      <p:sp>
        <p:nvSpPr>
          <p:cNvPr id="25" name="TextBox 24"/>
          <p:cNvSpPr txBox="1"/>
          <p:nvPr/>
        </p:nvSpPr>
        <p:spPr>
          <a:xfrm>
            <a:off x="8572500" y="240030"/>
            <a:ext cx="240030" cy="131574"/>
          </a:xfrm>
          <a:prstGeom prst="rect">
            <a:avLst/>
          </a:prstGeom>
          <a:noFill/>
        </p:spPr>
        <p:txBody>
          <a:bodyPr wrap="square" lIns="13716" tIns="13716" rIns="13716" bIns="13716" anchor="t">
            <a:spAutoFit/>
          </a:bodyPr>
          <a:lstStyle/>
          <a:p>
            <a:pPr algn="r"/>
            <a:r>
              <a:rPr sz="675">
                <a:solidFill>
                  <a:srgbClr val="666C76"/>
                </a:solidFill>
                <a:latin typeface="Aptos"/>
              </a:rPr>
              <a:t>06</a:t>
            </a:r>
          </a:p>
        </p:txBody>
      </p:sp>
      <p:sp>
        <p:nvSpPr>
          <p:cNvPr id="26" name="TextBox 25"/>
          <p:cNvSpPr txBox="1"/>
          <p:nvPr/>
        </p:nvSpPr>
        <p:spPr>
          <a:xfrm>
            <a:off x="425196" y="617220"/>
            <a:ext cx="7680960" cy="588751"/>
          </a:xfrm>
          <a:prstGeom prst="rect">
            <a:avLst/>
          </a:prstGeom>
          <a:noFill/>
        </p:spPr>
        <p:txBody>
          <a:bodyPr wrap="square" lIns="0" tIns="0" rIns="0" bIns="0">
            <a:spAutoFit/>
          </a:bodyPr>
          <a:lstStyle/>
          <a:p>
            <a:pPr algn="l"/>
            <a:r>
              <a:rPr sz="1913" b="1">
                <a:solidFill>
                  <a:srgbClr val="FFBE18"/>
                </a:solidFill>
                <a:latin typeface="Georgia"/>
              </a:rPr>
              <a:t>B1. Context and retrieval: </a:t>
            </a:r>
            <a:r>
              <a:rPr sz="1913" b="1">
                <a:solidFill>
                  <a:srgbClr val="F1EFE9"/>
                </a:solidFill>
                <a:latin typeface="Georgia"/>
              </a:rPr>
              <a:t>the model only reasons over what the pipeline gives it.</a:t>
            </a:r>
          </a:p>
        </p:txBody>
      </p:sp>
      <p:sp>
        <p:nvSpPr>
          <p:cNvPr id="27" name="TextBox 26"/>
          <p:cNvSpPr txBox="1"/>
          <p:nvPr/>
        </p:nvSpPr>
        <p:spPr>
          <a:xfrm>
            <a:off x="438912" y="1179576"/>
            <a:ext cx="6583680" cy="146643"/>
          </a:xfrm>
          <a:prstGeom prst="rect">
            <a:avLst/>
          </a:prstGeom>
          <a:noFill/>
        </p:spPr>
        <p:txBody>
          <a:bodyPr wrap="square" lIns="13716" tIns="13716" rIns="13716" bIns="13716" anchor="t">
            <a:spAutoFit/>
          </a:bodyPr>
          <a:lstStyle/>
          <a:p>
            <a:pPr algn="l"/>
            <a:r>
              <a:rPr sz="773">
                <a:solidFill>
                  <a:srgbClr val="F1EFE9"/>
                </a:solidFill>
                <a:latin typeface="Aptos"/>
              </a:rPr>
              <a:t>Architecture begins by deciding what evidence enters the prompt. This is powerful, but every selection can become a failure.</a:t>
            </a:r>
          </a:p>
        </p:txBody>
      </p:sp>
      <p:sp>
        <p:nvSpPr>
          <p:cNvPr id="28" name="Rectangle 27"/>
          <p:cNvSpPr/>
          <p:nvPr/>
        </p:nvSpPr>
        <p:spPr>
          <a:xfrm>
            <a:off x="342900" y="1611630"/>
            <a:ext cx="2674620" cy="1371600"/>
          </a:xfrm>
          <a:prstGeom prst="rect">
            <a:avLst/>
          </a:prstGeom>
          <a:solidFill>
            <a:srgbClr val="181D27"/>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9" name="Rectangle 28"/>
          <p:cNvSpPr/>
          <p:nvPr/>
        </p:nvSpPr>
        <p:spPr>
          <a:xfrm>
            <a:off x="342900" y="1611630"/>
            <a:ext cx="2674620" cy="34290"/>
          </a:xfrm>
          <a:prstGeom prst="rect">
            <a:avLst/>
          </a:prstGeom>
          <a:solidFill>
            <a:srgbClr val="41D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Oval 29"/>
          <p:cNvSpPr/>
          <p:nvPr/>
        </p:nvSpPr>
        <p:spPr>
          <a:xfrm>
            <a:off x="466344" y="1762506"/>
            <a:ext cx="301752" cy="301752"/>
          </a:xfrm>
          <a:prstGeom prst="ellipse">
            <a:avLst/>
          </a:prstGeom>
          <a:solidFill>
            <a:srgbClr val="1F3434"/>
          </a:solidFill>
          <a:ln w="1270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1" name="TextBox 30"/>
          <p:cNvSpPr txBox="1"/>
          <p:nvPr/>
        </p:nvSpPr>
        <p:spPr>
          <a:xfrm>
            <a:off x="466344" y="1844802"/>
            <a:ext cx="301752" cy="120033"/>
          </a:xfrm>
          <a:prstGeom prst="rect">
            <a:avLst/>
          </a:prstGeom>
          <a:noFill/>
        </p:spPr>
        <p:txBody>
          <a:bodyPr wrap="square" lIns="13716" tIns="13716" rIns="13716" bIns="13716" anchor="t">
            <a:spAutoFit/>
          </a:bodyPr>
          <a:lstStyle/>
          <a:p>
            <a:pPr algn="ctr"/>
            <a:r>
              <a:rPr sz="600" b="1">
                <a:solidFill>
                  <a:srgbClr val="41DA8E"/>
                </a:solidFill>
                <a:latin typeface="Aptos"/>
              </a:rPr>
              <a:t>C</a:t>
            </a:r>
          </a:p>
        </p:txBody>
      </p:sp>
      <p:sp>
        <p:nvSpPr>
          <p:cNvPr id="32" name="TextBox 31"/>
          <p:cNvSpPr txBox="1"/>
          <p:nvPr/>
        </p:nvSpPr>
        <p:spPr>
          <a:xfrm>
            <a:off x="809244" y="1810512"/>
            <a:ext cx="2091690" cy="147733"/>
          </a:xfrm>
          <a:prstGeom prst="rect">
            <a:avLst/>
          </a:prstGeom>
          <a:noFill/>
        </p:spPr>
        <p:txBody>
          <a:bodyPr wrap="square" lIns="13716" tIns="13716" rIns="13716" bIns="13716" anchor="t">
            <a:spAutoFit/>
          </a:bodyPr>
          <a:lstStyle/>
          <a:p>
            <a:pPr algn="l"/>
            <a:r>
              <a:rPr sz="780" b="1">
                <a:solidFill>
                  <a:srgbClr val="F1EFE9"/>
                </a:solidFill>
                <a:latin typeface="Aptos"/>
              </a:rPr>
              <a:t>Context construction</a:t>
            </a:r>
          </a:p>
        </p:txBody>
      </p:sp>
      <p:sp>
        <p:nvSpPr>
          <p:cNvPr id="33" name="TextBox 32"/>
          <p:cNvSpPr txBox="1"/>
          <p:nvPr/>
        </p:nvSpPr>
        <p:spPr>
          <a:xfrm>
            <a:off x="534924" y="2105406"/>
            <a:ext cx="82296" cy="115416"/>
          </a:xfrm>
          <a:prstGeom prst="rect">
            <a:avLst/>
          </a:prstGeom>
          <a:noFill/>
        </p:spPr>
        <p:txBody>
          <a:bodyPr wrap="square" lIns="13716" tIns="13716" rIns="13716" bIns="13716" anchor="t">
            <a:spAutoFit/>
          </a:bodyPr>
          <a:lstStyle/>
          <a:p>
            <a:pPr algn="l"/>
            <a:r>
              <a:rPr sz="570" b="1">
                <a:solidFill>
                  <a:srgbClr val="41DA8E"/>
                </a:solidFill>
                <a:latin typeface="Aptos"/>
              </a:rPr>
              <a:t>•</a:t>
            </a:r>
          </a:p>
        </p:txBody>
      </p:sp>
      <p:sp>
        <p:nvSpPr>
          <p:cNvPr id="34" name="TextBox 33"/>
          <p:cNvSpPr txBox="1"/>
          <p:nvPr/>
        </p:nvSpPr>
        <p:spPr>
          <a:xfrm>
            <a:off x="658368" y="2105407"/>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full schema too large</a:t>
            </a:r>
          </a:p>
        </p:txBody>
      </p:sp>
      <p:sp>
        <p:nvSpPr>
          <p:cNvPr id="35" name="TextBox 34"/>
          <p:cNvSpPr txBox="1"/>
          <p:nvPr/>
        </p:nvSpPr>
        <p:spPr>
          <a:xfrm>
            <a:off x="534924" y="2338578"/>
            <a:ext cx="82296" cy="115416"/>
          </a:xfrm>
          <a:prstGeom prst="rect">
            <a:avLst/>
          </a:prstGeom>
          <a:noFill/>
        </p:spPr>
        <p:txBody>
          <a:bodyPr wrap="square" lIns="13716" tIns="13716" rIns="13716" bIns="13716" anchor="t">
            <a:spAutoFit/>
          </a:bodyPr>
          <a:lstStyle/>
          <a:p>
            <a:pPr algn="l"/>
            <a:r>
              <a:rPr sz="570" b="1">
                <a:solidFill>
                  <a:srgbClr val="41DA8E"/>
                </a:solidFill>
                <a:latin typeface="Aptos"/>
              </a:rPr>
              <a:t>•</a:t>
            </a:r>
          </a:p>
        </p:txBody>
      </p:sp>
      <p:sp>
        <p:nvSpPr>
          <p:cNvPr id="36" name="TextBox 35"/>
          <p:cNvSpPr txBox="1"/>
          <p:nvPr/>
        </p:nvSpPr>
        <p:spPr>
          <a:xfrm>
            <a:off x="658368" y="2338579"/>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compression removes key detail</a:t>
            </a:r>
          </a:p>
        </p:txBody>
      </p:sp>
      <p:sp>
        <p:nvSpPr>
          <p:cNvPr id="37" name="TextBox 36"/>
          <p:cNvSpPr txBox="1"/>
          <p:nvPr/>
        </p:nvSpPr>
        <p:spPr>
          <a:xfrm>
            <a:off x="534924" y="2571750"/>
            <a:ext cx="82296" cy="115416"/>
          </a:xfrm>
          <a:prstGeom prst="rect">
            <a:avLst/>
          </a:prstGeom>
          <a:noFill/>
        </p:spPr>
        <p:txBody>
          <a:bodyPr wrap="square" lIns="13716" tIns="13716" rIns="13716" bIns="13716" anchor="t">
            <a:spAutoFit/>
          </a:bodyPr>
          <a:lstStyle/>
          <a:p>
            <a:pPr algn="l"/>
            <a:r>
              <a:rPr sz="570" b="1">
                <a:solidFill>
                  <a:srgbClr val="41DA8E"/>
                </a:solidFill>
                <a:latin typeface="Aptos"/>
              </a:rPr>
              <a:t>•</a:t>
            </a:r>
          </a:p>
        </p:txBody>
      </p:sp>
      <p:sp>
        <p:nvSpPr>
          <p:cNvPr id="38" name="TextBox 37"/>
          <p:cNvSpPr txBox="1"/>
          <p:nvPr/>
        </p:nvSpPr>
        <p:spPr>
          <a:xfrm>
            <a:off x="658368" y="2571751"/>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sample values too sparse or noisy</a:t>
            </a:r>
          </a:p>
        </p:txBody>
      </p:sp>
      <p:sp>
        <p:nvSpPr>
          <p:cNvPr id="39" name="TextBox 38"/>
          <p:cNvSpPr txBox="1"/>
          <p:nvPr/>
        </p:nvSpPr>
        <p:spPr>
          <a:xfrm>
            <a:off x="534924" y="2804922"/>
            <a:ext cx="82296" cy="115416"/>
          </a:xfrm>
          <a:prstGeom prst="rect">
            <a:avLst/>
          </a:prstGeom>
          <a:noFill/>
        </p:spPr>
        <p:txBody>
          <a:bodyPr wrap="square" lIns="13716" tIns="13716" rIns="13716" bIns="13716" anchor="t">
            <a:spAutoFit/>
          </a:bodyPr>
          <a:lstStyle/>
          <a:p>
            <a:pPr algn="l"/>
            <a:r>
              <a:rPr sz="570" b="1">
                <a:solidFill>
                  <a:srgbClr val="41DA8E"/>
                </a:solidFill>
                <a:latin typeface="Aptos"/>
              </a:rPr>
              <a:t>•</a:t>
            </a:r>
          </a:p>
        </p:txBody>
      </p:sp>
      <p:sp>
        <p:nvSpPr>
          <p:cNvPr id="40" name="TextBox 39"/>
          <p:cNvSpPr txBox="1"/>
          <p:nvPr/>
        </p:nvSpPr>
        <p:spPr>
          <a:xfrm>
            <a:off x="658368" y="2804923"/>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metadata quality varies</a:t>
            </a:r>
          </a:p>
        </p:txBody>
      </p:sp>
      <p:sp>
        <p:nvSpPr>
          <p:cNvPr id="41" name="Rectangle 40"/>
          <p:cNvSpPr/>
          <p:nvPr/>
        </p:nvSpPr>
        <p:spPr>
          <a:xfrm>
            <a:off x="3236976" y="1611630"/>
            <a:ext cx="2674620" cy="1371600"/>
          </a:xfrm>
          <a:prstGeom prst="rect">
            <a:avLst/>
          </a:prstGeom>
          <a:solidFill>
            <a:srgbClr val="181D27"/>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2" name="Rectangle 41"/>
          <p:cNvSpPr/>
          <p:nvPr/>
        </p:nvSpPr>
        <p:spPr>
          <a:xfrm>
            <a:off x="3236976" y="1611630"/>
            <a:ext cx="2674620" cy="3429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3" name="Oval 42"/>
          <p:cNvSpPr/>
          <p:nvPr/>
        </p:nvSpPr>
        <p:spPr>
          <a:xfrm>
            <a:off x="3360419" y="1762506"/>
            <a:ext cx="301752" cy="301752"/>
          </a:xfrm>
          <a:prstGeom prst="ellipse">
            <a:avLst/>
          </a:prstGeom>
          <a:solidFill>
            <a:srgbClr val="252D3A"/>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4" name="TextBox 43"/>
          <p:cNvSpPr txBox="1"/>
          <p:nvPr/>
        </p:nvSpPr>
        <p:spPr>
          <a:xfrm>
            <a:off x="3360419" y="1844802"/>
            <a:ext cx="301752" cy="120033"/>
          </a:xfrm>
          <a:prstGeom prst="rect">
            <a:avLst/>
          </a:prstGeom>
          <a:noFill/>
        </p:spPr>
        <p:txBody>
          <a:bodyPr wrap="square" lIns="13716" tIns="13716" rIns="13716" bIns="13716" anchor="t">
            <a:spAutoFit/>
          </a:bodyPr>
          <a:lstStyle/>
          <a:p>
            <a:pPr algn="ctr"/>
            <a:r>
              <a:rPr sz="600" b="1">
                <a:solidFill>
                  <a:srgbClr val="F5A012"/>
                </a:solidFill>
                <a:latin typeface="Aptos"/>
              </a:rPr>
              <a:t>R</a:t>
            </a:r>
          </a:p>
        </p:txBody>
      </p:sp>
      <p:sp>
        <p:nvSpPr>
          <p:cNvPr id="45" name="TextBox 44"/>
          <p:cNvSpPr txBox="1"/>
          <p:nvPr/>
        </p:nvSpPr>
        <p:spPr>
          <a:xfrm>
            <a:off x="3703319" y="1810512"/>
            <a:ext cx="2091690" cy="147733"/>
          </a:xfrm>
          <a:prstGeom prst="rect">
            <a:avLst/>
          </a:prstGeom>
          <a:noFill/>
        </p:spPr>
        <p:txBody>
          <a:bodyPr wrap="square" lIns="13716" tIns="13716" rIns="13716" bIns="13716" anchor="t">
            <a:spAutoFit/>
          </a:bodyPr>
          <a:lstStyle/>
          <a:p>
            <a:pPr algn="l"/>
            <a:r>
              <a:rPr sz="780" b="1">
                <a:solidFill>
                  <a:srgbClr val="F1EFE9"/>
                </a:solidFill>
                <a:latin typeface="Aptos"/>
              </a:rPr>
              <a:t>Retrieval and pruning</a:t>
            </a:r>
          </a:p>
        </p:txBody>
      </p:sp>
      <p:sp>
        <p:nvSpPr>
          <p:cNvPr id="46" name="TextBox 45"/>
          <p:cNvSpPr txBox="1"/>
          <p:nvPr/>
        </p:nvSpPr>
        <p:spPr>
          <a:xfrm>
            <a:off x="3429000" y="2105406"/>
            <a:ext cx="82296" cy="115416"/>
          </a:xfrm>
          <a:prstGeom prst="rect">
            <a:avLst/>
          </a:prstGeom>
          <a:noFill/>
        </p:spPr>
        <p:txBody>
          <a:bodyPr wrap="square" lIns="13716" tIns="13716" rIns="13716" bIns="13716" anchor="t">
            <a:spAutoFit/>
          </a:bodyPr>
          <a:lstStyle/>
          <a:p>
            <a:pPr algn="l"/>
            <a:r>
              <a:rPr sz="570" b="1">
                <a:solidFill>
                  <a:srgbClr val="F5A012"/>
                </a:solidFill>
                <a:latin typeface="Aptos"/>
              </a:rPr>
              <a:t>•</a:t>
            </a:r>
          </a:p>
        </p:txBody>
      </p:sp>
      <p:sp>
        <p:nvSpPr>
          <p:cNvPr id="47" name="TextBox 46"/>
          <p:cNvSpPr txBox="1"/>
          <p:nvPr/>
        </p:nvSpPr>
        <p:spPr>
          <a:xfrm>
            <a:off x="3552444" y="2105407"/>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relevant table not retrieved</a:t>
            </a:r>
          </a:p>
        </p:txBody>
      </p:sp>
      <p:sp>
        <p:nvSpPr>
          <p:cNvPr id="48" name="TextBox 47"/>
          <p:cNvSpPr txBox="1"/>
          <p:nvPr/>
        </p:nvSpPr>
        <p:spPr>
          <a:xfrm>
            <a:off x="3429000" y="2338578"/>
            <a:ext cx="82296" cy="115416"/>
          </a:xfrm>
          <a:prstGeom prst="rect">
            <a:avLst/>
          </a:prstGeom>
          <a:noFill/>
        </p:spPr>
        <p:txBody>
          <a:bodyPr wrap="square" lIns="13716" tIns="13716" rIns="13716" bIns="13716" anchor="t">
            <a:spAutoFit/>
          </a:bodyPr>
          <a:lstStyle/>
          <a:p>
            <a:pPr algn="l"/>
            <a:r>
              <a:rPr sz="570" b="1">
                <a:solidFill>
                  <a:srgbClr val="F5A012"/>
                </a:solidFill>
                <a:latin typeface="Aptos"/>
              </a:rPr>
              <a:t>•</a:t>
            </a:r>
          </a:p>
        </p:txBody>
      </p:sp>
      <p:sp>
        <p:nvSpPr>
          <p:cNvPr id="49" name="TextBox 48"/>
          <p:cNvSpPr txBox="1"/>
          <p:nvPr/>
        </p:nvSpPr>
        <p:spPr>
          <a:xfrm>
            <a:off x="3552444" y="2338579"/>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join key pruned away</a:t>
            </a:r>
          </a:p>
        </p:txBody>
      </p:sp>
      <p:sp>
        <p:nvSpPr>
          <p:cNvPr id="50" name="TextBox 49"/>
          <p:cNvSpPr txBox="1"/>
          <p:nvPr/>
        </p:nvSpPr>
        <p:spPr>
          <a:xfrm>
            <a:off x="3429000" y="2571750"/>
            <a:ext cx="82296" cy="115416"/>
          </a:xfrm>
          <a:prstGeom prst="rect">
            <a:avLst/>
          </a:prstGeom>
          <a:noFill/>
        </p:spPr>
        <p:txBody>
          <a:bodyPr wrap="square" lIns="13716" tIns="13716" rIns="13716" bIns="13716" anchor="t">
            <a:spAutoFit/>
          </a:bodyPr>
          <a:lstStyle/>
          <a:p>
            <a:pPr algn="l"/>
            <a:r>
              <a:rPr sz="570" b="1">
                <a:solidFill>
                  <a:srgbClr val="F5A012"/>
                </a:solidFill>
                <a:latin typeface="Aptos"/>
              </a:rPr>
              <a:t>•</a:t>
            </a:r>
          </a:p>
        </p:txBody>
      </p:sp>
      <p:sp>
        <p:nvSpPr>
          <p:cNvPr id="51" name="TextBox 50"/>
          <p:cNvSpPr txBox="1"/>
          <p:nvPr/>
        </p:nvSpPr>
        <p:spPr>
          <a:xfrm>
            <a:off x="3552444" y="2571751"/>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bridge table missed</a:t>
            </a:r>
          </a:p>
        </p:txBody>
      </p:sp>
      <p:sp>
        <p:nvSpPr>
          <p:cNvPr id="52" name="TextBox 51"/>
          <p:cNvSpPr txBox="1"/>
          <p:nvPr/>
        </p:nvSpPr>
        <p:spPr>
          <a:xfrm>
            <a:off x="3429000" y="2804922"/>
            <a:ext cx="82296" cy="115416"/>
          </a:xfrm>
          <a:prstGeom prst="rect">
            <a:avLst/>
          </a:prstGeom>
          <a:noFill/>
        </p:spPr>
        <p:txBody>
          <a:bodyPr wrap="square" lIns="13716" tIns="13716" rIns="13716" bIns="13716" anchor="t">
            <a:spAutoFit/>
          </a:bodyPr>
          <a:lstStyle/>
          <a:p>
            <a:pPr algn="l"/>
            <a:r>
              <a:rPr sz="570" b="1">
                <a:solidFill>
                  <a:srgbClr val="F5A012"/>
                </a:solidFill>
                <a:latin typeface="Aptos"/>
              </a:rPr>
              <a:t>•</a:t>
            </a:r>
          </a:p>
        </p:txBody>
      </p:sp>
      <p:sp>
        <p:nvSpPr>
          <p:cNvPr id="53" name="TextBox 52"/>
          <p:cNvSpPr txBox="1"/>
          <p:nvPr/>
        </p:nvSpPr>
        <p:spPr>
          <a:xfrm>
            <a:off x="3552444" y="2804923"/>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thresholds hard to tune</a:t>
            </a:r>
          </a:p>
        </p:txBody>
      </p:sp>
      <p:sp>
        <p:nvSpPr>
          <p:cNvPr id="54" name="Rectangle 53"/>
          <p:cNvSpPr/>
          <p:nvPr/>
        </p:nvSpPr>
        <p:spPr>
          <a:xfrm>
            <a:off x="6137909" y="1611630"/>
            <a:ext cx="2674620" cy="1371600"/>
          </a:xfrm>
          <a:prstGeom prst="rect">
            <a:avLst/>
          </a:prstGeom>
          <a:solidFill>
            <a:srgbClr val="181D27"/>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5" name="Rectangle 54"/>
          <p:cNvSpPr/>
          <p:nvPr/>
        </p:nvSpPr>
        <p:spPr>
          <a:xfrm>
            <a:off x="6137909" y="1611630"/>
            <a:ext cx="2674620" cy="34290"/>
          </a:xfrm>
          <a:prstGeom prst="rect">
            <a:avLst/>
          </a:prstGeom>
          <a:solidFill>
            <a:srgbClr val="FF69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6" name="Oval 55"/>
          <p:cNvSpPr/>
          <p:nvPr/>
        </p:nvSpPr>
        <p:spPr>
          <a:xfrm>
            <a:off x="6261353" y="1762506"/>
            <a:ext cx="301752" cy="301752"/>
          </a:xfrm>
          <a:prstGeom prst="ellipse">
            <a:avLst/>
          </a:prstGeom>
          <a:solidFill>
            <a:srgbClr val="32262A"/>
          </a:solidFill>
          <a:ln w="12700">
            <a:solidFill>
              <a:srgbClr val="FF6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7" name="TextBox 56"/>
          <p:cNvSpPr txBox="1"/>
          <p:nvPr/>
        </p:nvSpPr>
        <p:spPr>
          <a:xfrm>
            <a:off x="6261353" y="1844802"/>
            <a:ext cx="301752" cy="120033"/>
          </a:xfrm>
          <a:prstGeom prst="rect">
            <a:avLst/>
          </a:prstGeom>
          <a:noFill/>
        </p:spPr>
        <p:txBody>
          <a:bodyPr wrap="square" lIns="13716" tIns="13716" rIns="13716" bIns="13716" anchor="t">
            <a:spAutoFit/>
          </a:bodyPr>
          <a:lstStyle/>
          <a:p>
            <a:pPr algn="ctr"/>
            <a:r>
              <a:rPr sz="600" b="1">
                <a:solidFill>
                  <a:srgbClr val="FF6974"/>
                </a:solidFill>
                <a:latin typeface="Aptos"/>
              </a:rPr>
              <a:t>L</a:t>
            </a:r>
          </a:p>
        </p:txBody>
      </p:sp>
      <p:sp>
        <p:nvSpPr>
          <p:cNvPr id="58" name="TextBox 57"/>
          <p:cNvSpPr txBox="1"/>
          <p:nvPr/>
        </p:nvSpPr>
        <p:spPr>
          <a:xfrm>
            <a:off x="6604254" y="1810512"/>
            <a:ext cx="2091690" cy="147733"/>
          </a:xfrm>
          <a:prstGeom prst="rect">
            <a:avLst/>
          </a:prstGeom>
          <a:noFill/>
        </p:spPr>
        <p:txBody>
          <a:bodyPr wrap="square" lIns="13716" tIns="13716" rIns="13716" bIns="13716" anchor="t">
            <a:spAutoFit/>
          </a:bodyPr>
          <a:lstStyle/>
          <a:p>
            <a:pPr algn="l"/>
            <a:r>
              <a:rPr sz="780" b="1">
                <a:solidFill>
                  <a:srgbClr val="F1EFE9"/>
                </a:solidFill>
                <a:latin typeface="Aptos"/>
              </a:rPr>
              <a:t>Schema linker reliability</a:t>
            </a:r>
          </a:p>
        </p:txBody>
      </p:sp>
      <p:sp>
        <p:nvSpPr>
          <p:cNvPr id="59" name="TextBox 58"/>
          <p:cNvSpPr txBox="1"/>
          <p:nvPr/>
        </p:nvSpPr>
        <p:spPr>
          <a:xfrm>
            <a:off x="6329933" y="2105406"/>
            <a:ext cx="82296" cy="115416"/>
          </a:xfrm>
          <a:prstGeom prst="rect">
            <a:avLst/>
          </a:prstGeom>
          <a:noFill/>
        </p:spPr>
        <p:txBody>
          <a:bodyPr wrap="square" lIns="13716" tIns="13716" rIns="13716" bIns="13716" anchor="t">
            <a:spAutoFit/>
          </a:bodyPr>
          <a:lstStyle/>
          <a:p>
            <a:pPr algn="l"/>
            <a:r>
              <a:rPr sz="570" b="1">
                <a:solidFill>
                  <a:srgbClr val="FF6974"/>
                </a:solidFill>
                <a:latin typeface="Aptos"/>
              </a:rPr>
              <a:t>•</a:t>
            </a:r>
          </a:p>
        </p:txBody>
      </p:sp>
      <p:sp>
        <p:nvSpPr>
          <p:cNvPr id="60" name="TextBox 59"/>
          <p:cNvSpPr txBox="1"/>
          <p:nvPr/>
        </p:nvSpPr>
        <p:spPr>
          <a:xfrm>
            <a:off x="6453378" y="2105407"/>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plausible wrong tables</a:t>
            </a:r>
          </a:p>
        </p:txBody>
      </p:sp>
      <p:sp>
        <p:nvSpPr>
          <p:cNvPr id="61" name="TextBox 60"/>
          <p:cNvSpPr txBox="1"/>
          <p:nvPr/>
        </p:nvSpPr>
        <p:spPr>
          <a:xfrm>
            <a:off x="6329933" y="2338578"/>
            <a:ext cx="82296" cy="115416"/>
          </a:xfrm>
          <a:prstGeom prst="rect">
            <a:avLst/>
          </a:prstGeom>
          <a:noFill/>
        </p:spPr>
        <p:txBody>
          <a:bodyPr wrap="square" lIns="13716" tIns="13716" rIns="13716" bIns="13716" anchor="t">
            <a:spAutoFit/>
          </a:bodyPr>
          <a:lstStyle/>
          <a:p>
            <a:pPr algn="l"/>
            <a:r>
              <a:rPr sz="570" b="1">
                <a:solidFill>
                  <a:srgbClr val="FF6974"/>
                </a:solidFill>
                <a:latin typeface="Aptos"/>
              </a:rPr>
              <a:t>•</a:t>
            </a:r>
          </a:p>
        </p:txBody>
      </p:sp>
      <p:sp>
        <p:nvSpPr>
          <p:cNvPr id="62" name="TextBox 61"/>
          <p:cNvSpPr txBox="1"/>
          <p:nvPr/>
        </p:nvSpPr>
        <p:spPr>
          <a:xfrm>
            <a:off x="6453378" y="2338579"/>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too narrow for correction</a:t>
            </a:r>
          </a:p>
        </p:txBody>
      </p:sp>
      <p:sp>
        <p:nvSpPr>
          <p:cNvPr id="63" name="TextBox 62"/>
          <p:cNvSpPr txBox="1"/>
          <p:nvPr/>
        </p:nvSpPr>
        <p:spPr>
          <a:xfrm>
            <a:off x="6329933" y="2571750"/>
            <a:ext cx="82296" cy="115416"/>
          </a:xfrm>
          <a:prstGeom prst="rect">
            <a:avLst/>
          </a:prstGeom>
          <a:noFill/>
        </p:spPr>
        <p:txBody>
          <a:bodyPr wrap="square" lIns="13716" tIns="13716" rIns="13716" bIns="13716" anchor="t">
            <a:spAutoFit/>
          </a:bodyPr>
          <a:lstStyle/>
          <a:p>
            <a:pPr algn="l"/>
            <a:r>
              <a:rPr sz="570" b="1">
                <a:solidFill>
                  <a:srgbClr val="FF6974"/>
                </a:solidFill>
                <a:latin typeface="Aptos"/>
              </a:rPr>
              <a:t>•</a:t>
            </a:r>
          </a:p>
        </p:txBody>
      </p:sp>
      <p:sp>
        <p:nvSpPr>
          <p:cNvPr id="64" name="TextBox 63"/>
          <p:cNvSpPr txBox="1"/>
          <p:nvPr/>
        </p:nvSpPr>
        <p:spPr>
          <a:xfrm>
            <a:off x="6453378" y="2571751"/>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missed value mappings</a:t>
            </a:r>
          </a:p>
        </p:txBody>
      </p:sp>
      <p:sp>
        <p:nvSpPr>
          <p:cNvPr id="65" name="TextBox 64"/>
          <p:cNvSpPr txBox="1"/>
          <p:nvPr/>
        </p:nvSpPr>
        <p:spPr>
          <a:xfrm>
            <a:off x="6329933" y="2804922"/>
            <a:ext cx="82296" cy="115416"/>
          </a:xfrm>
          <a:prstGeom prst="rect">
            <a:avLst/>
          </a:prstGeom>
          <a:noFill/>
        </p:spPr>
        <p:txBody>
          <a:bodyPr wrap="square" lIns="13716" tIns="13716" rIns="13716" bIns="13716" anchor="t">
            <a:spAutoFit/>
          </a:bodyPr>
          <a:lstStyle/>
          <a:p>
            <a:pPr algn="l"/>
            <a:r>
              <a:rPr sz="570" b="1">
                <a:solidFill>
                  <a:srgbClr val="FF6974"/>
                </a:solidFill>
                <a:latin typeface="Aptos"/>
              </a:rPr>
              <a:t>•</a:t>
            </a:r>
          </a:p>
        </p:txBody>
      </p:sp>
      <p:sp>
        <p:nvSpPr>
          <p:cNvPr id="66" name="TextBox 65"/>
          <p:cNvSpPr txBox="1"/>
          <p:nvPr/>
        </p:nvSpPr>
        <p:spPr>
          <a:xfrm>
            <a:off x="6453378" y="2804923"/>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semantic similarity over evidence</a:t>
            </a:r>
          </a:p>
        </p:txBody>
      </p:sp>
      <p:sp>
        <p:nvSpPr>
          <p:cNvPr id="67" name="Rectangle 66"/>
          <p:cNvSpPr/>
          <p:nvPr/>
        </p:nvSpPr>
        <p:spPr>
          <a:xfrm>
            <a:off x="1748790" y="3278124"/>
            <a:ext cx="2674620" cy="994410"/>
          </a:xfrm>
          <a:prstGeom prst="rect">
            <a:avLst/>
          </a:prstGeom>
          <a:solidFill>
            <a:srgbClr val="181D27"/>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8" name="Rectangle 67"/>
          <p:cNvSpPr/>
          <p:nvPr/>
        </p:nvSpPr>
        <p:spPr>
          <a:xfrm>
            <a:off x="1748790" y="3278124"/>
            <a:ext cx="2674620" cy="34290"/>
          </a:xfrm>
          <a:prstGeom prst="rect">
            <a:avLst/>
          </a:prstGeom>
          <a:solidFill>
            <a:srgbClr val="59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9" name="Oval 68"/>
          <p:cNvSpPr/>
          <p:nvPr/>
        </p:nvSpPr>
        <p:spPr>
          <a:xfrm>
            <a:off x="1872234" y="3429000"/>
            <a:ext cx="301752" cy="301752"/>
          </a:xfrm>
          <a:prstGeom prst="ellipse">
            <a:avLst/>
          </a:prstGeom>
          <a:solidFill>
            <a:srgbClr val="252D3A"/>
          </a:solidFill>
          <a:ln w="12700">
            <a:solidFill>
              <a:srgbClr val="59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0" name="TextBox 69"/>
          <p:cNvSpPr txBox="1"/>
          <p:nvPr/>
        </p:nvSpPr>
        <p:spPr>
          <a:xfrm>
            <a:off x="1872234" y="3511296"/>
            <a:ext cx="301752" cy="120033"/>
          </a:xfrm>
          <a:prstGeom prst="rect">
            <a:avLst/>
          </a:prstGeom>
          <a:noFill/>
        </p:spPr>
        <p:txBody>
          <a:bodyPr wrap="square" lIns="13716" tIns="13716" rIns="13716" bIns="13716" anchor="t">
            <a:spAutoFit/>
          </a:bodyPr>
          <a:lstStyle/>
          <a:p>
            <a:pPr algn="ctr"/>
            <a:r>
              <a:rPr sz="600" b="1">
                <a:solidFill>
                  <a:srgbClr val="599DFF"/>
                </a:solidFill>
                <a:latin typeface="Aptos"/>
              </a:rPr>
              <a:t>P</a:t>
            </a:r>
          </a:p>
        </p:txBody>
      </p:sp>
      <p:sp>
        <p:nvSpPr>
          <p:cNvPr id="71" name="TextBox 70"/>
          <p:cNvSpPr txBox="1"/>
          <p:nvPr/>
        </p:nvSpPr>
        <p:spPr>
          <a:xfrm>
            <a:off x="2215134" y="3477006"/>
            <a:ext cx="2091690" cy="147733"/>
          </a:xfrm>
          <a:prstGeom prst="rect">
            <a:avLst/>
          </a:prstGeom>
          <a:noFill/>
        </p:spPr>
        <p:txBody>
          <a:bodyPr wrap="square" lIns="13716" tIns="13716" rIns="13716" bIns="13716" anchor="t">
            <a:spAutoFit/>
          </a:bodyPr>
          <a:lstStyle/>
          <a:p>
            <a:pPr algn="l"/>
            <a:r>
              <a:rPr sz="780" b="1">
                <a:solidFill>
                  <a:srgbClr val="F1EFE9"/>
                </a:solidFill>
                <a:latin typeface="Aptos"/>
              </a:rPr>
              <a:t>Dynamic profiling</a:t>
            </a:r>
          </a:p>
        </p:txBody>
      </p:sp>
      <p:sp>
        <p:nvSpPr>
          <p:cNvPr id="72" name="TextBox 71"/>
          <p:cNvSpPr txBox="1"/>
          <p:nvPr/>
        </p:nvSpPr>
        <p:spPr>
          <a:xfrm>
            <a:off x="1940814" y="3771900"/>
            <a:ext cx="82296" cy="115416"/>
          </a:xfrm>
          <a:prstGeom prst="rect">
            <a:avLst/>
          </a:prstGeom>
          <a:noFill/>
        </p:spPr>
        <p:txBody>
          <a:bodyPr wrap="square" lIns="13716" tIns="13716" rIns="13716" bIns="13716" anchor="t">
            <a:spAutoFit/>
          </a:bodyPr>
          <a:lstStyle/>
          <a:p>
            <a:pPr algn="l"/>
            <a:r>
              <a:rPr sz="570" b="1">
                <a:solidFill>
                  <a:srgbClr val="599DFF"/>
                </a:solidFill>
                <a:latin typeface="Aptos"/>
              </a:rPr>
              <a:t>•</a:t>
            </a:r>
          </a:p>
        </p:txBody>
      </p:sp>
      <p:sp>
        <p:nvSpPr>
          <p:cNvPr id="73" name="TextBox 72"/>
          <p:cNvSpPr txBox="1"/>
          <p:nvPr/>
        </p:nvSpPr>
        <p:spPr>
          <a:xfrm>
            <a:off x="2064258" y="3771901"/>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extra latency</a:t>
            </a:r>
          </a:p>
        </p:txBody>
      </p:sp>
      <p:sp>
        <p:nvSpPr>
          <p:cNvPr id="74" name="TextBox 73"/>
          <p:cNvSpPr txBox="1"/>
          <p:nvPr/>
        </p:nvSpPr>
        <p:spPr>
          <a:xfrm>
            <a:off x="1940814" y="4005072"/>
            <a:ext cx="82296" cy="115416"/>
          </a:xfrm>
          <a:prstGeom prst="rect">
            <a:avLst/>
          </a:prstGeom>
          <a:noFill/>
        </p:spPr>
        <p:txBody>
          <a:bodyPr wrap="square" lIns="13716" tIns="13716" rIns="13716" bIns="13716" anchor="t">
            <a:spAutoFit/>
          </a:bodyPr>
          <a:lstStyle/>
          <a:p>
            <a:pPr algn="l"/>
            <a:r>
              <a:rPr sz="570" b="1">
                <a:solidFill>
                  <a:srgbClr val="599DFF"/>
                </a:solidFill>
                <a:latin typeface="Aptos"/>
              </a:rPr>
              <a:t>•</a:t>
            </a:r>
          </a:p>
        </p:txBody>
      </p:sp>
      <p:sp>
        <p:nvSpPr>
          <p:cNvPr id="75" name="TextBox 74"/>
          <p:cNvSpPr txBox="1"/>
          <p:nvPr/>
        </p:nvSpPr>
        <p:spPr>
          <a:xfrm>
            <a:off x="2064258" y="4005073"/>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unrepresentative samples</a:t>
            </a:r>
          </a:p>
        </p:txBody>
      </p:sp>
      <p:sp>
        <p:nvSpPr>
          <p:cNvPr id="76" name="TextBox 75"/>
          <p:cNvSpPr txBox="1"/>
          <p:nvPr/>
        </p:nvSpPr>
        <p:spPr>
          <a:xfrm>
            <a:off x="1940814" y="4238244"/>
            <a:ext cx="82296" cy="115416"/>
          </a:xfrm>
          <a:prstGeom prst="rect">
            <a:avLst/>
          </a:prstGeom>
          <a:noFill/>
        </p:spPr>
        <p:txBody>
          <a:bodyPr wrap="square" lIns="13716" tIns="13716" rIns="13716" bIns="13716" anchor="t">
            <a:spAutoFit/>
          </a:bodyPr>
          <a:lstStyle/>
          <a:p>
            <a:pPr algn="l"/>
            <a:r>
              <a:rPr sz="570" b="1">
                <a:solidFill>
                  <a:srgbClr val="599DFF"/>
                </a:solidFill>
                <a:latin typeface="Aptos"/>
              </a:rPr>
              <a:t>•</a:t>
            </a:r>
          </a:p>
        </p:txBody>
      </p:sp>
      <p:sp>
        <p:nvSpPr>
          <p:cNvPr id="77" name="TextBox 76"/>
          <p:cNvSpPr txBox="1"/>
          <p:nvPr/>
        </p:nvSpPr>
        <p:spPr>
          <a:xfrm>
            <a:off x="2064258" y="4238245"/>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large-table cost</a:t>
            </a:r>
          </a:p>
        </p:txBody>
      </p:sp>
      <p:sp>
        <p:nvSpPr>
          <p:cNvPr id="78" name="TextBox 77"/>
          <p:cNvSpPr txBox="1"/>
          <p:nvPr/>
        </p:nvSpPr>
        <p:spPr>
          <a:xfrm>
            <a:off x="1940814" y="4471416"/>
            <a:ext cx="82296" cy="115416"/>
          </a:xfrm>
          <a:prstGeom prst="rect">
            <a:avLst/>
          </a:prstGeom>
          <a:noFill/>
        </p:spPr>
        <p:txBody>
          <a:bodyPr wrap="square" lIns="13716" tIns="13716" rIns="13716" bIns="13716" anchor="t">
            <a:spAutoFit/>
          </a:bodyPr>
          <a:lstStyle/>
          <a:p>
            <a:pPr algn="l"/>
            <a:r>
              <a:rPr sz="570" b="1">
                <a:solidFill>
                  <a:srgbClr val="599DFF"/>
                </a:solidFill>
                <a:latin typeface="Aptos"/>
              </a:rPr>
              <a:t>•</a:t>
            </a:r>
          </a:p>
        </p:txBody>
      </p:sp>
      <p:sp>
        <p:nvSpPr>
          <p:cNvPr id="79" name="TextBox 78"/>
          <p:cNvSpPr txBox="1"/>
          <p:nvPr/>
        </p:nvSpPr>
        <p:spPr>
          <a:xfrm>
            <a:off x="2064258" y="4471417"/>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too many columns to probe</a:t>
            </a:r>
          </a:p>
        </p:txBody>
      </p:sp>
      <p:sp>
        <p:nvSpPr>
          <p:cNvPr id="80" name="Rectangle 79"/>
          <p:cNvSpPr/>
          <p:nvPr/>
        </p:nvSpPr>
        <p:spPr>
          <a:xfrm>
            <a:off x="4732020" y="3278124"/>
            <a:ext cx="2674620" cy="994410"/>
          </a:xfrm>
          <a:prstGeom prst="rect">
            <a:avLst/>
          </a:prstGeom>
          <a:solidFill>
            <a:srgbClr val="181D27"/>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1" name="Rectangle 80"/>
          <p:cNvSpPr/>
          <p:nvPr/>
        </p:nvSpPr>
        <p:spPr>
          <a:xfrm>
            <a:off x="4732020" y="3278124"/>
            <a:ext cx="2674620" cy="34290"/>
          </a:xfrm>
          <a:prstGeom prst="rect">
            <a:avLst/>
          </a:prstGeom>
          <a:solidFill>
            <a:srgbClr val="2BD3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2" name="Oval 81"/>
          <p:cNvSpPr/>
          <p:nvPr/>
        </p:nvSpPr>
        <p:spPr>
          <a:xfrm>
            <a:off x="4855464" y="3429000"/>
            <a:ext cx="301752" cy="301752"/>
          </a:xfrm>
          <a:prstGeom prst="ellipse">
            <a:avLst/>
          </a:prstGeom>
          <a:solidFill>
            <a:srgbClr val="1F3434"/>
          </a:solidFill>
          <a:ln w="1270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3" name="TextBox 82"/>
          <p:cNvSpPr txBox="1"/>
          <p:nvPr/>
        </p:nvSpPr>
        <p:spPr>
          <a:xfrm>
            <a:off x="4855464" y="3511296"/>
            <a:ext cx="301752" cy="120033"/>
          </a:xfrm>
          <a:prstGeom prst="rect">
            <a:avLst/>
          </a:prstGeom>
          <a:noFill/>
        </p:spPr>
        <p:txBody>
          <a:bodyPr wrap="square" lIns="13716" tIns="13716" rIns="13716" bIns="13716" anchor="t">
            <a:spAutoFit/>
          </a:bodyPr>
          <a:lstStyle/>
          <a:p>
            <a:pPr algn="ctr"/>
            <a:r>
              <a:rPr sz="600" b="1">
                <a:solidFill>
                  <a:srgbClr val="2BD3C0"/>
                </a:solidFill>
                <a:latin typeface="Aptos"/>
              </a:rPr>
              <a:t>Ω</a:t>
            </a:r>
          </a:p>
        </p:txBody>
      </p:sp>
      <p:sp>
        <p:nvSpPr>
          <p:cNvPr id="84" name="TextBox 83"/>
          <p:cNvSpPr txBox="1"/>
          <p:nvPr/>
        </p:nvSpPr>
        <p:spPr>
          <a:xfrm>
            <a:off x="5198364" y="3477006"/>
            <a:ext cx="2091690" cy="147733"/>
          </a:xfrm>
          <a:prstGeom prst="rect">
            <a:avLst/>
          </a:prstGeom>
          <a:noFill/>
        </p:spPr>
        <p:txBody>
          <a:bodyPr wrap="square" lIns="13716" tIns="13716" rIns="13716" bIns="13716" anchor="t">
            <a:spAutoFit/>
          </a:bodyPr>
          <a:lstStyle/>
          <a:p>
            <a:pPr algn="l"/>
            <a:r>
              <a:rPr sz="780" b="1">
                <a:solidFill>
                  <a:srgbClr val="F1EFE9"/>
                </a:solidFill>
                <a:latin typeface="Aptos"/>
              </a:rPr>
              <a:t>Prompt assembly</a:t>
            </a:r>
          </a:p>
        </p:txBody>
      </p:sp>
      <p:sp>
        <p:nvSpPr>
          <p:cNvPr id="85" name="TextBox 84"/>
          <p:cNvSpPr txBox="1"/>
          <p:nvPr/>
        </p:nvSpPr>
        <p:spPr>
          <a:xfrm>
            <a:off x="4924044" y="3771900"/>
            <a:ext cx="82296" cy="115416"/>
          </a:xfrm>
          <a:prstGeom prst="rect">
            <a:avLst/>
          </a:prstGeom>
          <a:noFill/>
        </p:spPr>
        <p:txBody>
          <a:bodyPr wrap="square" lIns="13716" tIns="13716" rIns="13716" bIns="13716" anchor="t">
            <a:spAutoFit/>
          </a:bodyPr>
          <a:lstStyle/>
          <a:p>
            <a:pPr algn="l"/>
            <a:r>
              <a:rPr sz="570" b="1">
                <a:solidFill>
                  <a:srgbClr val="2BD3C0"/>
                </a:solidFill>
                <a:latin typeface="Aptos"/>
              </a:rPr>
              <a:t>•</a:t>
            </a:r>
          </a:p>
        </p:txBody>
      </p:sp>
      <p:sp>
        <p:nvSpPr>
          <p:cNvPr id="86" name="TextBox 85"/>
          <p:cNvSpPr txBox="1"/>
          <p:nvPr/>
        </p:nvSpPr>
        <p:spPr>
          <a:xfrm>
            <a:off x="5047488" y="3771901"/>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long prompts</a:t>
            </a:r>
          </a:p>
        </p:txBody>
      </p:sp>
      <p:sp>
        <p:nvSpPr>
          <p:cNvPr id="87" name="TextBox 86"/>
          <p:cNvSpPr txBox="1"/>
          <p:nvPr/>
        </p:nvSpPr>
        <p:spPr>
          <a:xfrm>
            <a:off x="4924044" y="4005072"/>
            <a:ext cx="82296" cy="115416"/>
          </a:xfrm>
          <a:prstGeom prst="rect">
            <a:avLst/>
          </a:prstGeom>
          <a:noFill/>
        </p:spPr>
        <p:txBody>
          <a:bodyPr wrap="square" lIns="13716" tIns="13716" rIns="13716" bIns="13716" anchor="t">
            <a:spAutoFit/>
          </a:bodyPr>
          <a:lstStyle/>
          <a:p>
            <a:pPr algn="l"/>
            <a:r>
              <a:rPr sz="570" b="1">
                <a:solidFill>
                  <a:srgbClr val="2BD3C0"/>
                </a:solidFill>
                <a:latin typeface="Aptos"/>
              </a:rPr>
              <a:t>•</a:t>
            </a:r>
          </a:p>
        </p:txBody>
      </p:sp>
      <p:sp>
        <p:nvSpPr>
          <p:cNvPr id="88" name="TextBox 87"/>
          <p:cNvSpPr txBox="1"/>
          <p:nvPr/>
        </p:nvSpPr>
        <p:spPr>
          <a:xfrm>
            <a:off x="5047488" y="4005073"/>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conflicting rules</a:t>
            </a:r>
          </a:p>
        </p:txBody>
      </p:sp>
      <p:sp>
        <p:nvSpPr>
          <p:cNvPr id="89" name="TextBox 88"/>
          <p:cNvSpPr txBox="1"/>
          <p:nvPr/>
        </p:nvSpPr>
        <p:spPr>
          <a:xfrm>
            <a:off x="4924044" y="4238244"/>
            <a:ext cx="82296" cy="115416"/>
          </a:xfrm>
          <a:prstGeom prst="rect">
            <a:avLst/>
          </a:prstGeom>
          <a:noFill/>
        </p:spPr>
        <p:txBody>
          <a:bodyPr wrap="square" lIns="13716" tIns="13716" rIns="13716" bIns="13716" anchor="t">
            <a:spAutoFit/>
          </a:bodyPr>
          <a:lstStyle/>
          <a:p>
            <a:pPr algn="l"/>
            <a:r>
              <a:rPr sz="570" b="1">
                <a:solidFill>
                  <a:srgbClr val="2BD3C0"/>
                </a:solidFill>
                <a:latin typeface="Aptos"/>
              </a:rPr>
              <a:t>•</a:t>
            </a:r>
          </a:p>
        </p:txBody>
      </p:sp>
      <p:sp>
        <p:nvSpPr>
          <p:cNvPr id="90" name="TextBox 89"/>
          <p:cNvSpPr txBox="1"/>
          <p:nvPr/>
        </p:nvSpPr>
        <p:spPr>
          <a:xfrm>
            <a:off x="5047488" y="4238245"/>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buried instructions</a:t>
            </a:r>
          </a:p>
        </p:txBody>
      </p:sp>
      <p:sp>
        <p:nvSpPr>
          <p:cNvPr id="91" name="TextBox 90"/>
          <p:cNvSpPr txBox="1"/>
          <p:nvPr/>
        </p:nvSpPr>
        <p:spPr>
          <a:xfrm>
            <a:off x="4924044" y="4471416"/>
            <a:ext cx="82296" cy="115416"/>
          </a:xfrm>
          <a:prstGeom prst="rect">
            <a:avLst/>
          </a:prstGeom>
          <a:noFill/>
        </p:spPr>
        <p:txBody>
          <a:bodyPr wrap="square" lIns="13716" tIns="13716" rIns="13716" bIns="13716" anchor="t">
            <a:spAutoFit/>
          </a:bodyPr>
          <a:lstStyle/>
          <a:p>
            <a:pPr algn="l"/>
            <a:r>
              <a:rPr sz="570" b="1">
                <a:solidFill>
                  <a:srgbClr val="2BD3C0"/>
                </a:solidFill>
                <a:latin typeface="Aptos"/>
              </a:rPr>
              <a:t>•</a:t>
            </a:r>
          </a:p>
        </p:txBody>
      </p:sp>
      <p:sp>
        <p:nvSpPr>
          <p:cNvPr id="92" name="TextBox 91"/>
          <p:cNvSpPr txBox="1"/>
          <p:nvPr/>
        </p:nvSpPr>
        <p:spPr>
          <a:xfrm>
            <a:off x="5047488" y="4471417"/>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feedback becomes noisy</a:t>
            </a:r>
          </a:p>
        </p:txBody>
      </p:sp>
      <p:sp>
        <p:nvSpPr>
          <p:cNvPr id="93" name="Rectangle 92"/>
          <p:cNvSpPr/>
          <p:nvPr/>
        </p:nvSpPr>
        <p:spPr>
          <a:xfrm>
            <a:off x="342900" y="4855464"/>
            <a:ext cx="8435340" cy="6858"/>
          </a:xfrm>
          <a:prstGeom prst="rect">
            <a:avLst/>
          </a:prstGeom>
          <a:solidFill>
            <a:srgbClr val="252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4" name="TextBox 93"/>
          <p:cNvSpPr txBox="1"/>
          <p:nvPr/>
        </p:nvSpPr>
        <p:spPr>
          <a:xfrm>
            <a:off x="425196" y="4910328"/>
            <a:ext cx="3566160" cy="108491"/>
          </a:xfrm>
          <a:prstGeom prst="rect">
            <a:avLst/>
          </a:prstGeom>
          <a:noFill/>
        </p:spPr>
        <p:txBody>
          <a:bodyPr wrap="square" lIns="13716" tIns="13716" rIns="13716" bIns="13716" anchor="t">
            <a:spAutoFit/>
          </a:bodyPr>
          <a:lstStyle/>
          <a:p>
            <a:pPr algn="l"/>
            <a:r>
              <a:rPr sz="525">
                <a:solidFill>
                  <a:srgbClr val="666C76"/>
                </a:solidFill>
                <a:latin typeface="Aptos"/>
              </a:rPr>
              <a:t>Text-to-SQL problem taxonomy | SpiderDIN project experience</a:t>
            </a:r>
          </a:p>
        </p:txBody>
      </p:sp>
      <p:pic>
        <p:nvPicPr>
          <p:cNvPr id="95" name="Picture 94">
            <a:extLst>
              <a:ext uri="{FF2B5EF4-FFF2-40B4-BE49-F238E27FC236}">
                <a16:creationId xmlns:a16="http://schemas.microsoft.com/office/drawing/2014/main" id="{2C62421A-552B-A982-4508-1C499CDA5C95}"/>
              </a:ext>
            </a:extLst>
          </p:cNvPr>
          <p:cNvPicPr>
            <a:picLocks noChangeAspect="1"/>
          </p:cNvPicPr>
          <p:nvPr/>
        </p:nvPicPr>
        <p:blipFill>
          <a:blip r:embed="rId2"/>
          <a:srcRect l="-928" t="29746" r="928" b="36645"/>
          <a:stretch>
            <a:fillRect/>
          </a:stretch>
        </p:blipFill>
        <p:spPr>
          <a:xfrm>
            <a:off x="8218575" y="45720"/>
            <a:ext cx="861058" cy="28939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0C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p:cNvSpPr/>
          <p:nvPr/>
        </p:nvSpPr>
        <p:spPr>
          <a:xfrm>
            <a:off x="685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p:cNvSpPr/>
          <p:nvPr/>
        </p:nvSpPr>
        <p:spPr>
          <a:xfrm>
            <a:off x="1371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2057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2743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p:cNvSpPr/>
          <p:nvPr/>
        </p:nvSpPr>
        <p:spPr>
          <a:xfrm>
            <a:off x="3429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114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4800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5486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6172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6858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7543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8229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ectangle 14"/>
          <p:cNvSpPr/>
          <p:nvPr/>
        </p:nvSpPr>
        <p:spPr>
          <a:xfrm>
            <a:off x="8915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1" y="685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ectangle 16"/>
          <p:cNvSpPr/>
          <p:nvPr/>
        </p:nvSpPr>
        <p:spPr>
          <a:xfrm>
            <a:off x="1" y="1371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ectangle 17"/>
          <p:cNvSpPr/>
          <p:nvPr/>
        </p:nvSpPr>
        <p:spPr>
          <a:xfrm>
            <a:off x="1" y="20574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ectangle 18"/>
          <p:cNvSpPr/>
          <p:nvPr/>
        </p:nvSpPr>
        <p:spPr>
          <a:xfrm>
            <a:off x="1" y="27432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ectangle 19"/>
          <p:cNvSpPr/>
          <p:nvPr/>
        </p:nvSpPr>
        <p:spPr>
          <a:xfrm>
            <a:off x="1" y="34290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Rectangle 20"/>
          <p:cNvSpPr/>
          <p:nvPr/>
        </p:nvSpPr>
        <p:spPr>
          <a:xfrm>
            <a:off x="1" y="4114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Rectangle 21"/>
          <p:cNvSpPr/>
          <p:nvPr/>
        </p:nvSpPr>
        <p:spPr>
          <a:xfrm>
            <a:off x="1" y="4800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Rectangle 22"/>
          <p:cNvSpPr/>
          <p:nvPr/>
        </p:nvSpPr>
        <p:spPr>
          <a:xfrm>
            <a:off x="342900" y="260604"/>
            <a:ext cx="1131570" cy="20574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528066" y="315468"/>
            <a:ext cx="788670" cy="99258"/>
          </a:xfrm>
          <a:prstGeom prst="rect">
            <a:avLst/>
          </a:prstGeom>
          <a:noFill/>
        </p:spPr>
        <p:txBody>
          <a:bodyPr wrap="square" lIns="13716" tIns="13716" rIns="13716" bIns="13716" anchor="t">
            <a:spAutoFit/>
          </a:bodyPr>
          <a:lstStyle/>
          <a:p>
            <a:pPr algn="ctr"/>
            <a:r>
              <a:rPr sz="465" b="1">
                <a:solidFill>
                  <a:srgbClr val="0C0F14"/>
                </a:solidFill>
                <a:latin typeface="Aptos"/>
              </a:rPr>
              <a:t>ARCHITECTURE PROBLEMS</a:t>
            </a:r>
          </a:p>
        </p:txBody>
      </p:sp>
      <p:sp>
        <p:nvSpPr>
          <p:cNvPr id="25" name="TextBox 24"/>
          <p:cNvSpPr txBox="1"/>
          <p:nvPr/>
        </p:nvSpPr>
        <p:spPr>
          <a:xfrm>
            <a:off x="8572500" y="240030"/>
            <a:ext cx="240030" cy="131574"/>
          </a:xfrm>
          <a:prstGeom prst="rect">
            <a:avLst/>
          </a:prstGeom>
          <a:noFill/>
        </p:spPr>
        <p:txBody>
          <a:bodyPr wrap="square" lIns="13716" tIns="13716" rIns="13716" bIns="13716" anchor="t">
            <a:spAutoFit/>
          </a:bodyPr>
          <a:lstStyle/>
          <a:p>
            <a:pPr algn="r"/>
            <a:r>
              <a:rPr sz="675">
                <a:solidFill>
                  <a:srgbClr val="666C76"/>
                </a:solidFill>
                <a:latin typeface="Aptos"/>
              </a:rPr>
              <a:t>07</a:t>
            </a:r>
          </a:p>
        </p:txBody>
      </p:sp>
      <p:sp>
        <p:nvSpPr>
          <p:cNvPr id="26" name="TextBox 25"/>
          <p:cNvSpPr txBox="1"/>
          <p:nvPr/>
        </p:nvSpPr>
        <p:spPr>
          <a:xfrm>
            <a:off x="425196" y="617220"/>
            <a:ext cx="7680960" cy="588751"/>
          </a:xfrm>
          <a:prstGeom prst="rect">
            <a:avLst/>
          </a:prstGeom>
          <a:noFill/>
        </p:spPr>
        <p:txBody>
          <a:bodyPr wrap="square" lIns="0" tIns="0" rIns="0" bIns="0">
            <a:spAutoFit/>
          </a:bodyPr>
          <a:lstStyle/>
          <a:p>
            <a:pPr algn="l"/>
            <a:r>
              <a:rPr sz="1913" b="1">
                <a:solidFill>
                  <a:srgbClr val="FFBE18"/>
                </a:solidFill>
                <a:latin typeface="Georgia"/>
              </a:rPr>
              <a:t>B2. Agents and execution: </a:t>
            </a:r>
            <a:r>
              <a:rPr sz="1913" b="1">
                <a:solidFill>
                  <a:srgbClr val="F1EFE9"/>
                </a:solidFill>
                <a:latin typeface="Georgia"/>
              </a:rPr>
              <a:t>every guardrail adds power and new failure modes.</a:t>
            </a:r>
          </a:p>
        </p:txBody>
      </p:sp>
      <p:sp>
        <p:nvSpPr>
          <p:cNvPr id="27" name="TextBox 26"/>
          <p:cNvSpPr txBox="1"/>
          <p:nvPr/>
        </p:nvSpPr>
        <p:spPr>
          <a:xfrm>
            <a:off x="438912" y="1179576"/>
            <a:ext cx="6789420" cy="146643"/>
          </a:xfrm>
          <a:prstGeom prst="rect">
            <a:avLst/>
          </a:prstGeom>
          <a:noFill/>
        </p:spPr>
        <p:txBody>
          <a:bodyPr wrap="square" lIns="13716" tIns="13716" rIns="13716" bIns="13716" anchor="t">
            <a:spAutoFit/>
          </a:bodyPr>
          <a:lstStyle/>
          <a:p>
            <a:pPr algn="l"/>
            <a:r>
              <a:rPr sz="773">
                <a:solidFill>
                  <a:srgbClr val="F1EFE9"/>
                </a:solidFill>
                <a:latin typeface="Aptos"/>
              </a:rPr>
              <a:t>Generation, critique, pre-flight checks, and execution are necessary, but each one can introduce false confidence or operational risk.</a:t>
            </a:r>
          </a:p>
        </p:txBody>
      </p:sp>
      <p:sp>
        <p:nvSpPr>
          <p:cNvPr id="28" name="Rectangle 27"/>
          <p:cNvSpPr/>
          <p:nvPr/>
        </p:nvSpPr>
        <p:spPr>
          <a:xfrm>
            <a:off x="342900" y="1611630"/>
            <a:ext cx="2674620" cy="120015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9" name="Rectangle 28"/>
          <p:cNvSpPr/>
          <p:nvPr/>
        </p:nvSpPr>
        <p:spPr>
          <a:xfrm>
            <a:off x="342900" y="1611630"/>
            <a:ext cx="2674620" cy="34290"/>
          </a:xfrm>
          <a:prstGeom prst="rect">
            <a:avLst/>
          </a:prstGeom>
          <a:solidFill>
            <a:srgbClr val="FF69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Oval 29"/>
          <p:cNvSpPr/>
          <p:nvPr/>
        </p:nvSpPr>
        <p:spPr>
          <a:xfrm>
            <a:off x="493776" y="1796796"/>
            <a:ext cx="301752" cy="301752"/>
          </a:xfrm>
          <a:prstGeom prst="ellipse">
            <a:avLst/>
          </a:prstGeom>
          <a:solidFill>
            <a:srgbClr val="32262A"/>
          </a:solidFill>
          <a:ln w="12700">
            <a:solidFill>
              <a:srgbClr val="FF6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1" name="TextBox 30"/>
          <p:cNvSpPr txBox="1"/>
          <p:nvPr/>
        </p:nvSpPr>
        <p:spPr>
          <a:xfrm>
            <a:off x="493776" y="1879092"/>
            <a:ext cx="301752" cy="120033"/>
          </a:xfrm>
          <a:prstGeom prst="rect">
            <a:avLst/>
          </a:prstGeom>
          <a:noFill/>
        </p:spPr>
        <p:txBody>
          <a:bodyPr wrap="square" lIns="13716" tIns="13716" rIns="13716" bIns="13716" anchor="t">
            <a:spAutoFit/>
          </a:bodyPr>
          <a:lstStyle/>
          <a:p>
            <a:pPr algn="ctr"/>
            <a:r>
              <a:rPr sz="600" b="1">
                <a:solidFill>
                  <a:srgbClr val="FF6974"/>
                </a:solidFill>
                <a:latin typeface="Aptos"/>
              </a:rPr>
              <a:t>G</a:t>
            </a:r>
          </a:p>
        </p:txBody>
      </p:sp>
      <p:sp>
        <p:nvSpPr>
          <p:cNvPr id="32" name="TextBox 31"/>
          <p:cNvSpPr txBox="1"/>
          <p:nvPr/>
        </p:nvSpPr>
        <p:spPr>
          <a:xfrm>
            <a:off x="836676" y="1844802"/>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SQL generation control</a:t>
            </a:r>
          </a:p>
        </p:txBody>
      </p:sp>
      <p:sp>
        <p:nvSpPr>
          <p:cNvPr id="33" name="TextBox 32"/>
          <p:cNvSpPr txBox="1"/>
          <p:nvPr/>
        </p:nvSpPr>
        <p:spPr>
          <a:xfrm>
            <a:off x="589788" y="2215135"/>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Generator may ignore linked schema, overcomplicate simple queries, hallucinate columns, or reuse generic SQL patterns.</a:t>
            </a:r>
          </a:p>
        </p:txBody>
      </p:sp>
      <p:sp>
        <p:nvSpPr>
          <p:cNvPr id="34" name="Rectangle 33"/>
          <p:cNvSpPr/>
          <p:nvPr/>
        </p:nvSpPr>
        <p:spPr>
          <a:xfrm>
            <a:off x="589788" y="2592324"/>
            <a:ext cx="754380" cy="123444"/>
          </a:xfrm>
          <a:prstGeom prst="rect">
            <a:avLst/>
          </a:prstGeom>
          <a:solidFill>
            <a:srgbClr val="312326"/>
          </a:solidFill>
          <a:ln w="5080">
            <a:solidFill>
              <a:srgbClr val="FF6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5" name="TextBox 34"/>
          <p:cNvSpPr txBox="1"/>
          <p:nvPr/>
        </p:nvSpPr>
        <p:spPr>
          <a:xfrm>
            <a:off x="589788" y="2609468"/>
            <a:ext cx="754380" cy="90025"/>
          </a:xfrm>
          <a:prstGeom prst="rect">
            <a:avLst/>
          </a:prstGeom>
          <a:noFill/>
        </p:spPr>
        <p:txBody>
          <a:bodyPr wrap="square" lIns="13716" tIns="13716" rIns="13716" bIns="13716" anchor="t">
            <a:spAutoFit/>
          </a:bodyPr>
          <a:lstStyle/>
          <a:p>
            <a:pPr algn="ctr"/>
            <a:r>
              <a:rPr sz="405" b="1">
                <a:solidFill>
                  <a:srgbClr val="FF6974"/>
                </a:solidFill>
                <a:latin typeface="Aptos"/>
              </a:rPr>
              <a:t>GENERATOR</a:t>
            </a:r>
          </a:p>
        </p:txBody>
      </p:sp>
      <p:sp>
        <p:nvSpPr>
          <p:cNvPr id="36" name="Rectangle 35"/>
          <p:cNvSpPr/>
          <p:nvPr/>
        </p:nvSpPr>
        <p:spPr>
          <a:xfrm>
            <a:off x="3236976" y="1611630"/>
            <a:ext cx="2674620" cy="120015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7" name="Rectangle 36"/>
          <p:cNvSpPr/>
          <p:nvPr/>
        </p:nvSpPr>
        <p:spPr>
          <a:xfrm>
            <a:off x="3236976" y="1611630"/>
            <a:ext cx="2674620" cy="3429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8" name="Oval 37"/>
          <p:cNvSpPr/>
          <p:nvPr/>
        </p:nvSpPr>
        <p:spPr>
          <a:xfrm>
            <a:off x="3387852" y="1796796"/>
            <a:ext cx="301752" cy="301752"/>
          </a:xfrm>
          <a:prstGeom prst="ellipse">
            <a:avLst/>
          </a:prstGeom>
          <a:solidFill>
            <a:srgbClr val="252D3A"/>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9" name="TextBox 38"/>
          <p:cNvSpPr txBox="1"/>
          <p:nvPr/>
        </p:nvSpPr>
        <p:spPr>
          <a:xfrm>
            <a:off x="3387852" y="1879092"/>
            <a:ext cx="301752" cy="120033"/>
          </a:xfrm>
          <a:prstGeom prst="rect">
            <a:avLst/>
          </a:prstGeom>
          <a:noFill/>
        </p:spPr>
        <p:txBody>
          <a:bodyPr wrap="square" lIns="13716" tIns="13716" rIns="13716" bIns="13716" anchor="t">
            <a:spAutoFit/>
          </a:bodyPr>
          <a:lstStyle/>
          <a:p>
            <a:pPr algn="ctr"/>
            <a:r>
              <a:rPr sz="600" b="1">
                <a:solidFill>
                  <a:srgbClr val="F5A012"/>
                </a:solidFill>
                <a:latin typeface="Aptos"/>
              </a:rPr>
              <a:t>K</a:t>
            </a:r>
          </a:p>
        </p:txBody>
      </p:sp>
      <p:sp>
        <p:nvSpPr>
          <p:cNvPr id="40" name="TextBox 39"/>
          <p:cNvSpPr txBox="1"/>
          <p:nvPr/>
        </p:nvSpPr>
        <p:spPr>
          <a:xfrm>
            <a:off x="3730752" y="1844802"/>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Critic limitations</a:t>
            </a:r>
          </a:p>
        </p:txBody>
      </p:sp>
      <p:sp>
        <p:nvSpPr>
          <p:cNvPr id="41" name="TextBox 40"/>
          <p:cNvSpPr txBox="1"/>
          <p:nvPr/>
        </p:nvSpPr>
        <p:spPr>
          <a:xfrm>
            <a:off x="3483864" y="2215135"/>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Critic can approve flawed SQL, reject valid SQL, miss grain issues, or create vague feedback.</a:t>
            </a:r>
          </a:p>
        </p:txBody>
      </p:sp>
      <p:sp>
        <p:nvSpPr>
          <p:cNvPr id="42" name="Rectangle 41"/>
          <p:cNvSpPr/>
          <p:nvPr/>
        </p:nvSpPr>
        <p:spPr>
          <a:xfrm>
            <a:off x="3483864" y="2592324"/>
            <a:ext cx="754380" cy="123444"/>
          </a:xfrm>
          <a:prstGeom prst="rect">
            <a:avLst/>
          </a:prstGeom>
          <a:solidFill>
            <a:srgbClr val="272B3A"/>
          </a:solidFill>
          <a:ln w="508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3" name="TextBox 42"/>
          <p:cNvSpPr txBox="1"/>
          <p:nvPr/>
        </p:nvSpPr>
        <p:spPr>
          <a:xfrm>
            <a:off x="3483864" y="2609468"/>
            <a:ext cx="754380" cy="90025"/>
          </a:xfrm>
          <a:prstGeom prst="rect">
            <a:avLst/>
          </a:prstGeom>
          <a:noFill/>
        </p:spPr>
        <p:txBody>
          <a:bodyPr wrap="square" lIns="13716" tIns="13716" rIns="13716" bIns="13716" anchor="t">
            <a:spAutoFit/>
          </a:bodyPr>
          <a:lstStyle/>
          <a:p>
            <a:pPr algn="ctr"/>
            <a:r>
              <a:rPr sz="405" b="1">
                <a:solidFill>
                  <a:srgbClr val="F5A012"/>
                </a:solidFill>
                <a:latin typeface="Aptos"/>
              </a:rPr>
              <a:t>REVIEW</a:t>
            </a:r>
          </a:p>
        </p:txBody>
      </p:sp>
      <p:sp>
        <p:nvSpPr>
          <p:cNvPr id="44" name="Rectangle 43"/>
          <p:cNvSpPr/>
          <p:nvPr/>
        </p:nvSpPr>
        <p:spPr>
          <a:xfrm>
            <a:off x="6137909" y="1611630"/>
            <a:ext cx="2674620" cy="120015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5" name="Rectangle 44"/>
          <p:cNvSpPr/>
          <p:nvPr/>
        </p:nvSpPr>
        <p:spPr>
          <a:xfrm>
            <a:off x="6137909" y="1611630"/>
            <a:ext cx="2674620" cy="34290"/>
          </a:xfrm>
          <a:prstGeom prst="rect">
            <a:avLst/>
          </a:prstGeom>
          <a:solidFill>
            <a:srgbClr val="59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6" name="Oval 45"/>
          <p:cNvSpPr/>
          <p:nvPr/>
        </p:nvSpPr>
        <p:spPr>
          <a:xfrm>
            <a:off x="6288786" y="1796796"/>
            <a:ext cx="301752" cy="301752"/>
          </a:xfrm>
          <a:prstGeom prst="ellipse">
            <a:avLst/>
          </a:prstGeom>
          <a:solidFill>
            <a:srgbClr val="252D3A"/>
          </a:solidFill>
          <a:ln w="12700">
            <a:solidFill>
              <a:srgbClr val="59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7" name="TextBox 46"/>
          <p:cNvSpPr txBox="1"/>
          <p:nvPr/>
        </p:nvSpPr>
        <p:spPr>
          <a:xfrm>
            <a:off x="6288786" y="1879092"/>
            <a:ext cx="301752" cy="120033"/>
          </a:xfrm>
          <a:prstGeom prst="rect">
            <a:avLst/>
          </a:prstGeom>
          <a:noFill/>
        </p:spPr>
        <p:txBody>
          <a:bodyPr wrap="square" lIns="13716" tIns="13716" rIns="13716" bIns="13716" anchor="t">
            <a:spAutoFit/>
          </a:bodyPr>
          <a:lstStyle/>
          <a:p>
            <a:pPr algn="ctr"/>
            <a:r>
              <a:rPr sz="600" b="1">
                <a:solidFill>
                  <a:srgbClr val="599DFF"/>
                </a:solidFill>
                <a:latin typeface="Aptos"/>
              </a:rPr>
              <a:t>V</a:t>
            </a:r>
          </a:p>
        </p:txBody>
      </p:sp>
      <p:sp>
        <p:nvSpPr>
          <p:cNvPr id="48" name="TextBox 47"/>
          <p:cNvSpPr txBox="1"/>
          <p:nvPr/>
        </p:nvSpPr>
        <p:spPr>
          <a:xfrm>
            <a:off x="6631686" y="1844802"/>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Pre-flight verification</a:t>
            </a:r>
          </a:p>
        </p:txBody>
      </p:sp>
      <p:sp>
        <p:nvSpPr>
          <p:cNvPr id="49" name="TextBox 48"/>
          <p:cNvSpPr txBox="1"/>
          <p:nvPr/>
        </p:nvSpPr>
        <p:spPr>
          <a:xfrm>
            <a:off x="6384797" y="2215135"/>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Can catch missing objects, but cannot prove semantic correctness and may struggle with aliases or quoting.</a:t>
            </a:r>
          </a:p>
        </p:txBody>
      </p:sp>
      <p:sp>
        <p:nvSpPr>
          <p:cNvPr id="50" name="Rectangle 49"/>
          <p:cNvSpPr/>
          <p:nvPr/>
        </p:nvSpPr>
        <p:spPr>
          <a:xfrm>
            <a:off x="6384797" y="2592324"/>
            <a:ext cx="754380" cy="123444"/>
          </a:xfrm>
          <a:prstGeom prst="rect">
            <a:avLst/>
          </a:prstGeom>
          <a:solidFill>
            <a:srgbClr val="272B3A"/>
          </a:solidFill>
          <a:ln w="5080">
            <a:solidFill>
              <a:srgbClr val="59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1" name="TextBox 50"/>
          <p:cNvSpPr txBox="1"/>
          <p:nvPr/>
        </p:nvSpPr>
        <p:spPr>
          <a:xfrm>
            <a:off x="6384797" y="2609468"/>
            <a:ext cx="754380" cy="90025"/>
          </a:xfrm>
          <a:prstGeom prst="rect">
            <a:avLst/>
          </a:prstGeom>
          <a:noFill/>
        </p:spPr>
        <p:txBody>
          <a:bodyPr wrap="square" lIns="13716" tIns="13716" rIns="13716" bIns="13716" anchor="t">
            <a:spAutoFit/>
          </a:bodyPr>
          <a:lstStyle/>
          <a:p>
            <a:pPr algn="ctr"/>
            <a:r>
              <a:rPr sz="405" b="1">
                <a:solidFill>
                  <a:srgbClr val="599DFF"/>
                </a:solidFill>
                <a:latin typeface="Aptos"/>
              </a:rPr>
              <a:t>SCHEMA CHECK</a:t>
            </a:r>
          </a:p>
        </p:txBody>
      </p:sp>
      <p:sp>
        <p:nvSpPr>
          <p:cNvPr id="52" name="Rectangle 51"/>
          <p:cNvSpPr/>
          <p:nvPr/>
        </p:nvSpPr>
        <p:spPr>
          <a:xfrm>
            <a:off x="1748790" y="3120390"/>
            <a:ext cx="2674620" cy="106299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3" name="Rectangle 52"/>
          <p:cNvSpPr/>
          <p:nvPr/>
        </p:nvSpPr>
        <p:spPr>
          <a:xfrm>
            <a:off x="1748790" y="3120390"/>
            <a:ext cx="2674620" cy="34290"/>
          </a:xfrm>
          <a:prstGeom prst="rect">
            <a:avLst/>
          </a:prstGeom>
          <a:solidFill>
            <a:srgbClr val="A47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4" name="Oval 53"/>
          <p:cNvSpPr/>
          <p:nvPr/>
        </p:nvSpPr>
        <p:spPr>
          <a:xfrm>
            <a:off x="1899666" y="3305556"/>
            <a:ext cx="301752" cy="301752"/>
          </a:xfrm>
          <a:prstGeom prst="ellipse">
            <a:avLst/>
          </a:prstGeom>
          <a:solidFill>
            <a:srgbClr val="252D3A"/>
          </a:solidFill>
          <a:ln w="12700">
            <a:solidFill>
              <a:srgbClr val="A47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5" name="TextBox 54"/>
          <p:cNvSpPr txBox="1"/>
          <p:nvPr/>
        </p:nvSpPr>
        <p:spPr>
          <a:xfrm>
            <a:off x="1899666" y="3387852"/>
            <a:ext cx="301752" cy="120033"/>
          </a:xfrm>
          <a:prstGeom prst="rect">
            <a:avLst/>
          </a:prstGeom>
          <a:noFill/>
        </p:spPr>
        <p:txBody>
          <a:bodyPr wrap="square" lIns="13716" tIns="13716" rIns="13716" bIns="13716" anchor="t">
            <a:spAutoFit/>
          </a:bodyPr>
          <a:lstStyle/>
          <a:p>
            <a:pPr algn="ctr"/>
            <a:r>
              <a:rPr sz="600" b="1">
                <a:solidFill>
                  <a:srgbClr val="A47EFF"/>
                </a:solidFill>
                <a:latin typeface="Aptos"/>
              </a:rPr>
              <a:t>X</a:t>
            </a:r>
          </a:p>
        </p:txBody>
      </p:sp>
      <p:sp>
        <p:nvSpPr>
          <p:cNvPr id="56" name="TextBox 55"/>
          <p:cNvSpPr txBox="1"/>
          <p:nvPr/>
        </p:nvSpPr>
        <p:spPr>
          <a:xfrm>
            <a:off x="2242565" y="3353562"/>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Execution layer</a:t>
            </a:r>
          </a:p>
        </p:txBody>
      </p:sp>
      <p:sp>
        <p:nvSpPr>
          <p:cNvPr id="57" name="TextBox 56"/>
          <p:cNvSpPr txBox="1"/>
          <p:nvPr/>
        </p:nvSpPr>
        <p:spPr>
          <a:xfrm>
            <a:off x="1995677" y="3723895"/>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Connection failures, permissions, timeouts, warehouse constraints, missing objects, and CSV/result file issues.</a:t>
            </a:r>
          </a:p>
        </p:txBody>
      </p:sp>
      <p:sp>
        <p:nvSpPr>
          <p:cNvPr id="58" name="Rectangle 57"/>
          <p:cNvSpPr/>
          <p:nvPr/>
        </p:nvSpPr>
        <p:spPr>
          <a:xfrm>
            <a:off x="1995677" y="3963923"/>
            <a:ext cx="754380" cy="123444"/>
          </a:xfrm>
          <a:prstGeom prst="rect">
            <a:avLst/>
          </a:prstGeom>
          <a:solidFill>
            <a:srgbClr val="272B3A"/>
          </a:solidFill>
          <a:ln w="5080">
            <a:solidFill>
              <a:srgbClr val="A47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9" name="TextBox 58"/>
          <p:cNvSpPr txBox="1"/>
          <p:nvPr/>
        </p:nvSpPr>
        <p:spPr>
          <a:xfrm>
            <a:off x="1995677" y="3981069"/>
            <a:ext cx="754380" cy="90025"/>
          </a:xfrm>
          <a:prstGeom prst="rect">
            <a:avLst/>
          </a:prstGeom>
          <a:noFill/>
        </p:spPr>
        <p:txBody>
          <a:bodyPr wrap="square" lIns="13716" tIns="13716" rIns="13716" bIns="13716" anchor="t">
            <a:spAutoFit/>
          </a:bodyPr>
          <a:lstStyle/>
          <a:p>
            <a:pPr algn="ctr"/>
            <a:r>
              <a:rPr sz="405" b="1">
                <a:solidFill>
                  <a:srgbClr val="A47EFF"/>
                </a:solidFill>
                <a:latin typeface="Aptos"/>
              </a:rPr>
              <a:t>RUNTIME</a:t>
            </a:r>
          </a:p>
        </p:txBody>
      </p:sp>
      <p:sp>
        <p:nvSpPr>
          <p:cNvPr id="60" name="Rectangle 59"/>
          <p:cNvSpPr/>
          <p:nvPr/>
        </p:nvSpPr>
        <p:spPr>
          <a:xfrm>
            <a:off x="4732020" y="3120390"/>
            <a:ext cx="2674620" cy="106299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1" name="Rectangle 60"/>
          <p:cNvSpPr/>
          <p:nvPr/>
        </p:nvSpPr>
        <p:spPr>
          <a:xfrm>
            <a:off x="4732020" y="3120390"/>
            <a:ext cx="2674620" cy="34290"/>
          </a:xfrm>
          <a:prstGeom prst="rect">
            <a:avLst/>
          </a:prstGeom>
          <a:solidFill>
            <a:srgbClr val="2BD3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2" name="Oval 61"/>
          <p:cNvSpPr/>
          <p:nvPr/>
        </p:nvSpPr>
        <p:spPr>
          <a:xfrm>
            <a:off x="4882896" y="3305556"/>
            <a:ext cx="301752" cy="301752"/>
          </a:xfrm>
          <a:prstGeom prst="ellipse">
            <a:avLst/>
          </a:prstGeom>
          <a:solidFill>
            <a:srgbClr val="1F3434"/>
          </a:solidFill>
          <a:ln w="1270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3" name="TextBox 62"/>
          <p:cNvSpPr txBox="1"/>
          <p:nvPr/>
        </p:nvSpPr>
        <p:spPr>
          <a:xfrm>
            <a:off x="4882896" y="3387852"/>
            <a:ext cx="301752" cy="120033"/>
          </a:xfrm>
          <a:prstGeom prst="rect">
            <a:avLst/>
          </a:prstGeom>
          <a:noFill/>
        </p:spPr>
        <p:txBody>
          <a:bodyPr wrap="square" lIns="13716" tIns="13716" rIns="13716" bIns="13716" anchor="t">
            <a:spAutoFit/>
          </a:bodyPr>
          <a:lstStyle/>
          <a:p>
            <a:pPr algn="ctr"/>
            <a:r>
              <a:rPr sz="600" b="1">
                <a:solidFill>
                  <a:srgbClr val="2BD3C0"/>
                </a:solidFill>
                <a:latin typeface="Aptos"/>
              </a:rPr>
              <a:t>D</a:t>
            </a:r>
          </a:p>
        </p:txBody>
      </p:sp>
      <p:sp>
        <p:nvSpPr>
          <p:cNvPr id="64" name="TextBox 63"/>
          <p:cNvSpPr txBox="1"/>
          <p:nvPr/>
        </p:nvSpPr>
        <p:spPr>
          <a:xfrm>
            <a:off x="5225796" y="3353562"/>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Cross-database discovery</a:t>
            </a:r>
          </a:p>
        </p:txBody>
      </p:sp>
      <p:sp>
        <p:nvSpPr>
          <p:cNvPr id="65" name="TextBox 64"/>
          <p:cNvSpPr txBox="1"/>
          <p:nvPr/>
        </p:nvSpPr>
        <p:spPr>
          <a:xfrm>
            <a:off x="4978908" y="3723895"/>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Recovery may require finding missing objects elsewhere without turning discovery into hardcoding.</a:t>
            </a:r>
          </a:p>
        </p:txBody>
      </p:sp>
      <p:sp>
        <p:nvSpPr>
          <p:cNvPr id="66" name="Rectangle 65"/>
          <p:cNvSpPr/>
          <p:nvPr/>
        </p:nvSpPr>
        <p:spPr>
          <a:xfrm>
            <a:off x="4978908" y="3963923"/>
            <a:ext cx="754380" cy="123444"/>
          </a:xfrm>
          <a:prstGeom prst="rect">
            <a:avLst/>
          </a:prstGeom>
          <a:solidFill>
            <a:srgbClr val="162C30"/>
          </a:solidFill>
          <a:ln w="508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7" name="TextBox 66"/>
          <p:cNvSpPr txBox="1"/>
          <p:nvPr/>
        </p:nvSpPr>
        <p:spPr>
          <a:xfrm>
            <a:off x="4978908" y="3981069"/>
            <a:ext cx="754380" cy="90025"/>
          </a:xfrm>
          <a:prstGeom prst="rect">
            <a:avLst/>
          </a:prstGeom>
          <a:noFill/>
        </p:spPr>
        <p:txBody>
          <a:bodyPr wrap="square" lIns="13716" tIns="13716" rIns="13716" bIns="13716" anchor="t">
            <a:spAutoFit/>
          </a:bodyPr>
          <a:lstStyle/>
          <a:p>
            <a:pPr algn="ctr"/>
            <a:r>
              <a:rPr sz="405" b="1">
                <a:solidFill>
                  <a:srgbClr val="2BD3C0"/>
                </a:solidFill>
                <a:latin typeface="Aptos"/>
              </a:rPr>
              <a:t>RECOVERY</a:t>
            </a:r>
          </a:p>
        </p:txBody>
      </p:sp>
      <p:sp>
        <p:nvSpPr>
          <p:cNvPr id="68" name="Rectangle 67"/>
          <p:cNvSpPr/>
          <p:nvPr/>
        </p:nvSpPr>
        <p:spPr>
          <a:xfrm>
            <a:off x="342900" y="4855464"/>
            <a:ext cx="8435340" cy="6858"/>
          </a:xfrm>
          <a:prstGeom prst="rect">
            <a:avLst/>
          </a:prstGeom>
          <a:solidFill>
            <a:srgbClr val="252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9" name="TextBox 68"/>
          <p:cNvSpPr txBox="1"/>
          <p:nvPr/>
        </p:nvSpPr>
        <p:spPr>
          <a:xfrm>
            <a:off x="425196" y="4910328"/>
            <a:ext cx="3566160" cy="108491"/>
          </a:xfrm>
          <a:prstGeom prst="rect">
            <a:avLst/>
          </a:prstGeom>
          <a:noFill/>
        </p:spPr>
        <p:txBody>
          <a:bodyPr wrap="square" lIns="13716" tIns="13716" rIns="13716" bIns="13716" anchor="t">
            <a:spAutoFit/>
          </a:bodyPr>
          <a:lstStyle/>
          <a:p>
            <a:pPr algn="l"/>
            <a:r>
              <a:rPr sz="525">
                <a:solidFill>
                  <a:srgbClr val="666C76"/>
                </a:solidFill>
                <a:latin typeface="Aptos"/>
              </a:rPr>
              <a:t>Text-to-SQL problem taxonomy | SpiderDIN project experience</a:t>
            </a:r>
          </a:p>
        </p:txBody>
      </p:sp>
      <p:pic>
        <p:nvPicPr>
          <p:cNvPr id="70" name="Picture 69">
            <a:extLst>
              <a:ext uri="{FF2B5EF4-FFF2-40B4-BE49-F238E27FC236}">
                <a16:creationId xmlns:a16="http://schemas.microsoft.com/office/drawing/2014/main" id="{FC165E4C-D2A5-94AA-1870-93738B82C835}"/>
              </a:ext>
            </a:extLst>
          </p:cNvPr>
          <p:cNvPicPr>
            <a:picLocks noChangeAspect="1"/>
          </p:cNvPicPr>
          <p:nvPr/>
        </p:nvPicPr>
        <p:blipFill>
          <a:blip r:embed="rId2"/>
          <a:srcRect l="-928" t="29746" r="928" b="36645"/>
          <a:stretch>
            <a:fillRect/>
          </a:stretch>
        </p:blipFill>
        <p:spPr>
          <a:xfrm>
            <a:off x="8218575" y="45720"/>
            <a:ext cx="861058" cy="28939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0C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p:cNvSpPr/>
          <p:nvPr/>
        </p:nvSpPr>
        <p:spPr>
          <a:xfrm>
            <a:off x="685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p:cNvSpPr/>
          <p:nvPr/>
        </p:nvSpPr>
        <p:spPr>
          <a:xfrm>
            <a:off x="1371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2057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2743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p:cNvSpPr/>
          <p:nvPr/>
        </p:nvSpPr>
        <p:spPr>
          <a:xfrm>
            <a:off x="3429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114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4800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5486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6172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6858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7543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8229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ectangle 14"/>
          <p:cNvSpPr/>
          <p:nvPr/>
        </p:nvSpPr>
        <p:spPr>
          <a:xfrm>
            <a:off x="8915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1" y="685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ectangle 16"/>
          <p:cNvSpPr/>
          <p:nvPr/>
        </p:nvSpPr>
        <p:spPr>
          <a:xfrm>
            <a:off x="1" y="1371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ectangle 17"/>
          <p:cNvSpPr/>
          <p:nvPr/>
        </p:nvSpPr>
        <p:spPr>
          <a:xfrm>
            <a:off x="1" y="20574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ectangle 18"/>
          <p:cNvSpPr/>
          <p:nvPr/>
        </p:nvSpPr>
        <p:spPr>
          <a:xfrm>
            <a:off x="1" y="27432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ectangle 19"/>
          <p:cNvSpPr/>
          <p:nvPr/>
        </p:nvSpPr>
        <p:spPr>
          <a:xfrm>
            <a:off x="1" y="34290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Rectangle 20"/>
          <p:cNvSpPr/>
          <p:nvPr/>
        </p:nvSpPr>
        <p:spPr>
          <a:xfrm>
            <a:off x="1" y="4114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Rectangle 21"/>
          <p:cNvSpPr/>
          <p:nvPr/>
        </p:nvSpPr>
        <p:spPr>
          <a:xfrm>
            <a:off x="1" y="4800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Rectangle 22"/>
          <p:cNvSpPr/>
          <p:nvPr/>
        </p:nvSpPr>
        <p:spPr>
          <a:xfrm>
            <a:off x="342900" y="260604"/>
            <a:ext cx="1131570" cy="20574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528066" y="315468"/>
            <a:ext cx="788670" cy="99258"/>
          </a:xfrm>
          <a:prstGeom prst="rect">
            <a:avLst/>
          </a:prstGeom>
          <a:noFill/>
        </p:spPr>
        <p:txBody>
          <a:bodyPr wrap="square" lIns="13716" tIns="13716" rIns="13716" bIns="13716" anchor="t">
            <a:spAutoFit/>
          </a:bodyPr>
          <a:lstStyle/>
          <a:p>
            <a:pPr algn="ctr"/>
            <a:r>
              <a:rPr sz="465" b="1">
                <a:solidFill>
                  <a:srgbClr val="0C0F14"/>
                </a:solidFill>
                <a:latin typeface="Aptos"/>
              </a:rPr>
              <a:t>ARCHITECTURE PROBLEMS</a:t>
            </a:r>
          </a:p>
        </p:txBody>
      </p:sp>
      <p:sp>
        <p:nvSpPr>
          <p:cNvPr id="25" name="TextBox 24"/>
          <p:cNvSpPr txBox="1"/>
          <p:nvPr/>
        </p:nvSpPr>
        <p:spPr>
          <a:xfrm>
            <a:off x="8572500" y="240030"/>
            <a:ext cx="240030" cy="131574"/>
          </a:xfrm>
          <a:prstGeom prst="rect">
            <a:avLst/>
          </a:prstGeom>
          <a:noFill/>
        </p:spPr>
        <p:txBody>
          <a:bodyPr wrap="square" lIns="13716" tIns="13716" rIns="13716" bIns="13716" anchor="t">
            <a:spAutoFit/>
          </a:bodyPr>
          <a:lstStyle/>
          <a:p>
            <a:pPr algn="r"/>
            <a:r>
              <a:rPr sz="675">
                <a:solidFill>
                  <a:srgbClr val="666C76"/>
                </a:solidFill>
                <a:latin typeface="Aptos"/>
              </a:rPr>
              <a:t>08</a:t>
            </a:r>
          </a:p>
        </p:txBody>
      </p:sp>
      <p:sp>
        <p:nvSpPr>
          <p:cNvPr id="26" name="TextBox 25"/>
          <p:cNvSpPr txBox="1"/>
          <p:nvPr/>
        </p:nvSpPr>
        <p:spPr>
          <a:xfrm>
            <a:off x="425196" y="617220"/>
            <a:ext cx="7680960" cy="600164"/>
          </a:xfrm>
          <a:prstGeom prst="rect">
            <a:avLst/>
          </a:prstGeom>
          <a:noFill/>
        </p:spPr>
        <p:txBody>
          <a:bodyPr wrap="square" lIns="0" tIns="0" rIns="0" bIns="0">
            <a:spAutoFit/>
          </a:bodyPr>
          <a:lstStyle/>
          <a:p>
            <a:pPr algn="l"/>
            <a:r>
              <a:rPr sz="1950" b="1">
                <a:solidFill>
                  <a:srgbClr val="FFBE18"/>
                </a:solidFill>
                <a:latin typeface="Georgia"/>
              </a:rPr>
              <a:t>B3. Validation and repair: </a:t>
            </a:r>
            <a:r>
              <a:rPr sz="1950" b="1">
                <a:solidFill>
                  <a:srgbClr val="F1EFE9"/>
                </a:solidFill>
                <a:latin typeface="Georgia"/>
              </a:rPr>
              <a:t>the loop must improve, not just repeat.</a:t>
            </a:r>
          </a:p>
        </p:txBody>
      </p:sp>
      <p:sp>
        <p:nvSpPr>
          <p:cNvPr id="27" name="TextBox 26"/>
          <p:cNvSpPr txBox="1"/>
          <p:nvPr/>
        </p:nvSpPr>
        <p:spPr>
          <a:xfrm>
            <a:off x="438912" y="1179576"/>
            <a:ext cx="6583680" cy="146643"/>
          </a:xfrm>
          <a:prstGeom prst="rect">
            <a:avLst/>
          </a:prstGeom>
          <a:noFill/>
        </p:spPr>
        <p:txBody>
          <a:bodyPr wrap="square" lIns="13716" tIns="13716" rIns="13716" bIns="13716" anchor="t">
            <a:spAutoFit/>
          </a:bodyPr>
          <a:lstStyle/>
          <a:p>
            <a:pPr algn="l"/>
            <a:r>
              <a:rPr sz="773">
                <a:solidFill>
                  <a:srgbClr val="F1EFE9"/>
                </a:solidFill>
                <a:latin typeface="Aptos"/>
              </a:rPr>
              <a:t>The pipeline becomes trustworthy only when it judges outputs and repairs failures using evidence. But loops can be fragile.</a:t>
            </a:r>
          </a:p>
        </p:txBody>
      </p:sp>
      <p:sp>
        <p:nvSpPr>
          <p:cNvPr id="28" name="Rectangle 27"/>
          <p:cNvSpPr/>
          <p:nvPr/>
        </p:nvSpPr>
        <p:spPr>
          <a:xfrm>
            <a:off x="342900" y="1611630"/>
            <a:ext cx="2674620" cy="1371600"/>
          </a:xfrm>
          <a:prstGeom prst="rect">
            <a:avLst/>
          </a:prstGeom>
          <a:solidFill>
            <a:srgbClr val="181D27"/>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9" name="Rectangle 28"/>
          <p:cNvSpPr/>
          <p:nvPr/>
        </p:nvSpPr>
        <p:spPr>
          <a:xfrm>
            <a:off x="342900" y="1611630"/>
            <a:ext cx="2674620" cy="34290"/>
          </a:xfrm>
          <a:prstGeom prst="rect">
            <a:avLst/>
          </a:prstGeom>
          <a:solidFill>
            <a:srgbClr val="41D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Oval 29"/>
          <p:cNvSpPr/>
          <p:nvPr/>
        </p:nvSpPr>
        <p:spPr>
          <a:xfrm>
            <a:off x="466344" y="1762506"/>
            <a:ext cx="301752" cy="301752"/>
          </a:xfrm>
          <a:prstGeom prst="ellipse">
            <a:avLst/>
          </a:prstGeom>
          <a:solidFill>
            <a:srgbClr val="1F3434"/>
          </a:solidFill>
          <a:ln w="1270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1" name="TextBox 30"/>
          <p:cNvSpPr txBox="1"/>
          <p:nvPr/>
        </p:nvSpPr>
        <p:spPr>
          <a:xfrm>
            <a:off x="466344" y="1844802"/>
            <a:ext cx="301752" cy="120033"/>
          </a:xfrm>
          <a:prstGeom prst="rect">
            <a:avLst/>
          </a:prstGeom>
          <a:noFill/>
        </p:spPr>
        <p:txBody>
          <a:bodyPr wrap="square" lIns="13716" tIns="13716" rIns="13716" bIns="13716" anchor="t">
            <a:spAutoFit/>
          </a:bodyPr>
          <a:lstStyle/>
          <a:p>
            <a:pPr algn="ctr"/>
            <a:r>
              <a:rPr sz="600" b="1">
                <a:solidFill>
                  <a:srgbClr val="41DA8E"/>
                </a:solidFill>
                <a:latin typeface="Aptos"/>
              </a:rPr>
              <a:t>Q</a:t>
            </a:r>
          </a:p>
        </p:txBody>
      </p:sp>
      <p:sp>
        <p:nvSpPr>
          <p:cNvPr id="32" name="TextBox 31"/>
          <p:cNvSpPr txBox="1"/>
          <p:nvPr/>
        </p:nvSpPr>
        <p:spPr>
          <a:xfrm>
            <a:off x="809244" y="1810512"/>
            <a:ext cx="2091690" cy="147733"/>
          </a:xfrm>
          <a:prstGeom prst="rect">
            <a:avLst/>
          </a:prstGeom>
          <a:noFill/>
        </p:spPr>
        <p:txBody>
          <a:bodyPr wrap="square" lIns="13716" tIns="13716" rIns="13716" bIns="13716" anchor="t">
            <a:spAutoFit/>
          </a:bodyPr>
          <a:lstStyle/>
          <a:p>
            <a:pPr algn="l"/>
            <a:r>
              <a:rPr sz="780" b="1">
                <a:solidFill>
                  <a:srgbClr val="F1EFE9"/>
                </a:solidFill>
                <a:latin typeface="Aptos"/>
              </a:rPr>
              <a:t>Result validation</a:t>
            </a:r>
          </a:p>
        </p:txBody>
      </p:sp>
      <p:sp>
        <p:nvSpPr>
          <p:cNvPr id="33" name="TextBox 32"/>
          <p:cNvSpPr txBox="1"/>
          <p:nvPr/>
        </p:nvSpPr>
        <p:spPr>
          <a:xfrm>
            <a:off x="534924" y="2105406"/>
            <a:ext cx="82296" cy="115416"/>
          </a:xfrm>
          <a:prstGeom prst="rect">
            <a:avLst/>
          </a:prstGeom>
          <a:noFill/>
        </p:spPr>
        <p:txBody>
          <a:bodyPr wrap="square" lIns="13716" tIns="13716" rIns="13716" bIns="13716" anchor="t">
            <a:spAutoFit/>
          </a:bodyPr>
          <a:lstStyle/>
          <a:p>
            <a:pPr algn="l"/>
            <a:r>
              <a:rPr sz="570" b="1">
                <a:solidFill>
                  <a:srgbClr val="41DA8E"/>
                </a:solidFill>
                <a:latin typeface="Aptos"/>
              </a:rPr>
              <a:t>•</a:t>
            </a:r>
          </a:p>
        </p:txBody>
      </p:sp>
      <p:sp>
        <p:nvSpPr>
          <p:cNvPr id="34" name="TextBox 33"/>
          <p:cNvSpPr txBox="1"/>
          <p:nvPr/>
        </p:nvSpPr>
        <p:spPr>
          <a:xfrm>
            <a:off x="658368" y="2105407"/>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empty result may be valid or wrong</a:t>
            </a:r>
          </a:p>
        </p:txBody>
      </p:sp>
      <p:sp>
        <p:nvSpPr>
          <p:cNvPr id="35" name="TextBox 34"/>
          <p:cNvSpPr txBox="1"/>
          <p:nvPr/>
        </p:nvSpPr>
        <p:spPr>
          <a:xfrm>
            <a:off x="534924" y="2338578"/>
            <a:ext cx="82296" cy="115416"/>
          </a:xfrm>
          <a:prstGeom prst="rect">
            <a:avLst/>
          </a:prstGeom>
          <a:noFill/>
        </p:spPr>
        <p:txBody>
          <a:bodyPr wrap="square" lIns="13716" tIns="13716" rIns="13716" bIns="13716" anchor="t">
            <a:spAutoFit/>
          </a:bodyPr>
          <a:lstStyle/>
          <a:p>
            <a:pPr algn="l"/>
            <a:r>
              <a:rPr sz="570" b="1">
                <a:solidFill>
                  <a:srgbClr val="41DA8E"/>
                </a:solidFill>
                <a:latin typeface="Aptos"/>
              </a:rPr>
              <a:t>•</a:t>
            </a:r>
          </a:p>
        </p:txBody>
      </p:sp>
      <p:sp>
        <p:nvSpPr>
          <p:cNvPr id="36" name="TextBox 35"/>
          <p:cNvSpPr txBox="1"/>
          <p:nvPr/>
        </p:nvSpPr>
        <p:spPr>
          <a:xfrm>
            <a:off x="658368" y="2338579"/>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preview too small</a:t>
            </a:r>
          </a:p>
        </p:txBody>
      </p:sp>
      <p:sp>
        <p:nvSpPr>
          <p:cNvPr id="37" name="TextBox 36"/>
          <p:cNvSpPr txBox="1"/>
          <p:nvPr/>
        </p:nvSpPr>
        <p:spPr>
          <a:xfrm>
            <a:off x="534924" y="2571750"/>
            <a:ext cx="82296" cy="115416"/>
          </a:xfrm>
          <a:prstGeom prst="rect">
            <a:avLst/>
          </a:prstGeom>
          <a:noFill/>
        </p:spPr>
        <p:txBody>
          <a:bodyPr wrap="square" lIns="13716" tIns="13716" rIns="13716" bIns="13716" anchor="t">
            <a:spAutoFit/>
          </a:bodyPr>
          <a:lstStyle/>
          <a:p>
            <a:pPr algn="l"/>
            <a:r>
              <a:rPr sz="570" b="1">
                <a:solidFill>
                  <a:srgbClr val="41DA8E"/>
                </a:solidFill>
                <a:latin typeface="Aptos"/>
              </a:rPr>
              <a:t>•</a:t>
            </a:r>
          </a:p>
        </p:txBody>
      </p:sp>
      <p:sp>
        <p:nvSpPr>
          <p:cNvPr id="38" name="TextBox 37"/>
          <p:cNvSpPr txBox="1"/>
          <p:nvPr/>
        </p:nvSpPr>
        <p:spPr>
          <a:xfrm>
            <a:off x="658368" y="2571751"/>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stats insufficient</a:t>
            </a:r>
          </a:p>
        </p:txBody>
      </p:sp>
      <p:sp>
        <p:nvSpPr>
          <p:cNvPr id="39" name="TextBox 38"/>
          <p:cNvSpPr txBox="1"/>
          <p:nvPr/>
        </p:nvSpPr>
        <p:spPr>
          <a:xfrm>
            <a:off x="534924" y="2804922"/>
            <a:ext cx="82296" cy="115416"/>
          </a:xfrm>
          <a:prstGeom prst="rect">
            <a:avLst/>
          </a:prstGeom>
          <a:noFill/>
        </p:spPr>
        <p:txBody>
          <a:bodyPr wrap="square" lIns="13716" tIns="13716" rIns="13716" bIns="13716" anchor="t">
            <a:spAutoFit/>
          </a:bodyPr>
          <a:lstStyle/>
          <a:p>
            <a:pPr algn="l"/>
            <a:r>
              <a:rPr sz="570" b="1">
                <a:solidFill>
                  <a:srgbClr val="41DA8E"/>
                </a:solidFill>
                <a:latin typeface="Aptos"/>
              </a:rPr>
              <a:t>•</a:t>
            </a:r>
          </a:p>
        </p:txBody>
      </p:sp>
      <p:sp>
        <p:nvSpPr>
          <p:cNvPr id="40" name="TextBox 39"/>
          <p:cNvSpPr txBox="1"/>
          <p:nvPr/>
        </p:nvSpPr>
        <p:spPr>
          <a:xfrm>
            <a:off x="658368" y="2804923"/>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validator too strict or loose</a:t>
            </a:r>
          </a:p>
        </p:txBody>
      </p:sp>
      <p:sp>
        <p:nvSpPr>
          <p:cNvPr id="41" name="Rectangle 40"/>
          <p:cNvSpPr/>
          <p:nvPr/>
        </p:nvSpPr>
        <p:spPr>
          <a:xfrm>
            <a:off x="3236976" y="1611630"/>
            <a:ext cx="2674620" cy="1371600"/>
          </a:xfrm>
          <a:prstGeom prst="rect">
            <a:avLst/>
          </a:prstGeom>
          <a:solidFill>
            <a:srgbClr val="181D27"/>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2" name="Rectangle 41"/>
          <p:cNvSpPr/>
          <p:nvPr/>
        </p:nvSpPr>
        <p:spPr>
          <a:xfrm>
            <a:off x="3236976" y="1611630"/>
            <a:ext cx="2674620" cy="3429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3" name="Oval 42"/>
          <p:cNvSpPr/>
          <p:nvPr/>
        </p:nvSpPr>
        <p:spPr>
          <a:xfrm>
            <a:off x="3360419" y="1762506"/>
            <a:ext cx="301752" cy="301752"/>
          </a:xfrm>
          <a:prstGeom prst="ellipse">
            <a:avLst/>
          </a:prstGeom>
          <a:solidFill>
            <a:srgbClr val="252D3A"/>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4" name="TextBox 43"/>
          <p:cNvSpPr txBox="1"/>
          <p:nvPr/>
        </p:nvSpPr>
        <p:spPr>
          <a:xfrm>
            <a:off x="3360419" y="1844802"/>
            <a:ext cx="301752" cy="120033"/>
          </a:xfrm>
          <a:prstGeom prst="rect">
            <a:avLst/>
          </a:prstGeom>
          <a:noFill/>
        </p:spPr>
        <p:txBody>
          <a:bodyPr wrap="square" lIns="13716" tIns="13716" rIns="13716" bIns="13716" anchor="t">
            <a:spAutoFit/>
          </a:bodyPr>
          <a:lstStyle/>
          <a:p>
            <a:pPr algn="ctr"/>
            <a:r>
              <a:rPr sz="600" b="1">
                <a:solidFill>
                  <a:srgbClr val="F5A012"/>
                </a:solidFill>
                <a:latin typeface="Aptos"/>
              </a:rPr>
              <a:t>E</a:t>
            </a:r>
          </a:p>
        </p:txBody>
      </p:sp>
      <p:sp>
        <p:nvSpPr>
          <p:cNvPr id="45" name="TextBox 44"/>
          <p:cNvSpPr txBox="1"/>
          <p:nvPr/>
        </p:nvSpPr>
        <p:spPr>
          <a:xfrm>
            <a:off x="3703319" y="1810512"/>
            <a:ext cx="2091690" cy="147733"/>
          </a:xfrm>
          <a:prstGeom prst="rect">
            <a:avLst/>
          </a:prstGeom>
          <a:noFill/>
        </p:spPr>
        <p:txBody>
          <a:bodyPr wrap="square" lIns="13716" tIns="13716" rIns="13716" bIns="13716" anchor="t">
            <a:spAutoFit/>
          </a:bodyPr>
          <a:lstStyle/>
          <a:p>
            <a:pPr algn="l"/>
            <a:r>
              <a:rPr sz="780" b="1">
                <a:solidFill>
                  <a:srgbClr val="F1EFE9"/>
                </a:solidFill>
                <a:latin typeface="Aptos"/>
              </a:rPr>
              <a:t>Exploration probes</a:t>
            </a:r>
          </a:p>
        </p:txBody>
      </p:sp>
      <p:sp>
        <p:nvSpPr>
          <p:cNvPr id="46" name="TextBox 45"/>
          <p:cNvSpPr txBox="1"/>
          <p:nvPr/>
        </p:nvSpPr>
        <p:spPr>
          <a:xfrm>
            <a:off x="3429000" y="2105406"/>
            <a:ext cx="82296" cy="115416"/>
          </a:xfrm>
          <a:prstGeom prst="rect">
            <a:avLst/>
          </a:prstGeom>
          <a:noFill/>
        </p:spPr>
        <p:txBody>
          <a:bodyPr wrap="square" lIns="13716" tIns="13716" rIns="13716" bIns="13716" anchor="t">
            <a:spAutoFit/>
          </a:bodyPr>
          <a:lstStyle/>
          <a:p>
            <a:pPr algn="l"/>
            <a:r>
              <a:rPr sz="570" b="1">
                <a:solidFill>
                  <a:srgbClr val="F5A012"/>
                </a:solidFill>
                <a:latin typeface="Aptos"/>
              </a:rPr>
              <a:t>•</a:t>
            </a:r>
          </a:p>
        </p:txBody>
      </p:sp>
      <p:sp>
        <p:nvSpPr>
          <p:cNvPr id="47" name="TextBox 46"/>
          <p:cNvSpPr txBox="1"/>
          <p:nvPr/>
        </p:nvSpPr>
        <p:spPr>
          <a:xfrm>
            <a:off x="3552444" y="2105407"/>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probe SQL may fail</a:t>
            </a:r>
          </a:p>
        </p:txBody>
      </p:sp>
      <p:sp>
        <p:nvSpPr>
          <p:cNvPr id="48" name="TextBox 47"/>
          <p:cNvSpPr txBox="1"/>
          <p:nvPr/>
        </p:nvSpPr>
        <p:spPr>
          <a:xfrm>
            <a:off x="3429000" y="2338578"/>
            <a:ext cx="82296" cy="115416"/>
          </a:xfrm>
          <a:prstGeom prst="rect">
            <a:avLst/>
          </a:prstGeom>
          <a:noFill/>
        </p:spPr>
        <p:txBody>
          <a:bodyPr wrap="square" lIns="13716" tIns="13716" rIns="13716" bIns="13716" anchor="t">
            <a:spAutoFit/>
          </a:bodyPr>
          <a:lstStyle/>
          <a:p>
            <a:pPr algn="l"/>
            <a:r>
              <a:rPr sz="570" b="1">
                <a:solidFill>
                  <a:srgbClr val="F5A012"/>
                </a:solidFill>
                <a:latin typeface="Aptos"/>
              </a:rPr>
              <a:t>•</a:t>
            </a:r>
          </a:p>
        </p:txBody>
      </p:sp>
      <p:sp>
        <p:nvSpPr>
          <p:cNvPr id="49" name="TextBox 48"/>
          <p:cNvSpPr txBox="1"/>
          <p:nvPr/>
        </p:nvSpPr>
        <p:spPr>
          <a:xfrm>
            <a:off x="3552444" y="2338579"/>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probe can inspect wrong table</a:t>
            </a:r>
          </a:p>
        </p:txBody>
      </p:sp>
      <p:sp>
        <p:nvSpPr>
          <p:cNvPr id="50" name="TextBox 49"/>
          <p:cNvSpPr txBox="1"/>
          <p:nvPr/>
        </p:nvSpPr>
        <p:spPr>
          <a:xfrm>
            <a:off x="3429000" y="2571750"/>
            <a:ext cx="82296" cy="115416"/>
          </a:xfrm>
          <a:prstGeom prst="rect">
            <a:avLst/>
          </a:prstGeom>
          <a:noFill/>
        </p:spPr>
        <p:txBody>
          <a:bodyPr wrap="square" lIns="13716" tIns="13716" rIns="13716" bIns="13716" anchor="t">
            <a:spAutoFit/>
          </a:bodyPr>
          <a:lstStyle/>
          <a:p>
            <a:pPr algn="l"/>
            <a:r>
              <a:rPr sz="570" b="1">
                <a:solidFill>
                  <a:srgbClr val="F5A012"/>
                </a:solidFill>
                <a:latin typeface="Aptos"/>
              </a:rPr>
              <a:t>•</a:t>
            </a:r>
          </a:p>
        </p:txBody>
      </p:sp>
      <p:sp>
        <p:nvSpPr>
          <p:cNvPr id="51" name="TextBox 50"/>
          <p:cNvSpPr txBox="1"/>
          <p:nvPr/>
        </p:nvSpPr>
        <p:spPr>
          <a:xfrm>
            <a:off x="3552444" y="2571751"/>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extra execution cost</a:t>
            </a:r>
          </a:p>
        </p:txBody>
      </p:sp>
      <p:sp>
        <p:nvSpPr>
          <p:cNvPr id="52" name="TextBox 51"/>
          <p:cNvSpPr txBox="1"/>
          <p:nvPr/>
        </p:nvSpPr>
        <p:spPr>
          <a:xfrm>
            <a:off x="3429000" y="2804922"/>
            <a:ext cx="82296" cy="115416"/>
          </a:xfrm>
          <a:prstGeom prst="rect">
            <a:avLst/>
          </a:prstGeom>
          <a:noFill/>
        </p:spPr>
        <p:txBody>
          <a:bodyPr wrap="square" lIns="13716" tIns="13716" rIns="13716" bIns="13716" anchor="t">
            <a:spAutoFit/>
          </a:bodyPr>
          <a:lstStyle/>
          <a:p>
            <a:pPr algn="l"/>
            <a:r>
              <a:rPr sz="570" b="1">
                <a:solidFill>
                  <a:srgbClr val="F5A012"/>
                </a:solidFill>
                <a:latin typeface="Aptos"/>
              </a:rPr>
              <a:t>•</a:t>
            </a:r>
          </a:p>
        </p:txBody>
      </p:sp>
      <p:sp>
        <p:nvSpPr>
          <p:cNvPr id="53" name="TextBox 52"/>
          <p:cNvSpPr txBox="1"/>
          <p:nvPr/>
        </p:nvSpPr>
        <p:spPr>
          <a:xfrm>
            <a:off x="3552444" y="2804923"/>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ambiguous probe output</a:t>
            </a:r>
          </a:p>
        </p:txBody>
      </p:sp>
      <p:sp>
        <p:nvSpPr>
          <p:cNvPr id="54" name="Rectangle 53"/>
          <p:cNvSpPr/>
          <p:nvPr/>
        </p:nvSpPr>
        <p:spPr>
          <a:xfrm>
            <a:off x="6137909" y="1611630"/>
            <a:ext cx="2674620" cy="1371600"/>
          </a:xfrm>
          <a:prstGeom prst="rect">
            <a:avLst/>
          </a:prstGeom>
          <a:solidFill>
            <a:srgbClr val="181D27"/>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5" name="Rectangle 54"/>
          <p:cNvSpPr/>
          <p:nvPr/>
        </p:nvSpPr>
        <p:spPr>
          <a:xfrm>
            <a:off x="6137909" y="1611630"/>
            <a:ext cx="2674620" cy="34290"/>
          </a:xfrm>
          <a:prstGeom prst="rect">
            <a:avLst/>
          </a:prstGeom>
          <a:solidFill>
            <a:srgbClr val="FF69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6" name="Oval 55"/>
          <p:cNvSpPr/>
          <p:nvPr/>
        </p:nvSpPr>
        <p:spPr>
          <a:xfrm>
            <a:off x="6261353" y="1762506"/>
            <a:ext cx="301752" cy="301752"/>
          </a:xfrm>
          <a:prstGeom prst="ellipse">
            <a:avLst/>
          </a:prstGeom>
          <a:solidFill>
            <a:srgbClr val="32262A"/>
          </a:solidFill>
          <a:ln w="12700">
            <a:solidFill>
              <a:srgbClr val="FF6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7" name="TextBox 56"/>
          <p:cNvSpPr txBox="1"/>
          <p:nvPr/>
        </p:nvSpPr>
        <p:spPr>
          <a:xfrm>
            <a:off x="6261353" y="1844802"/>
            <a:ext cx="301752" cy="120033"/>
          </a:xfrm>
          <a:prstGeom prst="rect">
            <a:avLst/>
          </a:prstGeom>
          <a:noFill/>
        </p:spPr>
        <p:txBody>
          <a:bodyPr wrap="square" lIns="13716" tIns="13716" rIns="13716" bIns="13716" anchor="t">
            <a:spAutoFit/>
          </a:bodyPr>
          <a:lstStyle/>
          <a:p>
            <a:pPr algn="ctr"/>
            <a:r>
              <a:rPr sz="600" b="1">
                <a:solidFill>
                  <a:srgbClr val="FF6974"/>
                </a:solidFill>
                <a:latin typeface="Aptos"/>
              </a:rPr>
              <a:t>F</a:t>
            </a:r>
          </a:p>
        </p:txBody>
      </p:sp>
      <p:sp>
        <p:nvSpPr>
          <p:cNvPr id="58" name="TextBox 57"/>
          <p:cNvSpPr txBox="1"/>
          <p:nvPr/>
        </p:nvSpPr>
        <p:spPr>
          <a:xfrm>
            <a:off x="6604254" y="1810512"/>
            <a:ext cx="2091690" cy="147733"/>
          </a:xfrm>
          <a:prstGeom prst="rect">
            <a:avLst/>
          </a:prstGeom>
          <a:noFill/>
        </p:spPr>
        <p:txBody>
          <a:bodyPr wrap="square" lIns="13716" tIns="13716" rIns="13716" bIns="13716" anchor="t">
            <a:spAutoFit/>
          </a:bodyPr>
          <a:lstStyle/>
          <a:p>
            <a:pPr algn="l"/>
            <a:r>
              <a:rPr sz="780" b="1">
                <a:solidFill>
                  <a:srgbClr val="F1EFE9"/>
                </a:solidFill>
                <a:latin typeface="Aptos"/>
              </a:rPr>
              <a:t>Self-correction</a:t>
            </a:r>
          </a:p>
        </p:txBody>
      </p:sp>
      <p:sp>
        <p:nvSpPr>
          <p:cNvPr id="59" name="TextBox 58"/>
          <p:cNvSpPr txBox="1"/>
          <p:nvPr/>
        </p:nvSpPr>
        <p:spPr>
          <a:xfrm>
            <a:off x="6329933" y="2105406"/>
            <a:ext cx="82296" cy="115416"/>
          </a:xfrm>
          <a:prstGeom prst="rect">
            <a:avLst/>
          </a:prstGeom>
          <a:noFill/>
        </p:spPr>
        <p:txBody>
          <a:bodyPr wrap="square" lIns="13716" tIns="13716" rIns="13716" bIns="13716" anchor="t">
            <a:spAutoFit/>
          </a:bodyPr>
          <a:lstStyle/>
          <a:p>
            <a:pPr algn="l"/>
            <a:r>
              <a:rPr sz="570" b="1">
                <a:solidFill>
                  <a:srgbClr val="FF6974"/>
                </a:solidFill>
                <a:latin typeface="Aptos"/>
              </a:rPr>
              <a:t>•</a:t>
            </a:r>
          </a:p>
        </p:txBody>
      </p:sp>
      <p:sp>
        <p:nvSpPr>
          <p:cNvPr id="60" name="TextBox 59"/>
          <p:cNvSpPr txBox="1"/>
          <p:nvPr/>
        </p:nvSpPr>
        <p:spPr>
          <a:xfrm>
            <a:off x="6453378" y="2105407"/>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fixes syntax but not logic</a:t>
            </a:r>
          </a:p>
        </p:txBody>
      </p:sp>
      <p:sp>
        <p:nvSpPr>
          <p:cNvPr id="61" name="TextBox 60"/>
          <p:cNvSpPr txBox="1"/>
          <p:nvPr/>
        </p:nvSpPr>
        <p:spPr>
          <a:xfrm>
            <a:off x="6329933" y="2338578"/>
            <a:ext cx="82296" cy="115416"/>
          </a:xfrm>
          <a:prstGeom prst="rect">
            <a:avLst/>
          </a:prstGeom>
          <a:noFill/>
        </p:spPr>
        <p:txBody>
          <a:bodyPr wrap="square" lIns="13716" tIns="13716" rIns="13716" bIns="13716" anchor="t">
            <a:spAutoFit/>
          </a:bodyPr>
          <a:lstStyle/>
          <a:p>
            <a:pPr algn="l"/>
            <a:r>
              <a:rPr sz="570" b="1">
                <a:solidFill>
                  <a:srgbClr val="FF6974"/>
                </a:solidFill>
                <a:latin typeface="Aptos"/>
              </a:rPr>
              <a:t>•</a:t>
            </a:r>
          </a:p>
        </p:txBody>
      </p:sp>
      <p:sp>
        <p:nvSpPr>
          <p:cNvPr id="62" name="TextBox 61"/>
          <p:cNvSpPr txBox="1"/>
          <p:nvPr/>
        </p:nvSpPr>
        <p:spPr>
          <a:xfrm>
            <a:off x="6453378" y="2338579"/>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changes correct parts</a:t>
            </a:r>
          </a:p>
        </p:txBody>
      </p:sp>
      <p:sp>
        <p:nvSpPr>
          <p:cNvPr id="63" name="TextBox 62"/>
          <p:cNvSpPr txBox="1"/>
          <p:nvPr/>
        </p:nvSpPr>
        <p:spPr>
          <a:xfrm>
            <a:off x="6329933" y="2571750"/>
            <a:ext cx="82296" cy="115416"/>
          </a:xfrm>
          <a:prstGeom prst="rect">
            <a:avLst/>
          </a:prstGeom>
          <a:noFill/>
        </p:spPr>
        <p:txBody>
          <a:bodyPr wrap="square" lIns="13716" tIns="13716" rIns="13716" bIns="13716" anchor="t">
            <a:spAutoFit/>
          </a:bodyPr>
          <a:lstStyle/>
          <a:p>
            <a:pPr algn="l"/>
            <a:r>
              <a:rPr sz="570" b="1">
                <a:solidFill>
                  <a:srgbClr val="FF6974"/>
                </a:solidFill>
                <a:latin typeface="Aptos"/>
              </a:rPr>
              <a:t>•</a:t>
            </a:r>
          </a:p>
        </p:txBody>
      </p:sp>
      <p:sp>
        <p:nvSpPr>
          <p:cNvPr id="64" name="TextBox 63"/>
          <p:cNvSpPr txBox="1"/>
          <p:nvPr/>
        </p:nvSpPr>
        <p:spPr>
          <a:xfrm>
            <a:off x="6453378" y="2571751"/>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over-relaxes filters</a:t>
            </a:r>
          </a:p>
        </p:txBody>
      </p:sp>
      <p:sp>
        <p:nvSpPr>
          <p:cNvPr id="65" name="TextBox 64"/>
          <p:cNvSpPr txBox="1"/>
          <p:nvPr/>
        </p:nvSpPr>
        <p:spPr>
          <a:xfrm>
            <a:off x="6329933" y="2804922"/>
            <a:ext cx="82296" cy="115416"/>
          </a:xfrm>
          <a:prstGeom prst="rect">
            <a:avLst/>
          </a:prstGeom>
          <a:noFill/>
        </p:spPr>
        <p:txBody>
          <a:bodyPr wrap="square" lIns="13716" tIns="13716" rIns="13716" bIns="13716" anchor="t">
            <a:spAutoFit/>
          </a:bodyPr>
          <a:lstStyle/>
          <a:p>
            <a:pPr algn="l"/>
            <a:r>
              <a:rPr sz="570" b="1">
                <a:solidFill>
                  <a:srgbClr val="FF6974"/>
                </a:solidFill>
                <a:latin typeface="Aptos"/>
              </a:rPr>
              <a:t>•</a:t>
            </a:r>
          </a:p>
        </p:txBody>
      </p:sp>
      <p:sp>
        <p:nvSpPr>
          <p:cNvPr id="66" name="TextBox 65"/>
          <p:cNvSpPr txBox="1"/>
          <p:nvPr/>
        </p:nvSpPr>
        <p:spPr>
          <a:xfrm>
            <a:off x="6453378" y="2804923"/>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needs schema unpruning</a:t>
            </a:r>
          </a:p>
        </p:txBody>
      </p:sp>
      <p:sp>
        <p:nvSpPr>
          <p:cNvPr id="67" name="Rectangle 66"/>
          <p:cNvSpPr/>
          <p:nvPr/>
        </p:nvSpPr>
        <p:spPr>
          <a:xfrm>
            <a:off x="1748790" y="3278124"/>
            <a:ext cx="2674620" cy="994410"/>
          </a:xfrm>
          <a:prstGeom prst="rect">
            <a:avLst/>
          </a:prstGeom>
          <a:solidFill>
            <a:srgbClr val="181D27"/>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8" name="Rectangle 67"/>
          <p:cNvSpPr/>
          <p:nvPr/>
        </p:nvSpPr>
        <p:spPr>
          <a:xfrm>
            <a:off x="1748790" y="3278124"/>
            <a:ext cx="2674620" cy="34290"/>
          </a:xfrm>
          <a:prstGeom prst="rect">
            <a:avLst/>
          </a:prstGeom>
          <a:solidFill>
            <a:srgbClr val="59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9" name="Oval 68"/>
          <p:cNvSpPr/>
          <p:nvPr/>
        </p:nvSpPr>
        <p:spPr>
          <a:xfrm>
            <a:off x="1872234" y="3429000"/>
            <a:ext cx="301752" cy="301752"/>
          </a:xfrm>
          <a:prstGeom prst="ellipse">
            <a:avLst/>
          </a:prstGeom>
          <a:solidFill>
            <a:srgbClr val="252D3A"/>
          </a:solidFill>
          <a:ln w="12700">
            <a:solidFill>
              <a:srgbClr val="59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0" name="TextBox 69"/>
          <p:cNvSpPr txBox="1"/>
          <p:nvPr/>
        </p:nvSpPr>
        <p:spPr>
          <a:xfrm>
            <a:off x="1872234" y="3511296"/>
            <a:ext cx="301752" cy="120033"/>
          </a:xfrm>
          <a:prstGeom prst="rect">
            <a:avLst/>
          </a:prstGeom>
          <a:noFill/>
        </p:spPr>
        <p:txBody>
          <a:bodyPr wrap="square" lIns="13716" tIns="13716" rIns="13716" bIns="13716" anchor="t">
            <a:spAutoFit/>
          </a:bodyPr>
          <a:lstStyle/>
          <a:p>
            <a:pPr algn="ctr"/>
            <a:r>
              <a:rPr sz="600" b="1">
                <a:solidFill>
                  <a:srgbClr val="599DFF"/>
                </a:solidFill>
                <a:latin typeface="Aptos"/>
              </a:rPr>
              <a:t>∞</a:t>
            </a:r>
          </a:p>
        </p:txBody>
      </p:sp>
      <p:sp>
        <p:nvSpPr>
          <p:cNvPr id="71" name="TextBox 70"/>
          <p:cNvSpPr txBox="1"/>
          <p:nvPr/>
        </p:nvSpPr>
        <p:spPr>
          <a:xfrm>
            <a:off x="2215134" y="3477006"/>
            <a:ext cx="2091690" cy="147733"/>
          </a:xfrm>
          <a:prstGeom prst="rect">
            <a:avLst/>
          </a:prstGeom>
          <a:noFill/>
        </p:spPr>
        <p:txBody>
          <a:bodyPr wrap="square" lIns="13716" tIns="13716" rIns="13716" bIns="13716" anchor="t">
            <a:spAutoFit/>
          </a:bodyPr>
          <a:lstStyle/>
          <a:p>
            <a:pPr algn="l"/>
            <a:r>
              <a:rPr sz="780" b="1">
                <a:solidFill>
                  <a:srgbClr val="F1EFE9"/>
                </a:solidFill>
                <a:latin typeface="Aptos"/>
              </a:rPr>
              <a:t>Retry convergence</a:t>
            </a:r>
          </a:p>
        </p:txBody>
      </p:sp>
      <p:sp>
        <p:nvSpPr>
          <p:cNvPr id="72" name="TextBox 71"/>
          <p:cNvSpPr txBox="1"/>
          <p:nvPr/>
        </p:nvSpPr>
        <p:spPr>
          <a:xfrm>
            <a:off x="1940814" y="3771900"/>
            <a:ext cx="82296" cy="115416"/>
          </a:xfrm>
          <a:prstGeom prst="rect">
            <a:avLst/>
          </a:prstGeom>
          <a:noFill/>
        </p:spPr>
        <p:txBody>
          <a:bodyPr wrap="square" lIns="13716" tIns="13716" rIns="13716" bIns="13716" anchor="t">
            <a:spAutoFit/>
          </a:bodyPr>
          <a:lstStyle/>
          <a:p>
            <a:pPr algn="l"/>
            <a:r>
              <a:rPr sz="570" b="1">
                <a:solidFill>
                  <a:srgbClr val="599DFF"/>
                </a:solidFill>
                <a:latin typeface="Aptos"/>
              </a:rPr>
              <a:t>•</a:t>
            </a:r>
          </a:p>
        </p:txBody>
      </p:sp>
      <p:sp>
        <p:nvSpPr>
          <p:cNvPr id="73" name="TextBox 72"/>
          <p:cNvSpPr txBox="1"/>
          <p:nvPr/>
        </p:nvSpPr>
        <p:spPr>
          <a:xfrm>
            <a:off x="2064258" y="3771901"/>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same SQL regenerated</a:t>
            </a:r>
          </a:p>
        </p:txBody>
      </p:sp>
      <p:sp>
        <p:nvSpPr>
          <p:cNvPr id="74" name="TextBox 73"/>
          <p:cNvSpPr txBox="1"/>
          <p:nvPr/>
        </p:nvSpPr>
        <p:spPr>
          <a:xfrm>
            <a:off x="1940814" y="4005072"/>
            <a:ext cx="82296" cy="115416"/>
          </a:xfrm>
          <a:prstGeom prst="rect">
            <a:avLst/>
          </a:prstGeom>
          <a:noFill/>
        </p:spPr>
        <p:txBody>
          <a:bodyPr wrap="square" lIns="13716" tIns="13716" rIns="13716" bIns="13716" anchor="t">
            <a:spAutoFit/>
          </a:bodyPr>
          <a:lstStyle/>
          <a:p>
            <a:pPr algn="l"/>
            <a:r>
              <a:rPr sz="570" b="1">
                <a:solidFill>
                  <a:srgbClr val="599DFF"/>
                </a:solidFill>
                <a:latin typeface="Aptos"/>
              </a:rPr>
              <a:t>•</a:t>
            </a:r>
          </a:p>
        </p:txBody>
      </p:sp>
      <p:sp>
        <p:nvSpPr>
          <p:cNvPr id="75" name="TextBox 74"/>
          <p:cNvSpPr txBox="1"/>
          <p:nvPr/>
        </p:nvSpPr>
        <p:spPr>
          <a:xfrm>
            <a:off x="2064258" y="4005073"/>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same plan in new formatting</a:t>
            </a:r>
          </a:p>
        </p:txBody>
      </p:sp>
      <p:sp>
        <p:nvSpPr>
          <p:cNvPr id="76" name="TextBox 75"/>
          <p:cNvSpPr txBox="1"/>
          <p:nvPr/>
        </p:nvSpPr>
        <p:spPr>
          <a:xfrm>
            <a:off x="1940814" y="4238244"/>
            <a:ext cx="82296" cy="115416"/>
          </a:xfrm>
          <a:prstGeom prst="rect">
            <a:avLst/>
          </a:prstGeom>
          <a:noFill/>
        </p:spPr>
        <p:txBody>
          <a:bodyPr wrap="square" lIns="13716" tIns="13716" rIns="13716" bIns="13716" anchor="t">
            <a:spAutoFit/>
          </a:bodyPr>
          <a:lstStyle/>
          <a:p>
            <a:pPr algn="l"/>
            <a:r>
              <a:rPr sz="570" b="1">
                <a:solidFill>
                  <a:srgbClr val="599DFF"/>
                </a:solidFill>
                <a:latin typeface="Aptos"/>
              </a:rPr>
              <a:t>•</a:t>
            </a:r>
          </a:p>
        </p:txBody>
      </p:sp>
      <p:sp>
        <p:nvSpPr>
          <p:cNvPr id="77" name="TextBox 76"/>
          <p:cNvSpPr txBox="1"/>
          <p:nvPr/>
        </p:nvSpPr>
        <p:spPr>
          <a:xfrm>
            <a:off x="2064258" y="4238245"/>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no measurable improvement</a:t>
            </a:r>
          </a:p>
        </p:txBody>
      </p:sp>
      <p:sp>
        <p:nvSpPr>
          <p:cNvPr id="78" name="TextBox 77"/>
          <p:cNvSpPr txBox="1"/>
          <p:nvPr/>
        </p:nvSpPr>
        <p:spPr>
          <a:xfrm>
            <a:off x="1940814" y="4471416"/>
            <a:ext cx="82296" cy="115416"/>
          </a:xfrm>
          <a:prstGeom prst="rect">
            <a:avLst/>
          </a:prstGeom>
          <a:noFill/>
        </p:spPr>
        <p:txBody>
          <a:bodyPr wrap="square" lIns="13716" tIns="13716" rIns="13716" bIns="13716" anchor="t">
            <a:spAutoFit/>
          </a:bodyPr>
          <a:lstStyle/>
          <a:p>
            <a:pPr algn="l"/>
            <a:r>
              <a:rPr sz="570" b="1">
                <a:solidFill>
                  <a:srgbClr val="599DFF"/>
                </a:solidFill>
                <a:latin typeface="Aptos"/>
              </a:rPr>
              <a:t>•</a:t>
            </a:r>
          </a:p>
        </p:txBody>
      </p:sp>
      <p:sp>
        <p:nvSpPr>
          <p:cNvPr id="79" name="TextBox 78"/>
          <p:cNvSpPr txBox="1"/>
          <p:nvPr/>
        </p:nvSpPr>
        <p:spPr>
          <a:xfrm>
            <a:off x="2064258" y="4471417"/>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retry limit reached</a:t>
            </a:r>
          </a:p>
        </p:txBody>
      </p:sp>
      <p:sp>
        <p:nvSpPr>
          <p:cNvPr id="80" name="Rectangle 79"/>
          <p:cNvSpPr/>
          <p:nvPr/>
        </p:nvSpPr>
        <p:spPr>
          <a:xfrm>
            <a:off x="4732020" y="3278124"/>
            <a:ext cx="2674620" cy="994410"/>
          </a:xfrm>
          <a:prstGeom prst="rect">
            <a:avLst/>
          </a:prstGeom>
          <a:solidFill>
            <a:srgbClr val="181D27"/>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1" name="Rectangle 80"/>
          <p:cNvSpPr/>
          <p:nvPr/>
        </p:nvSpPr>
        <p:spPr>
          <a:xfrm>
            <a:off x="4732020" y="3278124"/>
            <a:ext cx="2674620" cy="34290"/>
          </a:xfrm>
          <a:prstGeom prst="rect">
            <a:avLst/>
          </a:prstGeom>
          <a:solidFill>
            <a:srgbClr val="2BD3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2" name="Oval 81"/>
          <p:cNvSpPr/>
          <p:nvPr/>
        </p:nvSpPr>
        <p:spPr>
          <a:xfrm>
            <a:off x="4855464" y="3429000"/>
            <a:ext cx="301752" cy="301752"/>
          </a:xfrm>
          <a:prstGeom prst="ellipse">
            <a:avLst/>
          </a:prstGeom>
          <a:solidFill>
            <a:srgbClr val="1F3434"/>
          </a:solidFill>
          <a:ln w="1270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3" name="TextBox 82"/>
          <p:cNvSpPr txBox="1"/>
          <p:nvPr/>
        </p:nvSpPr>
        <p:spPr>
          <a:xfrm>
            <a:off x="4855464" y="3511296"/>
            <a:ext cx="301752" cy="120033"/>
          </a:xfrm>
          <a:prstGeom prst="rect">
            <a:avLst/>
          </a:prstGeom>
          <a:noFill/>
        </p:spPr>
        <p:txBody>
          <a:bodyPr wrap="square" lIns="13716" tIns="13716" rIns="13716" bIns="13716" anchor="t">
            <a:spAutoFit/>
          </a:bodyPr>
          <a:lstStyle/>
          <a:p>
            <a:pPr algn="ctr"/>
            <a:r>
              <a:rPr sz="600" b="1">
                <a:solidFill>
                  <a:srgbClr val="2BD3C0"/>
                </a:solidFill>
                <a:latin typeface="Aptos"/>
              </a:rPr>
              <a:t>$</a:t>
            </a:r>
          </a:p>
        </p:txBody>
      </p:sp>
      <p:sp>
        <p:nvSpPr>
          <p:cNvPr id="84" name="TextBox 83"/>
          <p:cNvSpPr txBox="1"/>
          <p:nvPr/>
        </p:nvSpPr>
        <p:spPr>
          <a:xfrm>
            <a:off x="5198364" y="3477006"/>
            <a:ext cx="2091690" cy="147733"/>
          </a:xfrm>
          <a:prstGeom prst="rect">
            <a:avLst/>
          </a:prstGeom>
          <a:noFill/>
        </p:spPr>
        <p:txBody>
          <a:bodyPr wrap="square" lIns="13716" tIns="13716" rIns="13716" bIns="13716" anchor="t">
            <a:spAutoFit/>
          </a:bodyPr>
          <a:lstStyle/>
          <a:p>
            <a:pPr algn="l"/>
            <a:r>
              <a:rPr sz="780" b="1">
                <a:solidFill>
                  <a:srgbClr val="F1EFE9"/>
                </a:solidFill>
                <a:latin typeface="Aptos"/>
              </a:rPr>
              <a:t>Caching risk</a:t>
            </a:r>
          </a:p>
        </p:txBody>
      </p:sp>
      <p:sp>
        <p:nvSpPr>
          <p:cNvPr id="85" name="TextBox 84"/>
          <p:cNvSpPr txBox="1"/>
          <p:nvPr/>
        </p:nvSpPr>
        <p:spPr>
          <a:xfrm>
            <a:off x="4924044" y="3771900"/>
            <a:ext cx="82296" cy="115416"/>
          </a:xfrm>
          <a:prstGeom prst="rect">
            <a:avLst/>
          </a:prstGeom>
          <a:noFill/>
        </p:spPr>
        <p:txBody>
          <a:bodyPr wrap="square" lIns="13716" tIns="13716" rIns="13716" bIns="13716" anchor="t">
            <a:spAutoFit/>
          </a:bodyPr>
          <a:lstStyle/>
          <a:p>
            <a:pPr algn="l"/>
            <a:r>
              <a:rPr sz="570" b="1">
                <a:solidFill>
                  <a:srgbClr val="2BD3C0"/>
                </a:solidFill>
                <a:latin typeface="Aptos"/>
              </a:rPr>
              <a:t>•</a:t>
            </a:r>
          </a:p>
        </p:txBody>
      </p:sp>
      <p:sp>
        <p:nvSpPr>
          <p:cNvPr id="86" name="TextBox 85"/>
          <p:cNvSpPr txBox="1"/>
          <p:nvPr/>
        </p:nvSpPr>
        <p:spPr>
          <a:xfrm>
            <a:off x="5047488" y="3771901"/>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stale SQL</a:t>
            </a:r>
          </a:p>
        </p:txBody>
      </p:sp>
      <p:sp>
        <p:nvSpPr>
          <p:cNvPr id="87" name="TextBox 86"/>
          <p:cNvSpPr txBox="1"/>
          <p:nvPr/>
        </p:nvSpPr>
        <p:spPr>
          <a:xfrm>
            <a:off x="4924044" y="4005072"/>
            <a:ext cx="82296" cy="115416"/>
          </a:xfrm>
          <a:prstGeom prst="rect">
            <a:avLst/>
          </a:prstGeom>
          <a:noFill/>
        </p:spPr>
        <p:txBody>
          <a:bodyPr wrap="square" lIns="13716" tIns="13716" rIns="13716" bIns="13716" anchor="t">
            <a:spAutoFit/>
          </a:bodyPr>
          <a:lstStyle/>
          <a:p>
            <a:pPr algn="l"/>
            <a:r>
              <a:rPr sz="570" b="1">
                <a:solidFill>
                  <a:srgbClr val="2BD3C0"/>
                </a:solidFill>
                <a:latin typeface="Aptos"/>
              </a:rPr>
              <a:t>•</a:t>
            </a:r>
          </a:p>
        </p:txBody>
      </p:sp>
      <p:sp>
        <p:nvSpPr>
          <p:cNvPr id="88" name="TextBox 87"/>
          <p:cNvSpPr txBox="1"/>
          <p:nvPr/>
        </p:nvSpPr>
        <p:spPr>
          <a:xfrm>
            <a:off x="5047488" y="4005073"/>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bad success reused</a:t>
            </a:r>
          </a:p>
        </p:txBody>
      </p:sp>
      <p:sp>
        <p:nvSpPr>
          <p:cNvPr id="89" name="TextBox 88"/>
          <p:cNvSpPr txBox="1"/>
          <p:nvPr/>
        </p:nvSpPr>
        <p:spPr>
          <a:xfrm>
            <a:off x="4924044" y="4238244"/>
            <a:ext cx="82296" cy="115416"/>
          </a:xfrm>
          <a:prstGeom prst="rect">
            <a:avLst/>
          </a:prstGeom>
          <a:noFill/>
        </p:spPr>
        <p:txBody>
          <a:bodyPr wrap="square" lIns="13716" tIns="13716" rIns="13716" bIns="13716" anchor="t">
            <a:spAutoFit/>
          </a:bodyPr>
          <a:lstStyle/>
          <a:p>
            <a:pPr algn="l"/>
            <a:r>
              <a:rPr sz="570" b="1">
                <a:solidFill>
                  <a:srgbClr val="2BD3C0"/>
                </a:solidFill>
                <a:latin typeface="Aptos"/>
              </a:rPr>
              <a:t>•</a:t>
            </a:r>
          </a:p>
        </p:txBody>
      </p:sp>
      <p:sp>
        <p:nvSpPr>
          <p:cNvPr id="90" name="TextBox 89"/>
          <p:cNvSpPr txBox="1"/>
          <p:nvPr/>
        </p:nvSpPr>
        <p:spPr>
          <a:xfrm>
            <a:off x="5047488" y="4238245"/>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cache bias too strong</a:t>
            </a:r>
          </a:p>
        </p:txBody>
      </p:sp>
      <p:sp>
        <p:nvSpPr>
          <p:cNvPr id="91" name="TextBox 90"/>
          <p:cNvSpPr txBox="1"/>
          <p:nvPr/>
        </p:nvSpPr>
        <p:spPr>
          <a:xfrm>
            <a:off x="4924044" y="4471416"/>
            <a:ext cx="82296" cy="115416"/>
          </a:xfrm>
          <a:prstGeom prst="rect">
            <a:avLst/>
          </a:prstGeom>
          <a:noFill/>
        </p:spPr>
        <p:txBody>
          <a:bodyPr wrap="square" lIns="13716" tIns="13716" rIns="13716" bIns="13716" anchor="t">
            <a:spAutoFit/>
          </a:bodyPr>
          <a:lstStyle/>
          <a:p>
            <a:pPr algn="l"/>
            <a:r>
              <a:rPr sz="570" b="1">
                <a:solidFill>
                  <a:srgbClr val="2BD3C0"/>
                </a:solidFill>
                <a:latin typeface="Aptos"/>
              </a:rPr>
              <a:t>•</a:t>
            </a:r>
          </a:p>
        </p:txBody>
      </p:sp>
      <p:sp>
        <p:nvSpPr>
          <p:cNvPr id="92" name="TextBox 91"/>
          <p:cNvSpPr txBox="1"/>
          <p:nvPr/>
        </p:nvSpPr>
        <p:spPr>
          <a:xfrm>
            <a:off x="5047488" y="4471417"/>
            <a:ext cx="2249424" cy="109710"/>
          </a:xfrm>
          <a:prstGeom prst="rect">
            <a:avLst/>
          </a:prstGeom>
          <a:noFill/>
        </p:spPr>
        <p:txBody>
          <a:bodyPr wrap="square" lIns="13716" tIns="13716" rIns="13716" bIns="13716" anchor="t">
            <a:spAutoFit/>
          </a:bodyPr>
          <a:lstStyle/>
          <a:p>
            <a:pPr algn="l"/>
            <a:r>
              <a:rPr sz="533">
                <a:solidFill>
                  <a:srgbClr val="F1EFE9"/>
                </a:solidFill>
                <a:latin typeface="Aptos"/>
              </a:rPr>
              <a:t>question mismatch</a:t>
            </a:r>
          </a:p>
        </p:txBody>
      </p:sp>
      <p:sp>
        <p:nvSpPr>
          <p:cNvPr id="93" name="Rectangle 92"/>
          <p:cNvSpPr/>
          <p:nvPr/>
        </p:nvSpPr>
        <p:spPr>
          <a:xfrm>
            <a:off x="342900" y="4855464"/>
            <a:ext cx="8435340" cy="6858"/>
          </a:xfrm>
          <a:prstGeom prst="rect">
            <a:avLst/>
          </a:prstGeom>
          <a:solidFill>
            <a:srgbClr val="252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4" name="TextBox 93"/>
          <p:cNvSpPr txBox="1"/>
          <p:nvPr/>
        </p:nvSpPr>
        <p:spPr>
          <a:xfrm>
            <a:off x="425196" y="4910328"/>
            <a:ext cx="3566160" cy="108491"/>
          </a:xfrm>
          <a:prstGeom prst="rect">
            <a:avLst/>
          </a:prstGeom>
          <a:noFill/>
        </p:spPr>
        <p:txBody>
          <a:bodyPr wrap="square" lIns="13716" tIns="13716" rIns="13716" bIns="13716" anchor="t">
            <a:spAutoFit/>
          </a:bodyPr>
          <a:lstStyle/>
          <a:p>
            <a:pPr algn="l"/>
            <a:r>
              <a:rPr sz="525">
                <a:solidFill>
                  <a:srgbClr val="666C76"/>
                </a:solidFill>
                <a:latin typeface="Aptos"/>
              </a:rPr>
              <a:t>Text-to-SQL problem taxonomy | SpiderDIN project experience</a:t>
            </a:r>
          </a:p>
        </p:txBody>
      </p:sp>
      <p:pic>
        <p:nvPicPr>
          <p:cNvPr id="95" name="Picture 94">
            <a:extLst>
              <a:ext uri="{FF2B5EF4-FFF2-40B4-BE49-F238E27FC236}">
                <a16:creationId xmlns:a16="http://schemas.microsoft.com/office/drawing/2014/main" id="{CF86B575-465F-223F-61EC-677A9293709A}"/>
              </a:ext>
            </a:extLst>
          </p:cNvPr>
          <p:cNvPicPr>
            <a:picLocks noChangeAspect="1"/>
          </p:cNvPicPr>
          <p:nvPr/>
        </p:nvPicPr>
        <p:blipFill>
          <a:blip r:embed="rId2"/>
          <a:srcRect l="-928" t="29746" r="928" b="36645"/>
          <a:stretch>
            <a:fillRect/>
          </a:stretch>
        </p:blipFill>
        <p:spPr>
          <a:xfrm>
            <a:off x="8218575" y="45720"/>
            <a:ext cx="861058" cy="28939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0C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p:cNvSpPr/>
          <p:nvPr/>
        </p:nvSpPr>
        <p:spPr>
          <a:xfrm>
            <a:off x="685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p:cNvSpPr/>
          <p:nvPr/>
        </p:nvSpPr>
        <p:spPr>
          <a:xfrm>
            <a:off x="1371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2057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2743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p:cNvSpPr/>
          <p:nvPr/>
        </p:nvSpPr>
        <p:spPr>
          <a:xfrm>
            <a:off x="3429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114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4800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5486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6172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6858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7543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8229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ectangle 14"/>
          <p:cNvSpPr/>
          <p:nvPr/>
        </p:nvSpPr>
        <p:spPr>
          <a:xfrm>
            <a:off x="8915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1" y="685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ectangle 16"/>
          <p:cNvSpPr/>
          <p:nvPr/>
        </p:nvSpPr>
        <p:spPr>
          <a:xfrm>
            <a:off x="1" y="1371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ectangle 17"/>
          <p:cNvSpPr/>
          <p:nvPr/>
        </p:nvSpPr>
        <p:spPr>
          <a:xfrm>
            <a:off x="1" y="20574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ectangle 18"/>
          <p:cNvSpPr/>
          <p:nvPr/>
        </p:nvSpPr>
        <p:spPr>
          <a:xfrm>
            <a:off x="1" y="27432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ectangle 19"/>
          <p:cNvSpPr/>
          <p:nvPr/>
        </p:nvSpPr>
        <p:spPr>
          <a:xfrm>
            <a:off x="1" y="34290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Rectangle 20"/>
          <p:cNvSpPr/>
          <p:nvPr/>
        </p:nvSpPr>
        <p:spPr>
          <a:xfrm>
            <a:off x="1" y="4114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Rectangle 21"/>
          <p:cNvSpPr/>
          <p:nvPr/>
        </p:nvSpPr>
        <p:spPr>
          <a:xfrm>
            <a:off x="1" y="4800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Rectangle 22"/>
          <p:cNvSpPr/>
          <p:nvPr/>
        </p:nvSpPr>
        <p:spPr>
          <a:xfrm>
            <a:off x="342900" y="260604"/>
            <a:ext cx="1131570" cy="20574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528066" y="315468"/>
            <a:ext cx="788670" cy="99258"/>
          </a:xfrm>
          <a:prstGeom prst="rect">
            <a:avLst/>
          </a:prstGeom>
          <a:noFill/>
        </p:spPr>
        <p:txBody>
          <a:bodyPr wrap="square" lIns="13716" tIns="13716" rIns="13716" bIns="13716" anchor="t">
            <a:spAutoFit/>
          </a:bodyPr>
          <a:lstStyle/>
          <a:p>
            <a:pPr algn="ctr"/>
            <a:r>
              <a:rPr sz="465" b="1">
                <a:solidFill>
                  <a:srgbClr val="0C0F14"/>
                </a:solidFill>
                <a:latin typeface="Aptos"/>
              </a:rPr>
              <a:t>ARCHITECTURE PROBLEMS</a:t>
            </a:r>
          </a:p>
        </p:txBody>
      </p:sp>
      <p:sp>
        <p:nvSpPr>
          <p:cNvPr id="25" name="TextBox 24"/>
          <p:cNvSpPr txBox="1"/>
          <p:nvPr/>
        </p:nvSpPr>
        <p:spPr>
          <a:xfrm>
            <a:off x="8572500" y="240030"/>
            <a:ext cx="240030" cy="131574"/>
          </a:xfrm>
          <a:prstGeom prst="rect">
            <a:avLst/>
          </a:prstGeom>
          <a:noFill/>
        </p:spPr>
        <p:txBody>
          <a:bodyPr wrap="square" lIns="13716" tIns="13716" rIns="13716" bIns="13716" anchor="t">
            <a:spAutoFit/>
          </a:bodyPr>
          <a:lstStyle/>
          <a:p>
            <a:pPr algn="r"/>
            <a:r>
              <a:rPr sz="675">
                <a:solidFill>
                  <a:srgbClr val="666C76"/>
                </a:solidFill>
                <a:latin typeface="Aptos"/>
              </a:rPr>
              <a:t>09</a:t>
            </a:r>
          </a:p>
        </p:txBody>
      </p:sp>
      <p:sp>
        <p:nvSpPr>
          <p:cNvPr id="26" name="TextBox 25"/>
          <p:cNvSpPr txBox="1"/>
          <p:nvPr/>
        </p:nvSpPr>
        <p:spPr>
          <a:xfrm>
            <a:off x="425196" y="617220"/>
            <a:ext cx="7680960" cy="577081"/>
          </a:xfrm>
          <a:prstGeom prst="rect">
            <a:avLst/>
          </a:prstGeom>
          <a:noFill/>
        </p:spPr>
        <p:txBody>
          <a:bodyPr wrap="square" lIns="0" tIns="0" rIns="0" bIns="0">
            <a:spAutoFit/>
          </a:bodyPr>
          <a:lstStyle/>
          <a:p>
            <a:pPr algn="l"/>
            <a:r>
              <a:rPr sz="1875" b="1">
                <a:solidFill>
                  <a:srgbClr val="FFBE18"/>
                </a:solidFill>
                <a:latin typeface="Georgia"/>
              </a:rPr>
              <a:t>B4. Operations and product: </a:t>
            </a:r>
            <a:r>
              <a:rPr sz="1875" b="1">
                <a:solidFill>
                  <a:srgbClr val="F1EFE9"/>
                </a:solidFill>
                <a:latin typeface="Georgia"/>
              </a:rPr>
              <a:t>reliability must be visible, measurable, and affordable.</a:t>
            </a:r>
          </a:p>
        </p:txBody>
      </p:sp>
      <p:sp>
        <p:nvSpPr>
          <p:cNvPr id="27" name="TextBox 26"/>
          <p:cNvSpPr txBox="1"/>
          <p:nvPr/>
        </p:nvSpPr>
        <p:spPr>
          <a:xfrm>
            <a:off x="438912" y="1179576"/>
            <a:ext cx="6446520" cy="146643"/>
          </a:xfrm>
          <a:prstGeom prst="rect">
            <a:avLst/>
          </a:prstGeom>
          <a:noFill/>
        </p:spPr>
        <p:txBody>
          <a:bodyPr wrap="square" lIns="13716" tIns="13716" rIns="13716" bIns="13716" anchor="t">
            <a:spAutoFit/>
          </a:bodyPr>
          <a:lstStyle/>
          <a:p>
            <a:pPr algn="l"/>
            <a:r>
              <a:rPr sz="773">
                <a:solidFill>
                  <a:srgbClr val="F1EFE9"/>
                </a:solidFill>
                <a:latin typeface="Aptos"/>
              </a:rPr>
              <a:t>Once the system has multiple stages, product quality depends on observability, evaluation, dashboard UX, and cost control.</a:t>
            </a:r>
          </a:p>
        </p:txBody>
      </p:sp>
      <p:sp>
        <p:nvSpPr>
          <p:cNvPr id="28" name="Rectangle 27"/>
          <p:cNvSpPr/>
          <p:nvPr/>
        </p:nvSpPr>
        <p:spPr>
          <a:xfrm>
            <a:off x="342900" y="1611630"/>
            <a:ext cx="2674620" cy="120015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9" name="Rectangle 28"/>
          <p:cNvSpPr/>
          <p:nvPr/>
        </p:nvSpPr>
        <p:spPr>
          <a:xfrm>
            <a:off x="342900" y="1611630"/>
            <a:ext cx="2674620" cy="34290"/>
          </a:xfrm>
          <a:prstGeom prst="rect">
            <a:avLst/>
          </a:prstGeom>
          <a:solidFill>
            <a:srgbClr val="41D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Oval 29"/>
          <p:cNvSpPr/>
          <p:nvPr/>
        </p:nvSpPr>
        <p:spPr>
          <a:xfrm>
            <a:off x="493776" y="1796796"/>
            <a:ext cx="301752" cy="301752"/>
          </a:xfrm>
          <a:prstGeom prst="ellipse">
            <a:avLst/>
          </a:prstGeom>
          <a:solidFill>
            <a:srgbClr val="1F3434"/>
          </a:solidFill>
          <a:ln w="1270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1" name="TextBox 30"/>
          <p:cNvSpPr txBox="1"/>
          <p:nvPr/>
        </p:nvSpPr>
        <p:spPr>
          <a:xfrm>
            <a:off x="493776" y="1879092"/>
            <a:ext cx="301752" cy="120033"/>
          </a:xfrm>
          <a:prstGeom prst="rect">
            <a:avLst/>
          </a:prstGeom>
          <a:noFill/>
        </p:spPr>
        <p:txBody>
          <a:bodyPr wrap="square" lIns="13716" tIns="13716" rIns="13716" bIns="13716" anchor="t">
            <a:spAutoFit/>
          </a:bodyPr>
          <a:lstStyle/>
          <a:p>
            <a:pPr algn="ctr"/>
            <a:r>
              <a:rPr sz="600" b="1">
                <a:solidFill>
                  <a:srgbClr val="41DA8E"/>
                </a:solidFill>
                <a:latin typeface="Aptos"/>
              </a:rPr>
              <a:t>T</a:t>
            </a:r>
          </a:p>
        </p:txBody>
      </p:sp>
      <p:sp>
        <p:nvSpPr>
          <p:cNvPr id="32" name="TextBox 31"/>
          <p:cNvSpPr txBox="1"/>
          <p:nvPr/>
        </p:nvSpPr>
        <p:spPr>
          <a:xfrm>
            <a:off x="836676" y="1844802"/>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Telemetry and logs</a:t>
            </a:r>
          </a:p>
        </p:txBody>
      </p:sp>
      <p:sp>
        <p:nvSpPr>
          <p:cNvPr id="33" name="TextBox 32"/>
          <p:cNvSpPr txBox="1"/>
          <p:nvPr/>
        </p:nvSpPr>
        <p:spPr>
          <a:xfrm>
            <a:off x="589788" y="2215135"/>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Hard to know which stage failed unless prompts, SQL, results, latency, tokens, corrections, and audit reasoning are visible.</a:t>
            </a:r>
          </a:p>
        </p:txBody>
      </p:sp>
      <p:sp>
        <p:nvSpPr>
          <p:cNvPr id="34" name="Rectangle 33"/>
          <p:cNvSpPr/>
          <p:nvPr/>
        </p:nvSpPr>
        <p:spPr>
          <a:xfrm>
            <a:off x="589788" y="2592324"/>
            <a:ext cx="754380" cy="123444"/>
          </a:xfrm>
          <a:prstGeom prst="rect">
            <a:avLst/>
          </a:prstGeom>
          <a:solidFill>
            <a:srgbClr val="162C30"/>
          </a:solidFill>
          <a:ln w="508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5" name="TextBox 34"/>
          <p:cNvSpPr txBox="1"/>
          <p:nvPr/>
        </p:nvSpPr>
        <p:spPr>
          <a:xfrm>
            <a:off x="589788" y="2609468"/>
            <a:ext cx="754380" cy="90025"/>
          </a:xfrm>
          <a:prstGeom prst="rect">
            <a:avLst/>
          </a:prstGeom>
          <a:noFill/>
        </p:spPr>
        <p:txBody>
          <a:bodyPr wrap="square" lIns="13716" tIns="13716" rIns="13716" bIns="13716" anchor="t">
            <a:spAutoFit/>
          </a:bodyPr>
          <a:lstStyle/>
          <a:p>
            <a:pPr algn="ctr"/>
            <a:r>
              <a:rPr sz="405" b="1">
                <a:solidFill>
                  <a:srgbClr val="41DA8E"/>
                </a:solidFill>
                <a:latin typeface="Aptos"/>
              </a:rPr>
              <a:t>OBSERVABILITY</a:t>
            </a:r>
          </a:p>
        </p:txBody>
      </p:sp>
      <p:sp>
        <p:nvSpPr>
          <p:cNvPr id="36" name="Rectangle 35"/>
          <p:cNvSpPr/>
          <p:nvPr/>
        </p:nvSpPr>
        <p:spPr>
          <a:xfrm>
            <a:off x="3236976" y="1611630"/>
            <a:ext cx="2674620" cy="120015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7" name="Rectangle 36"/>
          <p:cNvSpPr/>
          <p:nvPr/>
        </p:nvSpPr>
        <p:spPr>
          <a:xfrm>
            <a:off x="3236976" y="1611630"/>
            <a:ext cx="2674620" cy="3429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8" name="Oval 37"/>
          <p:cNvSpPr/>
          <p:nvPr/>
        </p:nvSpPr>
        <p:spPr>
          <a:xfrm>
            <a:off x="3387852" y="1796796"/>
            <a:ext cx="301752" cy="301752"/>
          </a:xfrm>
          <a:prstGeom prst="ellipse">
            <a:avLst/>
          </a:prstGeom>
          <a:solidFill>
            <a:srgbClr val="252D3A"/>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9" name="TextBox 38"/>
          <p:cNvSpPr txBox="1"/>
          <p:nvPr/>
        </p:nvSpPr>
        <p:spPr>
          <a:xfrm>
            <a:off x="3387852" y="1879092"/>
            <a:ext cx="301752" cy="120033"/>
          </a:xfrm>
          <a:prstGeom prst="rect">
            <a:avLst/>
          </a:prstGeom>
          <a:noFill/>
        </p:spPr>
        <p:txBody>
          <a:bodyPr wrap="square" lIns="13716" tIns="13716" rIns="13716" bIns="13716" anchor="t">
            <a:spAutoFit/>
          </a:bodyPr>
          <a:lstStyle/>
          <a:p>
            <a:pPr algn="ctr"/>
            <a:r>
              <a:rPr sz="600" b="1">
                <a:solidFill>
                  <a:srgbClr val="F5A012"/>
                </a:solidFill>
                <a:latin typeface="Aptos"/>
              </a:rPr>
              <a:t>B</a:t>
            </a:r>
          </a:p>
        </p:txBody>
      </p:sp>
      <p:sp>
        <p:nvSpPr>
          <p:cNvPr id="40" name="TextBox 39"/>
          <p:cNvSpPr txBox="1"/>
          <p:nvPr/>
        </p:nvSpPr>
        <p:spPr>
          <a:xfrm>
            <a:off x="3730752" y="1844802"/>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Benchmark evaluation</a:t>
            </a:r>
          </a:p>
        </p:txBody>
      </p:sp>
      <p:sp>
        <p:nvSpPr>
          <p:cNvPr id="41" name="TextBox 40"/>
          <p:cNvSpPr txBox="1"/>
          <p:nvPr/>
        </p:nvSpPr>
        <p:spPr>
          <a:xfrm>
            <a:off x="3483864" y="2215135"/>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Gold comparison needs row-order rules, numeric tolerance, condition columns, failure clustering, and honest subset reporting.</a:t>
            </a:r>
          </a:p>
        </p:txBody>
      </p:sp>
      <p:sp>
        <p:nvSpPr>
          <p:cNvPr id="42" name="Rectangle 41"/>
          <p:cNvSpPr/>
          <p:nvPr/>
        </p:nvSpPr>
        <p:spPr>
          <a:xfrm>
            <a:off x="3483864" y="2592324"/>
            <a:ext cx="754380" cy="123444"/>
          </a:xfrm>
          <a:prstGeom prst="rect">
            <a:avLst/>
          </a:prstGeom>
          <a:solidFill>
            <a:srgbClr val="272B3A"/>
          </a:solidFill>
          <a:ln w="508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3" name="TextBox 42"/>
          <p:cNvSpPr txBox="1"/>
          <p:nvPr/>
        </p:nvSpPr>
        <p:spPr>
          <a:xfrm>
            <a:off x="3483864" y="2609468"/>
            <a:ext cx="754380" cy="90025"/>
          </a:xfrm>
          <a:prstGeom prst="rect">
            <a:avLst/>
          </a:prstGeom>
          <a:noFill/>
        </p:spPr>
        <p:txBody>
          <a:bodyPr wrap="square" lIns="13716" tIns="13716" rIns="13716" bIns="13716" anchor="t">
            <a:spAutoFit/>
          </a:bodyPr>
          <a:lstStyle/>
          <a:p>
            <a:pPr algn="ctr"/>
            <a:r>
              <a:rPr sz="405" b="1">
                <a:solidFill>
                  <a:srgbClr val="F5A012"/>
                </a:solidFill>
                <a:latin typeface="Aptos"/>
              </a:rPr>
              <a:t>EVAL</a:t>
            </a:r>
          </a:p>
        </p:txBody>
      </p:sp>
      <p:sp>
        <p:nvSpPr>
          <p:cNvPr id="44" name="Rectangle 43"/>
          <p:cNvSpPr/>
          <p:nvPr/>
        </p:nvSpPr>
        <p:spPr>
          <a:xfrm>
            <a:off x="6137909" y="1611630"/>
            <a:ext cx="2674620" cy="120015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5" name="Rectangle 44"/>
          <p:cNvSpPr/>
          <p:nvPr/>
        </p:nvSpPr>
        <p:spPr>
          <a:xfrm>
            <a:off x="6137909" y="1611630"/>
            <a:ext cx="2674620" cy="34290"/>
          </a:xfrm>
          <a:prstGeom prst="rect">
            <a:avLst/>
          </a:prstGeom>
          <a:solidFill>
            <a:srgbClr val="59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6" name="Oval 45"/>
          <p:cNvSpPr/>
          <p:nvPr/>
        </p:nvSpPr>
        <p:spPr>
          <a:xfrm>
            <a:off x="6288786" y="1796796"/>
            <a:ext cx="301752" cy="301752"/>
          </a:xfrm>
          <a:prstGeom prst="ellipse">
            <a:avLst/>
          </a:prstGeom>
          <a:solidFill>
            <a:srgbClr val="252D3A"/>
          </a:solidFill>
          <a:ln w="12700">
            <a:solidFill>
              <a:srgbClr val="59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7" name="TextBox 46"/>
          <p:cNvSpPr txBox="1"/>
          <p:nvPr/>
        </p:nvSpPr>
        <p:spPr>
          <a:xfrm>
            <a:off x="6288786" y="1879092"/>
            <a:ext cx="301752" cy="120033"/>
          </a:xfrm>
          <a:prstGeom prst="rect">
            <a:avLst/>
          </a:prstGeom>
          <a:noFill/>
        </p:spPr>
        <p:txBody>
          <a:bodyPr wrap="square" lIns="13716" tIns="13716" rIns="13716" bIns="13716" anchor="t">
            <a:spAutoFit/>
          </a:bodyPr>
          <a:lstStyle/>
          <a:p>
            <a:pPr algn="ctr"/>
            <a:r>
              <a:rPr sz="600" b="1">
                <a:solidFill>
                  <a:srgbClr val="599DFF"/>
                </a:solidFill>
                <a:latin typeface="Aptos"/>
              </a:rPr>
              <a:t>U</a:t>
            </a:r>
          </a:p>
        </p:txBody>
      </p:sp>
      <p:sp>
        <p:nvSpPr>
          <p:cNvPr id="48" name="TextBox 47"/>
          <p:cNvSpPr txBox="1"/>
          <p:nvPr/>
        </p:nvSpPr>
        <p:spPr>
          <a:xfrm>
            <a:off x="6631686" y="1844802"/>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Dashboard usability</a:t>
            </a:r>
          </a:p>
        </p:txBody>
      </p:sp>
      <p:sp>
        <p:nvSpPr>
          <p:cNvPr id="49" name="TextBox 48"/>
          <p:cNvSpPr txBox="1"/>
          <p:nvPr/>
        </p:nvSpPr>
        <p:spPr>
          <a:xfrm>
            <a:off x="6384797" y="2215135"/>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Users need detail for debugging without drowning in logs; repair actions need clear accept / reject controls.</a:t>
            </a:r>
          </a:p>
        </p:txBody>
      </p:sp>
      <p:sp>
        <p:nvSpPr>
          <p:cNvPr id="50" name="Rectangle 49"/>
          <p:cNvSpPr/>
          <p:nvPr/>
        </p:nvSpPr>
        <p:spPr>
          <a:xfrm>
            <a:off x="6384797" y="2592324"/>
            <a:ext cx="754380" cy="123444"/>
          </a:xfrm>
          <a:prstGeom prst="rect">
            <a:avLst/>
          </a:prstGeom>
          <a:solidFill>
            <a:srgbClr val="272B3A"/>
          </a:solidFill>
          <a:ln w="5080">
            <a:solidFill>
              <a:srgbClr val="59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1" name="TextBox 50"/>
          <p:cNvSpPr txBox="1"/>
          <p:nvPr/>
        </p:nvSpPr>
        <p:spPr>
          <a:xfrm>
            <a:off x="6384797" y="2609468"/>
            <a:ext cx="754380" cy="90025"/>
          </a:xfrm>
          <a:prstGeom prst="rect">
            <a:avLst/>
          </a:prstGeom>
          <a:noFill/>
        </p:spPr>
        <p:txBody>
          <a:bodyPr wrap="square" lIns="13716" tIns="13716" rIns="13716" bIns="13716" anchor="t">
            <a:spAutoFit/>
          </a:bodyPr>
          <a:lstStyle/>
          <a:p>
            <a:pPr algn="ctr"/>
            <a:r>
              <a:rPr sz="405" b="1">
                <a:solidFill>
                  <a:srgbClr val="599DFF"/>
                </a:solidFill>
                <a:latin typeface="Aptos"/>
              </a:rPr>
              <a:t>UX</a:t>
            </a:r>
          </a:p>
        </p:txBody>
      </p:sp>
      <p:sp>
        <p:nvSpPr>
          <p:cNvPr id="52" name="Rectangle 51"/>
          <p:cNvSpPr/>
          <p:nvPr/>
        </p:nvSpPr>
        <p:spPr>
          <a:xfrm>
            <a:off x="1748790" y="3120390"/>
            <a:ext cx="2674620" cy="106299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3" name="Rectangle 52"/>
          <p:cNvSpPr/>
          <p:nvPr/>
        </p:nvSpPr>
        <p:spPr>
          <a:xfrm>
            <a:off x="1748790" y="3120390"/>
            <a:ext cx="2674620" cy="34290"/>
          </a:xfrm>
          <a:prstGeom prst="rect">
            <a:avLst/>
          </a:prstGeom>
          <a:solidFill>
            <a:srgbClr val="FF69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4" name="Oval 53"/>
          <p:cNvSpPr/>
          <p:nvPr/>
        </p:nvSpPr>
        <p:spPr>
          <a:xfrm>
            <a:off x="1899666" y="3305556"/>
            <a:ext cx="301752" cy="301752"/>
          </a:xfrm>
          <a:prstGeom prst="ellipse">
            <a:avLst/>
          </a:prstGeom>
          <a:solidFill>
            <a:srgbClr val="32262A"/>
          </a:solidFill>
          <a:ln w="12700">
            <a:solidFill>
              <a:srgbClr val="FF6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5" name="TextBox 54"/>
          <p:cNvSpPr txBox="1"/>
          <p:nvPr/>
        </p:nvSpPr>
        <p:spPr>
          <a:xfrm>
            <a:off x="1899666" y="3387852"/>
            <a:ext cx="301752" cy="120033"/>
          </a:xfrm>
          <a:prstGeom prst="rect">
            <a:avLst/>
          </a:prstGeom>
          <a:noFill/>
        </p:spPr>
        <p:txBody>
          <a:bodyPr wrap="square" lIns="13716" tIns="13716" rIns="13716" bIns="13716" anchor="t">
            <a:spAutoFit/>
          </a:bodyPr>
          <a:lstStyle/>
          <a:p>
            <a:pPr algn="ctr"/>
            <a:r>
              <a:rPr sz="600" b="1">
                <a:solidFill>
                  <a:srgbClr val="FF6974"/>
                </a:solidFill>
                <a:latin typeface="Aptos"/>
              </a:rPr>
              <a:t>¢</a:t>
            </a:r>
          </a:p>
        </p:txBody>
      </p:sp>
      <p:sp>
        <p:nvSpPr>
          <p:cNvPr id="56" name="TextBox 55"/>
          <p:cNvSpPr txBox="1"/>
          <p:nvPr/>
        </p:nvSpPr>
        <p:spPr>
          <a:xfrm>
            <a:off x="2242565" y="3353562"/>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Cost and latency</a:t>
            </a:r>
          </a:p>
        </p:txBody>
      </p:sp>
      <p:sp>
        <p:nvSpPr>
          <p:cNvPr id="57" name="TextBox 56"/>
          <p:cNvSpPr txBox="1"/>
          <p:nvPr/>
        </p:nvSpPr>
        <p:spPr>
          <a:xfrm>
            <a:off x="1995677" y="3723894"/>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Each agent, probe, retry, and deep reasoning mode adds time and token cost.</a:t>
            </a:r>
          </a:p>
        </p:txBody>
      </p:sp>
      <p:sp>
        <p:nvSpPr>
          <p:cNvPr id="58" name="Rectangle 57"/>
          <p:cNvSpPr/>
          <p:nvPr/>
        </p:nvSpPr>
        <p:spPr>
          <a:xfrm>
            <a:off x="1995677" y="3963923"/>
            <a:ext cx="754380" cy="123444"/>
          </a:xfrm>
          <a:prstGeom prst="rect">
            <a:avLst/>
          </a:prstGeom>
          <a:solidFill>
            <a:srgbClr val="312326"/>
          </a:solidFill>
          <a:ln w="5080">
            <a:solidFill>
              <a:srgbClr val="FF6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9" name="TextBox 58"/>
          <p:cNvSpPr txBox="1"/>
          <p:nvPr/>
        </p:nvSpPr>
        <p:spPr>
          <a:xfrm>
            <a:off x="1995677" y="3981069"/>
            <a:ext cx="754380" cy="90025"/>
          </a:xfrm>
          <a:prstGeom prst="rect">
            <a:avLst/>
          </a:prstGeom>
          <a:noFill/>
        </p:spPr>
        <p:txBody>
          <a:bodyPr wrap="square" lIns="13716" tIns="13716" rIns="13716" bIns="13716" anchor="t">
            <a:spAutoFit/>
          </a:bodyPr>
          <a:lstStyle/>
          <a:p>
            <a:pPr algn="ctr"/>
            <a:r>
              <a:rPr sz="405" b="1">
                <a:solidFill>
                  <a:srgbClr val="FF6974"/>
                </a:solidFill>
                <a:latin typeface="Aptos"/>
              </a:rPr>
              <a:t>TOKENS</a:t>
            </a:r>
          </a:p>
        </p:txBody>
      </p:sp>
      <p:sp>
        <p:nvSpPr>
          <p:cNvPr id="60" name="Rectangle 59"/>
          <p:cNvSpPr/>
          <p:nvPr/>
        </p:nvSpPr>
        <p:spPr>
          <a:xfrm>
            <a:off x="4732020" y="3120390"/>
            <a:ext cx="2674620" cy="106299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1" name="Rectangle 60"/>
          <p:cNvSpPr/>
          <p:nvPr/>
        </p:nvSpPr>
        <p:spPr>
          <a:xfrm>
            <a:off x="4732020" y="3120390"/>
            <a:ext cx="2674620" cy="34290"/>
          </a:xfrm>
          <a:prstGeom prst="rect">
            <a:avLst/>
          </a:prstGeom>
          <a:solidFill>
            <a:srgbClr val="2BD3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2" name="Oval 61"/>
          <p:cNvSpPr/>
          <p:nvPr/>
        </p:nvSpPr>
        <p:spPr>
          <a:xfrm>
            <a:off x="4882896" y="3305556"/>
            <a:ext cx="301752" cy="301752"/>
          </a:xfrm>
          <a:prstGeom prst="ellipse">
            <a:avLst/>
          </a:prstGeom>
          <a:solidFill>
            <a:srgbClr val="1F3434"/>
          </a:solidFill>
          <a:ln w="1270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3" name="TextBox 62"/>
          <p:cNvSpPr txBox="1"/>
          <p:nvPr/>
        </p:nvSpPr>
        <p:spPr>
          <a:xfrm>
            <a:off x="4882896" y="3387852"/>
            <a:ext cx="301752" cy="120033"/>
          </a:xfrm>
          <a:prstGeom prst="rect">
            <a:avLst/>
          </a:prstGeom>
          <a:noFill/>
        </p:spPr>
        <p:txBody>
          <a:bodyPr wrap="square" lIns="13716" tIns="13716" rIns="13716" bIns="13716" anchor="t">
            <a:spAutoFit/>
          </a:bodyPr>
          <a:lstStyle/>
          <a:p>
            <a:pPr algn="ctr"/>
            <a:r>
              <a:rPr sz="600" b="1">
                <a:solidFill>
                  <a:srgbClr val="2BD3C0"/>
                </a:solidFill>
                <a:latin typeface="Aptos"/>
              </a:rPr>
              <a:t>?</a:t>
            </a:r>
          </a:p>
        </p:txBody>
      </p:sp>
      <p:sp>
        <p:nvSpPr>
          <p:cNvPr id="64" name="TextBox 63"/>
          <p:cNvSpPr txBox="1"/>
          <p:nvPr/>
        </p:nvSpPr>
        <p:spPr>
          <a:xfrm>
            <a:off x="5225796" y="3353562"/>
            <a:ext cx="2023110" cy="145296"/>
          </a:xfrm>
          <a:prstGeom prst="rect">
            <a:avLst/>
          </a:prstGeom>
          <a:noFill/>
        </p:spPr>
        <p:txBody>
          <a:bodyPr wrap="square" lIns="13716" tIns="13716" rIns="13716" bIns="13716" anchor="t">
            <a:spAutoFit/>
          </a:bodyPr>
          <a:lstStyle/>
          <a:p>
            <a:pPr algn="l"/>
            <a:r>
              <a:rPr sz="764" b="1">
                <a:solidFill>
                  <a:srgbClr val="F1EFE9"/>
                </a:solidFill>
                <a:latin typeface="Aptos"/>
              </a:rPr>
              <a:t>Trust and explainability</a:t>
            </a:r>
          </a:p>
        </p:txBody>
      </p:sp>
      <p:sp>
        <p:nvSpPr>
          <p:cNvPr id="65" name="TextBox 64"/>
          <p:cNvSpPr txBox="1"/>
          <p:nvPr/>
        </p:nvSpPr>
        <p:spPr>
          <a:xfrm>
            <a:off x="4978908" y="3723894"/>
            <a:ext cx="2249424" cy="212366"/>
          </a:xfrm>
          <a:prstGeom prst="rect">
            <a:avLst/>
          </a:prstGeom>
          <a:noFill/>
        </p:spPr>
        <p:txBody>
          <a:bodyPr wrap="square" lIns="13716" tIns="13716" rIns="13716" bIns="13716" anchor="t">
            <a:spAutoFit/>
          </a:bodyPr>
          <a:lstStyle/>
          <a:p>
            <a:pPr algn="l"/>
            <a:r>
              <a:rPr sz="600">
                <a:solidFill>
                  <a:srgbClr val="F1EFE9"/>
                </a:solidFill>
                <a:latin typeface="Aptos"/>
              </a:rPr>
              <a:t>Users need evidence for schema choices, filters, validation, and failure diagnoses.</a:t>
            </a:r>
          </a:p>
        </p:txBody>
      </p:sp>
      <p:sp>
        <p:nvSpPr>
          <p:cNvPr id="66" name="Rectangle 65"/>
          <p:cNvSpPr/>
          <p:nvPr/>
        </p:nvSpPr>
        <p:spPr>
          <a:xfrm>
            <a:off x="4978908" y="3963923"/>
            <a:ext cx="754380" cy="123444"/>
          </a:xfrm>
          <a:prstGeom prst="rect">
            <a:avLst/>
          </a:prstGeom>
          <a:solidFill>
            <a:srgbClr val="162C30"/>
          </a:solidFill>
          <a:ln w="508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7" name="TextBox 66"/>
          <p:cNvSpPr txBox="1"/>
          <p:nvPr/>
        </p:nvSpPr>
        <p:spPr>
          <a:xfrm>
            <a:off x="4978908" y="3981069"/>
            <a:ext cx="754380" cy="90025"/>
          </a:xfrm>
          <a:prstGeom prst="rect">
            <a:avLst/>
          </a:prstGeom>
          <a:noFill/>
        </p:spPr>
        <p:txBody>
          <a:bodyPr wrap="square" lIns="13716" tIns="13716" rIns="13716" bIns="13716" anchor="t">
            <a:spAutoFit/>
          </a:bodyPr>
          <a:lstStyle/>
          <a:p>
            <a:pPr algn="ctr"/>
            <a:r>
              <a:rPr sz="405" b="1">
                <a:solidFill>
                  <a:srgbClr val="2BD3C0"/>
                </a:solidFill>
                <a:latin typeface="Aptos"/>
              </a:rPr>
              <a:t>TRUST</a:t>
            </a:r>
          </a:p>
        </p:txBody>
      </p:sp>
      <p:sp>
        <p:nvSpPr>
          <p:cNvPr id="68" name="Rectangle 67"/>
          <p:cNvSpPr/>
          <p:nvPr/>
        </p:nvSpPr>
        <p:spPr>
          <a:xfrm>
            <a:off x="342900" y="4855464"/>
            <a:ext cx="8435340" cy="6858"/>
          </a:xfrm>
          <a:prstGeom prst="rect">
            <a:avLst/>
          </a:prstGeom>
          <a:solidFill>
            <a:srgbClr val="252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9" name="TextBox 68"/>
          <p:cNvSpPr txBox="1"/>
          <p:nvPr/>
        </p:nvSpPr>
        <p:spPr>
          <a:xfrm>
            <a:off x="425196" y="4910328"/>
            <a:ext cx="3566160" cy="108491"/>
          </a:xfrm>
          <a:prstGeom prst="rect">
            <a:avLst/>
          </a:prstGeom>
          <a:noFill/>
        </p:spPr>
        <p:txBody>
          <a:bodyPr wrap="square" lIns="13716" tIns="13716" rIns="13716" bIns="13716" anchor="t">
            <a:spAutoFit/>
          </a:bodyPr>
          <a:lstStyle/>
          <a:p>
            <a:pPr algn="l"/>
            <a:r>
              <a:rPr sz="525">
                <a:solidFill>
                  <a:srgbClr val="666C76"/>
                </a:solidFill>
                <a:latin typeface="Aptos"/>
              </a:rPr>
              <a:t>Text-to-SQL problem taxonomy | SpiderDIN project experience</a:t>
            </a:r>
          </a:p>
        </p:txBody>
      </p:sp>
      <p:pic>
        <p:nvPicPr>
          <p:cNvPr id="70" name="Picture 69">
            <a:extLst>
              <a:ext uri="{FF2B5EF4-FFF2-40B4-BE49-F238E27FC236}">
                <a16:creationId xmlns:a16="http://schemas.microsoft.com/office/drawing/2014/main" id="{F6554C00-53E9-92B1-1309-29C268FEDB79}"/>
              </a:ext>
            </a:extLst>
          </p:cNvPr>
          <p:cNvPicPr>
            <a:picLocks noChangeAspect="1"/>
          </p:cNvPicPr>
          <p:nvPr/>
        </p:nvPicPr>
        <p:blipFill>
          <a:blip r:embed="rId2"/>
          <a:srcRect l="-928" t="29746" r="928" b="36645"/>
          <a:stretch>
            <a:fillRect/>
          </a:stretch>
        </p:blipFill>
        <p:spPr>
          <a:xfrm>
            <a:off x="8218575" y="45720"/>
            <a:ext cx="861058" cy="28939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0C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p:cNvSpPr/>
          <p:nvPr/>
        </p:nvSpPr>
        <p:spPr>
          <a:xfrm>
            <a:off x="685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p:cNvSpPr/>
          <p:nvPr/>
        </p:nvSpPr>
        <p:spPr>
          <a:xfrm>
            <a:off x="1371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2057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2743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p:cNvSpPr/>
          <p:nvPr/>
        </p:nvSpPr>
        <p:spPr>
          <a:xfrm>
            <a:off x="3429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114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4800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5486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6172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6858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7543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8229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ectangle 14"/>
          <p:cNvSpPr/>
          <p:nvPr/>
        </p:nvSpPr>
        <p:spPr>
          <a:xfrm>
            <a:off x="8915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1" y="685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ectangle 16"/>
          <p:cNvSpPr/>
          <p:nvPr/>
        </p:nvSpPr>
        <p:spPr>
          <a:xfrm>
            <a:off x="1" y="1371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ectangle 17"/>
          <p:cNvSpPr/>
          <p:nvPr/>
        </p:nvSpPr>
        <p:spPr>
          <a:xfrm>
            <a:off x="1" y="20574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ectangle 18"/>
          <p:cNvSpPr/>
          <p:nvPr/>
        </p:nvSpPr>
        <p:spPr>
          <a:xfrm>
            <a:off x="1" y="27432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ectangle 19"/>
          <p:cNvSpPr/>
          <p:nvPr/>
        </p:nvSpPr>
        <p:spPr>
          <a:xfrm>
            <a:off x="1" y="34290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Rectangle 20"/>
          <p:cNvSpPr/>
          <p:nvPr/>
        </p:nvSpPr>
        <p:spPr>
          <a:xfrm>
            <a:off x="1" y="4114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Rectangle 21"/>
          <p:cNvSpPr/>
          <p:nvPr/>
        </p:nvSpPr>
        <p:spPr>
          <a:xfrm>
            <a:off x="1" y="4800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Rectangle 22"/>
          <p:cNvSpPr/>
          <p:nvPr/>
        </p:nvSpPr>
        <p:spPr>
          <a:xfrm>
            <a:off x="342900" y="260604"/>
            <a:ext cx="1131570" cy="20574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528066" y="315468"/>
            <a:ext cx="788670" cy="99258"/>
          </a:xfrm>
          <a:prstGeom prst="rect">
            <a:avLst/>
          </a:prstGeom>
          <a:noFill/>
        </p:spPr>
        <p:txBody>
          <a:bodyPr wrap="square" lIns="13716" tIns="13716" rIns="13716" bIns="13716" anchor="t">
            <a:spAutoFit/>
          </a:bodyPr>
          <a:lstStyle/>
          <a:p>
            <a:pPr algn="ctr"/>
            <a:r>
              <a:rPr sz="465" b="1">
                <a:solidFill>
                  <a:srgbClr val="0C0F14"/>
                </a:solidFill>
                <a:latin typeface="Aptos"/>
              </a:rPr>
              <a:t>SUMMARY</a:t>
            </a:r>
          </a:p>
        </p:txBody>
      </p:sp>
      <p:sp>
        <p:nvSpPr>
          <p:cNvPr id="25" name="TextBox 24"/>
          <p:cNvSpPr txBox="1"/>
          <p:nvPr/>
        </p:nvSpPr>
        <p:spPr>
          <a:xfrm>
            <a:off x="8572500" y="240030"/>
            <a:ext cx="240030" cy="131574"/>
          </a:xfrm>
          <a:prstGeom prst="rect">
            <a:avLst/>
          </a:prstGeom>
          <a:noFill/>
        </p:spPr>
        <p:txBody>
          <a:bodyPr wrap="square" lIns="13716" tIns="13716" rIns="13716" bIns="13716" anchor="t">
            <a:spAutoFit/>
          </a:bodyPr>
          <a:lstStyle/>
          <a:p>
            <a:pPr algn="r"/>
            <a:r>
              <a:rPr sz="675">
                <a:solidFill>
                  <a:srgbClr val="666C76"/>
                </a:solidFill>
                <a:latin typeface="Aptos"/>
              </a:rPr>
              <a:t>10</a:t>
            </a:r>
          </a:p>
        </p:txBody>
      </p:sp>
      <p:sp>
        <p:nvSpPr>
          <p:cNvPr id="26" name="TextBox 25"/>
          <p:cNvSpPr txBox="1"/>
          <p:nvPr/>
        </p:nvSpPr>
        <p:spPr>
          <a:xfrm>
            <a:off x="425196" y="617220"/>
            <a:ext cx="7680960" cy="311624"/>
          </a:xfrm>
          <a:prstGeom prst="rect">
            <a:avLst/>
          </a:prstGeom>
          <a:noFill/>
        </p:spPr>
        <p:txBody>
          <a:bodyPr wrap="square" lIns="0" tIns="0" rIns="0" bIns="0">
            <a:spAutoFit/>
          </a:bodyPr>
          <a:lstStyle/>
          <a:p>
            <a:pPr algn="l"/>
            <a:r>
              <a:rPr sz="2025" b="1">
                <a:solidFill>
                  <a:srgbClr val="FFBE18"/>
                </a:solidFill>
                <a:latin typeface="Georgia"/>
              </a:rPr>
              <a:t>Problem categories: </a:t>
            </a:r>
            <a:r>
              <a:rPr sz="2025" b="1">
                <a:solidFill>
                  <a:srgbClr val="F1EFE9"/>
                </a:solidFill>
                <a:latin typeface="Georgia"/>
              </a:rPr>
              <a:t>what breaks and where to look first.</a:t>
            </a:r>
          </a:p>
        </p:txBody>
      </p:sp>
      <p:sp>
        <p:nvSpPr>
          <p:cNvPr id="27" name="TextBox 26"/>
          <p:cNvSpPr txBox="1"/>
          <p:nvPr/>
        </p:nvSpPr>
        <p:spPr>
          <a:xfrm>
            <a:off x="438912" y="1179576"/>
            <a:ext cx="4389120" cy="146643"/>
          </a:xfrm>
          <a:prstGeom prst="rect">
            <a:avLst/>
          </a:prstGeom>
          <a:noFill/>
        </p:spPr>
        <p:txBody>
          <a:bodyPr wrap="square" lIns="13716" tIns="13716" rIns="13716" bIns="13716" anchor="t">
            <a:spAutoFit/>
          </a:bodyPr>
          <a:lstStyle/>
          <a:p>
            <a:pPr algn="l"/>
            <a:r>
              <a:rPr sz="773">
                <a:solidFill>
                  <a:srgbClr val="F1EFE9"/>
                </a:solidFill>
                <a:latin typeface="Aptos"/>
              </a:rPr>
              <a:t>Use this as a diagnostic index when a Text-to-SQL run fails.</a:t>
            </a:r>
          </a:p>
        </p:txBody>
      </p:sp>
      <p:sp>
        <p:nvSpPr>
          <p:cNvPr id="28" name="TextBox 27"/>
          <p:cNvSpPr txBox="1"/>
          <p:nvPr/>
        </p:nvSpPr>
        <p:spPr>
          <a:xfrm>
            <a:off x="548640" y="1611630"/>
            <a:ext cx="2057400" cy="122213"/>
          </a:xfrm>
          <a:prstGeom prst="rect">
            <a:avLst/>
          </a:prstGeom>
          <a:noFill/>
        </p:spPr>
        <p:txBody>
          <a:bodyPr wrap="square" lIns="13716" tIns="13716" rIns="13716" bIns="13716" anchor="t">
            <a:spAutoFit/>
          </a:bodyPr>
          <a:lstStyle/>
          <a:p>
            <a:pPr algn="l"/>
            <a:r>
              <a:rPr sz="614" b="1">
                <a:solidFill>
                  <a:srgbClr val="41DA8E"/>
                </a:solidFill>
                <a:latin typeface="Aptos"/>
              </a:rPr>
              <a:t>GENUINE TEXT-TO-SQL</a:t>
            </a:r>
          </a:p>
        </p:txBody>
      </p:sp>
      <p:sp>
        <p:nvSpPr>
          <p:cNvPr id="29" name="TextBox 28"/>
          <p:cNvSpPr txBox="1"/>
          <p:nvPr/>
        </p:nvSpPr>
        <p:spPr>
          <a:xfrm>
            <a:off x="4834890" y="1611630"/>
            <a:ext cx="2057400" cy="122213"/>
          </a:xfrm>
          <a:prstGeom prst="rect">
            <a:avLst/>
          </a:prstGeom>
          <a:noFill/>
        </p:spPr>
        <p:txBody>
          <a:bodyPr wrap="square" lIns="13716" tIns="13716" rIns="13716" bIns="13716" anchor="t">
            <a:spAutoFit/>
          </a:bodyPr>
          <a:lstStyle/>
          <a:p>
            <a:pPr algn="l"/>
            <a:r>
              <a:rPr sz="614" b="1">
                <a:solidFill>
                  <a:srgbClr val="F5A012"/>
                </a:solidFill>
                <a:latin typeface="Aptos"/>
              </a:rPr>
              <a:t>ARCHITECTURE / PIPELINE</a:t>
            </a:r>
          </a:p>
        </p:txBody>
      </p:sp>
      <p:sp>
        <p:nvSpPr>
          <p:cNvPr id="30" name="Rectangle 29"/>
          <p:cNvSpPr/>
          <p:nvPr/>
        </p:nvSpPr>
        <p:spPr>
          <a:xfrm>
            <a:off x="493776" y="1906524"/>
            <a:ext cx="3497580" cy="329184"/>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1" name="Rectangle 30"/>
          <p:cNvSpPr/>
          <p:nvPr/>
        </p:nvSpPr>
        <p:spPr>
          <a:xfrm>
            <a:off x="493776" y="1906524"/>
            <a:ext cx="3497580" cy="34290"/>
          </a:xfrm>
          <a:prstGeom prst="rect">
            <a:avLst/>
          </a:prstGeom>
          <a:solidFill>
            <a:srgbClr val="41D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2" name="Oval 31"/>
          <p:cNvSpPr/>
          <p:nvPr/>
        </p:nvSpPr>
        <p:spPr>
          <a:xfrm>
            <a:off x="644652" y="2091690"/>
            <a:ext cx="301752" cy="301752"/>
          </a:xfrm>
          <a:prstGeom prst="ellipse">
            <a:avLst/>
          </a:prstGeom>
          <a:solidFill>
            <a:srgbClr val="1F3434"/>
          </a:solidFill>
          <a:ln w="1270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3" name="TextBox 32"/>
          <p:cNvSpPr txBox="1"/>
          <p:nvPr/>
        </p:nvSpPr>
        <p:spPr>
          <a:xfrm>
            <a:off x="644652" y="2173986"/>
            <a:ext cx="301752" cy="120033"/>
          </a:xfrm>
          <a:prstGeom prst="rect">
            <a:avLst/>
          </a:prstGeom>
          <a:noFill/>
        </p:spPr>
        <p:txBody>
          <a:bodyPr wrap="square" lIns="13716" tIns="13716" rIns="13716" bIns="13716" anchor="t">
            <a:spAutoFit/>
          </a:bodyPr>
          <a:lstStyle/>
          <a:p>
            <a:pPr algn="ctr"/>
            <a:r>
              <a:rPr sz="600" b="1">
                <a:solidFill>
                  <a:srgbClr val="41DA8E"/>
                </a:solidFill>
                <a:latin typeface="Aptos"/>
              </a:rPr>
              <a:t>1</a:t>
            </a:r>
          </a:p>
        </p:txBody>
      </p:sp>
      <p:sp>
        <p:nvSpPr>
          <p:cNvPr id="34" name="TextBox 33"/>
          <p:cNvSpPr txBox="1"/>
          <p:nvPr/>
        </p:nvSpPr>
        <p:spPr>
          <a:xfrm>
            <a:off x="987553" y="2139696"/>
            <a:ext cx="2846069" cy="145296"/>
          </a:xfrm>
          <a:prstGeom prst="rect">
            <a:avLst/>
          </a:prstGeom>
          <a:noFill/>
        </p:spPr>
        <p:txBody>
          <a:bodyPr wrap="square" lIns="13716" tIns="13716" rIns="13716" bIns="13716" anchor="t">
            <a:spAutoFit/>
          </a:bodyPr>
          <a:lstStyle/>
          <a:p>
            <a:pPr algn="l"/>
            <a:r>
              <a:rPr sz="764" b="1">
                <a:solidFill>
                  <a:srgbClr val="F1EFE9"/>
                </a:solidFill>
                <a:latin typeface="Aptos"/>
              </a:rPr>
              <a:t>Language</a:t>
            </a:r>
          </a:p>
        </p:txBody>
      </p:sp>
      <p:sp>
        <p:nvSpPr>
          <p:cNvPr id="35" name="TextBox 34"/>
          <p:cNvSpPr txBox="1"/>
          <p:nvPr/>
        </p:nvSpPr>
        <p:spPr>
          <a:xfrm>
            <a:off x="740665" y="2510027"/>
            <a:ext cx="3072383" cy="120033"/>
          </a:xfrm>
          <a:prstGeom prst="rect">
            <a:avLst/>
          </a:prstGeom>
          <a:noFill/>
        </p:spPr>
        <p:txBody>
          <a:bodyPr wrap="square" lIns="13716" tIns="13716" rIns="13716" bIns="13716" anchor="t">
            <a:spAutoFit/>
          </a:bodyPr>
          <a:lstStyle/>
          <a:p>
            <a:pPr algn="l"/>
            <a:r>
              <a:rPr sz="600">
                <a:solidFill>
                  <a:srgbClr val="F1EFE9"/>
                </a:solidFill>
                <a:latin typeface="Aptos"/>
              </a:rPr>
              <a:t>intent, ambiguity, jargon, missing assumptions</a:t>
            </a:r>
          </a:p>
        </p:txBody>
      </p:sp>
      <p:sp>
        <p:nvSpPr>
          <p:cNvPr id="36" name="Rectangle 35"/>
          <p:cNvSpPr/>
          <p:nvPr/>
        </p:nvSpPr>
        <p:spPr>
          <a:xfrm>
            <a:off x="493776" y="2352293"/>
            <a:ext cx="3497580" cy="329184"/>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7" name="Rectangle 36"/>
          <p:cNvSpPr/>
          <p:nvPr/>
        </p:nvSpPr>
        <p:spPr>
          <a:xfrm>
            <a:off x="493776" y="2352293"/>
            <a:ext cx="3497580" cy="34290"/>
          </a:xfrm>
          <a:prstGeom prst="rect">
            <a:avLst/>
          </a:prstGeom>
          <a:solidFill>
            <a:srgbClr val="2BD3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8" name="Oval 37"/>
          <p:cNvSpPr/>
          <p:nvPr/>
        </p:nvSpPr>
        <p:spPr>
          <a:xfrm>
            <a:off x="644652" y="2537459"/>
            <a:ext cx="301752" cy="301752"/>
          </a:xfrm>
          <a:prstGeom prst="ellipse">
            <a:avLst/>
          </a:prstGeom>
          <a:solidFill>
            <a:srgbClr val="1F3434"/>
          </a:solidFill>
          <a:ln w="1270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9" name="TextBox 38"/>
          <p:cNvSpPr txBox="1"/>
          <p:nvPr/>
        </p:nvSpPr>
        <p:spPr>
          <a:xfrm>
            <a:off x="644652" y="2619756"/>
            <a:ext cx="301752" cy="120033"/>
          </a:xfrm>
          <a:prstGeom prst="rect">
            <a:avLst/>
          </a:prstGeom>
          <a:noFill/>
        </p:spPr>
        <p:txBody>
          <a:bodyPr wrap="square" lIns="13716" tIns="13716" rIns="13716" bIns="13716" anchor="t">
            <a:spAutoFit/>
          </a:bodyPr>
          <a:lstStyle/>
          <a:p>
            <a:pPr algn="ctr"/>
            <a:r>
              <a:rPr sz="600" b="1">
                <a:solidFill>
                  <a:srgbClr val="2BD3C0"/>
                </a:solidFill>
                <a:latin typeface="Aptos"/>
              </a:rPr>
              <a:t>2</a:t>
            </a:r>
          </a:p>
        </p:txBody>
      </p:sp>
      <p:sp>
        <p:nvSpPr>
          <p:cNvPr id="40" name="TextBox 39"/>
          <p:cNvSpPr txBox="1"/>
          <p:nvPr/>
        </p:nvSpPr>
        <p:spPr>
          <a:xfrm>
            <a:off x="987553" y="2585466"/>
            <a:ext cx="2846069" cy="145296"/>
          </a:xfrm>
          <a:prstGeom prst="rect">
            <a:avLst/>
          </a:prstGeom>
          <a:noFill/>
        </p:spPr>
        <p:txBody>
          <a:bodyPr wrap="square" lIns="13716" tIns="13716" rIns="13716" bIns="13716" anchor="t">
            <a:spAutoFit/>
          </a:bodyPr>
          <a:lstStyle/>
          <a:p>
            <a:pPr algn="l"/>
            <a:r>
              <a:rPr sz="764" b="1">
                <a:solidFill>
                  <a:srgbClr val="F1EFE9"/>
                </a:solidFill>
                <a:latin typeface="Aptos"/>
              </a:rPr>
              <a:t>Schema</a:t>
            </a:r>
          </a:p>
        </p:txBody>
      </p:sp>
      <p:sp>
        <p:nvSpPr>
          <p:cNvPr id="41" name="TextBox 40"/>
          <p:cNvSpPr txBox="1"/>
          <p:nvPr/>
        </p:nvSpPr>
        <p:spPr>
          <a:xfrm>
            <a:off x="740665" y="2955797"/>
            <a:ext cx="3072383" cy="120033"/>
          </a:xfrm>
          <a:prstGeom prst="rect">
            <a:avLst/>
          </a:prstGeom>
          <a:noFill/>
        </p:spPr>
        <p:txBody>
          <a:bodyPr wrap="square" lIns="13716" tIns="13716" rIns="13716" bIns="13716" anchor="t">
            <a:spAutoFit/>
          </a:bodyPr>
          <a:lstStyle/>
          <a:p>
            <a:pPr algn="l"/>
            <a:r>
              <a:rPr sz="600">
                <a:solidFill>
                  <a:srgbClr val="F1EFE9"/>
                </a:solidFill>
                <a:latin typeface="Aptos"/>
              </a:rPr>
              <a:t>tables, columns, metadata, values, foreign keys</a:t>
            </a:r>
          </a:p>
        </p:txBody>
      </p:sp>
      <p:sp>
        <p:nvSpPr>
          <p:cNvPr id="42" name="Rectangle 41"/>
          <p:cNvSpPr/>
          <p:nvPr/>
        </p:nvSpPr>
        <p:spPr>
          <a:xfrm>
            <a:off x="493776" y="2798064"/>
            <a:ext cx="3497580" cy="329184"/>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3" name="Rectangle 42"/>
          <p:cNvSpPr/>
          <p:nvPr/>
        </p:nvSpPr>
        <p:spPr>
          <a:xfrm>
            <a:off x="493776" y="2798064"/>
            <a:ext cx="3497580" cy="34290"/>
          </a:xfrm>
          <a:prstGeom prst="rect">
            <a:avLst/>
          </a:prstGeom>
          <a:solidFill>
            <a:srgbClr val="41D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4" name="Oval 43"/>
          <p:cNvSpPr/>
          <p:nvPr/>
        </p:nvSpPr>
        <p:spPr>
          <a:xfrm>
            <a:off x="644652" y="2983229"/>
            <a:ext cx="301752" cy="301752"/>
          </a:xfrm>
          <a:prstGeom prst="ellipse">
            <a:avLst/>
          </a:prstGeom>
          <a:solidFill>
            <a:srgbClr val="1F3434"/>
          </a:solidFill>
          <a:ln w="1270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5" name="TextBox 44"/>
          <p:cNvSpPr txBox="1"/>
          <p:nvPr/>
        </p:nvSpPr>
        <p:spPr>
          <a:xfrm>
            <a:off x="644652" y="3065526"/>
            <a:ext cx="301752" cy="120033"/>
          </a:xfrm>
          <a:prstGeom prst="rect">
            <a:avLst/>
          </a:prstGeom>
          <a:noFill/>
        </p:spPr>
        <p:txBody>
          <a:bodyPr wrap="square" lIns="13716" tIns="13716" rIns="13716" bIns="13716" anchor="t">
            <a:spAutoFit/>
          </a:bodyPr>
          <a:lstStyle/>
          <a:p>
            <a:pPr algn="ctr"/>
            <a:r>
              <a:rPr sz="600" b="1">
                <a:solidFill>
                  <a:srgbClr val="41DA8E"/>
                </a:solidFill>
                <a:latin typeface="Aptos"/>
              </a:rPr>
              <a:t>3</a:t>
            </a:r>
          </a:p>
        </p:txBody>
      </p:sp>
      <p:sp>
        <p:nvSpPr>
          <p:cNvPr id="46" name="TextBox 45"/>
          <p:cNvSpPr txBox="1"/>
          <p:nvPr/>
        </p:nvSpPr>
        <p:spPr>
          <a:xfrm>
            <a:off x="987553" y="3031236"/>
            <a:ext cx="2846069" cy="145296"/>
          </a:xfrm>
          <a:prstGeom prst="rect">
            <a:avLst/>
          </a:prstGeom>
          <a:noFill/>
        </p:spPr>
        <p:txBody>
          <a:bodyPr wrap="square" lIns="13716" tIns="13716" rIns="13716" bIns="13716" anchor="t">
            <a:spAutoFit/>
          </a:bodyPr>
          <a:lstStyle/>
          <a:p>
            <a:pPr algn="l"/>
            <a:r>
              <a:rPr sz="764" b="1">
                <a:solidFill>
                  <a:srgbClr val="F1EFE9"/>
                </a:solidFill>
                <a:latin typeface="Aptos"/>
              </a:rPr>
              <a:t>Logic</a:t>
            </a:r>
          </a:p>
        </p:txBody>
      </p:sp>
      <p:sp>
        <p:nvSpPr>
          <p:cNvPr id="47" name="TextBox 46"/>
          <p:cNvSpPr txBox="1"/>
          <p:nvPr/>
        </p:nvSpPr>
        <p:spPr>
          <a:xfrm>
            <a:off x="740665" y="3401568"/>
            <a:ext cx="3072383" cy="120033"/>
          </a:xfrm>
          <a:prstGeom prst="rect">
            <a:avLst/>
          </a:prstGeom>
          <a:noFill/>
        </p:spPr>
        <p:txBody>
          <a:bodyPr wrap="square" lIns="13716" tIns="13716" rIns="13716" bIns="13716" anchor="t">
            <a:spAutoFit/>
          </a:bodyPr>
          <a:lstStyle/>
          <a:p>
            <a:pPr algn="l"/>
            <a:r>
              <a:rPr sz="600">
                <a:solidFill>
                  <a:srgbClr val="F1EFE9"/>
                </a:solidFill>
                <a:latin typeface="Aptos"/>
              </a:rPr>
              <a:t>joins, grain, metrics, time, nested reasoning</a:t>
            </a:r>
          </a:p>
        </p:txBody>
      </p:sp>
      <p:sp>
        <p:nvSpPr>
          <p:cNvPr id="48" name="Rectangle 47"/>
          <p:cNvSpPr/>
          <p:nvPr/>
        </p:nvSpPr>
        <p:spPr>
          <a:xfrm>
            <a:off x="493776" y="3243834"/>
            <a:ext cx="3497580" cy="329184"/>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9" name="Rectangle 48"/>
          <p:cNvSpPr/>
          <p:nvPr/>
        </p:nvSpPr>
        <p:spPr>
          <a:xfrm>
            <a:off x="493776" y="3243834"/>
            <a:ext cx="3497580" cy="34290"/>
          </a:xfrm>
          <a:prstGeom prst="rect">
            <a:avLst/>
          </a:prstGeom>
          <a:solidFill>
            <a:srgbClr val="2BD3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0" name="Oval 49"/>
          <p:cNvSpPr/>
          <p:nvPr/>
        </p:nvSpPr>
        <p:spPr>
          <a:xfrm>
            <a:off x="644652" y="3429000"/>
            <a:ext cx="301752" cy="301752"/>
          </a:xfrm>
          <a:prstGeom prst="ellipse">
            <a:avLst/>
          </a:prstGeom>
          <a:solidFill>
            <a:srgbClr val="1F3434"/>
          </a:solidFill>
          <a:ln w="1270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1" name="TextBox 50"/>
          <p:cNvSpPr txBox="1"/>
          <p:nvPr/>
        </p:nvSpPr>
        <p:spPr>
          <a:xfrm>
            <a:off x="644652" y="3511296"/>
            <a:ext cx="301752" cy="120033"/>
          </a:xfrm>
          <a:prstGeom prst="rect">
            <a:avLst/>
          </a:prstGeom>
          <a:noFill/>
        </p:spPr>
        <p:txBody>
          <a:bodyPr wrap="square" lIns="13716" tIns="13716" rIns="13716" bIns="13716" anchor="t">
            <a:spAutoFit/>
          </a:bodyPr>
          <a:lstStyle/>
          <a:p>
            <a:pPr algn="ctr"/>
            <a:r>
              <a:rPr sz="600" b="1">
                <a:solidFill>
                  <a:srgbClr val="2BD3C0"/>
                </a:solidFill>
                <a:latin typeface="Aptos"/>
              </a:rPr>
              <a:t>4</a:t>
            </a:r>
          </a:p>
        </p:txBody>
      </p:sp>
      <p:sp>
        <p:nvSpPr>
          <p:cNvPr id="52" name="TextBox 51"/>
          <p:cNvSpPr txBox="1"/>
          <p:nvPr/>
        </p:nvSpPr>
        <p:spPr>
          <a:xfrm>
            <a:off x="987553" y="3477006"/>
            <a:ext cx="2846069" cy="145296"/>
          </a:xfrm>
          <a:prstGeom prst="rect">
            <a:avLst/>
          </a:prstGeom>
          <a:noFill/>
        </p:spPr>
        <p:txBody>
          <a:bodyPr wrap="square" lIns="13716" tIns="13716" rIns="13716" bIns="13716" anchor="t">
            <a:spAutoFit/>
          </a:bodyPr>
          <a:lstStyle/>
          <a:p>
            <a:pPr algn="l"/>
            <a:r>
              <a:rPr sz="764" b="1">
                <a:solidFill>
                  <a:srgbClr val="F1EFE9"/>
                </a:solidFill>
                <a:latin typeface="Aptos"/>
              </a:rPr>
              <a:t>Dialect</a:t>
            </a:r>
          </a:p>
        </p:txBody>
      </p:sp>
      <p:sp>
        <p:nvSpPr>
          <p:cNvPr id="53" name="TextBox 52"/>
          <p:cNvSpPr txBox="1"/>
          <p:nvPr/>
        </p:nvSpPr>
        <p:spPr>
          <a:xfrm>
            <a:off x="740665" y="3847338"/>
            <a:ext cx="3072383" cy="120033"/>
          </a:xfrm>
          <a:prstGeom prst="rect">
            <a:avLst/>
          </a:prstGeom>
          <a:noFill/>
        </p:spPr>
        <p:txBody>
          <a:bodyPr wrap="square" lIns="13716" tIns="13716" rIns="13716" bIns="13716" anchor="t">
            <a:spAutoFit/>
          </a:bodyPr>
          <a:lstStyle/>
          <a:p>
            <a:pPr algn="l"/>
            <a:r>
              <a:rPr sz="600">
                <a:solidFill>
                  <a:srgbClr val="F1EFE9"/>
                </a:solidFill>
                <a:latin typeface="Aptos"/>
              </a:rPr>
              <a:t>engine-specific syntax, JSON, arrays, casting</a:t>
            </a:r>
          </a:p>
        </p:txBody>
      </p:sp>
      <p:sp>
        <p:nvSpPr>
          <p:cNvPr id="54" name="Rectangle 53"/>
          <p:cNvSpPr/>
          <p:nvPr/>
        </p:nvSpPr>
        <p:spPr>
          <a:xfrm>
            <a:off x="493776" y="3689604"/>
            <a:ext cx="3497580" cy="329184"/>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5" name="Rectangle 54"/>
          <p:cNvSpPr/>
          <p:nvPr/>
        </p:nvSpPr>
        <p:spPr>
          <a:xfrm>
            <a:off x="493776" y="3689604"/>
            <a:ext cx="3497580" cy="34290"/>
          </a:xfrm>
          <a:prstGeom prst="rect">
            <a:avLst/>
          </a:prstGeom>
          <a:solidFill>
            <a:srgbClr val="41D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6" name="Oval 55"/>
          <p:cNvSpPr/>
          <p:nvPr/>
        </p:nvSpPr>
        <p:spPr>
          <a:xfrm>
            <a:off x="644652" y="3874770"/>
            <a:ext cx="301752" cy="301752"/>
          </a:xfrm>
          <a:prstGeom prst="ellipse">
            <a:avLst/>
          </a:prstGeom>
          <a:solidFill>
            <a:srgbClr val="1F3434"/>
          </a:solidFill>
          <a:ln w="1270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7" name="TextBox 56"/>
          <p:cNvSpPr txBox="1"/>
          <p:nvPr/>
        </p:nvSpPr>
        <p:spPr>
          <a:xfrm>
            <a:off x="644652" y="3957066"/>
            <a:ext cx="301752" cy="120033"/>
          </a:xfrm>
          <a:prstGeom prst="rect">
            <a:avLst/>
          </a:prstGeom>
          <a:noFill/>
        </p:spPr>
        <p:txBody>
          <a:bodyPr wrap="square" lIns="13716" tIns="13716" rIns="13716" bIns="13716" anchor="t">
            <a:spAutoFit/>
          </a:bodyPr>
          <a:lstStyle/>
          <a:p>
            <a:pPr algn="ctr"/>
            <a:r>
              <a:rPr sz="600" b="1">
                <a:solidFill>
                  <a:srgbClr val="41DA8E"/>
                </a:solidFill>
                <a:latin typeface="Aptos"/>
              </a:rPr>
              <a:t>5</a:t>
            </a:r>
          </a:p>
        </p:txBody>
      </p:sp>
      <p:sp>
        <p:nvSpPr>
          <p:cNvPr id="58" name="TextBox 57"/>
          <p:cNvSpPr txBox="1"/>
          <p:nvPr/>
        </p:nvSpPr>
        <p:spPr>
          <a:xfrm>
            <a:off x="987553" y="3922776"/>
            <a:ext cx="2846069" cy="145296"/>
          </a:xfrm>
          <a:prstGeom prst="rect">
            <a:avLst/>
          </a:prstGeom>
          <a:noFill/>
        </p:spPr>
        <p:txBody>
          <a:bodyPr wrap="square" lIns="13716" tIns="13716" rIns="13716" bIns="13716" anchor="t">
            <a:spAutoFit/>
          </a:bodyPr>
          <a:lstStyle/>
          <a:p>
            <a:pPr algn="l"/>
            <a:r>
              <a:rPr sz="764" b="1">
                <a:solidFill>
                  <a:srgbClr val="F1EFE9"/>
                </a:solidFill>
                <a:latin typeface="Aptos"/>
              </a:rPr>
              <a:t>Correctness</a:t>
            </a:r>
          </a:p>
        </p:txBody>
      </p:sp>
      <p:sp>
        <p:nvSpPr>
          <p:cNvPr id="59" name="TextBox 58"/>
          <p:cNvSpPr txBox="1"/>
          <p:nvPr/>
        </p:nvSpPr>
        <p:spPr>
          <a:xfrm>
            <a:off x="740665" y="4293108"/>
            <a:ext cx="3072383" cy="120033"/>
          </a:xfrm>
          <a:prstGeom prst="rect">
            <a:avLst/>
          </a:prstGeom>
          <a:noFill/>
        </p:spPr>
        <p:txBody>
          <a:bodyPr wrap="square" lIns="13716" tIns="13716" rIns="13716" bIns="13716" anchor="t">
            <a:spAutoFit/>
          </a:bodyPr>
          <a:lstStyle/>
          <a:p>
            <a:pPr algn="l"/>
            <a:r>
              <a:rPr sz="600">
                <a:solidFill>
                  <a:srgbClr val="F1EFE9"/>
                </a:solidFill>
                <a:latin typeface="Aptos"/>
              </a:rPr>
              <a:t>silent wrong results, nulls, output shape</a:t>
            </a:r>
          </a:p>
        </p:txBody>
      </p:sp>
      <p:sp>
        <p:nvSpPr>
          <p:cNvPr id="60" name="Rectangle 59"/>
          <p:cNvSpPr/>
          <p:nvPr/>
        </p:nvSpPr>
        <p:spPr>
          <a:xfrm>
            <a:off x="4766310" y="1906524"/>
            <a:ext cx="3497580" cy="329184"/>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1" name="Rectangle 60"/>
          <p:cNvSpPr/>
          <p:nvPr/>
        </p:nvSpPr>
        <p:spPr>
          <a:xfrm>
            <a:off x="4766310" y="1906524"/>
            <a:ext cx="3497580" cy="3429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2" name="Oval 61"/>
          <p:cNvSpPr/>
          <p:nvPr/>
        </p:nvSpPr>
        <p:spPr>
          <a:xfrm>
            <a:off x="4917186" y="2091690"/>
            <a:ext cx="301752" cy="301752"/>
          </a:xfrm>
          <a:prstGeom prst="ellipse">
            <a:avLst/>
          </a:prstGeom>
          <a:solidFill>
            <a:srgbClr val="252D3A"/>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3" name="TextBox 62"/>
          <p:cNvSpPr txBox="1"/>
          <p:nvPr/>
        </p:nvSpPr>
        <p:spPr>
          <a:xfrm>
            <a:off x="4917186" y="2173986"/>
            <a:ext cx="301752" cy="120033"/>
          </a:xfrm>
          <a:prstGeom prst="rect">
            <a:avLst/>
          </a:prstGeom>
          <a:noFill/>
        </p:spPr>
        <p:txBody>
          <a:bodyPr wrap="square" lIns="13716" tIns="13716" rIns="13716" bIns="13716" anchor="t">
            <a:spAutoFit/>
          </a:bodyPr>
          <a:lstStyle/>
          <a:p>
            <a:pPr algn="ctr"/>
            <a:r>
              <a:rPr sz="600" b="1">
                <a:solidFill>
                  <a:srgbClr val="F5A012"/>
                </a:solidFill>
                <a:latin typeface="Aptos"/>
              </a:rPr>
              <a:t>1</a:t>
            </a:r>
          </a:p>
        </p:txBody>
      </p:sp>
      <p:sp>
        <p:nvSpPr>
          <p:cNvPr id="64" name="TextBox 63"/>
          <p:cNvSpPr txBox="1"/>
          <p:nvPr/>
        </p:nvSpPr>
        <p:spPr>
          <a:xfrm>
            <a:off x="5260087" y="2139696"/>
            <a:ext cx="2846069" cy="145296"/>
          </a:xfrm>
          <a:prstGeom prst="rect">
            <a:avLst/>
          </a:prstGeom>
          <a:noFill/>
        </p:spPr>
        <p:txBody>
          <a:bodyPr wrap="square" lIns="13716" tIns="13716" rIns="13716" bIns="13716" anchor="t">
            <a:spAutoFit/>
          </a:bodyPr>
          <a:lstStyle/>
          <a:p>
            <a:pPr algn="l"/>
            <a:r>
              <a:rPr sz="764" b="1">
                <a:solidFill>
                  <a:srgbClr val="F1EFE9"/>
                </a:solidFill>
                <a:latin typeface="Aptos"/>
              </a:rPr>
              <a:t>Context</a:t>
            </a:r>
          </a:p>
        </p:txBody>
      </p:sp>
      <p:sp>
        <p:nvSpPr>
          <p:cNvPr id="65" name="TextBox 64"/>
          <p:cNvSpPr txBox="1"/>
          <p:nvPr/>
        </p:nvSpPr>
        <p:spPr>
          <a:xfrm>
            <a:off x="5013199" y="2510027"/>
            <a:ext cx="3072383" cy="120033"/>
          </a:xfrm>
          <a:prstGeom prst="rect">
            <a:avLst/>
          </a:prstGeom>
          <a:noFill/>
        </p:spPr>
        <p:txBody>
          <a:bodyPr wrap="square" lIns="13716" tIns="13716" rIns="13716" bIns="13716" anchor="t">
            <a:spAutoFit/>
          </a:bodyPr>
          <a:lstStyle/>
          <a:p>
            <a:pPr algn="l"/>
            <a:r>
              <a:rPr sz="600">
                <a:solidFill>
                  <a:srgbClr val="F1EFE9"/>
                </a:solidFill>
                <a:latin typeface="Aptos"/>
              </a:rPr>
              <a:t>construction, retrieval, pruning, profiling</a:t>
            </a:r>
          </a:p>
        </p:txBody>
      </p:sp>
      <p:sp>
        <p:nvSpPr>
          <p:cNvPr id="66" name="Rectangle 65"/>
          <p:cNvSpPr/>
          <p:nvPr/>
        </p:nvSpPr>
        <p:spPr>
          <a:xfrm>
            <a:off x="4766310" y="2352293"/>
            <a:ext cx="3497580" cy="329184"/>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7" name="Rectangle 66"/>
          <p:cNvSpPr/>
          <p:nvPr/>
        </p:nvSpPr>
        <p:spPr>
          <a:xfrm>
            <a:off x="4766310" y="2352293"/>
            <a:ext cx="3497580" cy="34290"/>
          </a:xfrm>
          <a:prstGeom prst="rect">
            <a:avLst/>
          </a:prstGeom>
          <a:solidFill>
            <a:srgbClr val="59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8" name="Oval 67"/>
          <p:cNvSpPr/>
          <p:nvPr/>
        </p:nvSpPr>
        <p:spPr>
          <a:xfrm>
            <a:off x="4917186" y="2537459"/>
            <a:ext cx="301752" cy="301752"/>
          </a:xfrm>
          <a:prstGeom prst="ellipse">
            <a:avLst/>
          </a:prstGeom>
          <a:solidFill>
            <a:srgbClr val="252D3A"/>
          </a:solidFill>
          <a:ln w="12700">
            <a:solidFill>
              <a:srgbClr val="59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9" name="TextBox 68"/>
          <p:cNvSpPr txBox="1"/>
          <p:nvPr/>
        </p:nvSpPr>
        <p:spPr>
          <a:xfrm>
            <a:off x="4917186" y="2619756"/>
            <a:ext cx="301752" cy="120033"/>
          </a:xfrm>
          <a:prstGeom prst="rect">
            <a:avLst/>
          </a:prstGeom>
          <a:noFill/>
        </p:spPr>
        <p:txBody>
          <a:bodyPr wrap="square" lIns="13716" tIns="13716" rIns="13716" bIns="13716" anchor="t">
            <a:spAutoFit/>
          </a:bodyPr>
          <a:lstStyle/>
          <a:p>
            <a:pPr algn="ctr"/>
            <a:r>
              <a:rPr sz="600" b="1">
                <a:solidFill>
                  <a:srgbClr val="599DFF"/>
                </a:solidFill>
                <a:latin typeface="Aptos"/>
              </a:rPr>
              <a:t>2</a:t>
            </a:r>
          </a:p>
        </p:txBody>
      </p:sp>
      <p:sp>
        <p:nvSpPr>
          <p:cNvPr id="70" name="TextBox 69"/>
          <p:cNvSpPr txBox="1"/>
          <p:nvPr/>
        </p:nvSpPr>
        <p:spPr>
          <a:xfrm>
            <a:off x="5260087" y="2585466"/>
            <a:ext cx="2846069" cy="145296"/>
          </a:xfrm>
          <a:prstGeom prst="rect">
            <a:avLst/>
          </a:prstGeom>
          <a:noFill/>
        </p:spPr>
        <p:txBody>
          <a:bodyPr wrap="square" lIns="13716" tIns="13716" rIns="13716" bIns="13716" anchor="t">
            <a:spAutoFit/>
          </a:bodyPr>
          <a:lstStyle/>
          <a:p>
            <a:pPr algn="l"/>
            <a:r>
              <a:rPr sz="764" b="1">
                <a:solidFill>
                  <a:srgbClr val="F1EFE9"/>
                </a:solidFill>
                <a:latin typeface="Aptos"/>
              </a:rPr>
              <a:t>Agents</a:t>
            </a:r>
          </a:p>
        </p:txBody>
      </p:sp>
      <p:sp>
        <p:nvSpPr>
          <p:cNvPr id="71" name="TextBox 70"/>
          <p:cNvSpPr txBox="1"/>
          <p:nvPr/>
        </p:nvSpPr>
        <p:spPr>
          <a:xfrm>
            <a:off x="5013199" y="2955797"/>
            <a:ext cx="3072383" cy="120033"/>
          </a:xfrm>
          <a:prstGeom prst="rect">
            <a:avLst/>
          </a:prstGeom>
          <a:noFill/>
        </p:spPr>
        <p:txBody>
          <a:bodyPr wrap="square" lIns="13716" tIns="13716" rIns="13716" bIns="13716" anchor="t">
            <a:spAutoFit/>
          </a:bodyPr>
          <a:lstStyle/>
          <a:p>
            <a:pPr algn="l"/>
            <a:r>
              <a:rPr sz="600">
                <a:solidFill>
                  <a:srgbClr val="F1EFE9"/>
                </a:solidFill>
                <a:latin typeface="Aptos"/>
              </a:rPr>
              <a:t>generator, critic, verifier, corrector</a:t>
            </a:r>
          </a:p>
        </p:txBody>
      </p:sp>
      <p:sp>
        <p:nvSpPr>
          <p:cNvPr id="72" name="Rectangle 71"/>
          <p:cNvSpPr/>
          <p:nvPr/>
        </p:nvSpPr>
        <p:spPr>
          <a:xfrm>
            <a:off x="4766310" y="2798064"/>
            <a:ext cx="3497580" cy="329184"/>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3" name="Rectangle 72"/>
          <p:cNvSpPr/>
          <p:nvPr/>
        </p:nvSpPr>
        <p:spPr>
          <a:xfrm>
            <a:off x="4766310" y="2798064"/>
            <a:ext cx="3497580" cy="3429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4" name="Oval 73"/>
          <p:cNvSpPr/>
          <p:nvPr/>
        </p:nvSpPr>
        <p:spPr>
          <a:xfrm>
            <a:off x="4917186" y="2983229"/>
            <a:ext cx="301752" cy="301752"/>
          </a:xfrm>
          <a:prstGeom prst="ellipse">
            <a:avLst/>
          </a:prstGeom>
          <a:solidFill>
            <a:srgbClr val="252D3A"/>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5" name="TextBox 74"/>
          <p:cNvSpPr txBox="1"/>
          <p:nvPr/>
        </p:nvSpPr>
        <p:spPr>
          <a:xfrm>
            <a:off x="4917186" y="3065526"/>
            <a:ext cx="301752" cy="120033"/>
          </a:xfrm>
          <a:prstGeom prst="rect">
            <a:avLst/>
          </a:prstGeom>
          <a:noFill/>
        </p:spPr>
        <p:txBody>
          <a:bodyPr wrap="square" lIns="13716" tIns="13716" rIns="13716" bIns="13716" anchor="t">
            <a:spAutoFit/>
          </a:bodyPr>
          <a:lstStyle/>
          <a:p>
            <a:pPr algn="ctr"/>
            <a:r>
              <a:rPr sz="600" b="1">
                <a:solidFill>
                  <a:srgbClr val="F5A012"/>
                </a:solidFill>
                <a:latin typeface="Aptos"/>
              </a:rPr>
              <a:t>3</a:t>
            </a:r>
          </a:p>
        </p:txBody>
      </p:sp>
      <p:sp>
        <p:nvSpPr>
          <p:cNvPr id="76" name="TextBox 75"/>
          <p:cNvSpPr txBox="1"/>
          <p:nvPr/>
        </p:nvSpPr>
        <p:spPr>
          <a:xfrm>
            <a:off x="5260087" y="3031236"/>
            <a:ext cx="2846069" cy="145296"/>
          </a:xfrm>
          <a:prstGeom prst="rect">
            <a:avLst/>
          </a:prstGeom>
          <a:noFill/>
        </p:spPr>
        <p:txBody>
          <a:bodyPr wrap="square" lIns="13716" tIns="13716" rIns="13716" bIns="13716" anchor="t">
            <a:spAutoFit/>
          </a:bodyPr>
          <a:lstStyle/>
          <a:p>
            <a:pPr algn="l"/>
            <a:r>
              <a:rPr sz="764" b="1">
                <a:solidFill>
                  <a:srgbClr val="F1EFE9"/>
                </a:solidFill>
                <a:latin typeface="Aptos"/>
              </a:rPr>
              <a:t>Runtime</a:t>
            </a:r>
          </a:p>
        </p:txBody>
      </p:sp>
      <p:sp>
        <p:nvSpPr>
          <p:cNvPr id="77" name="TextBox 76"/>
          <p:cNvSpPr txBox="1"/>
          <p:nvPr/>
        </p:nvSpPr>
        <p:spPr>
          <a:xfrm>
            <a:off x="5013199" y="3401568"/>
            <a:ext cx="3072383" cy="120033"/>
          </a:xfrm>
          <a:prstGeom prst="rect">
            <a:avLst/>
          </a:prstGeom>
          <a:noFill/>
        </p:spPr>
        <p:txBody>
          <a:bodyPr wrap="square" lIns="13716" tIns="13716" rIns="13716" bIns="13716" anchor="t">
            <a:spAutoFit/>
          </a:bodyPr>
          <a:lstStyle/>
          <a:p>
            <a:pPr algn="l"/>
            <a:r>
              <a:rPr sz="600">
                <a:solidFill>
                  <a:srgbClr val="F1EFE9"/>
                </a:solidFill>
                <a:latin typeface="Aptos"/>
              </a:rPr>
              <a:t>execution, permissions, timeouts, files</a:t>
            </a:r>
          </a:p>
        </p:txBody>
      </p:sp>
      <p:sp>
        <p:nvSpPr>
          <p:cNvPr id="78" name="Rectangle 77"/>
          <p:cNvSpPr/>
          <p:nvPr/>
        </p:nvSpPr>
        <p:spPr>
          <a:xfrm>
            <a:off x="4766310" y="3243834"/>
            <a:ext cx="3497580" cy="329184"/>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9" name="Rectangle 78"/>
          <p:cNvSpPr/>
          <p:nvPr/>
        </p:nvSpPr>
        <p:spPr>
          <a:xfrm>
            <a:off x="4766310" y="3243834"/>
            <a:ext cx="3497580" cy="34290"/>
          </a:xfrm>
          <a:prstGeom prst="rect">
            <a:avLst/>
          </a:prstGeom>
          <a:solidFill>
            <a:srgbClr val="599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0" name="Oval 79"/>
          <p:cNvSpPr/>
          <p:nvPr/>
        </p:nvSpPr>
        <p:spPr>
          <a:xfrm>
            <a:off x="4917186" y="3429000"/>
            <a:ext cx="301752" cy="301752"/>
          </a:xfrm>
          <a:prstGeom prst="ellipse">
            <a:avLst/>
          </a:prstGeom>
          <a:solidFill>
            <a:srgbClr val="252D3A"/>
          </a:solidFill>
          <a:ln w="12700">
            <a:solidFill>
              <a:srgbClr val="599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1" name="TextBox 80"/>
          <p:cNvSpPr txBox="1"/>
          <p:nvPr/>
        </p:nvSpPr>
        <p:spPr>
          <a:xfrm>
            <a:off x="4917186" y="3511296"/>
            <a:ext cx="301752" cy="120033"/>
          </a:xfrm>
          <a:prstGeom prst="rect">
            <a:avLst/>
          </a:prstGeom>
          <a:noFill/>
        </p:spPr>
        <p:txBody>
          <a:bodyPr wrap="square" lIns="13716" tIns="13716" rIns="13716" bIns="13716" anchor="t">
            <a:spAutoFit/>
          </a:bodyPr>
          <a:lstStyle/>
          <a:p>
            <a:pPr algn="ctr"/>
            <a:r>
              <a:rPr sz="600" b="1">
                <a:solidFill>
                  <a:srgbClr val="599DFF"/>
                </a:solidFill>
                <a:latin typeface="Aptos"/>
              </a:rPr>
              <a:t>4</a:t>
            </a:r>
          </a:p>
        </p:txBody>
      </p:sp>
      <p:sp>
        <p:nvSpPr>
          <p:cNvPr id="82" name="TextBox 81"/>
          <p:cNvSpPr txBox="1"/>
          <p:nvPr/>
        </p:nvSpPr>
        <p:spPr>
          <a:xfrm>
            <a:off x="5260087" y="3477006"/>
            <a:ext cx="2846069" cy="145296"/>
          </a:xfrm>
          <a:prstGeom prst="rect">
            <a:avLst/>
          </a:prstGeom>
          <a:noFill/>
        </p:spPr>
        <p:txBody>
          <a:bodyPr wrap="square" lIns="13716" tIns="13716" rIns="13716" bIns="13716" anchor="t">
            <a:spAutoFit/>
          </a:bodyPr>
          <a:lstStyle/>
          <a:p>
            <a:pPr algn="l"/>
            <a:r>
              <a:rPr sz="764" b="1">
                <a:solidFill>
                  <a:srgbClr val="F1EFE9"/>
                </a:solidFill>
                <a:latin typeface="Aptos"/>
              </a:rPr>
              <a:t>Loops</a:t>
            </a:r>
          </a:p>
        </p:txBody>
      </p:sp>
      <p:sp>
        <p:nvSpPr>
          <p:cNvPr id="83" name="TextBox 82"/>
          <p:cNvSpPr txBox="1"/>
          <p:nvPr/>
        </p:nvSpPr>
        <p:spPr>
          <a:xfrm>
            <a:off x="5013199" y="3847338"/>
            <a:ext cx="3072383" cy="120033"/>
          </a:xfrm>
          <a:prstGeom prst="rect">
            <a:avLst/>
          </a:prstGeom>
          <a:noFill/>
        </p:spPr>
        <p:txBody>
          <a:bodyPr wrap="square" lIns="13716" tIns="13716" rIns="13716" bIns="13716" anchor="t">
            <a:spAutoFit/>
          </a:bodyPr>
          <a:lstStyle/>
          <a:p>
            <a:pPr algn="l"/>
            <a:r>
              <a:rPr sz="600">
                <a:solidFill>
                  <a:srgbClr val="F1EFE9"/>
                </a:solidFill>
                <a:latin typeface="Aptos"/>
              </a:rPr>
              <a:t>validation, probes, retries, cache, convergence</a:t>
            </a:r>
          </a:p>
        </p:txBody>
      </p:sp>
      <p:sp>
        <p:nvSpPr>
          <p:cNvPr id="84" name="Rectangle 83"/>
          <p:cNvSpPr/>
          <p:nvPr/>
        </p:nvSpPr>
        <p:spPr>
          <a:xfrm>
            <a:off x="4766310" y="3689604"/>
            <a:ext cx="3497580" cy="329184"/>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5" name="Rectangle 84"/>
          <p:cNvSpPr/>
          <p:nvPr/>
        </p:nvSpPr>
        <p:spPr>
          <a:xfrm>
            <a:off x="4766310" y="3689604"/>
            <a:ext cx="3497580" cy="3429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6" name="Oval 85"/>
          <p:cNvSpPr/>
          <p:nvPr/>
        </p:nvSpPr>
        <p:spPr>
          <a:xfrm>
            <a:off x="4917186" y="3874770"/>
            <a:ext cx="301752" cy="301752"/>
          </a:xfrm>
          <a:prstGeom prst="ellipse">
            <a:avLst/>
          </a:prstGeom>
          <a:solidFill>
            <a:srgbClr val="252D3A"/>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7" name="TextBox 86"/>
          <p:cNvSpPr txBox="1"/>
          <p:nvPr/>
        </p:nvSpPr>
        <p:spPr>
          <a:xfrm>
            <a:off x="4917186" y="3957066"/>
            <a:ext cx="301752" cy="120033"/>
          </a:xfrm>
          <a:prstGeom prst="rect">
            <a:avLst/>
          </a:prstGeom>
          <a:noFill/>
        </p:spPr>
        <p:txBody>
          <a:bodyPr wrap="square" lIns="13716" tIns="13716" rIns="13716" bIns="13716" anchor="t">
            <a:spAutoFit/>
          </a:bodyPr>
          <a:lstStyle/>
          <a:p>
            <a:pPr algn="ctr"/>
            <a:r>
              <a:rPr sz="600" b="1">
                <a:solidFill>
                  <a:srgbClr val="F5A012"/>
                </a:solidFill>
                <a:latin typeface="Aptos"/>
              </a:rPr>
              <a:t>5</a:t>
            </a:r>
          </a:p>
        </p:txBody>
      </p:sp>
      <p:sp>
        <p:nvSpPr>
          <p:cNvPr id="88" name="TextBox 87"/>
          <p:cNvSpPr txBox="1"/>
          <p:nvPr/>
        </p:nvSpPr>
        <p:spPr>
          <a:xfrm>
            <a:off x="5260087" y="3922776"/>
            <a:ext cx="2846069" cy="145296"/>
          </a:xfrm>
          <a:prstGeom prst="rect">
            <a:avLst/>
          </a:prstGeom>
          <a:noFill/>
        </p:spPr>
        <p:txBody>
          <a:bodyPr wrap="square" lIns="13716" tIns="13716" rIns="13716" bIns="13716" anchor="t">
            <a:spAutoFit/>
          </a:bodyPr>
          <a:lstStyle/>
          <a:p>
            <a:pPr algn="l"/>
            <a:r>
              <a:rPr sz="764" b="1">
                <a:solidFill>
                  <a:srgbClr val="F1EFE9"/>
                </a:solidFill>
                <a:latin typeface="Aptos"/>
              </a:rPr>
              <a:t>Ops</a:t>
            </a:r>
          </a:p>
        </p:txBody>
      </p:sp>
      <p:sp>
        <p:nvSpPr>
          <p:cNvPr id="89" name="TextBox 88"/>
          <p:cNvSpPr txBox="1"/>
          <p:nvPr/>
        </p:nvSpPr>
        <p:spPr>
          <a:xfrm>
            <a:off x="5013199" y="4293108"/>
            <a:ext cx="3072383" cy="120033"/>
          </a:xfrm>
          <a:prstGeom prst="rect">
            <a:avLst/>
          </a:prstGeom>
          <a:noFill/>
        </p:spPr>
        <p:txBody>
          <a:bodyPr wrap="square" lIns="13716" tIns="13716" rIns="13716" bIns="13716" anchor="t">
            <a:spAutoFit/>
          </a:bodyPr>
          <a:lstStyle/>
          <a:p>
            <a:pPr algn="l"/>
            <a:r>
              <a:rPr sz="600">
                <a:solidFill>
                  <a:srgbClr val="F1EFE9"/>
                </a:solidFill>
                <a:latin typeface="Aptos"/>
              </a:rPr>
              <a:t>telemetry, evaluation, dashboard, cost, trust</a:t>
            </a:r>
          </a:p>
        </p:txBody>
      </p:sp>
      <p:sp>
        <p:nvSpPr>
          <p:cNvPr id="90" name="TextBox 89"/>
          <p:cNvSpPr txBox="1"/>
          <p:nvPr/>
        </p:nvSpPr>
        <p:spPr>
          <a:xfrm>
            <a:off x="685800" y="4491990"/>
            <a:ext cx="7680960" cy="327782"/>
          </a:xfrm>
          <a:prstGeom prst="rect">
            <a:avLst/>
          </a:prstGeom>
          <a:noFill/>
        </p:spPr>
        <p:txBody>
          <a:bodyPr wrap="square" lIns="13716" tIns="13716" rIns="13716" bIns="13716" anchor="t">
            <a:spAutoFit/>
          </a:bodyPr>
          <a:lstStyle/>
          <a:p>
            <a:pPr algn="ctr"/>
            <a:r>
              <a:rPr sz="975" b="1">
                <a:solidFill>
                  <a:srgbClr val="FFBE18"/>
                </a:solidFill>
                <a:latin typeface="Georgia"/>
              </a:rPr>
              <a:t>A failed query is rarely just a bad SQL string. It is usually a clue about missing intent, missing evidence, wrong relational logic, or a weak recovery loop.</a:t>
            </a:r>
          </a:p>
        </p:txBody>
      </p:sp>
      <p:sp>
        <p:nvSpPr>
          <p:cNvPr id="91" name="Rectangle 90"/>
          <p:cNvSpPr/>
          <p:nvPr/>
        </p:nvSpPr>
        <p:spPr>
          <a:xfrm>
            <a:off x="342900" y="4855464"/>
            <a:ext cx="8435340" cy="6858"/>
          </a:xfrm>
          <a:prstGeom prst="rect">
            <a:avLst/>
          </a:prstGeom>
          <a:solidFill>
            <a:srgbClr val="252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2" name="TextBox 91"/>
          <p:cNvSpPr txBox="1"/>
          <p:nvPr/>
        </p:nvSpPr>
        <p:spPr>
          <a:xfrm>
            <a:off x="425196" y="4910328"/>
            <a:ext cx="3566160" cy="108491"/>
          </a:xfrm>
          <a:prstGeom prst="rect">
            <a:avLst/>
          </a:prstGeom>
          <a:noFill/>
        </p:spPr>
        <p:txBody>
          <a:bodyPr wrap="square" lIns="13716" tIns="13716" rIns="13716" bIns="13716" anchor="t">
            <a:spAutoFit/>
          </a:bodyPr>
          <a:lstStyle/>
          <a:p>
            <a:pPr algn="l"/>
            <a:r>
              <a:rPr sz="525">
                <a:solidFill>
                  <a:srgbClr val="666C76"/>
                </a:solidFill>
                <a:latin typeface="Aptos"/>
              </a:rPr>
              <a:t>Text-to-SQL problem taxonomy | SpiderDIN project experience</a:t>
            </a:r>
          </a:p>
        </p:txBody>
      </p:sp>
      <p:pic>
        <p:nvPicPr>
          <p:cNvPr id="93" name="Picture 92">
            <a:extLst>
              <a:ext uri="{FF2B5EF4-FFF2-40B4-BE49-F238E27FC236}">
                <a16:creationId xmlns:a16="http://schemas.microsoft.com/office/drawing/2014/main" id="{DD038A54-EE82-D20C-8732-8A678C168B7E}"/>
              </a:ext>
            </a:extLst>
          </p:cNvPr>
          <p:cNvPicPr>
            <a:picLocks noChangeAspect="1"/>
          </p:cNvPicPr>
          <p:nvPr/>
        </p:nvPicPr>
        <p:blipFill>
          <a:blip r:embed="rId2"/>
          <a:srcRect l="-928" t="29746" r="928" b="36645"/>
          <a:stretch>
            <a:fillRect/>
          </a:stretch>
        </p:blipFill>
        <p:spPr>
          <a:xfrm>
            <a:off x="8218575" y="45720"/>
            <a:ext cx="861058" cy="28939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C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85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371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057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29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800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858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543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8066" y="315468"/>
            <a:ext cx="2000000" cy="150000"/>
          </a:xfrm>
          <a:prstGeom prst="rect">
            <a:avLst/>
          </a:prstGeom>
          <a:noFill/>
        </p:spPr>
        <p:txBody>
          <a:bodyPr wrap="square" lIns="0" tIns="0">
            <a:spAutoFit/>
          </a:bodyPr>
          <a:lstStyle/>
          <a:p>
            <a:r>
              <a:rPr sz="600" b="1">
                <a:solidFill>
                  <a:srgbClr val="666C76"/>
                </a:solidFill>
                <a:latin typeface="Aptos"/>
              </a:rPr>
              <a:t>TAXONOMY HIERARCHY</a:t>
            </a:r>
          </a:p>
        </p:txBody>
      </p:sp>
      <p:sp>
        <p:nvSpPr>
          <p:cNvPr id="16" name="TextBox 15"/>
          <p:cNvSpPr txBox="1"/>
          <p:nvPr/>
        </p:nvSpPr>
        <p:spPr>
          <a:xfrm>
            <a:off x="8572500" y="240030"/>
            <a:ext cx="240030" cy="131574"/>
          </a:xfrm>
          <a:prstGeom prst="rect">
            <a:avLst/>
          </a:prstGeom>
          <a:noFill/>
        </p:spPr>
        <p:txBody>
          <a:bodyPr wrap="none">
            <a:spAutoFit/>
          </a:bodyPr>
          <a:lstStyle/>
          <a:p>
            <a:r>
              <a:rPr sz="850">
                <a:solidFill>
                  <a:srgbClr val="666C76"/>
                </a:solidFill>
                <a:latin typeface="Aptos"/>
              </a:rPr>
              <a:t>11</a:t>
            </a:r>
          </a:p>
        </p:txBody>
      </p:sp>
      <p:sp>
        <p:nvSpPr>
          <p:cNvPr id="17" name="TextBox 16"/>
          <p:cNvSpPr txBox="1"/>
          <p:nvPr/>
        </p:nvSpPr>
        <p:spPr>
          <a:xfrm>
            <a:off x="425196" y="550000"/>
            <a:ext cx="7680960" cy="500000"/>
          </a:xfrm>
          <a:prstGeom prst="rect">
            <a:avLst/>
          </a:prstGeom>
          <a:noFill/>
        </p:spPr>
        <p:txBody>
          <a:bodyPr wrap="square" lIns="0" tIns="0">
            <a:spAutoFit/>
          </a:bodyPr>
          <a:lstStyle/>
          <a:p>
            <a:r>
              <a:rPr sz="2500">
                <a:solidFill>
                  <a:srgbClr val="FFBE18"/>
                </a:solidFill>
                <a:latin typeface="Georgia"/>
              </a:rPr>
              <a:t>Text-to-Agent Problems: </a:t>
            </a:r>
            <a:r>
              <a:rPr sz="2500">
                <a:solidFill>
                  <a:srgbClr val="F1EFE9"/>
                </a:solidFill>
                <a:latin typeface="Georgia"/>
              </a:rPr>
              <a:t>Unified Failure Taxonomy</a:t>
            </a:r>
          </a:p>
        </p:txBody>
      </p:sp>
      <p:sp>
        <p:nvSpPr>
          <p:cNvPr id="18" name="TextBox 17"/>
          <p:cNvSpPr txBox="1"/>
          <p:nvPr/>
        </p:nvSpPr>
        <p:spPr>
          <a:xfrm>
            <a:off x="438912" y="1050000"/>
            <a:ext cx="7680960" cy="250000"/>
          </a:xfrm>
          <a:prstGeom prst="rect">
            <a:avLst/>
          </a:prstGeom>
          <a:noFill/>
        </p:spPr>
        <p:txBody>
          <a:bodyPr wrap="square" lIns="0" tIns="0">
            <a:spAutoFit/>
          </a:bodyPr>
          <a:lstStyle/>
          <a:p>
            <a:r>
              <a:rPr sz="950">
                <a:solidFill>
                  <a:srgbClr val="F1EFE9"/>
                </a:solidFill>
                <a:latin typeface="Aptos"/>
              </a:rPr>
              <a:t>A complete structural taxonomy mapping genuine task logic difficulties against system architecture failure points.</a:t>
            </a:r>
          </a:p>
        </p:txBody>
      </p:sp>
      <p:sp>
        <p:nvSpPr>
          <p:cNvPr id="19" name="TextBox 18"/>
          <p:cNvSpPr txBox="1"/>
          <p:nvPr/>
        </p:nvSpPr>
        <p:spPr>
          <a:xfrm>
            <a:off x="425196" y="4850000"/>
            <a:ext cx="5000000" cy="150000"/>
          </a:xfrm>
          <a:prstGeom prst="rect">
            <a:avLst/>
          </a:prstGeom>
          <a:noFill/>
        </p:spPr>
        <p:txBody>
          <a:bodyPr wrap="none" lIns="0">
            <a:spAutoFit/>
          </a:bodyPr>
          <a:lstStyle/>
          <a:p>
            <a:r>
              <a:rPr sz="650">
                <a:solidFill>
                  <a:srgbClr val="666C76"/>
                </a:solidFill>
                <a:latin typeface="Aptos"/>
              </a:rPr>
              <a:t>Text-to-SQL problem taxonomy | SpiderDIN project experience</a:t>
            </a:r>
          </a:p>
        </p:txBody>
      </p:sp>
      <p:sp>
        <p:nvSpPr>
          <p:cNvPr id="20" name="Rounded Rectangle 19"/>
          <p:cNvSpPr/>
          <p:nvPr/>
        </p:nvSpPr>
        <p:spPr>
          <a:xfrm>
            <a:off x="685800" y="1350000"/>
            <a:ext cx="3736200" cy="3400000"/>
          </a:xfrm>
          <a:prstGeom prst="roundRect">
            <a:avLst>
              <a:gd name="adj" fmla="val 5000"/>
            </a:avLst>
          </a:prstGeom>
          <a:solidFill>
            <a:srgbClr val="12161F"/>
          </a:solidFill>
          <a:ln w="15875">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722000" y="1350000"/>
            <a:ext cx="3736200" cy="3400000"/>
          </a:xfrm>
          <a:prstGeom prst="roundRect">
            <a:avLst>
              <a:gd name="adj" fmla="val 5000"/>
            </a:avLst>
          </a:prstGeom>
          <a:solidFill>
            <a:srgbClr val="12161F"/>
          </a:solidFill>
          <a:ln w="15875">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5800" y="1470000"/>
            <a:ext cx="3436200" cy="450000"/>
          </a:xfrm>
          <a:prstGeom prst="rect">
            <a:avLst/>
          </a:prstGeom>
          <a:noFill/>
        </p:spPr>
        <p:txBody>
          <a:bodyPr wrap="square" lIns="0" tIns="0">
            <a:spAutoFit/>
          </a:bodyPr>
          <a:lstStyle/>
          <a:p>
            <a:r>
              <a:rPr sz="1100" b="1">
                <a:solidFill>
                  <a:srgbClr val="41DA8E"/>
                </a:solidFill>
                <a:latin typeface="Aptos"/>
              </a:rPr>
              <a:t>A. GENUINE TASK DIFFICULTIES</a:t>
            </a:r>
          </a:p>
          <a:p>
            <a:pPr>
              <a:spcBef>
                <a:spcPts val="200"/>
              </a:spcBef>
            </a:pPr>
            <a:r>
              <a:rPr sz="750">
                <a:solidFill>
                  <a:srgbClr val="666C76"/>
                </a:solidFill>
                <a:latin typeface="Aptos"/>
              </a:rPr>
              <a:t>Inherent in translating human intent into relational queries</a:t>
            </a:r>
          </a:p>
        </p:txBody>
      </p:sp>
      <p:sp>
        <p:nvSpPr>
          <p:cNvPr id="23" name="TextBox 22"/>
          <p:cNvSpPr txBox="1"/>
          <p:nvPr/>
        </p:nvSpPr>
        <p:spPr>
          <a:xfrm>
            <a:off x="4872000" y="1470000"/>
            <a:ext cx="3436200" cy="450000"/>
          </a:xfrm>
          <a:prstGeom prst="rect">
            <a:avLst/>
          </a:prstGeom>
          <a:noFill/>
        </p:spPr>
        <p:txBody>
          <a:bodyPr wrap="square" lIns="0" tIns="0">
            <a:spAutoFit/>
          </a:bodyPr>
          <a:lstStyle/>
          <a:p>
            <a:r>
              <a:rPr sz="1100" b="1">
                <a:solidFill>
                  <a:srgbClr val="F5A012"/>
                </a:solidFill>
                <a:latin typeface="Aptos"/>
              </a:rPr>
              <a:t>B. PIPELINE &amp; SYSTEM ARCHITECTURE</a:t>
            </a:r>
          </a:p>
          <a:p>
            <a:pPr>
              <a:spcBef>
                <a:spcPts val="200"/>
              </a:spcBef>
            </a:pPr>
            <a:r>
              <a:rPr sz="750">
                <a:solidFill>
                  <a:srgbClr val="666C76"/>
                </a:solidFill>
                <a:latin typeface="Aptos"/>
              </a:rPr>
              <a:t>Failure zones introduced when building reliable production runtimes</a:t>
            </a:r>
          </a:p>
        </p:txBody>
      </p:sp>
      <p:sp>
        <p:nvSpPr>
          <p:cNvPr id="24" name="TextBox 23"/>
          <p:cNvSpPr txBox="1"/>
          <p:nvPr/>
        </p:nvSpPr>
        <p:spPr>
          <a:xfrm>
            <a:off x="835800" y="2000000"/>
            <a:ext cx="3436200" cy="800000"/>
          </a:xfrm>
          <a:prstGeom prst="rect">
            <a:avLst/>
          </a:prstGeom>
          <a:noFill/>
        </p:spPr>
        <p:txBody>
          <a:bodyPr wrap="square" lIns="0" tIns="0" rIns="0" bIns="0">
            <a:spAutoFit/>
          </a:bodyPr>
          <a:lstStyle/>
          <a:p>
            <a:pPr>
              <a:spcAft>
                <a:spcPts val="200"/>
              </a:spcAft>
            </a:pPr>
            <a:r>
              <a:rPr sz="950" b="1">
                <a:solidFill>
                  <a:srgbClr val="41DA8E"/>
                </a:solidFill>
                <a:latin typeface="Aptos"/>
              </a:rPr>
              <a:t>A1  </a:t>
            </a:r>
            <a:r>
              <a:rPr sz="950" b="1">
                <a:solidFill>
                  <a:srgbClr val="F1EFE9"/>
                </a:solidFill>
                <a:latin typeface="Aptos"/>
              </a:rPr>
              <a:t>Language &amp; Schema Mapping</a:t>
            </a:r>
          </a:p>
          <a:p>
            <a:pPr>
              <a:lnSpc>
                <a:spcPct val="115000"/>
              </a:lnSpc>
              <a:spcAft>
                <a:spcPts val="0"/>
              </a:spcAft>
            </a:pPr>
            <a:r>
              <a:rPr sz="800">
                <a:solidFill>
                  <a:srgbClr val="B0B5BC"/>
                </a:solidFill>
                <a:latin typeface="Aptos"/>
              </a:rPr>
              <a:t>NL Ambiguity</a:t>
            </a:r>
            <a:r>
              <a:rPr sz="800" b="1">
                <a:solidFill>
                  <a:srgbClr val="41DA8E"/>
                </a:solidFill>
                <a:latin typeface="Aptos"/>
              </a:rPr>
              <a:t>  •  </a:t>
            </a:r>
            <a:r>
              <a:rPr sz="800">
                <a:solidFill>
                  <a:srgbClr val="B0B5BC"/>
                </a:solidFill>
                <a:latin typeface="Aptos"/>
              </a:rPr>
              <a:t>Schema Mapping</a:t>
            </a:r>
            <a:r>
              <a:rPr sz="800" b="1">
                <a:solidFill>
                  <a:srgbClr val="41DA8E"/>
                </a:solidFill>
                <a:latin typeface="Aptos"/>
              </a:rPr>
              <a:t>  •  </a:t>
            </a:r>
            <a:r>
              <a:rPr sz="800">
                <a:solidFill>
                  <a:srgbClr val="B0B5BC"/>
                </a:solidFill>
                <a:latin typeface="Aptos"/>
              </a:rPr>
              <a:t>Value Grounding</a:t>
            </a:r>
            <a:r>
              <a:rPr sz="800" b="1">
                <a:solidFill>
                  <a:srgbClr val="41DA8E"/>
                </a:solidFill>
                <a:latin typeface="Aptos"/>
              </a:rPr>
              <a:t>  •  </a:t>
            </a:r>
            <a:r>
              <a:rPr sz="800">
                <a:solidFill>
                  <a:srgbClr val="B0B5BC"/>
                </a:solidFill>
                <a:latin typeface="Aptos"/>
              </a:rPr>
              <a:t>Intent Classification</a:t>
            </a:r>
            <a:r>
              <a:rPr sz="800" b="1">
                <a:solidFill>
                  <a:srgbClr val="41DA8E"/>
                </a:solidFill>
                <a:latin typeface="Aptos"/>
              </a:rPr>
              <a:t>  •  </a:t>
            </a:r>
            <a:r>
              <a:rPr sz="800">
                <a:solidFill>
                  <a:srgbClr val="B0B5BC"/>
                </a:solidFill>
                <a:latin typeface="Aptos"/>
              </a:rPr>
              <a:t>Output Expectation</a:t>
            </a:r>
          </a:p>
        </p:txBody>
      </p:sp>
      <p:sp>
        <p:nvSpPr>
          <p:cNvPr id="25" name="TextBox 24"/>
          <p:cNvSpPr txBox="1"/>
          <p:nvPr/>
        </p:nvSpPr>
        <p:spPr>
          <a:xfrm>
            <a:off x="835800" y="2870000"/>
            <a:ext cx="3436200" cy="800000"/>
          </a:xfrm>
          <a:prstGeom prst="rect">
            <a:avLst/>
          </a:prstGeom>
          <a:noFill/>
        </p:spPr>
        <p:txBody>
          <a:bodyPr wrap="square" lIns="0" tIns="0" rIns="0" bIns="0">
            <a:spAutoFit/>
          </a:bodyPr>
          <a:lstStyle/>
          <a:p>
            <a:pPr>
              <a:spcAft>
                <a:spcPts val="200"/>
              </a:spcAft>
            </a:pPr>
            <a:r>
              <a:rPr sz="950" b="1">
                <a:solidFill>
                  <a:srgbClr val="41DA8E"/>
                </a:solidFill>
                <a:latin typeface="Aptos"/>
              </a:rPr>
              <a:t>A2  </a:t>
            </a:r>
            <a:r>
              <a:rPr sz="950" b="1">
                <a:solidFill>
                  <a:srgbClr val="F1EFE9"/>
                </a:solidFill>
                <a:latin typeface="Aptos"/>
              </a:rPr>
              <a:t>Relational Logic &amp; Semantics</a:t>
            </a:r>
          </a:p>
          <a:p>
            <a:pPr>
              <a:lnSpc>
                <a:spcPct val="115000"/>
              </a:lnSpc>
              <a:spcAft>
                <a:spcPts val="0"/>
              </a:spcAft>
            </a:pPr>
            <a:r>
              <a:rPr sz="800">
                <a:solidFill>
                  <a:srgbClr val="B0B5BC"/>
                </a:solidFill>
                <a:latin typeface="Aptos"/>
              </a:rPr>
              <a:t>Join Reasoning</a:t>
            </a:r>
            <a:r>
              <a:rPr sz="800" b="1">
                <a:solidFill>
                  <a:srgbClr val="41DA8E"/>
                </a:solidFill>
                <a:latin typeface="Aptos"/>
              </a:rPr>
              <a:t>  •  </a:t>
            </a:r>
            <a:r>
              <a:rPr sz="800">
                <a:solidFill>
                  <a:srgbClr val="B0B5BC"/>
                </a:solidFill>
                <a:latin typeface="Aptos"/>
              </a:rPr>
              <a:t>Grain Control</a:t>
            </a:r>
            <a:r>
              <a:rPr sz="800" b="1">
                <a:solidFill>
                  <a:srgbClr val="41DA8E"/>
                </a:solidFill>
                <a:latin typeface="Aptos"/>
              </a:rPr>
              <a:t>  •  </a:t>
            </a:r>
            <a:r>
              <a:rPr sz="800">
                <a:solidFill>
                  <a:srgbClr val="B0B5BC"/>
                </a:solidFill>
                <a:latin typeface="Aptos"/>
              </a:rPr>
              <a:t>Metric Definition</a:t>
            </a:r>
            <a:r>
              <a:rPr sz="800" b="1">
                <a:solidFill>
                  <a:srgbClr val="41DA8E"/>
                </a:solidFill>
                <a:latin typeface="Aptos"/>
              </a:rPr>
              <a:t>  •  </a:t>
            </a:r>
            <a:r>
              <a:rPr sz="800">
                <a:solidFill>
                  <a:srgbClr val="B0B5BC"/>
                </a:solidFill>
                <a:latin typeface="Aptos"/>
              </a:rPr>
              <a:t>Nested Reasoning</a:t>
            </a:r>
            <a:r>
              <a:rPr sz="800" b="1">
                <a:solidFill>
                  <a:srgbClr val="41DA8E"/>
                </a:solidFill>
                <a:latin typeface="Aptos"/>
              </a:rPr>
              <a:t>  •  </a:t>
            </a:r>
            <a:r>
              <a:rPr sz="800">
                <a:solidFill>
                  <a:srgbClr val="B0B5BC"/>
                </a:solidFill>
                <a:latin typeface="Aptos"/>
              </a:rPr>
              <a:t>Temporal Reasoning</a:t>
            </a:r>
          </a:p>
        </p:txBody>
      </p:sp>
      <p:sp>
        <p:nvSpPr>
          <p:cNvPr id="26" name="TextBox 25"/>
          <p:cNvSpPr txBox="1"/>
          <p:nvPr/>
        </p:nvSpPr>
        <p:spPr>
          <a:xfrm>
            <a:off x="835800" y="3740000"/>
            <a:ext cx="3436200" cy="800000"/>
          </a:xfrm>
          <a:prstGeom prst="rect">
            <a:avLst/>
          </a:prstGeom>
          <a:noFill/>
        </p:spPr>
        <p:txBody>
          <a:bodyPr wrap="square" lIns="0" tIns="0" rIns="0" bIns="0">
            <a:spAutoFit/>
          </a:bodyPr>
          <a:lstStyle/>
          <a:p>
            <a:pPr>
              <a:spcAft>
                <a:spcPts val="200"/>
              </a:spcAft>
            </a:pPr>
            <a:r>
              <a:rPr sz="950" b="1">
                <a:solidFill>
                  <a:srgbClr val="41DA8E"/>
                </a:solidFill>
                <a:latin typeface="Aptos"/>
              </a:rPr>
              <a:t>A3  </a:t>
            </a:r>
            <a:r>
              <a:rPr sz="950" b="1">
                <a:solidFill>
                  <a:srgbClr val="F1EFE9"/>
                </a:solidFill>
                <a:latin typeface="Aptos"/>
              </a:rPr>
              <a:t>Dialect &amp; Data Reality</a:t>
            </a:r>
          </a:p>
          <a:p>
            <a:pPr>
              <a:lnSpc>
                <a:spcPct val="115000"/>
              </a:lnSpc>
              <a:spcAft>
                <a:spcPts val="0"/>
              </a:spcAft>
            </a:pPr>
            <a:r>
              <a:rPr sz="800">
                <a:solidFill>
                  <a:srgbClr val="B0B5BC"/>
                </a:solidFill>
                <a:latin typeface="Aptos"/>
              </a:rPr>
              <a:t>SQL Dialect Friction</a:t>
            </a:r>
            <a:r>
              <a:rPr sz="800" b="1">
                <a:solidFill>
                  <a:srgbClr val="41DA8E"/>
                </a:solidFill>
                <a:latin typeface="Aptos"/>
              </a:rPr>
              <a:t>  •  </a:t>
            </a:r>
            <a:r>
              <a:rPr sz="800">
                <a:solidFill>
                  <a:srgbClr val="B0B5BC"/>
                </a:solidFill>
                <a:latin typeface="Aptos"/>
              </a:rPr>
              <a:t>Semi-structured/JSON</a:t>
            </a:r>
            <a:r>
              <a:rPr sz="800" b="1">
                <a:solidFill>
                  <a:srgbClr val="41DA8E"/>
                </a:solidFill>
                <a:latin typeface="Aptos"/>
              </a:rPr>
              <a:t>  •  </a:t>
            </a:r>
            <a:r>
              <a:rPr sz="800">
                <a:solidFill>
                  <a:srgbClr val="B0B5BC"/>
                </a:solidFill>
                <a:latin typeface="Aptos"/>
              </a:rPr>
              <a:t>Null &amp; Missing Data</a:t>
            </a:r>
            <a:r>
              <a:rPr sz="800" b="1">
                <a:solidFill>
                  <a:srgbClr val="41DA8E"/>
                </a:solidFill>
                <a:latin typeface="Aptos"/>
              </a:rPr>
              <a:t>  •  </a:t>
            </a:r>
            <a:r>
              <a:rPr sz="800">
                <a:solidFill>
                  <a:srgbClr val="B0B5BC"/>
                </a:solidFill>
                <a:latin typeface="Aptos"/>
              </a:rPr>
              <a:t>Silent Wrong Results</a:t>
            </a:r>
            <a:r>
              <a:rPr sz="800" b="1">
                <a:solidFill>
                  <a:srgbClr val="41DA8E"/>
                </a:solidFill>
                <a:latin typeface="Aptos"/>
              </a:rPr>
              <a:t>  •  </a:t>
            </a:r>
            <a:r>
              <a:rPr sz="800">
                <a:solidFill>
                  <a:srgbClr val="B0B5BC"/>
                </a:solidFill>
                <a:latin typeface="Aptos"/>
              </a:rPr>
              <a:t>Verification Difficulty</a:t>
            </a:r>
          </a:p>
        </p:txBody>
      </p:sp>
      <p:sp>
        <p:nvSpPr>
          <p:cNvPr id="27" name="TextBox 26"/>
          <p:cNvSpPr txBox="1"/>
          <p:nvPr/>
        </p:nvSpPr>
        <p:spPr>
          <a:xfrm>
            <a:off x="4872000" y="2000000"/>
            <a:ext cx="3436200" cy="580000"/>
          </a:xfrm>
          <a:prstGeom prst="rect">
            <a:avLst/>
          </a:prstGeom>
          <a:noFill/>
        </p:spPr>
        <p:txBody>
          <a:bodyPr wrap="square" lIns="0" tIns="0" rIns="0" bIns="0">
            <a:spAutoFit/>
          </a:bodyPr>
          <a:lstStyle/>
          <a:p>
            <a:pPr>
              <a:spcAft>
                <a:spcPts val="200"/>
              </a:spcAft>
            </a:pPr>
            <a:r>
              <a:rPr sz="950" b="1">
                <a:solidFill>
                  <a:srgbClr val="F5A012"/>
                </a:solidFill>
                <a:latin typeface="Aptos"/>
              </a:rPr>
              <a:t>B1  </a:t>
            </a:r>
            <a:r>
              <a:rPr sz="950" b="1">
                <a:solidFill>
                  <a:srgbClr val="F1EFE9"/>
                </a:solidFill>
                <a:latin typeface="Aptos"/>
              </a:rPr>
              <a:t>Context &amp; Evidence Retrieval</a:t>
            </a:r>
          </a:p>
          <a:p>
            <a:pPr>
              <a:lnSpc>
                <a:spcPct val="115000"/>
              </a:lnSpc>
              <a:spcAft>
                <a:spcPts val="0"/>
              </a:spcAft>
            </a:pPr>
            <a:r>
              <a:rPr sz="800">
                <a:solidFill>
                  <a:srgbClr val="B0B5BC"/>
                </a:solidFill>
                <a:latin typeface="Aptos"/>
              </a:rPr>
              <a:t>Context Construction</a:t>
            </a:r>
            <a:r>
              <a:rPr sz="800" b="1">
                <a:solidFill>
                  <a:srgbClr val="F5A012"/>
                </a:solidFill>
                <a:latin typeface="Aptos"/>
              </a:rPr>
              <a:t>  •  </a:t>
            </a:r>
            <a:r>
              <a:rPr sz="800">
                <a:solidFill>
                  <a:srgbClr val="B0B5BC"/>
                </a:solidFill>
                <a:latin typeface="Aptos"/>
              </a:rPr>
              <a:t>Retrieval &amp; Pruning</a:t>
            </a:r>
            <a:r>
              <a:rPr sz="800" b="1">
                <a:solidFill>
                  <a:srgbClr val="F5A012"/>
                </a:solidFill>
                <a:latin typeface="Aptos"/>
              </a:rPr>
              <a:t>  •  </a:t>
            </a:r>
            <a:r>
              <a:rPr sz="800">
                <a:solidFill>
                  <a:srgbClr val="B0B5BC"/>
                </a:solidFill>
                <a:latin typeface="Aptos"/>
              </a:rPr>
              <a:t>Schema Linker</a:t>
            </a:r>
            <a:r>
              <a:rPr sz="800" b="1">
                <a:solidFill>
                  <a:srgbClr val="F5A012"/>
                </a:solidFill>
                <a:latin typeface="Aptos"/>
              </a:rPr>
              <a:t>  •  </a:t>
            </a:r>
            <a:r>
              <a:rPr sz="800">
                <a:solidFill>
                  <a:srgbClr val="B0B5BC"/>
                </a:solidFill>
                <a:latin typeface="Aptos"/>
              </a:rPr>
              <a:t>Dynamic Profiling</a:t>
            </a:r>
            <a:r>
              <a:rPr sz="800" b="1">
                <a:solidFill>
                  <a:srgbClr val="F5A012"/>
                </a:solidFill>
                <a:latin typeface="Aptos"/>
              </a:rPr>
              <a:t>  •  </a:t>
            </a:r>
            <a:r>
              <a:rPr sz="800">
                <a:solidFill>
                  <a:srgbClr val="B0B5BC"/>
                </a:solidFill>
                <a:latin typeface="Aptos"/>
              </a:rPr>
              <a:t>Prompt Assembly</a:t>
            </a:r>
          </a:p>
        </p:txBody>
      </p:sp>
      <p:sp>
        <p:nvSpPr>
          <p:cNvPr id="28" name="TextBox 27"/>
          <p:cNvSpPr txBox="1"/>
          <p:nvPr/>
        </p:nvSpPr>
        <p:spPr>
          <a:xfrm>
            <a:off x="4872000" y="2640000"/>
            <a:ext cx="3436200" cy="580000"/>
          </a:xfrm>
          <a:prstGeom prst="rect">
            <a:avLst/>
          </a:prstGeom>
          <a:noFill/>
        </p:spPr>
        <p:txBody>
          <a:bodyPr wrap="square" lIns="0" tIns="0" rIns="0" bIns="0">
            <a:spAutoFit/>
          </a:bodyPr>
          <a:lstStyle/>
          <a:p>
            <a:pPr>
              <a:spcAft>
                <a:spcPts val="200"/>
              </a:spcAft>
            </a:pPr>
            <a:r>
              <a:rPr sz="950" b="1">
                <a:solidFill>
                  <a:srgbClr val="F5A012"/>
                </a:solidFill>
                <a:latin typeface="Aptos"/>
              </a:rPr>
              <a:t>B2  </a:t>
            </a:r>
            <a:r>
              <a:rPr sz="950" b="1">
                <a:solidFill>
                  <a:srgbClr val="F1EFE9"/>
                </a:solidFill>
                <a:latin typeface="Aptos"/>
              </a:rPr>
              <a:t>Agent Execution Control</a:t>
            </a:r>
          </a:p>
          <a:p>
            <a:pPr>
              <a:lnSpc>
                <a:spcPct val="115000"/>
              </a:lnSpc>
              <a:spcAft>
                <a:spcPts val="0"/>
              </a:spcAft>
            </a:pPr>
            <a:r>
              <a:rPr sz="800">
                <a:solidFill>
                  <a:srgbClr val="B0B5BC"/>
                </a:solidFill>
                <a:latin typeface="Aptos"/>
              </a:rPr>
              <a:t>SQL Gen Control</a:t>
            </a:r>
            <a:r>
              <a:rPr sz="800" b="1">
                <a:solidFill>
                  <a:srgbClr val="F5A012"/>
                </a:solidFill>
                <a:latin typeface="Aptos"/>
              </a:rPr>
              <a:t>  •  </a:t>
            </a:r>
            <a:r>
              <a:rPr sz="800">
                <a:solidFill>
                  <a:srgbClr val="B0B5BC"/>
                </a:solidFill>
                <a:latin typeface="Aptos"/>
              </a:rPr>
              <a:t>Critic Limitations</a:t>
            </a:r>
            <a:r>
              <a:rPr sz="800" b="1">
                <a:solidFill>
                  <a:srgbClr val="F5A012"/>
                </a:solidFill>
                <a:latin typeface="Aptos"/>
              </a:rPr>
              <a:t>  •  </a:t>
            </a:r>
            <a:r>
              <a:rPr sz="800">
                <a:solidFill>
                  <a:srgbClr val="B0B5BC"/>
                </a:solidFill>
                <a:latin typeface="Aptos"/>
              </a:rPr>
              <a:t>Pre-flight Check</a:t>
            </a:r>
            <a:r>
              <a:rPr sz="800" b="1">
                <a:solidFill>
                  <a:srgbClr val="F5A012"/>
                </a:solidFill>
                <a:latin typeface="Aptos"/>
              </a:rPr>
              <a:t>  •  </a:t>
            </a:r>
            <a:r>
              <a:rPr sz="800">
                <a:solidFill>
                  <a:srgbClr val="B0B5BC"/>
                </a:solidFill>
                <a:latin typeface="Aptos"/>
              </a:rPr>
              <a:t>Execution Layer</a:t>
            </a:r>
            <a:r>
              <a:rPr sz="800" b="1">
                <a:solidFill>
                  <a:srgbClr val="F5A012"/>
                </a:solidFill>
                <a:latin typeface="Aptos"/>
              </a:rPr>
              <a:t>  •  </a:t>
            </a:r>
            <a:r>
              <a:rPr sz="800">
                <a:solidFill>
                  <a:srgbClr val="B0B5BC"/>
                </a:solidFill>
                <a:latin typeface="Aptos"/>
              </a:rPr>
              <a:t>Cross-DB Discovery</a:t>
            </a:r>
          </a:p>
        </p:txBody>
      </p:sp>
      <p:sp>
        <p:nvSpPr>
          <p:cNvPr id="29" name="TextBox 28"/>
          <p:cNvSpPr txBox="1"/>
          <p:nvPr/>
        </p:nvSpPr>
        <p:spPr>
          <a:xfrm>
            <a:off x="4872000" y="3280000"/>
            <a:ext cx="3436200" cy="580000"/>
          </a:xfrm>
          <a:prstGeom prst="rect">
            <a:avLst/>
          </a:prstGeom>
          <a:noFill/>
        </p:spPr>
        <p:txBody>
          <a:bodyPr wrap="square" lIns="0" tIns="0" rIns="0" bIns="0">
            <a:spAutoFit/>
          </a:bodyPr>
          <a:lstStyle/>
          <a:p>
            <a:pPr>
              <a:spcAft>
                <a:spcPts val="200"/>
              </a:spcAft>
            </a:pPr>
            <a:r>
              <a:rPr sz="950" b="1">
                <a:solidFill>
                  <a:srgbClr val="F5A012"/>
                </a:solidFill>
                <a:latin typeface="Aptos"/>
              </a:rPr>
              <a:t>B3  </a:t>
            </a:r>
            <a:r>
              <a:rPr sz="950" b="1">
                <a:solidFill>
                  <a:srgbClr val="F1EFE9"/>
                </a:solidFill>
                <a:latin typeface="Aptos"/>
              </a:rPr>
              <a:t>Validation &amp; Repair Loops</a:t>
            </a:r>
          </a:p>
          <a:p>
            <a:pPr>
              <a:lnSpc>
                <a:spcPct val="115000"/>
              </a:lnSpc>
              <a:spcAft>
                <a:spcPts val="0"/>
              </a:spcAft>
            </a:pPr>
            <a:r>
              <a:rPr sz="800">
                <a:solidFill>
                  <a:srgbClr val="B0B5BC"/>
                </a:solidFill>
                <a:latin typeface="Aptos"/>
              </a:rPr>
              <a:t>Result Validation</a:t>
            </a:r>
            <a:r>
              <a:rPr sz="800" b="1">
                <a:solidFill>
                  <a:srgbClr val="F5A012"/>
                </a:solidFill>
                <a:latin typeface="Aptos"/>
              </a:rPr>
              <a:t>  •  </a:t>
            </a:r>
            <a:r>
              <a:rPr sz="800">
                <a:solidFill>
                  <a:srgbClr val="B0B5BC"/>
                </a:solidFill>
                <a:latin typeface="Aptos"/>
              </a:rPr>
              <a:t>Exploration Probes</a:t>
            </a:r>
            <a:r>
              <a:rPr sz="800" b="1">
                <a:solidFill>
                  <a:srgbClr val="F5A012"/>
                </a:solidFill>
                <a:latin typeface="Aptos"/>
              </a:rPr>
              <a:t>  •  </a:t>
            </a:r>
            <a:r>
              <a:rPr sz="800">
                <a:solidFill>
                  <a:srgbClr val="B0B5BC"/>
                </a:solidFill>
                <a:latin typeface="Aptos"/>
              </a:rPr>
              <a:t>Self-Correction</a:t>
            </a:r>
            <a:r>
              <a:rPr sz="800" b="1">
                <a:solidFill>
                  <a:srgbClr val="F5A012"/>
                </a:solidFill>
                <a:latin typeface="Aptos"/>
              </a:rPr>
              <a:t>  •  </a:t>
            </a:r>
            <a:r>
              <a:rPr sz="800">
                <a:solidFill>
                  <a:srgbClr val="B0B5BC"/>
                </a:solidFill>
                <a:latin typeface="Aptos"/>
              </a:rPr>
              <a:t>Retry Convergence</a:t>
            </a:r>
            <a:r>
              <a:rPr sz="800" b="1">
                <a:solidFill>
                  <a:srgbClr val="F5A012"/>
                </a:solidFill>
                <a:latin typeface="Aptos"/>
              </a:rPr>
              <a:t>  •  </a:t>
            </a:r>
            <a:r>
              <a:rPr sz="800">
                <a:solidFill>
                  <a:srgbClr val="B0B5BC"/>
                </a:solidFill>
                <a:latin typeface="Aptos"/>
              </a:rPr>
              <a:t>Caching Risk</a:t>
            </a:r>
          </a:p>
        </p:txBody>
      </p:sp>
      <p:sp>
        <p:nvSpPr>
          <p:cNvPr id="30" name="TextBox 29"/>
          <p:cNvSpPr txBox="1"/>
          <p:nvPr/>
        </p:nvSpPr>
        <p:spPr>
          <a:xfrm>
            <a:off x="4872000" y="3920000"/>
            <a:ext cx="3436200" cy="580000"/>
          </a:xfrm>
          <a:prstGeom prst="rect">
            <a:avLst/>
          </a:prstGeom>
          <a:noFill/>
        </p:spPr>
        <p:txBody>
          <a:bodyPr wrap="square" lIns="0" tIns="0" rIns="0" bIns="0">
            <a:spAutoFit/>
          </a:bodyPr>
          <a:lstStyle/>
          <a:p>
            <a:pPr>
              <a:spcAft>
                <a:spcPts val="200"/>
              </a:spcAft>
            </a:pPr>
            <a:r>
              <a:rPr sz="950" b="1">
                <a:solidFill>
                  <a:srgbClr val="F5A012"/>
                </a:solidFill>
                <a:latin typeface="Aptos"/>
              </a:rPr>
              <a:t>B4  </a:t>
            </a:r>
            <a:r>
              <a:rPr sz="950" b="1">
                <a:solidFill>
                  <a:srgbClr val="F1EFE9"/>
                </a:solidFill>
                <a:latin typeface="Aptos"/>
              </a:rPr>
              <a:t>Operations &amp; Observability</a:t>
            </a:r>
          </a:p>
          <a:p>
            <a:pPr>
              <a:lnSpc>
                <a:spcPct val="115000"/>
              </a:lnSpc>
              <a:spcAft>
                <a:spcPts val="0"/>
              </a:spcAft>
            </a:pPr>
            <a:r>
              <a:rPr sz="800">
                <a:solidFill>
                  <a:srgbClr val="B0B5BC"/>
                </a:solidFill>
                <a:latin typeface="Aptos"/>
              </a:rPr>
              <a:t>Telemetry &amp; Logs</a:t>
            </a:r>
            <a:r>
              <a:rPr sz="800" b="1">
                <a:solidFill>
                  <a:srgbClr val="F5A012"/>
                </a:solidFill>
                <a:latin typeface="Aptos"/>
              </a:rPr>
              <a:t>  •  </a:t>
            </a:r>
            <a:r>
              <a:rPr sz="800">
                <a:solidFill>
                  <a:srgbClr val="B0B5BC"/>
                </a:solidFill>
                <a:latin typeface="Aptos"/>
              </a:rPr>
              <a:t>Benchmark Evaluation</a:t>
            </a:r>
            <a:r>
              <a:rPr sz="800" b="1">
                <a:solidFill>
                  <a:srgbClr val="F5A012"/>
                </a:solidFill>
                <a:latin typeface="Aptos"/>
              </a:rPr>
              <a:t>  •  </a:t>
            </a:r>
            <a:r>
              <a:rPr sz="800">
                <a:solidFill>
                  <a:srgbClr val="B0B5BC"/>
                </a:solidFill>
                <a:latin typeface="Aptos"/>
              </a:rPr>
              <a:t>Dashboard Usability</a:t>
            </a:r>
            <a:r>
              <a:rPr sz="800" b="1">
                <a:solidFill>
                  <a:srgbClr val="F5A012"/>
                </a:solidFill>
                <a:latin typeface="Aptos"/>
              </a:rPr>
              <a:t>  •  </a:t>
            </a:r>
            <a:r>
              <a:rPr sz="800">
                <a:solidFill>
                  <a:srgbClr val="B0B5BC"/>
                </a:solidFill>
                <a:latin typeface="Aptos"/>
              </a:rPr>
              <a:t>Cost &amp; Latency</a:t>
            </a:r>
            <a:r>
              <a:rPr sz="800" b="1">
                <a:solidFill>
                  <a:srgbClr val="F5A012"/>
                </a:solidFill>
                <a:latin typeface="Aptos"/>
              </a:rPr>
              <a:t>  •  </a:t>
            </a:r>
            <a:r>
              <a:rPr sz="800">
                <a:solidFill>
                  <a:srgbClr val="B0B5BC"/>
                </a:solidFill>
                <a:latin typeface="Aptos"/>
              </a:rPr>
              <a:t>Trust &amp; Explainability</a:t>
            </a:r>
          </a:p>
        </p:txBody>
      </p:sp>
      <p:pic>
        <p:nvPicPr>
          <p:cNvPr id="31" name="Picture 30">
            <a:extLst>
              <a:ext uri="{FF2B5EF4-FFF2-40B4-BE49-F238E27FC236}">
                <a16:creationId xmlns:a16="http://schemas.microsoft.com/office/drawing/2014/main" id="{66CDAC8D-C35A-743E-99DB-2463ABE5F539}"/>
              </a:ext>
            </a:extLst>
          </p:cNvPr>
          <p:cNvPicPr>
            <a:picLocks noChangeAspect="1"/>
          </p:cNvPicPr>
          <p:nvPr/>
        </p:nvPicPr>
        <p:blipFill>
          <a:blip r:embed="rId2"/>
          <a:srcRect l="-928" t="29746" r="928" b="36645"/>
          <a:stretch>
            <a:fillRect/>
          </a:stretch>
        </p:blipFill>
        <p:spPr>
          <a:xfrm>
            <a:off x="8218575" y="45720"/>
            <a:ext cx="861058" cy="28939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0C0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p:cNvSpPr/>
          <p:nvPr/>
        </p:nvSpPr>
        <p:spPr>
          <a:xfrm>
            <a:off x="685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p:cNvSpPr/>
          <p:nvPr/>
        </p:nvSpPr>
        <p:spPr>
          <a:xfrm>
            <a:off x="1371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2057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2743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p:cNvSpPr/>
          <p:nvPr/>
        </p:nvSpPr>
        <p:spPr>
          <a:xfrm>
            <a:off x="3429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114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4800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5486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6172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6858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7543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8229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ectangle 14"/>
          <p:cNvSpPr/>
          <p:nvPr/>
        </p:nvSpPr>
        <p:spPr>
          <a:xfrm>
            <a:off x="8915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1" y="685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ectangle 16"/>
          <p:cNvSpPr/>
          <p:nvPr/>
        </p:nvSpPr>
        <p:spPr>
          <a:xfrm>
            <a:off x="1" y="1371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ectangle 17"/>
          <p:cNvSpPr/>
          <p:nvPr/>
        </p:nvSpPr>
        <p:spPr>
          <a:xfrm>
            <a:off x="1" y="20574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ectangle 18"/>
          <p:cNvSpPr/>
          <p:nvPr/>
        </p:nvSpPr>
        <p:spPr>
          <a:xfrm>
            <a:off x="1" y="27432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ectangle 19"/>
          <p:cNvSpPr/>
          <p:nvPr/>
        </p:nvSpPr>
        <p:spPr>
          <a:xfrm>
            <a:off x="1" y="34290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Rectangle 20"/>
          <p:cNvSpPr/>
          <p:nvPr/>
        </p:nvSpPr>
        <p:spPr>
          <a:xfrm>
            <a:off x="1" y="4114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Rectangle 21"/>
          <p:cNvSpPr/>
          <p:nvPr/>
        </p:nvSpPr>
        <p:spPr>
          <a:xfrm>
            <a:off x="1" y="4800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Rectangle 22"/>
          <p:cNvSpPr/>
          <p:nvPr/>
        </p:nvSpPr>
        <p:spPr>
          <a:xfrm>
            <a:off x="342900" y="260604"/>
            <a:ext cx="1131570" cy="20574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528066" y="315468"/>
            <a:ext cx="788670" cy="99258"/>
          </a:xfrm>
          <a:prstGeom prst="rect">
            <a:avLst/>
          </a:prstGeom>
          <a:noFill/>
        </p:spPr>
        <p:txBody>
          <a:bodyPr wrap="square" lIns="13716" tIns="13716" rIns="13716" bIns="13716" anchor="t">
            <a:spAutoFit/>
          </a:bodyPr>
          <a:lstStyle/>
          <a:p>
            <a:pPr algn="ctr"/>
            <a:r>
              <a:rPr sz="465" b="1">
                <a:solidFill>
                  <a:srgbClr val="0C0F14"/>
                </a:solidFill>
                <a:latin typeface="Aptos"/>
              </a:rPr>
              <a:t>TAKEAWAY</a:t>
            </a:r>
          </a:p>
        </p:txBody>
      </p:sp>
      <p:sp>
        <p:nvSpPr>
          <p:cNvPr id="25" name="TextBox 24"/>
          <p:cNvSpPr txBox="1"/>
          <p:nvPr/>
        </p:nvSpPr>
        <p:spPr>
          <a:xfrm>
            <a:off x="8572500" y="240030"/>
            <a:ext cx="240030" cy="131574"/>
          </a:xfrm>
          <a:prstGeom prst="rect">
            <a:avLst/>
          </a:prstGeom>
          <a:noFill/>
        </p:spPr>
        <p:txBody>
          <a:bodyPr wrap="square" lIns="13716" tIns="13716" rIns="13716" bIns="13716" anchor="t">
            <a:spAutoFit/>
          </a:bodyPr>
          <a:lstStyle/>
          <a:p>
            <a:pPr algn="r"/>
            <a:r>
              <a:rPr sz="675">
                <a:solidFill>
                  <a:srgbClr val="666C76"/>
                </a:solidFill>
                <a:latin typeface="Aptos"/>
              </a:rPr>
              <a:t>11</a:t>
            </a:r>
          </a:p>
        </p:txBody>
      </p:sp>
      <p:sp>
        <p:nvSpPr>
          <p:cNvPr id="26" name="TextBox 25"/>
          <p:cNvSpPr txBox="1"/>
          <p:nvPr/>
        </p:nvSpPr>
        <p:spPr>
          <a:xfrm>
            <a:off x="425196" y="720090"/>
            <a:ext cx="7680960" cy="784830"/>
          </a:xfrm>
          <a:prstGeom prst="rect">
            <a:avLst/>
          </a:prstGeom>
          <a:noFill/>
        </p:spPr>
        <p:txBody>
          <a:bodyPr wrap="square" lIns="0" tIns="0" rIns="0" bIns="0">
            <a:spAutoFit/>
          </a:bodyPr>
          <a:lstStyle/>
          <a:p>
            <a:pPr algn="l"/>
            <a:r>
              <a:rPr sz="2550" b="1">
                <a:solidFill>
                  <a:srgbClr val="FFBE18"/>
                </a:solidFill>
                <a:latin typeface="Georgia"/>
              </a:rPr>
              <a:t>The goal is not SQL generation. </a:t>
            </a:r>
            <a:r>
              <a:rPr sz="2550" b="1">
                <a:solidFill>
                  <a:srgbClr val="F1EFE9"/>
                </a:solidFill>
                <a:latin typeface="Georgia"/>
              </a:rPr>
              <a:t>The goal is trustworthy SQL production.</a:t>
            </a:r>
          </a:p>
        </p:txBody>
      </p:sp>
      <p:sp>
        <p:nvSpPr>
          <p:cNvPr id="27" name="TextBox 26"/>
          <p:cNvSpPr txBox="1"/>
          <p:nvPr/>
        </p:nvSpPr>
        <p:spPr>
          <a:xfrm>
            <a:off x="493776" y="1851661"/>
            <a:ext cx="4526280" cy="212366"/>
          </a:xfrm>
          <a:prstGeom prst="rect">
            <a:avLst/>
          </a:prstGeom>
          <a:noFill/>
        </p:spPr>
        <p:txBody>
          <a:bodyPr wrap="square" lIns="13716" tIns="13716" rIns="13716" bIns="13716" anchor="t">
            <a:spAutoFit/>
          </a:bodyPr>
          <a:lstStyle/>
          <a:p>
            <a:pPr algn="l"/>
            <a:r>
              <a:rPr sz="1200" b="1">
                <a:solidFill>
                  <a:srgbClr val="F1EFE9"/>
                </a:solidFill>
                <a:latin typeface="Georgia"/>
              </a:rPr>
              <a:t>A simple system asks: Can the model write SQL?</a:t>
            </a:r>
          </a:p>
        </p:txBody>
      </p:sp>
      <p:sp>
        <p:nvSpPr>
          <p:cNvPr id="28" name="TextBox 27"/>
          <p:cNvSpPr txBox="1"/>
          <p:nvPr/>
        </p:nvSpPr>
        <p:spPr>
          <a:xfrm>
            <a:off x="493777" y="2297430"/>
            <a:ext cx="5966459" cy="650947"/>
          </a:xfrm>
          <a:prstGeom prst="rect">
            <a:avLst/>
          </a:prstGeom>
          <a:noFill/>
        </p:spPr>
        <p:txBody>
          <a:bodyPr wrap="square" lIns="13716" tIns="13716" rIns="13716" bIns="13716" anchor="t">
            <a:spAutoFit/>
          </a:bodyPr>
          <a:lstStyle/>
          <a:p>
            <a:pPr algn="l"/>
            <a:r>
              <a:rPr sz="1350" b="1">
                <a:solidFill>
                  <a:srgbClr val="FFBE18"/>
                </a:solidFill>
                <a:latin typeface="Georgia"/>
              </a:rPr>
              <a:t>A serious system asks: Did we understand intent, choose the right schema, ground values, generate dialect-correct SQL, execute safely, validate the result, repair failures, and expose evidence?</a:t>
            </a:r>
          </a:p>
        </p:txBody>
      </p:sp>
      <p:sp>
        <p:nvSpPr>
          <p:cNvPr id="29" name="Rectangle 28"/>
          <p:cNvSpPr/>
          <p:nvPr/>
        </p:nvSpPr>
        <p:spPr>
          <a:xfrm>
            <a:off x="548640" y="3579876"/>
            <a:ext cx="2331720" cy="68580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Rectangle 29"/>
          <p:cNvSpPr/>
          <p:nvPr/>
        </p:nvSpPr>
        <p:spPr>
          <a:xfrm>
            <a:off x="548640" y="3579876"/>
            <a:ext cx="2331720" cy="34290"/>
          </a:xfrm>
          <a:prstGeom prst="rect">
            <a:avLst/>
          </a:prstGeom>
          <a:solidFill>
            <a:srgbClr val="41D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1" name="Oval 30"/>
          <p:cNvSpPr/>
          <p:nvPr/>
        </p:nvSpPr>
        <p:spPr>
          <a:xfrm>
            <a:off x="699516" y="3765042"/>
            <a:ext cx="301752" cy="301752"/>
          </a:xfrm>
          <a:prstGeom prst="ellipse">
            <a:avLst/>
          </a:prstGeom>
          <a:solidFill>
            <a:srgbClr val="1F3434"/>
          </a:solidFill>
          <a:ln w="1270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2" name="TextBox 31"/>
          <p:cNvSpPr txBox="1"/>
          <p:nvPr/>
        </p:nvSpPr>
        <p:spPr>
          <a:xfrm>
            <a:off x="699516" y="3847338"/>
            <a:ext cx="301752" cy="120033"/>
          </a:xfrm>
          <a:prstGeom prst="rect">
            <a:avLst/>
          </a:prstGeom>
          <a:noFill/>
        </p:spPr>
        <p:txBody>
          <a:bodyPr wrap="square" lIns="13716" tIns="13716" rIns="13716" bIns="13716" anchor="t">
            <a:spAutoFit/>
          </a:bodyPr>
          <a:lstStyle/>
          <a:p>
            <a:pPr algn="ctr"/>
            <a:r>
              <a:rPr sz="600" b="1">
                <a:solidFill>
                  <a:srgbClr val="41DA8E"/>
                </a:solidFill>
                <a:latin typeface="Aptos"/>
              </a:rPr>
              <a:t>A</a:t>
            </a:r>
          </a:p>
        </p:txBody>
      </p:sp>
      <p:sp>
        <p:nvSpPr>
          <p:cNvPr id="33" name="TextBox 32"/>
          <p:cNvSpPr txBox="1"/>
          <p:nvPr/>
        </p:nvSpPr>
        <p:spPr>
          <a:xfrm>
            <a:off x="1042416" y="3813048"/>
            <a:ext cx="1680210" cy="145296"/>
          </a:xfrm>
          <a:prstGeom prst="rect">
            <a:avLst/>
          </a:prstGeom>
          <a:noFill/>
        </p:spPr>
        <p:txBody>
          <a:bodyPr wrap="square" lIns="13716" tIns="13716" rIns="13716" bIns="13716" anchor="t">
            <a:spAutoFit/>
          </a:bodyPr>
          <a:lstStyle/>
          <a:p>
            <a:pPr algn="l"/>
            <a:r>
              <a:rPr sz="764" b="1">
                <a:solidFill>
                  <a:srgbClr val="F1EFE9"/>
                </a:solidFill>
                <a:latin typeface="Aptos"/>
              </a:rPr>
              <a:t>Task layer</a:t>
            </a:r>
          </a:p>
        </p:txBody>
      </p:sp>
      <p:sp>
        <p:nvSpPr>
          <p:cNvPr id="34" name="TextBox 33"/>
          <p:cNvSpPr txBox="1"/>
          <p:nvPr/>
        </p:nvSpPr>
        <p:spPr>
          <a:xfrm>
            <a:off x="795528" y="4183380"/>
            <a:ext cx="1906524" cy="120033"/>
          </a:xfrm>
          <a:prstGeom prst="rect">
            <a:avLst/>
          </a:prstGeom>
          <a:noFill/>
        </p:spPr>
        <p:txBody>
          <a:bodyPr wrap="square" lIns="13716" tIns="13716" rIns="13716" bIns="13716" anchor="t">
            <a:spAutoFit/>
          </a:bodyPr>
          <a:lstStyle/>
          <a:p>
            <a:pPr algn="l"/>
            <a:r>
              <a:rPr sz="600">
                <a:solidFill>
                  <a:srgbClr val="F1EFE9"/>
                </a:solidFill>
                <a:latin typeface="Aptos"/>
              </a:rPr>
              <a:t>Translate human meaning into relational logic.</a:t>
            </a:r>
          </a:p>
        </p:txBody>
      </p:sp>
      <p:sp>
        <p:nvSpPr>
          <p:cNvPr id="35" name="Rectangle 34"/>
          <p:cNvSpPr/>
          <p:nvPr/>
        </p:nvSpPr>
        <p:spPr>
          <a:xfrm>
            <a:off x="795528" y="4046219"/>
            <a:ext cx="754380" cy="123444"/>
          </a:xfrm>
          <a:prstGeom prst="rect">
            <a:avLst/>
          </a:prstGeom>
          <a:solidFill>
            <a:srgbClr val="162C30"/>
          </a:solidFill>
          <a:ln w="5080">
            <a:solidFill>
              <a:srgbClr val="41DA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6" name="TextBox 35"/>
          <p:cNvSpPr txBox="1"/>
          <p:nvPr/>
        </p:nvSpPr>
        <p:spPr>
          <a:xfrm>
            <a:off x="795528" y="4063365"/>
            <a:ext cx="754380" cy="90025"/>
          </a:xfrm>
          <a:prstGeom prst="rect">
            <a:avLst/>
          </a:prstGeom>
          <a:noFill/>
        </p:spPr>
        <p:txBody>
          <a:bodyPr wrap="square" lIns="13716" tIns="13716" rIns="13716" bIns="13716" anchor="t">
            <a:spAutoFit/>
          </a:bodyPr>
          <a:lstStyle/>
          <a:p>
            <a:pPr algn="ctr"/>
            <a:r>
              <a:rPr sz="405" b="1">
                <a:solidFill>
                  <a:srgbClr val="41DA8E"/>
                </a:solidFill>
                <a:latin typeface="Aptos"/>
              </a:rPr>
              <a:t>SEMANTIC</a:t>
            </a:r>
          </a:p>
        </p:txBody>
      </p:sp>
      <p:sp>
        <p:nvSpPr>
          <p:cNvPr id="37" name="Rectangle 36"/>
          <p:cNvSpPr/>
          <p:nvPr/>
        </p:nvSpPr>
        <p:spPr>
          <a:xfrm>
            <a:off x="3394710" y="3579876"/>
            <a:ext cx="2331720" cy="68580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8" name="Rectangle 37"/>
          <p:cNvSpPr/>
          <p:nvPr/>
        </p:nvSpPr>
        <p:spPr>
          <a:xfrm>
            <a:off x="3394710" y="3579876"/>
            <a:ext cx="2331720" cy="3429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9" name="Oval 38"/>
          <p:cNvSpPr/>
          <p:nvPr/>
        </p:nvSpPr>
        <p:spPr>
          <a:xfrm>
            <a:off x="3545586" y="3765042"/>
            <a:ext cx="301752" cy="301752"/>
          </a:xfrm>
          <a:prstGeom prst="ellipse">
            <a:avLst/>
          </a:prstGeom>
          <a:solidFill>
            <a:srgbClr val="252D3A"/>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0" name="TextBox 39"/>
          <p:cNvSpPr txBox="1"/>
          <p:nvPr/>
        </p:nvSpPr>
        <p:spPr>
          <a:xfrm>
            <a:off x="3545586" y="3847338"/>
            <a:ext cx="301752" cy="120033"/>
          </a:xfrm>
          <a:prstGeom prst="rect">
            <a:avLst/>
          </a:prstGeom>
          <a:noFill/>
        </p:spPr>
        <p:txBody>
          <a:bodyPr wrap="square" lIns="13716" tIns="13716" rIns="13716" bIns="13716" anchor="t">
            <a:spAutoFit/>
          </a:bodyPr>
          <a:lstStyle/>
          <a:p>
            <a:pPr algn="ctr"/>
            <a:r>
              <a:rPr sz="600" b="1">
                <a:solidFill>
                  <a:srgbClr val="F5A012"/>
                </a:solidFill>
                <a:latin typeface="Aptos"/>
              </a:rPr>
              <a:t>B</a:t>
            </a:r>
          </a:p>
        </p:txBody>
      </p:sp>
      <p:sp>
        <p:nvSpPr>
          <p:cNvPr id="41" name="TextBox 40"/>
          <p:cNvSpPr txBox="1"/>
          <p:nvPr/>
        </p:nvSpPr>
        <p:spPr>
          <a:xfrm>
            <a:off x="3888486" y="3813048"/>
            <a:ext cx="1680210" cy="145296"/>
          </a:xfrm>
          <a:prstGeom prst="rect">
            <a:avLst/>
          </a:prstGeom>
          <a:noFill/>
        </p:spPr>
        <p:txBody>
          <a:bodyPr wrap="square" lIns="13716" tIns="13716" rIns="13716" bIns="13716" anchor="t">
            <a:spAutoFit/>
          </a:bodyPr>
          <a:lstStyle/>
          <a:p>
            <a:pPr algn="l"/>
            <a:r>
              <a:rPr sz="764" b="1">
                <a:solidFill>
                  <a:srgbClr val="F1EFE9"/>
                </a:solidFill>
                <a:latin typeface="Aptos"/>
              </a:rPr>
              <a:t>System layer</a:t>
            </a:r>
          </a:p>
        </p:txBody>
      </p:sp>
      <p:sp>
        <p:nvSpPr>
          <p:cNvPr id="42" name="TextBox 41"/>
          <p:cNvSpPr txBox="1"/>
          <p:nvPr/>
        </p:nvSpPr>
        <p:spPr>
          <a:xfrm>
            <a:off x="3641598" y="4183380"/>
            <a:ext cx="1906524" cy="120033"/>
          </a:xfrm>
          <a:prstGeom prst="rect">
            <a:avLst/>
          </a:prstGeom>
          <a:noFill/>
        </p:spPr>
        <p:txBody>
          <a:bodyPr wrap="square" lIns="13716" tIns="13716" rIns="13716" bIns="13716" anchor="t">
            <a:spAutoFit/>
          </a:bodyPr>
          <a:lstStyle/>
          <a:p>
            <a:pPr algn="l"/>
            <a:r>
              <a:rPr sz="600">
                <a:solidFill>
                  <a:srgbClr val="F1EFE9"/>
                </a:solidFill>
                <a:latin typeface="Aptos"/>
              </a:rPr>
              <a:t>Make the translation reliable and recoverable.</a:t>
            </a:r>
          </a:p>
        </p:txBody>
      </p:sp>
      <p:sp>
        <p:nvSpPr>
          <p:cNvPr id="43" name="Rectangle 42"/>
          <p:cNvSpPr/>
          <p:nvPr/>
        </p:nvSpPr>
        <p:spPr>
          <a:xfrm>
            <a:off x="3641598" y="4046219"/>
            <a:ext cx="754380" cy="123444"/>
          </a:xfrm>
          <a:prstGeom prst="rect">
            <a:avLst/>
          </a:prstGeom>
          <a:solidFill>
            <a:srgbClr val="272B3A"/>
          </a:solidFill>
          <a:ln w="508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4" name="TextBox 43"/>
          <p:cNvSpPr txBox="1"/>
          <p:nvPr/>
        </p:nvSpPr>
        <p:spPr>
          <a:xfrm>
            <a:off x="3641598" y="4063365"/>
            <a:ext cx="754380" cy="90025"/>
          </a:xfrm>
          <a:prstGeom prst="rect">
            <a:avLst/>
          </a:prstGeom>
          <a:noFill/>
        </p:spPr>
        <p:txBody>
          <a:bodyPr wrap="square" lIns="13716" tIns="13716" rIns="13716" bIns="13716" anchor="t">
            <a:spAutoFit/>
          </a:bodyPr>
          <a:lstStyle/>
          <a:p>
            <a:pPr algn="ctr"/>
            <a:r>
              <a:rPr sz="405" b="1">
                <a:solidFill>
                  <a:srgbClr val="F5A012"/>
                </a:solidFill>
                <a:latin typeface="Aptos"/>
              </a:rPr>
              <a:t>PIPELINE</a:t>
            </a:r>
          </a:p>
        </p:txBody>
      </p:sp>
      <p:sp>
        <p:nvSpPr>
          <p:cNvPr id="45" name="Rectangle 44"/>
          <p:cNvSpPr/>
          <p:nvPr/>
        </p:nvSpPr>
        <p:spPr>
          <a:xfrm>
            <a:off x="6240780" y="3579876"/>
            <a:ext cx="2331720" cy="685800"/>
          </a:xfrm>
          <a:prstGeom prst="rect">
            <a:avLst/>
          </a:prstGeom>
          <a:solidFill>
            <a:srgbClr val="1D222E"/>
          </a:solidFill>
          <a:ln w="6350">
            <a:solidFill>
              <a:srgbClr val="2A3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6" name="Rectangle 45"/>
          <p:cNvSpPr/>
          <p:nvPr/>
        </p:nvSpPr>
        <p:spPr>
          <a:xfrm>
            <a:off x="6240780" y="3579876"/>
            <a:ext cx="2331720" cy="34290"/>
          </a:xfrm>
          <a:prstGeom prst="rect">
            <a:avLst/>
          </a:prstGeom>
          <a:solidFill>
            <a:srgbClr val="2BD3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7" name="Oval 46"/>
          <p:cNvSpPr/>
          <p:nvPr/>
        </p:nvSpPr>
        <p:spPr>
          <a:xfrm>
            <a:off x="6391656" y="3765042"/>
            <a:ext cx="301752" cy="301752"/>
          </a:xfrm>
          <a:prstGeom prst="ellipse">
            <a:avLst/>
          </a:prstGeom>
          <a:solidFill>
            <a:srgbClr val="1F3434"/>
          </a:solidFill>
          <a:ln w="1270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8" name="TextBox 47"/>
          <p:cNvSpPr txBox="1"/>
          <p:nvPr/>
        </p:nvSpPr>
        <p:spPr>
          <a:xfrm>
            <a:off x="6391656" y="3847338"/>
            <a:ext cx="301752" cy="120033"/>
          </a:xfrm>
          <a:prstGeom prst="rect">
            <a:avLst/>
          </a:prstGeom>
          <a:noFill/>
        </p:spPr>
        <p:txBody>
          <a:bodyPr wrap="square" lIns="13716" tIns="13716" rIns="13716" bIns="13716" anchor="t">
            <a:spAutoFit/>
          </a:bodyPr>
          <a:lstStyle/>
          <a:p>
            <a:pPr algn="ctr"/>
            <a:r>
              <a:rPr sz="600" b="1">
                <a:solidFill>
                  <a:srgbClr val="2BD3C0"/>
                </a:solidFill>
                <a:latin typeface="Aptos"/>
              </a:rPr>
              <a:t>C</a:t>
            </a:r>
          </a:p>
        </p:txBody>
      </p:sp>
      <p:sp>
        <p:nvSpPr>
          <p:cNvPr id="49" name="TextBox 48"/>
          <p:cNvSpPr txBox="1"/>
          <p:nvPr/>
        </p:nvSpPr>
        <p:spPr>
          <a:xfrm>
            <a:off x="6734556" y="3813048"/>
            <a:ext cx="1680210" cy="145296"/>
          </a:xfrm>
          <a:prstGeom prst="rect">
            <a:avLst/>
          </a:prstGeom>
          <a:noFill/>
        </p:spPr>
        <p:txBody>
          <a:bodyPr wrap="square" lIns="13716" tIns="13716" rIns="13716" bIns="13716" anchor="t">
            <a:spAutoFit/>
          </a:bodyPr>
          <a:lstStyle/>
          <a:p>
            <a:pPr algn="l"/>
            <a:r>
              <a:rPr sz="764" b="1">
                <a:solidFill>
                  <a:srgbClr val="F1EFE9"/>
                </a:solidFill>
                <a:latin typeface="Aptos"/>
              </a:rPr>
              <a:t>Product layer</a:t>
            </a:r>
          </a:p>
        </p:txBody>
      </p:sp>
      <p:sp>
        <p:nvSpPr>
          <p:cNvPr id="50" name="TextBox 49"/>
          <p:cNvSpPr txBox="1"/>
          <p:nvPr/>
        </p:nvSpPr>
        <p:spPr>
          <a:xfrm>
            <a:off x="6487668" y="4183380"/>
            <a:ext cx="1906524" cy="120033"/>
          </a:xfrm>
          <a:prstGeom prst="rect">
            <a:avLst/>
          </a:prstGeom>
          <a:noFill/>
        </p:spPr>
        <p:txBody>
          <a:bodyPr wrap="square" lIns="13716" tIns="13716" rIns="13716" bIns="13716" anchor="t">
            <a:spAutoFit/>
          </a:bodyPr>
          <a:lstStyle/>
          <a:p>
            <a:pPr algn="l"/>
            <a:r>
              <a:rPr sz="600">
                <a:solidFill>
                  <a:srgbClr val="F1EFE9"/>
                </a:solidFill>
                <a:latin typeface="Aptos"/>
              </a:rPr>
              <a:t>Make the answer explainable and trusted.</a:t>
            </a:r>
          </a:p>
        </p:txBody>
      </p:sp>
      <p:sp>
        <p:nvSpPr>
          <p:cNvPr id="51" name="Rectangle 50"/>
          <p:cNvSpPr/>
          <p:nvPr/>
        </p:nvSpPr>
        <p:spPr>
          <a:xfrm>
            <a:off x="6487668" y="4046219"/>
            <a:ext cx="754380" cy="123444"/>
          </a:xfrm>
          <a:prstGeom prst="rect">
            <a:avLst/>
          </a:prstGeom>
          <a:solidFill>
            <a:srgbClr val="162C30"/>
          </a:solidFill>
          <a:ln w="5080">
            <a:solidFill>
              <a:srgbClr val="2BD3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2" name="TextBox 51"/>
          <p:cNvSpPr txBox="1"/>
          <p:nvPr/>
        </p:nvSpPr>
        <p:spPr>
          <a:xfrm>
            <a:off x="6487668" y="4063365"/>
            <a:ext cx="754380" cy="90025"/>
          </a:xfrm>
          <a:prstGeom prst="rect">
            <a:avLst/>
          </a:prstGeom>
          <a:noFill/>
        </p:spPr>
        <p:txBody>
          <a:bodyPr wrap="square" lIns="13716" tIns="13716" rIns="13716" bIns="13716" anchor="t">
            <a:spAutoFit/>
          </a:bodyPr>
          <a:lstStyle/>
          <a:p>
            <a:pPr algn="ctr"/>
            <a:r>
              <a:rPr sz="405" b="1">
                <a:solidFill>
                  <a:srgbClr val="2BD3C0"/>
                </a:solidFill>
                <a:latin typeface="Aptos"/>
              </a:rPr>
              <a:t>TRUST</a:t>
            </a:r>
          </a:p>
        </p:txBody>
      </p:sp>
      <p:sp>
        <p:nvSpPr>
          <p:cNvPr id="53" name="Rectangle 52"/>
          <p:cNvSpPr/>
          <p:nvPr/>
        </p:nvSpPr>
        <p:spPr>
          <a:xfrm>
            <a:off x="342900" y="4855464"/>
            <a:ext cx="8435340" cy="6858"/>
          </a:xfrm>
          <a:prstGeom prst="rect">
            <a:avLst/>
          </a:prstGeom>
          <a:solidFill>
            <a:srgbClr val="252C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4" name="TextBox 53"/>
          <p:cNvSpPr txBox="1"/>
          <p:nvPr/>
        </p:nvSpPr>
        <p:spPr>
          <a:xfrm>
            <a:off x="425196" y="4910328"/>
            <a:ext cx="3566160" cy="108491"/>
          </a:xfrm>
          <a:prstGeom prst="rect">
            <a:avLst/>
          </a:prstGeom>
          <a:noFill/>
        </p:spPr>
        <p:txBody>
          <a:bodyPr wrap="square" lIns="13716" tIns="13716" rIns="13716" bIns="13716" anchor="t">
            <a:spAutoFit/>
          </a:bodyPr>
          <a:lstStyle/>
          <a:p>
            <a:pPr algn="l"/>
            <a:r>
              <a:rPr sz="525">
                <a:solidFill>
                  <a:srgbClr val="666C76"/>
                </a:solidFill>
                <a:latin typeface="Aptos"/>
              </a:rPr>
              <a:t>Text-to-SQL problem taxonomy | SpiderDIN project experience</a:t>
            </a:r>
          </a:p>
        </p:txBody>
      </p:sp>
      <p:pic>
        <p:nvPicPr>
          <p:cNvPr id="55" name="Picture 54">
            <a:extLst>
              <a:ext uri="{FF2B5EF4-FFF2-40B4-BE49-F238E27FC236}">
                <a16:creationId xmlns:a16="http://schemas.microsoft.com/office/drawing/2014/main" id="{2BC307FE-F9DD-7990-4376-68208CED8E93}"/>
              </a:ext>
            </a:extLst>
          </p:cNvPr>
          <p:cNvPicPr>
            <a:picLocks noChangeAspect="1"/>
          </p:cNvPicPr>
          <p:nvPr/>
        </p:nvPicPr>
        <p:blipFill>
          <a:blip r:embed="rId2"/>
          <a:srcRect l="-928" t="29746" r="928" b="36645"/>
          <a:stretch>
            <a:fillRect/>
          </a:stretch>
        </p:blipFill>
        <p:spPr>
          <a:xfrm>
            <a:off x="8218575" y="45720"/>
            <a:ext cx="861058" cy="28939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320364" y="210312"/>
            <a:ext cx="2189372" cy="292608"/>
          </a:xfrm>
          <a:prstGeom prst="roundRect">
            <a:avLst>
              <a:gd name="adj" fmla="val 25000"/>
            </a:avLst>
          </a:prstGeom>
          <a:solidFill>
            <a:srgbClr val="7C3AED">
              <a:alpha val="80000"/>
            </a:srgbClr>
          </a:solidFill>
          <a:ln w="12700">
            <a:solidFill>
              <a:srgbClr val="7C3AED"/>
            </a:solidFill>
            <a:prstDash val="solid"/>
          </a:ln>
        </p:spPr>
        <p:txBody>
          <a:bodyPr/>
          <a:lstStyle/>
          <a:p>
            <a:endParaRPr lang="en-US"/>
          </a:p>
        </p:txBody>
      </p:sp>
      <p:sp>
        <p:nvSpPr>
          <p:cNvPr id="3" name="Text 1"/>
          <p:cNvSpPr/>
          <p:nvPr/>
        </p:nvSpPr>
        <p:spPr>
          <a:xfrm>
            <a:off x="365760" y="201168"/>
            <a:ext cx="2143976" cy="292608"/>
          </a:xfrm>
          <a:prstGeom prst="rect">
            <a:avLst/>
          </a:prstGeom>
          <a:noFill/>
          <a:ln/>
        </p:spPr>
        <p:txBody>
          <a:bodyPr wrap="square" lIns="0" tIns="0" rIns="0" bIns="0" rtlCol="0" anchor="ctr"/>
          <a:lstStyle/>
          <a:p>
            <a:pPr marL="0" indent="0" algn="ctr">
              <a:buNone/>
            </a:pPr>
            <a:r>
              <a:rPr lang="en-US" sz="800" b="1" kern="0" spc="200" dirty="0">
                <a:solidFill>
                  <a:srgbClr val="F9FAFB"/>
                </a:solidFill>
              </a:rPr>
              <a:t>SECTION 5 —SCHEMA PRUNING</a:t>
            </a:r>
            <a:endParaRPr lang="en-US" sz="800" dirty="0"/>
          </a:p>
        </p:txBody>
      </p:sp>
      <p:sp>
        <p:nvSpPr>
          <p:cNvPr id="4" name="Text 2"/>
          <p:cNvSpPr/>
          <p:nvPr/>
        </p:nvSpPr>
        <p:spPr>
          <a:xfrm>
            <a:off x="365760" y="594360"/>
            <a:ext cx="8412480" cy="594360"/>
          </a:xfrm>
          <a:prstGeom prst="rect">
            <a:avLst/>
          </a:prstGeom>
          <a:noFill/>
          <a:ln/>
        </p:spPr>
        <p:txBody>
          <a:bodyPr wrap="square" lIns="0" tIns="0" rIns="0" bIns="0" rtlCol="0" anchor="ctr"/>
          <a:lstStyle/>
          <a:p>
            <a:pPr marL="0" indent="0" algn="l">
              <a:buNone/>
            </a:pPr>
            <a:r>
              <a:rPr lang="en-US" sz="3000" b="1" dirty="0">
                <a:solidFill>
                  <a:srgbClr val="F9FAFB"/>
                </a:solidFill>
                <a:latin typeface="Calibri" pitchFamily="34" charset="0"/>
                <a:ea typeface="Calibri" pitchFamily="34" charset="-122"/>
                <a:cs typeface="Calibri" pitchFamily="34" charset="-120"/>
              </a:rPr>
              <a:t>Problem: Schema Size Kills LLMs</a:t>
            </a:r>
            <a:endParaRPr lang="en-US" sz="3000" dirty="0"/>
          </a:p>
        </p:txBody>
      </p:sp>
      <p:sp>
        <p:nvSpPr>
          <p:cNvPr id="5" name="Text 3"/>
          <p:cNvSpPr/>
          <p:nvPr/>
        </p:nvSpPr>
        <p:spPr>
          <a:xfrm>
            <a:off x="365760" y="1143000"/>
            <a:ext cx="8412480" cy="32004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800 tables × 30 columns × sample rows = token apocalypse</a:t>
            </a:r>
            <a:endParaRPr lang="en-US" sz="1300" dirty="0"/>
          </a:p>
        </p:txBody>
      </p:sp>
      <p:sp>
        <p:nvSpPr>
          <p:cNvPr id="6" name="Shape 4"/>
          <p:cNvSpPr/>
          <p:nvPr/>
        </p:nvSpPr>
        <p:spPr>
          <a:xfrm>
            <a:off x="365760" y="1417320"/>
            <a:ext cx="8412480" cy="36576"/>
          </a:xfrm>
          <a:prstGeom prst="rect">
            <a:avLst/>
          </a:prstGeom>
          <a:solidFill>
            <a:srgbClr val="7C3AED"/>
          </a:solidFill>
          <a:ln w="12700">
            <a:solidFill>
              <a:srgbClr val="7C3AED"/>
            </a:solidFill>
            <a:prstDash val="solid"/>
          </a:ln>
        </p:spPr>
        <p:txBody>
          <a:bodyPr/>
          <a:lstStyle/>
          <a:p>
            <a:endParaRPr lang="en-US"/>
          </a:p>
        </p:txBody>
      </p:sp>
      <p:sp>
        <p:nvSpPr>
          <p:cNvPr id="7" name="Shape 5"/>
          <p:cNvSpPr/>
          <p:nvPr/>
        </p:nvSpPr>
        <p:spPr>
          <a:xfrm>
            <a:off x="365760" y="1554480"/>
            <a:ext cx="2743200" cy="1463040"/>
          </a:xfrm>
          <a:prstGeom prst="roundRect">
            <a:avLst>
              <a:gd name="adj" fmla="val 7500"/>
            </a:avLst>
          </a:prstGeom>
          <a:solidFill>
            <a:srgbClr val="0A0A2A"/>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8" name="Text 6"/>
          <p:cNvSpPr/>
          <p:nvPr/>
        </p:nvSpPr>
        <p:spPr>
          <a:xfrm>
            <a:off x="457200" y="1572768"/>
            <a:ext cx="2560320" cy="320040"/>
          </a:xfrm>
          <a:prstGeom prst="rect">
            <a:avLst/>
          </a:prstGeom>
          <a:noFill/>
          <a:ln/>
        </p:spPr>
        <p:txBody>
          <a:bodyPr wrap="square" lIns="0" tIns="0" rIns="0" bIns="0" rtlCol="0" anchor="ctr"/>
          <a:lstStyle/>
          <a:p>
            <a:pPr marL="0" indent="0" algn="ctr">
              <a:buNone/>
            </a:pPr>
            <a:r>
              <a:rPr lang="en-US" sz="1200" b="1" dirty="0">
                <a:solidFill>
                  <a:srgbClr val="7C3AED"/>
                </a:solidFill>
                <a:latin typeface="Calibri" pitchFamily="34" charset="0"/>
                <a:ea typeface="Calibri" pitchFamily="34" charset="-122"/>
                <a:cs typeface="Calibri" pitchFamily="34" charset="-120"/>
              </a:rPr>
              <a:t>The Math 😬</a:t>
            </a:r>
            <a:endParaRPr lang="en-US" sz="1200" dirty="0"/>
          </a:p>
        </p:txBody>
      </p:sp>
      <p:sp>
        <p:nvSpPr>
          <p:cNvPr id="9" name="Text 7"/>
          <p:cNvSpPr/>
          <p:nvPr/>
        </p:nvSpPr>
        <p:spPr>
          <a:xfrm>
            <a:off x="457200" y="1938528"/>
            <a:ext cx="2560320" cy="182880"/>
          </a:xfrm>
          <a:prstGeom prst="rect">
            <a:avLst/>
          </a:prstGeom>
          <a:noFill/>
          <a:ln/>
        </p:spPr>
        <p:txBody>
          <a:bodyPr wrap="square" lIns="0" tIns="0" rIns="0" bIns="0" rtlCol="0" anchor="ctr"/>
          <a:lstStyle/>
          <a:p>
            <a:pPr marL="0" indent="0" algn="ctr">
              <a:buNone/>
            </a:pPr>
            <a:r>
              <a:rPr lang="en-US" sz="1000" dirty="0">
                <a:solidFill>
                  <a:srgbClr val="F9FAFB"/>
                </a:solidFill>
                <a:latin typeface="Calibri" pitchFamily="34" charset="0"/>
                <a:ea typeface="Calibri" pitchFamily="34" charset="-122"/>
                <a:cs typeface="Calibri" pitchFamily="34" charset="-120"/>
              </a:rPr>
              <a:t>800 tables</a:t>
            </a:r>
            <a:endParaRPr lang="en-US" sz="1000" dirty="0"/>
          </a:p>
        </p:txBody>
      </p:sp>
      <p:sp>
        <p:nvSpPr>
          <p:cNvPr id="10" name="Text 8"/>
          <p:cNvSpPr/>
          <p:nvPr/>
        </p:nvSpPr>
        <p:spPr>
          <a:xfrm>
            <a:off x="457200" y="2139696"/>
            <a:ext cx="2560320" cy="182880"/>
          </a:xfrm>
          <a:prstGeom prst="rect">
            <a:avLst/>
          </a:prstGeom>
          <a:noFill/>
          <a:ln/>
        </p:spPr>
        <p:txBody>
          <a:bodyPr wrap="square" lIns="0" tIns="0" rIns="0" bIns="0" rtlCol="0" anchor="ctr"/>
          <a:lstStyle/>
          <a:p>
            <a:pPr marL="0" indent="0" algn="ctr">
              <a:buNone/>
            </a:pPr>
            <a:r>
              <a:rPr lang="en-US" sz="1000" dirty="0">
                <a:solidFill>
                  <a:srgbClr val="F9FAFB"/>
                </a:solidFill>
                <a:latin typeface="Calibri" pitchFamily="34" charset="0"/>
                <a:ea typeface="Calibri" pitchFamily="34" charset="-122"/>
                <a:cs typeface="Calibri" pitchFamily="34" charset="-120"/>
              </a:rPr>
              <a:t>× 30 cols</a:t>
            </a:r>
            <a:endParaRPr lang="en-US" sz="1000" dirty="0"/>
          </a:p>
        </p:txBody>
      </p:sp>
      <p:sp>
        <p:nvSpPr>
          <p:cNvPr id="11" name="Text 9"/>
          <p:cNvSpPr/>
          <p:nvPr/>
        </p:nvSpPr>
        <p:spPr>
          <a:xfrm>
            <a:off x="457200" y="2340864"/>
            <a:ext cx="2560320" cy="182880"/>
          </a:xfrm>
          <a:prstGeom prst="rect">
            <a:avLst/>
          </a:prstGeom>
          <a:noFill/>
          <a:ln/>
        </p:spPr>
        <p:txBody>
          <a:bodyPr wrap="square" lIns="0" tIns="0" rIns="0" bIns="0" rtlCol="0" anchor="ctr"/>
          <a:lstStyle/>
          <a:p>
            <a:pPr marL="0" indent="0" algn="ctr">
              <a:buNone/>
            </a:pPr>
            <a:r>
              <a:rPr lang="en-US" sz="1000" dirty="0">
                <a:solidFill>
                  <a:srgbClr val="F9FAFB"/>
                </a:solidFill>
                <a:latin typeface="Calibri" pitchFamily="34" charset="0"/>
                <a:ea typeface="Calibri" pitchFamily="34" charset="-122"/>
                <a:cs typeface="Calibri" pitchFamily="34" charset="-120"/>
              </a:rPr>
              <a:t>× 10 sample rows</a:t>
            </a:r>
            <a:endParaRPr lang="en-US" sz="1000" dirty="0"/>
          </a:p>
        </p:txBody>
      </p:sp>
      <p:sp>
        <p:nvSpPr>
          <p:cNvPr id="12" name="Text 10"/>
          <p:cNvSpPr/>
          <p:nvPr/>
        </p:nvSpPr>
        <p:spPr>
          <a:xfrm>
            <a:off x="457200" y="2542032"/>
            <a:ext cx="2560320" cy="182880"/>
          </a:xfrm>
          <a:prstGeom prst="rect">
            <a:avLst/>
          </a:prstGeom>
          <a:noFill/>
          <a:ln/>
        </p:spPr>
        <p:txBody>
          <a:bodyPr wrap="square" lIns="0" tIns="0" rIns="0" bIns="0" rtlCol="0" anchor="ctr"/>
          <a:lstStyle/>
          <a:p>
            <a:pPr marL="0" indent="0" algn="ctr">
              <a:buNone/>
            </a:pPr>
            <a:r>
              <a:rPr lang="en-US" sz="1300" b="1" dirty="0">
                <a:solidFill>
                  <a:srgbClr val="EF4444"/>
                </a:solidFill>
                <a:latin typeface="Calibri" pitchFamily="34" charset="0"/>
                <a:ea typeface="Calibri" pitchFamily="34" charset="-122"/>
                <a:cs typeface="Calibri" pitchFamily="34" charset="-120"/>
              </a:rPr>
              <a:t>= ~5.5M tokens</a:t>
            </a:r>
            <a:endParaRPr lang="en-US" sz="1300" dirty="0"/>
          </a:p>
        </p:txBody>
      </p:sp>
      <p:sp>
        <p:nvSpPr>
          <p:cNvPr id="13" name="Text 11"/>
          <p:cNvSpPr/>
          <p:nvPr/>
        </p:nvSpPr>
        <p:spPr>
          <a:xfrm>
            <a:off x="457200" y="2743200"/>
            <a:ext cx="2560320" cy="182880"/>
          </a:xfrm>
          <a:prstGeom prst="rect">
            <a:avLst/>
          </a:prstGeom>
          <a:noFill/>
          <a:ln/>
        </p:spPr>
        <p:txBody>
          <a:bodyPr wrap="square" lIns="0" tIns="0" rIns="0" bIns="0" rtlCol="0" anchor="ctr"/>
          <a:lstStyle/>
          <a:p>
            <a:pPr marL="0" indent="0" algn="ctr">
              <a:buNone/>
            </a:pPr>
            <a:r>
              <a:rPr lang="en-US" sz="1300" b="1" dirty="0">
                <a:solidFill>
                  <a:srgbClr val="EF4444"/>
                </a:solidFill>
                <a:latin typeface="Calibri" pitchFamily="34" charset="0"/>
                <a:ea typeface="Calibri" pitchFamily="34" charset="-122"/>
                <a:cs typeface="Calibri" pitchFamily="34" charset="-120"/>
              </a:rPr>
              <a:t>= ~$1 to $5 per query</a:t>
            </a:r>
            <a:endParaRPr lang="en-US" sz="1300" dirty="0"/>
          </a:p>
        </p:txBody>
      </p:sp>
      <p:sp>
        <p:nvSpPr>
          <p:cNvPr id="14" name="Shape 12"/>
          <p:cNvSpPr/>
          <p:nvPr/>
        </p:nvSpPr>
        <p:spPr>
          <a:xfrm>
            <a:off x="3291840" y="1554480"/>
            <a:ext cx="5394960" cy="1463040"/>
          </a:xfrm>
          <a:prstGeom prst="roundRect">
            <a:avLst>
              <a:gd name="adj" fmla="val 7500"/>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5" name="Text 13"/>
          <p:cNvSpPr/>
          <p:nvPr/>
        </p:nvSpPr>
        <p:spPr>
          <a:xfrm>
            <a:off x="3383280" y="1572768"/>
            <a:ext cx="5212080" cy="320040"/>
          </a:xfrm>
          <a:prstGeom prst="rect">
            <a:avLst/>
          </a:prstGeom>
          <a:noFill/>
          <a:ln/>
        </p:spPr>
        <p:txBody>
          <a:bodyPr wrap="square" lIns="0" tIns="0" rIns="0" bIns="0" rtlCol="0" anchor="ctr"/>
          <a:lstStyle/>
          <a:p>
            <a:pPr marL="0" indent="0" algn="l">
              <a:buNone/>
            </a:pPr>
            <a:r>
              <a:rPr lang="en-US" sz="1200" b="1" dirty="0">
                <a:solidFill>
                  <a:srgbClr val="10B981"/>
                </a:solidFill>
                <a:latin typeface="Calibri" pitchFamily="34" charset="0"/>
                <a:ea typeface="Calibri" pitchFamily="34" charset="-122"/>
                <a:cs typeface="Calibri" pitchFamily="34" charset="-120"/>
              </a:rPr>
              <a:t>Semantic Pruning Pipeline</a:t>
            </a:r>
            <a:endParaRPr lang="en-US" sz="1200" dirty="0"/>
          </a:p>
        </p:txBody>
      </p:sp>
      <p:sp>
        <p:nvSpPr>
          <p:cNvPr id="16" name="Text 14"/>
          <p:cNvSpPr/>
          <p:nvPr/>
        </p:nvSpPr>
        <p:spPr>
          <a:xfrm>
            <a:off x="3429000" y="1965960"/>
            <a:ext cx="5120640" cy="201168"/>
          </a:xfrm>
          <a:prstGeom prst="rect">
            <a:avLst/>
          </a:prstGeom>
          <a:noFill/>
          <a:ln/>
        </p:spPr>
        <p:txBody>
          <a:bodyPr wrap="square" lIns="0" tIns="0" rIns="0" bIns="0" rtlCol="0" anchor="ctr"/>
          <a:lstStyle/>
          <a:p>
            <a:pPr marL="0" indent="0" algn="l">
              <a:buNone/>
            </a:pPr>
            <a:r>
              <a:rPr lang="en-US" sz="1000" b="1" dirty="0">
                <a:solidFill>
                  <a:srgbClr val="00D4FF"/>
                </a:solidFill>
                <a:latin typeface="Calibri" pitchFamily="34" charset="0"/>
                <a:ea typeface="Calibri" pitchFamily="34" charset="-122"/>
                <a:cs typeface="Calibri" pitchFamily="34" charset="-120"/>
              </a:rPr>
              <a:t>1. Analyze intent</a:t>
            </a:r>
            <a:r>
              <a:rPr lang="en-US" sz="1000" dirty="0">
                <a:solidFill>
                  <a:srgbClr val="9CA3AF"/>
                </a:solidFill>
                <a:latin typeface="Calibri" pitchFamily="34" charset="0"/>
                <a:ea typeface="Calibri" pitchFamily="34" charset="-122"/>
                <a:cs typeface="Calibri" pitchFamily="34" charset="-120"/>
              </a:rPr>
              <a:t>  -&gt; domain, metrics, filters, temporal/geo/variant flags</a:t>
            </a:r>
            <a:endParaRPr lang="en-US" sz="1000" dirty="0"/>
          </a:p>
        </p:txBody>
      </p:sp>
      <p:sp>
        <p:nvSpPr>
          <p:cNvPr id="17" name="Text 15"/>
          <p:cNvSpPr/>
          <p:nvPr/>
        </p:nvSpPr>
        <p:spPr>
          <a:xfrm>
            <a:off x="3429000" y="2212848"/>
            <a:ext cx="5120640" cy="201168"/>
          </a:xfrm>
          <a:prstGeom prst="rect">
            <a:avLst/>
          </a:prstGeom>
          <a:noFill/>
          <a:ln/>
        </p:spPr>
        <p:txBody>
          <a:bodyPr wrap="square" lIns="0" tIns="0" rIns="0" bIns="0" rtlCol="0" anchor="ctr"/>
          <a:lstStyle/>
          <a:p>
            <a:pPr marL="0" indent="0" algn="l">
              <a:buNone/>
            </a:pPr>
            <a:r>
              <a:rPr lang="en-US" sz="1000" b="1" dirty="0">
                <a:solidFill>
                  <a:srgbClr val="00D4FF"/>
                </a:solidFill>
                <a:latin typeface="Calibri" pitchFamily="34" charset="0"/>
                <a:ea typeface="Calibri" pitchFamily="34" charset="-122"/>
                <a:cs typeface="Calibri" pitchFamily="34" charset="-120"/>
              </a:rPr>
              <a:t>2. Hybrid table ranking</a:t>
            </a:r>
            <a:r>
              <a:rPr lang="en-US" sz="1000" dirty="0">
                <a:solidFill>
                  <a:srgbClr val="9CA3AF"/>
                </a:solidFill>
                <a:latin typeface="Calibri" pitchFamily="34" charset="0"/>
                <a:ea typeface="Calibri" pitchFamily="34" charset="-122"/>
                <a:cs typeface="Calibri" pitchFamily="34" charset="-120"/>
              </a:rPr>
              <a:t>  -&gt; SchemaRetriever top-K plus progressive fallback</a:t>
            </a:r>
            <a:endParaRPr lang="en-US" sz="1000" dirty="0"/>
          </a:p>
        </p:txBody>
      </p:sp>
      <p:sp>
        <p:nvSpPr>
          <p:cNvPr id="18" name="Text 16"/>
          <p:cNvSpPr/>
          <p:nvPr/>
        </p:nvSpPr>
        <p:spPr>
          <a:xfrm>
            <a:off x="3429000" y="2459736"/>
            <a:ext cx="5120640" cy="201168"/>
          </a:xfrm>
          <a:prstGeom prst="rect">
            <a:avLst/>
          </a:prstGeom>
          <a:noFill/>
          <a:ln/>
        </p:spPr>
        <p:txBody>
          <a:bodyPr wrap="square" lIns="0" tIns="0" rIns="0" bIns="0" rtlCol="0" anchor="ctr"/>
          <a:lstStyle/>
          <a:p>
            <a:pPr marL="0" indent="0" algn="l">
              <a:buNone/>
            </a:pPr>
            <a:r>
              <a:rPr lang="en-US" sz="1000" b="1" dirty="0">
                <a:solidFill>
                  <a:srgbClr val="00D4FF"/>
                </a:solidFill>
                <a:latin typeface="Calibri" pitchFamily="34" charset="0"/>
                <a:ea typeface="Calibri" pitchFamily="34" charset="-122"/>
                <a:cs typeface="Calibri" pitchFamily="34" charset="-120"/>
              </a:rPr>
              <a:t>3. LLM table/column pruning</a:t>
            </a:r>
            <a:r>
              <a:rPr lang="en-US" sz="1000" dirty="0">
                <a:solidFill>
                  <a:srgbClr val="9CA3AF"/>
                </a:solidFill>
                <a:latin typeface="Calibri" pitchFamily="34" charset="0"/>
                <a:ea typeface="Calibri" pitchFamily="34" charset="-122"/>
                <a:cs typeface="Calibri" pitchFamily="34" charset="-120"/>
              </a:rPr>
              <a:t>  -&gt; TablePruner + ColumnPruner via PromptAssembler</a:t>
            </a:r>
            <a:endParaRPr lang="en-US" sz="1000" dirty="0"/>
          </a:p>
        </p:txBody>
      </p:sp>
      <p:sp>
        <p:nvSpPr>
          <p:cNvPr id="19" name="Text 17"/>
          <p:cNvSpPr/>
          <p:nvPr/>
        </p:nvSpPr>
        <p:spPr>
          <a:xfrm>
            <a:off x="3429000" y="2706624"/>
            <a:ext cx="5120640" cy="201168"/>
          </a:xfrm>
          <a:prstGeom prst="rect">
            <a:avLst/>
          </a:prstGeom>
          <a:noFill/>
          <a:ln/>
        </p:spPr>
        <p:txBody>
          <a:bodyPr wrap="square" lIns="0" tIns="0" rIns="0" bIns="0" rtlCol="0" anchor="ctr"/>
          <a:lstStyle/>
          <a:p>
            <a:pPr marL="0" indent="0" algn="l">
              <a:buNone/>
            </a:pPr>
            <a:r>
              <a:rPr lang="en-US" sz="1000" b="1" dirty="0">
                <a:solidFill>
                  <a:srgbClr val="00D4FF"/>
                </a:solidFill>
                <a:latin typeface="Calibri" pitchFamily="34" charset="0"/>
                <a:ea typeface="Calibri" pitchFamily="34" charset="-122"/>
                <a:cs typeface="Calibri" pitchFamily="34" charset="-120"/>
              </a:rPr>
              <a:t>4. Compressed schema context</a:t>
            </a:r>
            <a:r>
              <a:rPr lang="en-US" sz="1000" dirty="0">
                <a:solidFill>
                  <a:srgbClr val="9CA3AF"/>
                </a:solidFill>
                <a:latin typeface="Calibri" pitchFamily="34" charset="0"/>
                <a:ea typeface="Calibri" pitchFamily="34" charset="-122"/>
                <a:cs typeface="Calibri" pitchFamily="34" charset="-120"/>
              </a:rPr>
              <a:t>  -&gt; SchemaCompressor keeps high-signal cols/samples only</a:t>
            </a:r>
            <a:endParaRPr lang="en-US" sz="1000" dirty="0"/>
          </a:p>
        </p:txBody>
      </p:sp>
      <p:sp>
        <p:nvSpPr>
          <p:cNvPr id="20" name="Shape 18"/>
          <p:cNvSpPr/>
          <p:nvPr/>
        </p:nvSpPr>
        <p:spPr>
          <a:xfrm>
            <a:off x="365760" y="3154680"/>
            <a:ext cx="8412480" cy="1737360"/>
          </a:xfrm>
          <a:prstGeom prst="roundRect">
            <a:avLst>
              <a:gd name="adj" fmla="val 6316"/>
            </a:avLst>
          </a:prstGeom>
          <a:solidFill>
            <a:srgbClr val="150F00"/>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1" name="Text 19"/>
          <p:cNvSpPr/>
          <p:nvPr/>
        </p:nvSpPr>
        <p:spPr>
          <a:xfrm>
            <a:off x="548640" y="3182112"/>
            <a:ext cx="4572000" cy="320040"/>
          </a:xfrm>
          <a:prstGeom prst="rect">
            <a:avLst/>
          </a:prstGeom>
          <a:noFill/>
          <a:ln/>
        </p:spPr>
        <p:txBody>
          <a:bodyPr wrap="square" lIns="0" tIns="0" rIns="0" bIns="0" rtlCol="0" anchor="ctr"/>
          <a:lstStyle/>
          <a:p>
            <a:pPr marL="0" indent="0" algn="l">
              <a:buNone/>
            </a:pPr>
            <a:r>
              <a:rPr lang="en-US" sz="1200" b="1" dirty="0">
                <a:solidFill>
                  <a:srgbClr val="F59E0B"/>
                </a:solidFill>
                <a:latin typeface="Calibri" pitchFamily="34" charset="0"/>
                <a:ea typeface="Calibri" pitchFamily="34" charset="-122"/>
                <a:cs typeface="Calibri" pitchFamily="34" charset="-120"/>
              </a:rPr>
              <a:t>What We Tried &amp; Failed 🪦</a:t>
            </a:r>
            <a:endParaRPr lang="en-US" sz="1200" dirty="0"/>
          </a:p>
        </p:txBody>
      </p:sp>
      <p:sp>
        <p:nvSpPr>
          <p:cNvPr id="22" name="Text 20"/>
          <p:cNvSpPr/>
          <p:nvPr/>
        </p:nvSpPr>
        <p:spPr>
          <a:xfrm>
            <a:off x="548640" y="3566160"/>
            <a:ext cx="4023360" cy="320040"/>
          </a:xfrm>
          <a:prstGeom prst="rect">
            <a:avLst/>
          </a:prstGeom>
          <a:noFill/>
          <a:ln/>
        </p:spPr>
        <p:txBody>
          <a:bodyPr wrap="square" lIns="0" tIns="0" rIns="0" bIns="0" rtlCol="0" anchor="ctr"/>
          <a:lstStyle/>
          <a:p>
            <a:pPr marL="0" indent="0" algn="l">
              <a:buNone/>
            </a:pPr>
            <a:r>
              <a:rPr lang="en-US" sz="1000" b="1" dirty="0">
                <a:solidFill>
                  <a:srgbClr val="EF4444"/>
                </a:solidFill>
                <a:latin typeface="Calibri" pitchFamily="34" charset="0"/>
                <a:ea typeface="Calibri" pitchFamily="34" charset="-122"/>
                <a:cs typeface="Calibri" pitchFamily="34" charset="-120"/>
              </a:rPr>
              <a:t>✗  Static top-20: </a:t>
            </a:r>
            <a:r>
              <a:rPr lang="en-US" sz="1000" dirty="0">
                <a:solidFill>
                  <a:srgbClr val="9CA3AF"/>
                </a:solidFill>
                <a:latin typeface="Calibri" pitchFamily="34" charset="0"/>
                <a:ea typeface="Calibri" pitchFamily="34" charset="-122"/>
                <a:cs typeface="Calibri" pitchFamily="34" charset="-120"/>
              </a:rPr>
              <a:t>Always missed joins on cold tables</a:t>
            </a:r>
            <a:endParaRPr lang="en-US" sz="1000" dirty="0"/>
          </a:p>
        </p:txBody>
      </p:sp>
      <p:sp>
        <p:nvSpPr>
          <p:cNvPr id="23" name="Text 21"/>
          <p:cNvSpPr/>
          <p:nvPr/>
        </p:nvSpPr>
        <p:spPr>
          <a:xfrm>
            <a:off x="4754880" y="3566160"/>
            <a:ext cx="4023360" cy="320040"/>
          </a:xfrm>
          <a:prstGeom prst="rect">
            <a:avLst/>
          </a:prstGeom>
          <a:noFill/>
          <a:ln/>
        </p:spPr>
        <p:txBody>
          <a:bodyPr wrap="square" lIns="0" tIns="0" rIns="0" bIns="0" rtlCol="0" anchor="ctr"/>
          <a:lstStyle/>
          <a:p>
            <a:pPr marL="0" indent="0" algn="l">
              <a:buNone/>
            </a:pPr>
            <a:r>
              <a:rPr lang="en-US" sz="1000" b="1" dirty="0">
                <a:solidFill>
                  <a:srgbClr val="EF4444"/>
                </a:solidFill>
                <a:latin typeface="Calibri" pitchFamily="34" charset="0"/>
                <a:ea typeface="Calibri" pitchFamily="34" charset="-122"/>
                <a:cs typeface="Calibri" pitchFamily="34" charset="-120"/>
              </a:rPr>
              <a:t>x  TF-IDF only: </a:t>
            </a:r>
            <a:r>
              <a:rPr lang="en-US" sz="1000" dirty="0">
                <a:solidFill>
                  <a:srgbClr val="9CA3AF"/>
                </a:solidFill>
                <a:latin typeface="Calibri" pitchFamily="34" charset="0"/>
                <a:ea typeface="Calibri" pitchFamily="34" charset="-122"/>
                <a:cs typeface="Calibri" pitchFamily="34" charset="-120"/>
              </a:rPr>
              <a:t>Replaced by hybrid lexical, samples, ontology, nested-key scoring</a:t>
            </a:r>
            <a:endParaRPr lang="en-US" sz="1000" dirty="0"/>
          </a:p>
        </p:txBody>
      </p:sp>
      <p:sp>
        <p:nvSpPr>
          <p:cNvPr id="24" name="Text 22"/>
          <p:cNvSpPr/>
          <p:nvPr/>
        </p:nvSpPr>
        <p:spPr>
          <a:xfrm>
            <a:off x="548640" y="4005072"/>
            <a:ext cx="4023360" cy="320040"/>
          </a:xfrm>
          <a:prstGeom prst="rect">
            <a:avLst/>
          </a:prstGeom>
          <a:noFill/>
          <a:ln/>
        </p:spPr>
        <p:txBody>
          <a:bodyPr wrap="square" lIns="0" tIns="0" rIns="0" bIns="0" rtlCol="0" anchor="ctr"/>
          <a:lstStyle/>
          <a:p>
            <a:pPr marL="0" indent="0" algn="l">
              <a:buNone/>
            </a:pPr>
            <a:r>
              <a:rPr lang="en-US" sz="1000" b="1" dirty="0">
                <a:solidFill>
                  <a:srgbClr val="EF4444"/>
                </a:solidFill>
                <a:latin typeface="Calibri" pitchFamily="34" charset="0"/>
                <a:ea typeface="Calibri" pitchFamily="34" charset="-122"/>
                <a:cs typeface="Calibri" pitchFamily="34" charset="-120"/>
              </a:rPr>
              <a:t>x  Embeddings-only: </a:t>
            </a:r>
            <a:r>
              <a:rPr lang="en-US" sz="1000" dirty="0">
                <a:solidFill>
                  <a:srgbClr val="9CA3AF"/>
                </a:solidFill>
                <a:latin typeface="Calibri" pitchFamily="34" charset="0"/>
                <a:ea typeface="Calibri" pitchFamily="34" charset="-122"/>
                <a:cs typeface="Calibri" pitchFamily="34" charset="-120"/>
              </a:rPr>
              <a:t>Great recall, weak exactness for cryptic enterprise columns</a:t>
            </a:r>
            <a:endParaRPr lang="en-US" sz="1000" dirty="0"/>
          </a:p>
        </p:txBody>
      </p:sp>
      <p:sp>
        <p:nvSpPr>
          <p:cNvPr id="25" name="Text 23"/>
          <p:cNvSpPr/>
          <p:nvPr/>
        </p:nvSpPr>
        <p:spPr>
          <a:xfrm>
            <a:off x="4754880" y="4005072"/>
            <a:ext cx="4023360" cy="320040"/>
          </a:xfrm>
          <a:prstGeom prst="rect">
            <a:avLst/>
          </a:prstGeom>
          <a:noFill/>
          <a:ln/>
        </p:spPr>
        <p:txBody>
          <a:bodyPr wrap="square" lIns="0" tIns="0" rIns="0" bIns="0" rtlCol="0" anchor="ctr"/>
          <a:lstStyle/>
          <a:p>
            <a:pPr marL="0" indent="0" algn="l">
              <a:buNone/>
            </a:pPr>
            <a:r>
              <a:rPr lang="en-US" sz="1000" b="1" dirty="0">
                <a:solidFill>
                  <a:srgbClr val="EF4444"/>
                </a:solidFill>
                <a:latin typeface="Calibri" pitchFamily="34" charset="0"/>
                <a:ea typeface="Calibri" pitchFamily="34" charset="-122"/>
                <a:cs typeface="Calibri" pitchFamily="34" charset="-120"/>
              </a:rPr>
              <a:t>✗  Full schema always: </a:t>
            </a:r>
            <a:r>
              <a:rPr lang="en-US" sz="1000" dirty="0">
                <a:solidFill>
                  <a:srgbClr val="9CA3AF"/>
                </a:solidFill>
                <a:latin typeface="Calibri" pitchFamily="34" charset="0"/>
                <a:ea typeface="Calibri" pitchFamily="34" charset="-122"/>
                <a:cs typeface="Calibri" pitchFamily="34" charset="-120"/>
              </a:rPr>
              <a:t>Token budget = instant bankruptcy</a:t>
            </a:r>
            <a:endParaRPr lang="en-US" sz="1000" dirty="0"/>
          </a:p>
        </p:txBody>
      </p:sp>
      <p:pic>
        <p:nvPicPr>
          <p:cNvPr id="26" name="Picture 25">
            <a:extLst>
              <a:ext uri="{FF2B5EF4-FFF2-40B4-BE49-F238E27FC236}">
                <a16:creationId xmlns:a16="http://schemas.microsoft.com/office/drawing/2014/main" id="{B18AD128-A680-06BF-722B-7D34903E2DF5}"/>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365760" y="201168"/>
            <a:ext cx="2105066" cy="292608"/>
          </a:xfrm>
          <a:prstGeom prst="roundRect">
            <a:avLst>
              <a:gd name="adj" fmla="val 25000"/>
            </a:avLst>
          </a:prstGeom>
          <a:solidFill>
            <a:srgbClr val="10B981">
              <a:alpha val="80000"/>
            </a:srgbClr>
          </a:solidFill>
          <a:ln w="12700">
            <a:solidFill>
              <a:srgbClr val="10B981"/>
            </a:solidFill>
            <a:prstDash val="solid"/>
          </a:ln>
        </p:spPr>
        <p:txBody>
          <a:bodyPr/>
          <a:lstStyle/>
          <a:p>
            <a:endParaRPr lang="en-US"/>
          </a:p>
        </p:txBody>
      </p:sp>
      <p:sp>
        <p:nvSpPr>
          <p:cNvPr id="3" name="Text 1"/>
          <p:cNvSpPr/>
          <p:nvPr/>
        </p:nvSpPr>
        <p:spPr>
          <a:xfrm>
            <a:off x="365760" y="201168"/>
            <a:ext cx="2105066" cy="292608"/>
          </a:xfrm>
          <a:prstGeom prst="rect">
            <a:avLst/>
          </a:prstGeom>
          <a:noFill/>
          <a:ln/>
        </p:spPr>
        <p:txBody>
          <a:bodyPr wrap="square" lIns="0" tIns="0" rIns="0" bIns="0" rtlCol="0" anchor="ctr"/>
          <a:lstStyle/>
          <a:p>
            <a:pPr marL="0" indent="0" algn="ctr">
              <a:buNone/>
            </a:pPr>
            <a:r>
              <a:rPr lang="en-US" sz="800" b="1" kern="0" spc="200" dirty="0">
                <a:solidFill>
                  <a:srgbClr val="F9FAFB"/>
                </a:solidFill>
              </a:rPr>
              <a:t>SECTION 5 — SCHEMA LINKING</a:t>
            </a:r>
            <a:endParaRPr lang="en-US" sz="800" dirty="0"/>
          </a:p>
        </p:txBody>
      </p:sp>
      <p:sp>
        <p:nvSpPr>
          <p:cNvPr id="4" name="Text 2"/>
          <p:cNvSpPr/>
          <p:nvPr/>
        </p:nvSpPr>
        <p:spPr>
          <a:xfrm>
            <a:off x="365760" y="594360"/>
            <a:ext cx="8412480" cy="594360"/>
          </a:xfrm>
          <a:prstGeom prst="rect">
            <a:avLst/>
          </a:prstGeom>
          <a:noFill/>
          <a:ln/>
        </p:spPr>
        <p:txBody>
          <a:bodyPr wrap="square" lIns="0" tIns="0" rIns="0" bIns="0" rtlCol="0" anchor="ctr"/>
          <a:lstStyle/>
          <a:p>
            <a:pPr marL="0" indent="0" algn="l">
              <a:buNone/>
            </a:pPr>
            <a:r>
              <a:rPr lang="en-US" sz="3000" b="1" dirty="0">
                <a:solidFill>
                  <a:srgbClr val="F9FAFB"/>
                </a:solidFill>
                <a:latin typeface="Calibri" pitchFamily="34" charset="0"/>
                <a:ea typeface="Calibri" pitchFamily="34" charset="-122"/>
                <a:cs typeface="Calibri" pitchFamily="34" charset="-120"/>
              </a:rPr>
              <a:t>The Vocabulary Gap Problem</a:t>
            </a:r>
            <a:endParaRPr lang="en-US" sz="3000" dirty="0"/>
          </a:p>
        </p:txBody>
      </p:sp>
      <p:sp>
        <p:nvSpPr>
          <p:cNvPr id="5" name="Text 3"/>
          <p:cNvSpPr/>
          <p:nvPr/>
        </p:nvSpPr>
        <p:spPr>
          <a:xfrm>
            <a:off x="365760" y="1143000"/>
            <a:ext cx="8412480" cy="32004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User says "revenue". DB says "AMT_NET_REV_USD_LCL_CUR_CD"</a:t>
            </a:r>
            <a:endParaRPr lang="en-US" sz="1300" dirty="0"/>
          </a:p>
        </p:txBody>
      </p:sp>
      <p:sp>
        <p:nvSpPr>
          <p:cNvPr id="6" name="Shape 4"/>
          <p:cNvSpPr/>
          <p:nvPr/>
        </p:nvSpPr>
        <p:spPr>
          <a:xfrm>
            <a:off x="365760" y="1417320"/>
            <a:ext cx="8412480" cy="36576"/>
          </a:xfrm>
          <a:prstGeom prst="rect">
            <a:avLst/>
          </a:prstGeom>
          <a:solidFill>
            <a:srgbClr val="10B981"/>
          </a:solidFill>
          <a:ln w="12700">
            <a:solidFill>
              <a:srgbClr val="10B981"/>
            </a:solidFill>
            <a:prstDash val="solid"/>
          </a:ln>
        </p:spPr>
        <p:txBody>
          <a:bodyPr/>
          <a:lstStyle/>
          <a:p>
            <a:endParaRPr lang="en-US"/>
          </a:p>
        </p:txBody>
      </p:sp>
      <p:sp>
        <p:nvSpPr>
          <p:cNvPr id="7" name="Shape 5"/>
          <p:cNvSpPr/>
          <p:nvPr/>
        </p:nvSpPr>
        <p:spPr>
          <a:xfrm>
            <a:off x="365760" y="1600200"/>
            <a:ext cx="3931920" cy="1280160"/>
          </a:xfrm>
          <a:prstGeom prst="roundRect">
            <a:avLst>
              <a:gd name="adj" fmla="val 8571"/>
            </a:avLst>
          </a:prstGeom>
          <a:solidFill>
            <a:srgbClr val="0A1A0A"/>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8" name="Text 6"/>
          <p:cNvSpPr/>
          <p:nvPr/>
        </p:nvSpPr>
        <p:spPr>
          <a:xfrm>
            <a:off x="457200" y="1627632"/>
            <a:ext cx="3749040" cy="320040"/>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What the user means 💬</a:t>
            </a:r>
            <a:endParaRPr lang="en-US" sz="1100" dirty="0"/>
          </a:p>
        </p:txBody>
      </p:sp>
      <p:sp>
        <p:nvSpPr>
          <p:cNvPr id="9" name="Text 7"/>
          <p:cNvSpPr/>
          <p:nvPr/>
        </p:nvSpPr>
        <p:spPr>
          <a:xfrm>
            <a:off x="457200" y="1993392"/>
            <a:ext cx="3749040" cy="182880"/>
          </a:xfrm>
          <a:prstGeom prst="rect">
            <a:avLst/>
          </a:prstGeom>
          <a:noFill/>
          <a:ln/>
        </p:spPr>
        <p:txBody>
          <a:bodyPr wrap="square" lIns="0" tIns="0" rIns="0" bIns="0" rtlCol="0" anchor="ctr"/>
          <a:lstStyle/>
          <a:p>
            <a:pPr marL="0" indent="0" algn="ctr">
              <a:buNone/>
            </a:pPr>
            <a:r>
              <a:rPr lang="en-US" sz="1000" dirty="0">
                <a:solidFill>
                  <a:srgbClr val="F9FAFB"/>
                </a:solidFill>
                <a:latin typeface="Calibri" pitchFamily="34" charset="0"/>
                <a:ea typeface="Calibri" pitchFamily="34" charset="-122"/>
                <a:cs typeface="Calibri" pitchFamily="34" charset="-120"/>
              </a:rPr>
              <a:t>revenue</a:t>
            </a:r>
            <a:endParaRPr lang="en-US" sz="1000" dirty="0"/>
          </a:p>
        </p:txBody>
      </p:sp>
      <p:sp>
        <p:nvSpPr>
          <p:cNvPr id="10" name="Text 8"/>
          <p:cNvSpPr/>
          <p:nvPr/>
        </p:nvSpPr>
        <p:spPr>
          <a:xfrm>
            <a:off x="457200" y="2203704"/>
            <a:ext cx="3749040" cy="182880"/>
          </a:xfrm>
          <a:prstGeom prst="rect">
            <a:avLst/>
          </a:prstGeom>
          <a:noFill/>
          <a:ln/>
        </p:spPr>
        <p:txBody>
          <a:bodyPr wrap="square" lIns="0" tIns="0" rIns="0" bIns="0" rtlCol="0" anchor="ctr"/>
          <a:lstStyle/>
          <a:p>
            <a:pPr marL="0" indent="0" algn="ctr">
              <a:buNone/>
            </a:pPr>
            <a:r>
              <a:rPr lang="en-US" sz="1000" dirty="0">
                <a:solidFill>
                  <a:srgbClr val="F9FAFB"/>
                </a:solidFill>
                <a:latin typeface="Calibri" pitchFamily="34" charset="0"/>
                <a:ea typeface="Calibri" pitchFamily="34" charset="-122"/>
                <a:cs typeface="Calibri" pitchFamily="34" charset="-120"/>
              </a:rPr>
              <a:t>last quarter</a:t>
            </a:r>
            <a:endParaRPr lang="en-US" sz="1000" dirty="0"/>
          </a:p>
        </p:txBody>
      </p:sp>
      <p:sp>
        <p:nvSpPr>
          <p:cNvPr id="11" name="Text 9"/>
          <p:cNvSpPr/>
          <p:nvPr/>
        </p:nvSpPr>
        <p:spPr>
          <a:xfrm>
            <a:off x="457200" y="2414016"/>
            <a:ext cx="3749040" cy="182880"/>
          </a:xfrm>
          <a:prstGeom prst="rect">
            <a:avLst/>
          </a:prstGeom>
          <a:noFill/>
          <a:ln/>
        </p:spPr>
        <p:txBody>
          <a:bodyPr wrap="square" lIns="0" tIns="0" rIns="0" bIns="0" rtlCol="0" anchor="ctr"/>
          <a:lstStyle/>
          <a:p>
            <a:pPr marL="0" indent="0" algn="ctr">
              <a:buNone/>
            </a:pPr>
            <a:r>
              <a:rPr lang="en-US" sz="1000" dirty="0">
                <a:solidFill>
                  <a:srgbClr val="F9FAFB"/>
                </a:solidFill>
                <a:latin typeface="Calibri" pitchFamily="34" charset="0"/>
                <a:ea typeface="Calibri" pitchFamily="34" charset="-122"/>
                <a:cs typeface="Calibri" pitchFamily="34" charset="-120"/>
              </a:rPr>
              <a:t>top customers</a:t>
            </a:r>
            <a:endParaRPr lang="en-US" sz="1000" dirty="0"/>
          </a:p>
        </p:txBody>
      </p:sp>
      <p:sp>
        <p:nvSpPr>
          <p:cNvPr id="12" name="Text 10"/>
          <p:cNvSpPr/>
          <p:nvPr/>
        </p:nvSpPr>
        <p:spPr>
          <a:xfrm>
            <a:off x="457200" y="2624328"/>
            <a:ext cx="3749040" cy="182880"/>
          </a:xfrm>
          <a:prstGeom prst="rect">
            <a:avLst/>
          </a:prstGeom>
          <a:noFill/>
          <a:ln/>
        </p:spPr>
        <p:txBody>
          <a:bodyPr wrap="square" lIns="0" tIns="0" rIns="0" bIns="0" rtlCol="0" anchor="ctr"/>
          <a:lstStyle/>
          <a:p>
            <a:pPr marL="0" indent="0" algn="ctr">
              <a:buNone/>
            </a:pPr>
            <a:r>
              <a:rPr lang="en-US" sz="1000" dirty="0">
                <a:solidFill>
                  <a:srgbClr val="F9FAFB"/>
                </a:solidFill>
                <a:latin typeface="Calibri" pitchFamily="34" charset="0"/>
                <a:ea typeface="Calibri" pitchFamily="34" charset="-122"/>
                <a:cs typeface="Calibri" pitchFamily="34" charset="-120"/>
              </a:rPr>
              <a:t>cancelled orders</a:t>
            </a:r>
            <a:endParaRPr lang="en-US" sz="1000" dirty="0"/>
          </a:p>
        </p:txBody>
      </p:sp>
      <p:sp>
        <p:nvSpPr>
          <p:cNvPr id="13" name="Shape 11"/>
          <p:cNvSpPr/>
          <p:nvPr/>
        </p:nvSpPr>
        <p:spPr>
          <a:xfrm>
            <a:off x="4315968" y="2148840"/>
            <a:ext cx="0" cy="640080"/>
          </a:xfrm>
          <a:prstGeom prst="line">
            <a:avLst/>
          </a:prstGeom>
          <a:noFill/>
          <a:ln w="25400">
            <a:solidFill>
              <a:srgbClr val="10B981"/>
            </a:solidFill>
            <a:prstDash val="solid"/>
          </a:ln>
        </p:spPr>
        <p:txBody>
          <a:bodyPr/>
          <a:lstStyle/>
          <a:p>
            <a:endParaRPr lang="en-US"/>
          </a:p>
        </p:txBody>
      </p:sp>
      <p:sp>
        <p:nvSpPr>
          <p:cNvPr id="14" name="Text 12"/>
          <p:cNvSpPr/>
          <p:nvPr/>
        </p:nvSpPr>
        <p:spPr>
          <a:xfrm>
            <a:off x="4206240" y="2286000"/>
            <a:ext cx="365760" cy="365760"/>
          </a:xfrm>
          <a:prstGeom prst="rect">
            <a:avLst/>
          </a:prstGeom>
          <a:noFill/>
          <a:ln/>
        </p:spPr>
        <p:txBody>
          <a:bodyPr wrap="square" lIns="0" tIns="0" rIns="0" bIns="0" rtlCol="0" anchor="ctr"/>
          <a:lstStyle/>
          <a:p>
            <a:pPr marL="0" indent="0" algn="ctr">
              <a:buNone/>
            </a:pPr>
            <a:r>
              <a:rPr lang="en-US" sz="2200" b="1" dirty="0">
                <a:solidFill>
                  <a:srgbClr val="EF4444"/>
                </a:solidFill>
              </a:rPr>
              <a:t>?</a:t>
            </a:r>
            <a:endParaRPr lang="en-US" sz="2200" dirty="0"/>
          </a:p>
        </p:txBody>
      </p:sp>
      <p:sp>
        <p:nvSpPr>
          <p:cNvPr id="15" name="Shape 13"/>
          <p:cNvSpPr/>
          <p:nvPr/>
        </p:nvSpPr>
        <p:spPr>
          <a:xfrm>
            <a:off x="4663440" y="1600200"/>
            <a:ext cx="4114800" cy="1280160"/>
          </a:xfrm>
          <a:prstGeom prst="roundRect">
            <a:avLst>
              <a:gd name="adj" fmla="val 8571"/>
            </a:avLst>
          </a:prstGeom>
          <a:solidFill>
            <a:srgbClr val="0A0A1A"/>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6" name="Text 14"/>
          <p:cNvSpPr/>
          <p:nvPr/>
        </p:nvSpPr>
        <p:spPr>
          <a:xfrm>
            <a:off x="4754880" y="1627632"/>
            <a:ext cx="3931920" cy="320040"/>
          </a:xfrm>
          <a:prstGeom prst="rect">
            <a:avLst/>
          </a:prstGeom>
          <a:noFill/>
          <a:ln/>
        </p:spPr>
        <p:txBody>
          <a:bodyPr wrap="square" lIns="0" tIns="0" rIns="0" bIns="0"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What the DB has 🗄️</a:t>
            </a:r>
            <a:endParaRPr lang="en-US" sz="1100" dirty="0"/>
          </a:p>
        </p:txBody>
      </p:sp>
      <p:sp>
        <p:nvSpPr>
          <p:cNvPr id="17" name="Text 15"/>
          <p:cNvSpPr/>
          <p:nvPr/>
        </p:nvSpPr>
        <p:spPr>
          <a:xfrm>
            <a:off x="4754880" y="1993392"/>
            <a:ext cx="3931920" cy="182880"/>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AMT_NET_REV_USD</a:t>
            </a:r>
            <a:endParaRPr lang="en-US" sz="900" dirty="0"/>
          </a:p>
        </p:txBody>
      </p:sp>
      <p:sp>
        <p:nvSpPr>
          <p:cNvPr id="18" name="Text 16"/>
          <p:cNvSpPr/>
          <p:nvPr/>
        </p:nvSpPr>
        <p:spPr>
          <a:xfrm>
            <a:off x="4754880" y="2203704"/>
            <a:ext cx="3931920" cy="182880"/>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DT_QRTR_END_CD</a:t>
            </a:r>
            <a:endParaRPr lang="en-US" sz="900" dirty="0"/>
          </a:p>
        </p:txBody>
      </p:sp>
      <p:sp>
        <p:nvSpPr>
          <p:cNvPr id="19" name="Text 17"/>
          <p:cNvSpPr/>
          <p:nvPr/>
        </p:nvSpPr>
        <p:spPr>
          <a:xfrm>
            <a:off x="4754880" y="2414016"/>
            <a:ext cx="3931920" cy="182880"/>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CUST_RANK_TYP_ID</a:t>
            </a:r>
            <a:endParaRPr lang="en-US" sz="900" dirty="0"/>
          </a:p>
        </p:txBody>
      </p:sp>
      <p:sp>
        <p:nvSpPr>
          <p:cNvPr id="20" name="Text 18"/>
          <p:cNvSpPr/>
          <p:nvPr/>
        </p:nvSpPr>
        <p:spPr>
          <a:xfrm>
            <a:off x="4754880" y="2624328"/>
            <a:ext cx="3931920" cy="182880"/>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ORD_STAT_CNCL_FLG</a:t>
            </a:r>
            <a:endParaRPr lang="en-US" sz="900" dirty="0"/>
          </a:p>
        </p:txBody>
      </p:sp>
      <p:sp>
        <p:nvSpPr>
          <p:cNvPr id="21" name="Shape 19"/>
          <p:cNvSpPr/>
          <p:nvPr/>
        </p:nvSpPr>
        <p:spPr>
          <a:xfrm>
            <a:off x="365760" y="3017520"/>
            <a:ext cx="8412480" cy="1920240"/>
          </a:xfrm>
          <a:prstGeom prst="roundRect">
            <a:avLst>
              <a:gd name="adj" fmla="val 5714"/>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2" name="Text 20"/>
          <p:cNvSpPr/>
          <p:nvPr/>
        </p:nvSpPr>
        <p:spPr>
          <a:xfrm>
            <a:off x="548640" y="3044952"/>
            <a:ext cx="4572000" cy="347472"/>
          </a:xfrm>
          <a:prstGeom prst="rect">
            <a:avLst/>
          </a:prstGeom>
          <a:noFill/>
          <a:ln/>
        </p:spPr>
        <p:txBody>
          <a:bodyPr wrap="square" lIns="0" tIns="0" rIns="0" bIns="0" rtlCol="0" anchor="ctr"/>
          <a:lstStyle/>
          <a:p>
            <a:pPr marL="0" indent="0" algn="l">
              <a:buNone/>
            </a:pPr>
            <a:r>
              <a:rPr lang="en-US" sz="1300" b="1" dirty="0">
                <a:solidFill>
                  <a:srgbClr val="10B981"/>
                </a:solidFill>
                <a:latin typeface="Calibri" pitchFamily="34" charset="0"/>
                <a:ea typeface="Calibri" pitchFamily="34" charset="-122"/>
                <a:cs typeface="Calibri" pitchFamily="34" charset="-120"/>
              </a:rPr>
              <a:t>Schema Linking Solution Stack</a:t>
            </a:r>
            <a:endParaRPr lang="en-US" sz="1300" dirty="0"/>
          </a:p>
        </p:txBody>
      </p:sp>
      <p:sp>
        <p:nvSpPr>
          <p:cNvPr id="23" name="Shape 21"/>
          <p:cNvSpPr/>
          <p:nvPr/>
        </p:nvSpPr>
        <p:spPr>
          <a:xfrm>
            <a:off x="548640" y="3474720"/>
            <a:ext cx="3840480" cy="502920"/>
          </a:xfrm>
          <a:prstGeom prst="roundRect">
            <a:avLst>
              <a:gd name="adj" fmla="val 14545"/>
            </a:avLst>
          </a:prstGeom>
          <a:solidFill>
            <a:srgbClr val="00D4FF">
              <a:alpha val="60000"/>
            </a:srgbClr>
          </a:solidFill>
          <a:ln w="12700">
            <a:solidFill>
              <a:srgbClr val="00D4FF"/>
            </a:solidFill>
            <a:prstDash val="solid"/>
          </a:ln>
        </p:spPr>
        <p:txBody>
          <a:bodyPr/>
          <a:lstStyle/>
          <a:p>
            <a:endParaRPr lang="en-US"/>
          </a:p>
        </p:txBody>
      </p:sp>
      <p:sp>
        <p:nvSpPr>
          <p:cNvPr id="24" name="Text 22"/>
          <p:cNvSpPr/>
          <p:nvPr/>
        </p:nvSpPr>
        <p:spPr>
          <a:xfrm>
            <a:off x="658368" y="3474720"/>
            <a:ext cx="3657600" cy="502920"/>
          </a:xfrm>
          <a:prstGeom prst="rect">
            <a:avLst/>
          </a:prstGeom>
          <a:noFill/>
          <a:ln/>
        </p:spPr>
        <p:txBody>
          <a:bodyPr wrap="square" lIns="0" tIns="0" rIns="0" bIns="0" rtlCol="0" anchor="ctr"/>
          <a:lstStyle/>
          <a:p>
            <a:pPr marL="0" indent="0" algn="l">
              <a:buNone/>
            </a:pPr>
            <a:r>
              <a:rPr lang="en-US" sz="1000" b="1" dirty="0">
                <a:solidFill>
                  <a:srgbClr val="F9FAFB"/>
                </a:solidFill>
                <a:latin typeface="Calibri" pitchFamily="34" charset="0"/>
                <a:ea typeface="Calibri" pitchFamily="34" charset="-122"/>
                <a:cs typeface="Calibri" pitchFamily="34" charset="-120"/>
              </a:rPr>
              <a:t>Hybrid Similarity  </a:t>
            </a:r>
            <a:r>
              <a:rPr lang="en-US" sz="1000" dirty="0">
                <a:solidFill>
                  <a:srgbClr val="9CA3AF"/>
                </a:solidFill>
                <a:latin typeface="Calibri" pitchFamily="34" charset="0"/>
                <a:ea typeface="Calibri" pitchFamily="34" charset="-122"/>
                <a:cs typeface="Calibri" pitchFamily="34" charset="-120"/>
              </a:rPr>
              <a:t>Token/name/description/sample/nested-key scoring before LLM pruning</a:t>
            </a:r>
            <a:endParaRPr lang="en-US" sz="1000" dirty="0"/>
          </a:p>
        </p:txBody>
      </p:sp>
      <p:sp>
        <p:nvSpPr>
          <p:cNvPr id="25" name="Shape 23"/>
          <p:cNvSpPr/>
          <p:nvPr/>
        </p:nvSpPr>
        <p:spPr>
          <a:xfrm>
            <a:off x="4663440" y="3474720"/>
            <a:ext cx="3840480" cy="502920"/>
          </a:xfrm>
          <a:prstGeom prst="roundRect">
            <a:avLst>
              <a:gd name="adj" fmla="val 14545"/>
            </a:avLst>
          </a:prstGeom>
          <a:solidFill>
            <a:srgbClr val="7C3AED">
              <a:alpha val="60000"/>
            </a:srgbClr>
          </a:solidFill>
          <a:ln w="12700">
            <a:solidFill>
              <a:srgbClr val="7C3AED"/>
            </a:solidFill>
            <a:prstDash val="solid"/>
          </a:ln>
        </p:spPr>
        <p:txBody>
          <a:bodyPr/>
          <a:lstStyle/>
          <a:p>
            <a:endParaRPr lang="en-US"/>
          </a:p>
        </p:txBody>
      </p:sp>
      <p:sp>
        <p:nvSpPr>
          <p:cNvPr id="26" name="Text 24"/>
          <p:cNvSpPr/>
          <p:nvPr/>
        </p:nvSpPr>
        <p:spPr>
          <a:xfrm>
            <a:off x="4773168" y="3474720"/>
            <a:ext cx="3657600" cy="502920"/>
          </a:xfrm>
          <a:prstGeom prst="rect">
            <a:avLst/>
          </a:prstGeom>
          <a:noFill/>
          <a:ln/>
        </p:spPr>
        <p:txBody>
          <a:bodyPr wrap="square" lIns="0" tIns="0" rIns="0" bIns="0" rtlCol="0" anchor="ctr"/>
          <a:lstStyle/>
          <a:p>
            <a:pPr marL="0" indent="0" algn="l">
              <a:buNone/>
            </a:pPr>
            <a:r>
              <a:rPr lang="en-US" sz="1000" b="1" dirty="0">
                <a:solidFill>
                  <a:srgbClr val="F9FAFB"/>
                </a:solidFill>
                <a:latin typeface="Calibri" pitchFamily="34" charset="0"/>
                <a:ea typeface="Calibri" pitchFamily="34" charset="-122"/>
                <a:cs typeface="Calibri" pitchFamily="34" charset="-120"/>
              </a:rPr>
              <a:t>Value Evidence  </a:t>
            </a:r>
            <a:r>
              <a:rPr lang="en-US" sz="1000" dirty="0">
                <a:solidFill>
                  <a:srgbClr val="9CA3AF"/>
                </a:solidFill>
                <a:latin typeface="Calibri" pitchFamily="34" charset="0"/>
                <a:ea typeface="Calibri" pitchFamily="34" charset="-122"/>
                <a:cs typeface="Calibri" pitchFamily="34" charset="-120"/>
              </a:rPr>
              <a:t>Sample values + live profiler probes reveal real filter literals</a:t>
            </a:r>
            <a:endParaRPr lang="en-US" sz="1000" dirty="0"/>
          </a:p>
        </p:txBody>
      </p:sp>
      <p:sp>
        <p:nvSpPr>
          <p:cNvPr id="27" name="Shape 25"/>
          <p:cNvSpPr/>
          <p:nvPr/>
        </p:nvSpPr>
        <p:spPr>
          <a:xfrm>
            <a:off x="548640" y="4096512"/>
            <a:ext cx="3840480" cy="502920"/>
          </a:xfrm>
          <a:prstGeom prst="roundRect">
            <a:avLst>
              <a:gd name="adj" fmla="val 14545"/>
            </a:avLst>
          </a:prstGeom>
          <a:solidFill>
            <a:srgbClr val="10B981">
              <a:alpha val="60000"/>
            </a:srgbClr>
          </a:solidFill>
          <a:ln w="12700">
            <a:solidFill>
              <a:srgbClr val="10B981"/>
            </a:solidFill>
            <a:prstDash val="solid"/>
          </a:ln>
        </p:spPr>
        <p:txBody>
          <a:bodyPr/>
          <a:lstStyle/>
          <a:p>
            <a:endParaRPr lang="en-US"/>
          </a:p>
        </p:txBody>
      </p:sp>
      <p:sp>
        <p:nvSpPr>
          <p:cNvPr id="28" name="Text 26"/>
          <p:cNvSpPr/>
          <p:nvPr/>
        </p:nvSpPr>
        <p:spPr>
          <a:xfrm>
            <a:off x="658368" y="4096512"/>
            <a:ext cx="3657600" cy="502920"/>
          </a:xfrm>
          <a:prstGeom prst="rect">
            <a:avLst/>
          </a:prstGeom>
          <a:noFill/>
          <a:ln/>
        </p:spPr>
        <p:txBody>
          <a:bodyPr wrap="square" lIns="0" tIns="0" rIns="0" bIns="0" rtlCol="0" anchor="ctr"/>
          <a:lstStyle/>
          <a:p>
            <a:pPr marL="0" indent="0" algn="l">
              <a:buNone/>
            </a:pPr>
            <a:r>
              <a:rPr lang="en-US" sz="1000" b="1" dirty="0">
                <a:solidFill>
                  <a:srgbClr val="F9FAFB"/>
                </a:solidFill>
                <a:latin typeface="Calibri" pitchFamily="34" charset="0"/>
                <a:ea typeface="Calibri" pitchFamily="34" charset="-122"/>
                <a:cs typeface="Calibri" pitchFamily="34" charset="-120"/>
              </a:rPr>
              <a:t>Structured Linking  </a:t>
            </a:r>
            <a:r>
              <a:rPr lang="en-US" sz="1000" dirty="0">
                <a:solidFill>
                  <a:srgbClr val="9CA3AF"/>
                </a:solidFill>
                <a:latin typeface="Calibri" pitchFamily="34" charset="0"/>
                <a:ea typeface="Calibri" pitchFamily="34" charset="-122"/>
                <a:cs typeface="Calibri" pitchFamily="34" charset="-120"/>
              </a:rPr>
              <a:t>SchemaLinker returns selected tables, columns, joins, and value_mappings</a:t>
            </a:r>
            <a:endParaRPr lang="en-US" sz="1000" dirty="0"/>
          </a:p>
        </p:txBody>
      </p:sp>
      <p:sp>
        <p:nvSpPr>
          <p:cNvPr id="29" name="Shape 27"/>
          <p:cNvSpPr/>
          <p:nvPr/>
        </p:nvSpPr>
        <p:spPr>
          <a:xfrm>
            <a:off x="4663440" y="4096512"/>
            <a:ext cx="3840480" cy="502920"/>
          </a:xfrm>
          <a:prstGeom prst="roundRect">
            <a:avLst>
              <a:gd name="adj" fmla="val 14545"/>
            </a:avLst>
          </a:prstGeom>
          <a:solidFill>
            <a:srgbClr val="F59E0B">
              <a:alpha val="60000"/>
            </a:srgbClr>
          </a:solidFill>
          <a:ln w="12700">
            <a:solidFill>
              <a:srgbClr val="F59E0B"/>
            </a:solidFill>
            <a:prstDash val="solid"/>
          </a:ln>
        </p:spPr>
        <p:txBody>
          <a:bodyPr/>
          <a:lstStyle/>
          <a:p>
            <a:endParaRPr lang="en-US"/>
          </a:p>
        </p:txBody>
      </p:sp>
      <p:sp>
        <p:nvSpPr>
          <p:cNvPr id="30" name="Text 28"/>
          <p:cNvSpPr/>
          <p:nvPr/>
        </p:nvSpPr>
        <p:spPr>
          <a:xfrm>
            <a:off x="4773168" y="4096512"/>
            <a:ext cx="3657600" cy="502920"/>
          </a:xfrm>
          <a:prstGeom prst="rect">
            <a:avLst/>
          </a:prstGeom>
          <a:noFill/>
          <a:ln/>
        </p:spPr>
        <p:txBody>
          <a:bodyPr wrap="square" lIns="0" tIns="0" rIns="0" bIns="0" rtlCol="0" anchor="ctr"/>
          <a:lstStyle/>
          <a:p>
            <a:pPr marL="0" indent="0" algn="l">
              <a:buNone/>
            </a:pPr>
            <a:r>
              <a:rPr lang="en-US" sz="1000" b="1" dirty="0">
                <a:solidFill>
                  <a:srgbClr val="F9FAFB"/>
                </a:solidFill>
                <a:latin typeface="Calibri" pitchFamily="34" charset="0"/>
                <a:ea typeface="Calibri" pitchFamily="34" charset="-122"/>
                <a:cs typeface="Calibri" pitchFamily="34" charset="-120"/>
              </a:rPr>
              <a:t>Value Anchoring  </a:t>
            </a:r>
            <a:r>
              <a:rPr lang="en-US" sz="1000" dirty="0">
                <a:solidFill>
                  <a:srgbClr val="9CA3AF"/>
                </a:solidFill>
                <a:latin typeface="Calibri" pitchFamily="34" charset="0"/>
                <a:ea typeface="Calibri" pitchFamily="34" charset="-122"/>
                <a:cs typeface="Calibri" pitchFamily="34" charset="-120"/>
              </a:rPr>
              <a:t>Generator and Corrector receive mappings, so literals stay grounded</a:t>
            </a:r>
            <a:endParaRPr lang="en-US" sz="1000" dirty="0"/>
          </a:p>
        </p:txBody>
      </p:sp>
      <p:pic>
        <p:nvPicPr>
          <p:cNvPr id="31" name="Picture 30">
            <a:extLst>
              <a:ext uri="{FF2B5EF4-FFF2-40B4-BE49-F238E27FC236}">
                <a16:creationId xmlns:a16="http://schemas.microsoft.com/office/drawing/2014/main" id="{ADA5CB50-361F-D450-86A8-D695B29FC767}"/>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oundRect">
            <a:avLst>
              <a:gd name="adj" fmla="val 25000"/>
            </a:avLst>
          </a:prstGeom>
          <a:solidFill>
            <a:srgbClr val="00D4FF">
              <a:alpha val="80000"/>
            </a:srgbClr>
          </a:solidFill>
          <a:ln w="12700">
            <a:solidFill>
              <a:srgbClr val="00D4FF"/>
            </a:solidFill>
            <a:prstDash val="solid"/>
          </a:ln>
        </p:spPr>
        <p:txBody>
          <a:bodyPr/>
          <a:lstStyle/>
          <a:p>
            <a:endParaRPr lang="en-US"/>
          </a:p>
        </p:txBody>
      </p:sp>
      <p:sp>
        <p:nvSpPr>
          <p:cNvPr id="3" name="Text 1"/>
          <p:cNvSpPr/>
          <p:nvPr/>
        </p:nvSpPr>
        <p:spPr>
          <a:xfrm>
            <a:off x="365760" y="201168"/>
            <a:ext cx="2011680" cy="292608"/>
          </a:xfrm>
          <a:prstGeom prst="rect">
            <a:avLst/>
          </a:prstGeom>
          <a:noFill/>
          <a:ln/>
        </p:spPr>
        <p:txBody>
          <a:bodyPr wrap="square" lIns="0" tIns="0" rIns="0" bIns="0" rtlCol="0" anchor="ctr"/>
          <a:lstStyle/>
          <a:p>
            <a:pPr marL="0" indent="0" algn="ctr">
              <a:buNone/>
            </a:pPr>
            <a:r>
              <a:rPr lang="en-US" sz="800" b="1" kern="0" spc="200" dirty="0">
                <a:solidFill>
                  <a:srgbClr val="F9FAFB"/>
                </a:solidFill>
              </a:rPr>
              <a:t>SECTION 5 —SQL GENERATOR</a:t>
            </a:r>
            <a:endParaRPr lang="en-US" sz="800" dirty="0"/>
          </a:p>
        </p:txBody>
      </p:sp>
      <p:sp>
        <p:nvSpPr>
          <p:cNvPr id="4" name="Text 2"/>
          <p:cNvSpPr/>
          <p:nvPr/>
        </p:nvSpPr>
        <p:spPr>
          <a:xfrm>
            <a:off x="365760" y="594360"/>
            <a:ext cx="8412480" cy="594360"/>
          </a:xfrm>
          <a:prstGeom prst="rect">
            <a:avLst/>
          </a:prstGeom>
          <a:noFill/>
          <a:ln/>
        </p:spPr>
        <p:txBody>
          <a:bodyPr wrap="square" lIns="0" tIns="0" rIns="0" bIns="0" rtlCol="0" anchor="ctr"/>
          <a:lstStyle/>
          <a:p>
            <a:pPr marL="0" indent="0" algn="l">
              <a:buNone/>
            </a:pPr>
            <a:r>
              <a:rPr lang="en-US" sz="3000" b="1" dirty="0">
                <a:solidFill>
                  <a:srgbClr val="F9FAFB"/>
                </a:solidFill>
                <a:latin typeface="Calibri" pitchFamily="34" charset="0"/>
                <a:ea typeface="Calibri" pitchFamily="34" charset="-122"/>
                <a:cs typeface="Calibri" pitchFamily="34" charset="-120"/>
              </a:rPr>
              <a:t>Snowflake Is Not Standard SQL</a:t>
            </a:r>
            <a:endParaRPr lang="en-US" sz="3000" dirty="0"/>
          </a:p>
        </p:txBody>
      </p:sp>
      <p:sp>
        <p:nvSpPr>
          <p:cNvPr id="5" name="Text 3"/>
          <p:cNvSpPr/>
          <p:nvPr/>
        </p:nvSpPr>
        <p:spPr>
          <a:xfrm>
            <a:off x="365760" y="1143000"/>
            <a:ext cx="8412480" cy="32004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VARIANT, FLATTEN, QUALIFY, FQN — welcome to the special zone 🎪</a:t>
            </a:r>
            <a:endParaRPr lang="en-US" sz="1300" dirty="0"/>
          </a:p>
        </p:txBody>
      </p:sp>
      <p:sp>
        <p:nvSpPr>
          <p:cNvPr id="6" name="Shape 4"/>
          <p:cNvSpPr/>
          <p:nvPr/>
        </p:nvSpPr>
        <p:spPr>
          <a:xfrm>
            <a:off x="365760" y="1417320"/>
            <a:ext cx="8412480" cy="36576"/>
          </a:xfrm>
          <a:prstGeom prst="rect">
            <a:avLst/>
          </a:prstGeom>
          <a:solidFill>
            <a:srgbClr val="00D4FF"/>
          </a:solidFill>
          <a:ln w="12700">
            <a:solidFill>
              <a:srgbClr val="00D4FF"/>
            </a:solidFill>
            <a:prstDash val="solid"/>
          </a:ln>
        </p:spPr>
        <p:txBody>
          <a:bodyPr/>
          <a:lstStyle/>
          <a:p>
            <a:endParaRPr lang="en-US"/>
          </a:p>
        </p:txBody>
      </p:sp>
      <p:sp>
        <p:nvSpPr>
          <p:cNvPr id="7" name="Shape 5"/>
          <p:cNvSpPr/>
          <p:nvPr/>
        </p:nvSpPr>
        <p:spPr>
          <a:xfrm>
            <a:off x="365760" y="1600200"/>
            <a:ext cx="4114800" cy="868680"/>
          </a:xfrm>
          <a:prstGeom prst="roundRect">
            <a:avLst>
              <a:gd name="adj" fmla="val 1263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8" name="Shape 6"/>
          <p:cNvSpPr/>
          <p:nvPr/>
        </p:nvSpPr>
        <p:spPr>
          <a:xfrm>
            <a:off x="365760" y="1600200"/>
            <a:ext cx="73152" cy="868680"/>
          </a:xfrm>
          <a:prstGeom prst="rect">
            <a:avLst/>
          </a:prstGeom>
          <a:solidFill>
            <a:srgbClr val="00D4FF"/>
          </a:solidFill>
          <a:ln w="12700">
            <a:solidFill>
              <a:srgbClr val="00D4FF"/>
            </a:solidFill>
            <a:prstDash val="solid"/>
          </a:ln>
        </p:spPr>
        <p:txBody>
          <a:bodyPr/>
          <a:lstStyle/>
          <a:p>
            <a:endParaRPr lang="en-US"/>
          </a:p>
        </p:txBody>
      </p:sp>
      <p:sp>
        <p:nvSpPr>
          <p:cNvPr id="9" name="Text 7"/>
          <p:cNvSpPr/>
          <p:nvPr/>
        </p:nvSpPr>
        <p:spPr>
          <a:xfrm>
            <a:off x="548640" y="1655064"/>
            <a:ext cx="3749040" cy="274320"/>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VARIANT / JSON columns</a:t>
            </a:r>
            <a:endParaRPr lang="en-US" sz="1100" dirty="0"/>
          </a:p>
        </p:txBody>
      </p:sp>
      <p:sp>
        <p:nvSpPr>
          <p:cNvPr id="10" name="Text 8"/>
          <p:cNvSpPr/>
          <p:nvPr/>
        </p:nvSpPr>
        <p:spPr>
          <a:xfrm>
            <a:off x="548640" y="1984248"/>
            <a:ext cx="3749040" cy="38404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Fix: PARSE_JSON() + colon notation + TRY_CAST</a:t>
            </a:r>
            <a:endParaRPr lang="en-US" sz="900" dirty="0"/>
          </a:p>
        </p:txBody>
      </p:sp>
      <p:sp>
        <p:nvSpPr>
          <p:cNvPr id="11" name="Shape 9"/>
          <p:cNvSpPr/>
          <p:nvPr/>
        </p:nvSpPr>
        <p:spPr>
          <a:xfrm>
            <a:off x="4709160" y="1600200"/>
            <a:ext cx="4114800" cy="868680"/>
          </a:xfrm>
          <a:prstGeom prst="roundRect">
            <a:avLst>
              <a:gd name="adj" fmla="val 1263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2" name="Shape 10"/>
          <p:cNvSpPr/>
          <p:nvPr/>
        </p:nvSpPr>
        <p:spPr>
          <a:xfrm>
            <a:off x="4709160" y="1600200"/>
            <a:ext cx="73152" cy="868680"/>
          </a:xfrm>
          <a:prstGeom prst="rect">
            <a:avLst/>
          </a:prstGeom>
          <a:solidFill>
            <a:srgbClr val="7C3AED"/>
          </a:solidFill>
          <a:ln w="12700">
            <a:solidFill>
              <a:srgbClr val="7C3AED"/>
            </a:solidFill>
            <a:prstDash val="solid"/>
          </a:ln>
        </p:spPr>
        <p:txBody>
          <a:bodyPr/>
          <a:lstStyle/>
          <a:p>
            <a:endParaRPr lang="en-US"/>
          </a:p>
        </p:txBody>
      </p:sp>
      <p:sp>
        <p:nvSpPr>
          <p:cNvPr id="13" name="Text 11"/>
          <p:cNvSpPr/>
          <p:nvPr/>
        </p:nvSpPr>
        <p:spPr>
          <a:xfrm>
            <a:off x="4892040" y="1655064"/>
            <a:ext cx="3749040" cy="274320"/>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Semi-structured FLATTEN</a:t>
            </a:r>
            <a:endParaRPr lang="en-US" sz="1100" dirty="0"/>
          </a:p>
        </p:txBody>
      </p:sp>
      <p:sp>
        <p:nvSpPr>
          <p:cNvPr id="14" name="Text 12"/>
          <p:cNvSpPr/>
          <p:nvPr/>
        </p:nvSpPr>
        <p:spPr>
          <a:xfrm>
            <a:off x="4892040" y="1984248"/>
            <a:ext cx="3749040" cy="38404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Fix: LATERAL FLATTEN(INPUT =&gt; col:path) syntax</a:t>
            </a:r>
            <a:endParaRPr lang="en-US" sz="900" dirty="0"/>
          </a:p>
        </p:txBody>
      </p:sp>
      <p:sp>
        <p:nvSpPr>
          <p:cNvPr id="15" name="Shape 13"/>
          <p:cNvSpPr/>
          <p:nvPr/>
        </p:nvSpPr>
        <p:spPr>
          <a:xfrm>
            <a:off x="365760" y="2587752"/>
            <a:ext cx="4114800" cy="868680"/>
          </a:xfrm>
          <a:prstGeom prst="roundRect">
            <a:avLst>
              <a:gd name="adj" fmla="val 1263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6" name="Shape 14"/>
          <p:cNvSpPr/>
          <p:nvPr/>
        </p:nvSpPr>
        <p:spPr>
          <a:xfrm>
            <a:off x="365760" y="2587752"/>
            <a:ext cx="73152" cy="868680"/>
          </a:xfrm>
          <a:prstGeom prst="rect">
            <a:avLst/>
          </a:prstGeom>
          <a:solidFill>
            <a:srgbClr val="10B981"/>
          </a:solidFill>
          <a:ln w="12700">
            <a:solidFill>
              <a:srgbClr val="10B981"/>
            </a:solidFill>
            <a:prstDash val="solid"/>
          </a:ln>
        </p:spPr>
        <p:txBody>
          <a:bodyPr/>
          <a:lstStyle/>
          <a:p>
            <a:endParaRPr lang="en-US"/>
          </a:p>
        </p:txBody>
      </p:sp>
      <p:sp>
        <p:nvSpPr>
          <p:cNvPr id="17" name="Text 15"/>
          <p:cNvSpPr/>
          <p:nvPr/>
        </p:nvSpPr>
        <p:spPr>
          <a:xfrm>
            <a:off x="548640" y="2642616"/>
            <a:ext cx="3749040" cy="274320"/>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Timestamp precision</a:t>
            </a:r>
            <a:endParaRPr lang="en-US" sz="1100" dirty="0"/>
          </a:p>
        </p:txBody>
      </p:sp>
      <p:sp>
        <p:nvSpPr>
          <p:cNvPr id="18" name="Text 16"/>
          <p:cNvSpPr/>
          <p:nvPr/>
        </p:nvSpPr>
        <p:spPr>
          <a:xfrm>
            <a:off x="548640" y="2971800"/>
            <a:ext cx="3749040" cy="38404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Fix: CONVERT_TIMEZONE() + TO_TIMESTAMP_NTZ()</a:t>
            </a:r>
            <a:endParaRPr lang="en-US" sz="900" dirty="0"/>
          </a:p>
        </p:txBody>
      </p:sp>
      <p:sp>
        <p:nvSpPr>
          <p:cNvPr id="19" name="Shape 17"/>
          <p:cNvSpPr/>
          <p:nvPr/>
        </p:nvSpPr>
        <p:spPr>
          <a:xfrm>
            <a:off x="4709160" y="2587752"/>
            <a:ext cx="4114800" cy="868680"/>
          </a:xfrm>
          <a:prstGeom prst="roundRect">
            <a:avLst>
              <a:gd name="adj" fmla="val 1263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0" name="Shape 18"/>
          <p:cNvSpPr/>
          <p:nvPr/>
        </p:nvSpPr>
        <p:spPr>
          <a:xfrm>
            <a:off x="4709160" y="2587752"/>
            <a:ext cx="73152" cy="868680"/>
          </a:xfrm>
          <a:prstGeom prst="rect">
            <a:avLst/>
          </a:prstGeom>
          <a:solidFill>
            <a:srgbClr val="F59E0B"/>
          </a:solidFill>
          <a:ln w="12700">
            <a:solidFill>
              <a:srgbClr val="F59E0B"/>
            </a:solidFill>
            <a:prstDash val="solid"/>
          </a:ln>
        </p:spPr>
        <p:txBody>
          <a:bodyPr/>
          <a:lstStyle/>
          <a:p>
            <a:endParaRPr lang="en-US"/>
          </a:p>
        </p:txBody>
      </p:sp>
      <p:sp>
        <p:nvSpPr>
          <p:cNvPr id="21" name="Text 19"/>
          <p:cNvSpPr/>
          <p:nvPr/>
        </p:nvSpPr>
        <p:spPr>
          <a:xfrm>
            <a:off x="4892040" y="2642616"/>
            <a:ext cx="3749040" cy="274320"/>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FQN enforcement</a:t>
            </a:r>
            <a:endParaRPr lang="en-US" sz="1100" dirty="0"/>
          </a:p>
        </p:txBody>
      </p:sp>
      <p:sp>
        <p:nvSpPr>
          <p:cNvPr id="22" name="Text 20"/>
          <p:cNvSpPr/>
          <p:nvPr/>
        </p:nvSpPr>
        <p:spPr>
          <a:xfrm>
            <a:off x="4892040" y="2971800"/>
            <a:ext cx="3749040" cy="38404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Fix: DB.SCHEMA.TABLE — partial refs fail silently</a:t>
            </a:r>
            <a:endParaRPr lang="en-US" sz="900" dirty="0"/>
          </a:p>
        </p:txBody>
      </p:sp>
      <p:sp>
        <p:nvSpPr>
          <p:cNvPr id="23" name="Shape 21"/>
          <p:cNvSpPr/>
          <p:nvPr/>
        </p:nvSpPr>
        <p:spPr>
          <a:xfrm>
            <a:off x="365760" y="3575304"/>
            <a:ext cx="4114800" cy="868680"/>
          </a:xfrm>
          <a:prstGeom prst="roundRect">
            <a:avLst>
              <a:gd name="adj" fmla="val 1263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4" name="Shape 22"/>
          <p:cNvSpPr/>
          <p:nvPr/>
        </p:nvSpPr>
        <p:spPr>
          <a:xfrm>
            <a:off x="365760" y="3575304"/>
            <a:ext cx="73152" cy="868680"/>
          </a:xfrm>
          <a:prstGeom prst="rect">
            <a:avLst/>
          </a:prstGeom>
          <a:solidFill>
            <a:srgbClr val="EF4444"/>
          </a:solidFill>
          <a:ln w="12700">
            <a:solidFill>
              <a:srgbClr val="EF4444"/>
            </a:solidFill>
            <a:prstDash val="solid"/>
          </a:ln>
        </p:spPr>
        <p:txBody>
          <a:bodyPr/>
          <a:lstStyle/>
          <a:p>
            <a:endParaRPr lang="en-US"/>
          </a:p>
        </p:txBody>
      </p:sp>
      <p:sp>
        <p:nvSpPr>
          <p:cNvPr id="25" name="Text 23"/>
          <p:cNvSpPr/>
          <p:nvPr/>
        </p:nvSpPr>
        <p:spPr>
          <a:xfrm>
            <a:off x="548640" y="3630168"/>
            <a:ext cx="3749040" cy="274320"/>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QUALIFY vs HAVING</a:t>
            </a:r>
            <a:endParaRPr lang="en-US" sz="1100" dirty="0"/>
          </a:p>
        </p:txBody>
      </p:sp>
      <p:sp>
        <p:nvSpPr>
          <p:cNvPr id="26" name="Text 24"/>
          <p:cNvSpPr/>
          <p:nvPr/>
        </p:nvSpPr>
        <p:spPr>
          <a:xfrm>
            <a:off x="548640" y="3959352"/>
            <a:ext cx="3749040" cy="38404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Fix: Window function filtering needs QUALIFY</a:t>
            </a:r>
            <a:endParaRPr lang="en-US" sz="900" dirty="0"/>
          </a:p>
        </p:txBody>
      </p:sp>
      <p:sp>
        <p:nvSpPr>
          <p:cNvPr id="27" name="Shape 25"/>
          <p:cNvSpPr/>
          <p:nvPr/>
        </p:nvSpPr>
        <p:spPr>
          <a:xfrm>
            <a:off x="4709160" y="3575304"/>
            <a:ext cx="4114800" cy="868680"/>
          </a:xfrm>
          <a:prstGeom prst="roundRect">
            <a:avLst>
              <a:gd name="adj" fmla="val 1263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8" name="Shape 26"/>
          <p:cNvSpPr/>
          <p:nvPr/>
        </p:nvSpPr>
        <p:spPr>
          <a:xfrm>
            <a:off x="4709160" y="3575304"/>
            <a:ext cx="73152" cy="868680"/>
          </a:xfrm>
          <a:prstGeom prst="rect">
            <a:avLst/>
          </a:prstGeom>
          <a:solidFill>
            <a:srgbClr val="00D4FF"/>
          </a:solidFill>
          <a:ln w="12700">
            <a:solidFill>
              <a:srgbClr val="00D4FF"/>
            </a:solidFill>
            <a:prstDash val="solid"/>
          </a:ln>
        </p:spPr>
        <p:txBody>
          <a:bodyPr/>
          <a:lstStyle/>
          <a:p>
            <a:endParaRPr lang="en-US"/>
          </a:p>
        </p:txBody>
      </p:sp>
      <p:sp>
        <p:nvSpPr>
          <p:cNvPr id="29" name="Text 27"/>
          <p:cNvSpPr/>
          <p:nvPr/>
        </p:nvSpPr>
        <p:spPr>
          <a:xfrm>
            <a:off x="4892040" y="3630168"/>
            <a:ext cx="3749040" cy="274320"/>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Case sensitivity</a:t>
            </a:r>
            <a:endParaRPr lang="en-US" sz="1100" dirty="0"/>
          </a:p>
        </p:txBody>
      </p:sp>
      <p:sp>
        <p:nvSpPr>
          <p:cNvPr id="30" name="Text 28"/>
          <p:cNvSpPr/>
          <p:nvPr/>
        </p:nvSpPr>
        <p:spPr>
          <a:xfrm>
            <a:off x="4892040" y="3959352"/>
            <a:ext cx="3749040" cy="38404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Fix: Double-quote identifiers with mixed case</a:t>
            </a:r>
            <a:endParaRPr lang="en-US" sz="900" dirty="0"/>
          </a:p>
        </p:txBody>
      </p:sp>
      <p:sp>
        <p:nvSpPr>
          <p:cNvPr id="31" name="Text 29"/>
          <p:cNvSpPr/>
          <p:nvPr/>
        </p:nvSpPr>
        <p:spPr>
          <a:xfrm>
            <a:off x="365760" y="4754880"/>
            <a:ext cx="8412480" cy="256032"/>
          </a:xfrm>
          <a:prstGeom prst="rect">
            <a:avLst/>
          </a:prstGeom>
          <a:noFill/>
          <a:ln/>
        </p:spPr>
        <p:txBody>
          <a:bodyPr wrap="square" lIns="0" tIns="0" rIns="0" bIns="0" rtlCol="0" anchor="ctr"/>
          <a:lstStyle/>
          <a:p>
            <a:pPr marL="0" indent="0" algn="ctr">
              <a:buNone/>
            </a:pPr>
            <a:r>
              <a:rPr lang="en-US" sz="1000" i="1" dirty="0">
                <a:solidFill>
                  <a:srgbClr val="9CA3AF"/>
                </a:solidFill>
                <a:latin typeface="Calibri" pitchFamily="34" charset="0"/>
                <a:ea typeface="Calibri" pitchFamily="34" charset="-122"/>
                <a:cs typeface="Calibri" pitchFamily="34" charset="-120"/>
              </a:rPr>
              <a:t>Our SQL Generator has a 200-line Snowflake dialect rules YAML. Every rule has a reason.</a:t>
            </a:r>
            <a:endParaRPr lang="en-US" sz="1000" dirty="0"/>
          </a:p>
        </p:txBody>
      </p:sp>
      <p:pic>
        <p:nvPicPr>
          <p:cNvPr id="32" name="Picture 31">
            <a:extLst>
              <a:ext uri="{FF2B5EF4-FFF2-40B4-BE49-F238E27FC236}">
                <a16:creationId xmlns:a16="http://schemas.microsoft.com/office/drawing/2014/main" id="{0BA80471-2A41-ECDB-77E6-C585F38FC10C}"/>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oundRect">
            <a:avLst>
              <a:gd name="adj" fmla="val 25000"/>
            </a:avLst>
          </a:prstGeom>
          <a:solidFill>
            <a:srgbClr val="F59E0B">
              <a:alpha val="80000"/>
            </a:srgbClr>
          </a:solidFill>
          <a:ln w="12700">
            <a:solidFill>
              <a:srgbClr val="F59E0B"/>
            </a:solidFill>
            <a:prstDash val="solid"/>
          </a:ln>
        </p:spPr>
        <p:txBody>
          <a:bodyPr/>
          <a:lstStyle/>
          <a:p>
            <a:endParaRPr lang="en-US"/>
          </a:p>
        </p:txBody>
      </p:sp>
      <p:sp>
        <p:nvSpPr>
          <p:cNvPr id="3" name="Text 1"/>
          <p:cNvSpPr/>
          <p:nvPr/>
        </p:nvSpPr>
        <p:spPr>
          <a:xfrm>
            <a:off x="365760" y="201168"/>
            <a:ext cx="2011680" cy="292608"/>
          </a:xfrm>
          <a:prstGeom prst="rect">
            <a:avLst/>
          </a:prstGeom>
          <a:noFill/>
          <a:ln/>
        </p:spPr>
        <p:txBody>
          <a:bodyPr wrap="square" lIns="0" tIns="0" rIns="0" bIns="0" rtlCol="0" anchor="ctr"/>
          <a:lstStyle/>
          <a:p>
            <a:pPr marL="0" indent="0" algn="ctr">
              <a:buNone/>
            </a:pPr>
            <a:r>
              <a:rPr lang="en-US" sz="800" b="1" kern="0" spc="200" dirty="0">
                <a:solidFill>
                  <a:srgbClr val="F9FAFB"/>
                </a:solidFill>
              </a:rPr>
              <a:t>SECTION 5 — CRITIC LAYER</a:t>
            </a:r>
            <a:endParaRPr lang="en-US" sz="800" dirty="0"/>
          </a:p>
        </p:txBody>
      </p:sp>
      <p:sp>
        <p:nvSpPr>
          <p:cNvPr id="4" name="Text 2"/>
          <p:cNvSpPr/>
          <p:nvPr/>
        </p:nvSpPr>
        <p:spPr>
          <a:xfrm>
            <a:off x="365760" y="594360"/>
            <a:ext cx="8412480" cy="594360"/>
          </a:xfrm>
          <a:prstGeom prst="rect">
            <a:avLst/>
          </a:prstGeom>
          <a:noFill/>
          <a:ln/>
        </p:spPr>
        <p:txBody>
          <a:bodyPr wrap="square" lIns="0" tIns="0" rIns="0" bIns="0" rtlCol="0" anchor="ctr"/>
          <a:lstStyle/>
          <a:p>
            <a:pPr marL="0" indent="0" algn="l">
              <a:buNone/>
            </a:pPr>
            <a:r>
              <a:rPr lang="en-US" sz="3000" b="1" dirty="0">
                <a:solidFill>
                  <a:srgbClr val="F9FAFB"/>
                </a:solidFill>
                <a:latin typeface="Calibri" pitchFamily="34" charset="0"/>
                <a:ea typeface="Calibri" pitchFamily="34" charset="-122"/>
                <a:cs typeface="Calibri" pitchFamily="34" charset="-120"/>
              </a:rPr>
              <a:t>Why Generation Alone Is Dangerous</a:t>
            </a:r>
            <a:endParaRPr lang="en-US" sz="3000" dirty="0"/>
          </a:p>
        </p:txBody>
      </p:sp>
      <p:sp>
        <p:nvSpPr>
          <p:cNvPr id="5" name="Text 3"/>
          <p:cNvSpPr/>
          <p:nvPr/>
        </p:nvSpPr>
        <p:spPr>
          <a:xfrm>
            <a:off x="365760" y="1143000"/>
            <a:ext cx="8412480" cy="32004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"The SQL ran successfully." ...and returned 0.0 for every patient's survival rate.</a:t>
            </a:r>
            <a:endParaRPr lang="en-US" sz="1300" dirty="0"/>
          </a:p>
        </p:txBody>
      </p:sp>
      <p:sp>
        <p:nvSpPr>
          <p:cNvPr id="6" name="Shape 4"/>
          <p:cNvSpPr/>
          <p:nvPr/>
        </p:nvSpPr>
        <p:spPr>
          <a:xfrm>
            <a:off x="365760" y="1417320"/>
            <a:ext cx="8412480" cy="36576"/>
          </a:xfrm>
          <a:prstGeom prst="rect">
            <a:avLst/>
          </a:prstGeom>
          <a:solidFill>
            <a:srgbClr val="F59E0B"/>
          </a:solidFill>
          <a:ln w="12700">
            <a:solidFill>
              <a:srgbClr val="F59E0B"/>
            </a:solidFill>
            <a:prstDash val="solid"/>
          </a:ln>
        </p:spPr>
        <p:txBody>
          <a:bodyPr/>
          <a:lstStyle/>
          <a:p>
            <a:endParaRPr lang="en-US"/>
          </a:p>
        </p:txBody>
      </p:sp>
      <p:sp>
        <p:nvSpPr>
          <p:cNvPr id="7" name="Shape 5"/>
          <p:cNvSpPr/>
          <p:nvPr/>
        </p:nvSpPr>
        <p:spPr>
          <a:xfrm>
            <a:off x="365760" y="1600200"/>
            <a:ext cx="2606040" cy="1005840"/>
          </a:xfrm>
          <a:prstGeom prst="roundRect">
            <a:avLst>
              <a:gd name="adj" fmla="val 10909"/>
            </a:avLst>
          </a:prstGeom>
          <a:solidFill>
            <a:srgbClr val="1A0A0A"/>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8" name="Text 6"/>
          <p:cNvSpPr/>
          <p:nvPr/>
        </p:nvSpPr>
        <p:spPr>
          <a:xfrm>
            <a:off x="475488" y="1673352"/>
            <a:ext cx="2377440" cy="320040"/>
          </a:xfrm>
          <a:prstGeom prst="rect">
            <a:avLst/>
          </a:prstGeom>
          <a:noFill/>
          <a:ln/>
        </p:spPr>
        <p:txBody>
          <a:bodyPr wrap="square" lIns="0" tIns="0" rIns="0" bIns="0" rtlCol="0" anchor="ctr"/>
          <a:lstStyle/>
          <a:p>
            <a:pPr marL="0" indent="0" algn="l">
              <a:buNone/>
            </a:pPr>
            <a:r>
              <a:rPr lang="en-US" sz="1100" b="1" dirty="0">
                <a:solidFill>
                  <a:srgbClr val="EF4444"/>
                </a:solidFill>
                <a:latin typeface="Calibri" pitchFamily="34" charset="0"/>
                <a:ea typeface="Calibri" pitchFamily="34" charset="-122"/>
                <a:cs typeface="Calibri" pitchFamily="34" charset="-120"/>
              </a:rPr>
              <a:t>Mathematical Invalid</a:t>
            </a:r>
            <a:endParaRPr lang="en-US" sz="1100" dirty="0"/>
          </a:p>
        </p:txBody>
      </p:sp>
      <p:sp>
        <p:nvSpPr>
          <p:cNvPr id="9" name="Text 7"/>
          <p:cNvSpPr/>
          <p:nvPr/>
        </p:nvSpPr>
        <p:spPr>
          <a:xfrm>
            <a:off x="475488" y="2057400"/>
            <a:ext cx="2377440" cy="457200"/>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AVG(COUNT(*)) — nonsensical nesting</a:t>
            </a:r>
            <a:endParaRPr lang="en-US" sz="900" dirty="0"/>
          </a:p>
        </p:txBody>
      </p:sp>
      <p:sp>
        <p:nvSpPr>
          <p:cNvPr id="10" name="Shape 8"/>
          <p:cNvSpPr/>
          <p:nvPr/>
        </p:nvSpPr>
        <p:spPr>
          <a:xfrm>
            <a:off x="3200400" y="1600200"/>
            <a:ext cx="2606040" cy="1005840"/>
          </a:xfrm>
          <a:prstGeom prst="roundRect">
            <a:avLst>
              <a:gd name="adj" fmla="val 10909"/>
            </a:avLst>
          </a:prstGeom>
          <a:solidFill>
            <a:srgbClr val="1A0A0A"/>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1" name="Text 9"/>
          <p:cNvSpPr/>
          <p:nvPr/>
        </p:nvSpPr>
        <p:spPr>
          <a:xfrm>
            <a:off x="3310128" y="1673352"/>
            <a:ext cx="2377440" cy="320040"/>
          </a:xfrm>
          <a:prstGeom prst="rect">
            <a:avLst/>
          </a:prstGeom>
          <a:noFill/>
          <a:ln/>
        </p:spPr>
        <p:txBody>
          <a:bodyPr wrap="square" lIns="0" tIns="0" rIns="0" bIns="0" rtlCol="0" anchor="ctr"/>
          <a:lstStyle/>
          <a:p>
            <a:pPr marL="0" indent="0" algn="l">
              <a:buNone/>
            </a:pPr>
            <a:r>
              <a:rPr lang="en-US" sz="1100" b="1" dirty="0">
                <a:solidFill>
                  <a:srgbClr val="F59E0B"/>
                </a:solidFill>
                <a:latin typeface="Calibri" pitchFamily="34" charset="0"/>
                <a:ea typeface="Calibri" pitchFamily="34" charset="-122"/>
                <a:cs typeface="Calibri" pitchFamily="34" charset="-120"/>
              </a:rPr>
              <a:t>Aggregation Failure</a:t>
            </a:r>
            <a:endParaRPr lang="en-US" sz="1100" dirty="0"/>
          </a:p>
        </p:txBody>
      </p:sp>
      <p:sp>
        <p:nvSpPr>
          <p:cNvPr id="12" name="Text 10"/>
          <p:cNvSpPr/>
          <p:nvPr/>
        </p:nvSpPr>
        <p:spPr>
          <a:xfrm>
            <a:off x="3310128" y="2057400"/>
            <a:ext cx="2377440" cy="457200"/>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SUM without GROUP BY — wrong grain</a:t>
            </a:r>
            <a:endParaRPr lang="en-US" sz="900" dirty="0"/>
          </a:p>
        </p:txBody>
      </p:sp>
      <p:sp>
        <p:nvSpPr>
          <p:cNvPr id="13" name="Shape 11"/>
          <p:cNvSpPr/>
          <p:nvPr/>
        </p:nvSpPr>
        <p:spPr>
          <a:xfrm>
            <a:off x="6035040" y="1600200"/>
            <a:ext cx="2606040" cy="1005840"/>
          </a:xfrm>
          <a:prstGeom prst="roundRect">
            <a:avLst>
              <a:gd name="adj" fmla="val 10909"/>
            </a:avLst>
          </a:prstGeom>
          <a:solidFill>
            <a:srgbClr val="1A0A0A"/>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4" name="Text 12"/>
          <p:cNvSpPr/>
          <p:nvPr/>
        </p:nvSpPr>
        <p:spPr>
          <a:xfrm>
            <a:off x="6144768" y="1673352"/>
            <a:ext cx="2377440" cy="320040"/>
          </a:xfrm>
          <a:prstGeom prst="rect">
            <a:avLst/>
          </a:prstGeom>
          <a:noFill/>
          <a:ln/>
        </p:spPr>
        <p:txBody>
          <a:bodyPr wrap="square" lIns="0" tIns="0" rIns="0" bIns="0" rtlCol="0" anchor="ctr"/>
          <a:lstStyle/>
          <a:p>
            <a:pPr marL="0" indent="0" algn="l">
              <a:buNone/>
            </a:pPr>
            <a:r>
              <a:rPr lang="en-US" sz="1100" b="1" dirty="0">
                <a:solidFill>
                  <a:srgbClr val="7C3AED"/>
                </a:solidFill>
                <a:latin typeface="Calibri" pitchFamily="34" charset="0"/>
                <a:ea typeface="Calibri" pitchFamily="34" charset="-122"/>
                <a:cs typeface="Calibri" pitchFamily="34" charset="-120"/>
              </a:rPr>
              <a:t>Logical Inconsistency</a:t>
            </a:r>
            <a:endParaRPr lang="en-US" sz="1100" dirty="0"/>
          </a:p>
        </p:txBody>
      </p:sp>
      <p:sp>
        <p:nvSpPr>
          <p:cNvPr id="15" name="Text 13"/>
          <p:cNvSpPr/>
          <p:nvPr/>
        </p:nvSpPr>
        <p:spPr>
          <a:xfrm>
            <a:off x="6144768" y="2057400"/>
            <a:ext cx="2377440" cy="457200"/>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WHERE date &lt; '2024' AND date &gt; '2025'</a:t>
            </a:r>
            <a:endParaRPr lang="en-US" sz="900" dirty="0"/>
          </a:p>
        </p:txBody>
      </p:sp>
      <p:sp>
        <p:nvSpPr>
          <p:cNvPr id="16" name="Shape 14"/>
          <p:cNvSpPr/>
          <p:nvPr/>
        </p:nvSpPr>
        <p:spPr>
          <a:xfrm>
            <a:off x="365760" y="2788920"/>
            <a:ext cx="2606040" cy="1005840"/>
          </a:xfrm>
          <a:prstGeom prst="roundRect">
            <a:avLst>
              <a:gd name="adj" fmla="val 10909"/>
            </a:avLst>
          </a:prstGeom>
          <a:solidFill>
            <a:srgbClr val="1A0A0A"/>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7" name="Text 15"/>
          <p:cNvSpPr/>
          <p:nvPr/>
        </p:nvSpPr>
        <p:spPr>
          <a:xfrm>
            <a:off x="475488" y="2862072"/>
            <a:ext cx="2377440" cy="320040"/>
          </a:xfrm>
          <a:prstGeom prst="rect">
            <a:avLst/>
          </a:prstGeom>
          <a:noFill/>
          <a:ln/>
        </p:spPr>
        <p:txBody>
          <a:bodyPr wrap="square" lIns="0" tIns="0" rIns="0" bIns="0" rtlCol="0" anchor="ctr"/>
          <a:lstStyle/>
          <a:p>
            <a:pPr marL="0" indent="0" algn="l">
              <a:buNone/>
            </a:pPr>
            <a:r>
              <a:rPr lang="en-US" sz="1100" b="1" dirty="0">
                <a:solidFill>
                  <a:srgbClr val="EF4444"/>
                </a:solidFill>
                <a:latin typeface="Calibri" pitchFamily="34" charset="0"/>
                <a:ea typeface="Calibri" pitchFamily="34" charset="-122"/>
                <a:cs typeface="Calibri" pitchFamily="34" charset="-120"/>
              </a:rPr>
              <a:t>Join Explosion</a:t>
            </a:r>
            <a:endParaRPr lang="en-US" sz="1100" dirty="0"/>
          </a:p>
        </p:txBody>
      </p:sp>
      <p:sp>
        <p:nvSpPr>
          <p:cNvPr id="18" name="Text 16"/>
          <p:cNvSpPr/>
          <p:nvPr/>
        </p:nvSpPr>
        <p:spPr>
          <a:xfrm>
            <a:off x="475488" y="3246120"/>
            <a:ext cx="2377440" cy="457200"/>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Cartesian product: 1M × 1M rows</a:t>
            </a:r>
            <a:endParaRPr lang="en-US" sz="900" dirty="0"/>
          </a:p>
        </p:txBody>
      </p:sp>
      <p:sp>
        <p:nvSpPr>
          <p:cNvPr id="19" name="Shape 17"/>
          <p:cNvSpPr/>
          <p:nvPr/>
        </p:nvSpPr>
        <p:spPr>
          <a:xfrm>
            <a:off x="3200400" y="2788920"/>
            <a:ext cx="2606040" cy="1005840"/>
          </a:xfrm>
          <a:prstGeom prst="roundRect">
            <a:avLst>
              <a:gd name="adj" fmla="val 10909"/>
            </a:avLst>
          </a:prstGeom>
          <a:solidFill>
            <a:srgbClr val="1A0A0A"/>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0" name="Text 18"/>
          <p:cNvSpPr/>
          <p:nvPr/>
        </p:nvSpPr>
        <p:spPr>
          <a:xfrm>
            <a:off x="3310128" y="2862072"/>
            <a:ext cx="2377440" cy="320040"/>
          </a:xfrm>
          <a:prstGeom prst="rect">
            <a:avLst/>
          </a:prstGeom>
          <a:noFill/>
          <a:ln/>
        </p:spPr>
        <p:txBody>
          <a:bodyPr wrap="square" lIns="0" tIns="0" rIns="0" bIns="0" rtlCol="0" anchor="ctr"/>
          <a:lstStyle/>
          <a:p>
            <a:pPr marL="0" indent="0" algn="l">
              <a:buNone/>
            </a:pPr>
            <a:r>
              <a:rPr lang="en-US" sz="1100" b="1" dirty="0">
                <a:solidFill>
                  <a:srgbClr val="F59E0B"/>
                </a:solidFill>
                <a:latin typeface="Calibri" pitchFamily="34" charset="0"/>
                <a:ea typeface="Calibri" pitchFamily="34" charset="-122"/>
                <a:cs typeface="Calibri" pitchFamily="34" charset="-120"/>
              </a:rPr>
              <a:t>Hardcoded Literals</a:t>
            </a:r>
            <a:endParaRPr lang="en-US" sz="1100" dirty="0"/>
          </a:p>
        </p:txBody>
      </p:sp>
      <p:sp>
        <p:nvSpPr>
          <p:cNvPr id="21" name="Text 19"/>
          <p:cNvSpPr/>
          <p:nvPr/>
        </p:nvSpPr>
        <p:spPr>
          <a:xfrm>
            <a:off x="3310128" y="3246120"/>
            <a:ext cx="2377440" cy="457200"/>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WHERE status = 'ACTV' ← guessed value</a:t>
            </a:r>
            <a:endParaRPr lang="en-US" sz="900" dirty="0"/>
          </a:p>
        </p:txBody>
      </p:sp>
      <p:sp>
        <p:nvSpPr>
          <p:cNvPr id="22" name="Shape 20"/>
          <p:cNvSpPr/>
          <p:nvPr/>
        </p:nvSpPr>
        <p:spPr>
          <a:xfrm>
            <a:off x="6035040" y="2788920"/>
            <a:ext cx="2606040" cy="1005840"/>
          </a:xfrm>
          <a:prstGeom prst="roundRect">
            <a:avLst>
              <a:gd name="adj" fmla="val 10909"/>
            </a:avLst>
          </a:prstGeom>
          <a:solidFill>
            <a:srgbClr val="1A0A0A"/>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3" name="Text 21"/>
          <p:cNvSpPr/>
          <p:nvPr/>
        </p:nvSpPr>
        <p:spPr>
          <a:xfrm>
            <a:off x="6144768" y="2862072"/>
            <a:ext cx="2377440" cy="320040"/>
          </a:xfrm>
          <a:prstGeom prst="rect">
            <a:avLst/>
          </a:prstGeom>
          <a:noFill/>
          <a:ln/>
        </p:spPr>
        <p:txBody>
          <a:bodyPr wrap="square" lIns="0" tIns="0" rIns="0" bIns="0" rtlCol="0" anchor="ctr"/>
          <a:lstStyle/>
          <a:p>
            <a:pPr marL="0" indent="0" algn="l">
              <a:buNone/>
            </a:pPr>
            <a:r>
              <a:rPr lang="en-US" sz="1100" b="1" dirty="0">
                <a:solidFill>
                  <a:srgbClr val="00D4FF"/>
                </a:solidFill>
                <a:latin typeface="Calibri" pitchFamily="34" charset="0"/>
                <a:ea typeface="Calibri" pitchFamily="34" charset="-122"/>
                <a:cs typeface="Calibri" pitchFamily="34" charset="-120"/>
              </a:rPr>
              <a:t>Ambiguous Grain</a:t>
            </a:r>
            <a:endParaRPr lang="en-US" sz="1100" dirty="0"/>
          </a:p>
        </p:txBody>
      </p:sp>
      <p:sp>
        <p:nvSpPr>
          <p:cNvPr id="24" name="Text 22"/>
          <p:cNvSpPr/>
          <p:nvPr/>
        </p:nvSpPr>
        <p:spPr>
          <a:xfrm>
            <a:off x="6144768" y="3246120"/>
            <a:ext cx="2377440" cy="457200"/>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Mix of patient-level &amp; cohort-level metrics</a:t>
            </a:r>
            <a:endParaRPr lang="en-US" sz="900" dirty="0"/>
          </a:p>
        </p:txBody>
      </p:sp>
      <p:sp>
        <p:nvSpPr>
          <p:cNvPr id="25" name="Shape 23"/>
          <p:cNvSpPr/>
          <p:nvPr/>
        </p:nvSpPr>
        <p:spPr>
          <a:xfrm>
            <a:off x="365760" y="3813048"/>
            <a:ext cx="8412480" cy="1097280"/>
          </a:xfrm>
          <a:prstGeom prst="roundRect">
            <a:avLst>
              <a:gd name="adj" fmla="val 10000"/>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6" name="Text 24"/>
          <p:cNvSpPr/>
          <p:nvPr/>
        </p:nvSpPr>
        <p:spPr>
          <a:xfrm>
            <a:off x="548640" y="3822192"/>
            <a:ext cx="2743200" cy="347472"/>
          </a:xfrm>
          <a:prstGeom prst="rect">
            <a:avLst/>
          </a:prstGeom>
          <a:noFill/>
          <a:ln/>
        </p:spPr>
        <p:txBody>
          <a:bodyPr wrap="square" lIns="0" tIns="0" rIns="0" bIns="0" rtlCol="0" anchor="ctr"/>
          <a:lstStyle/>
          <a:p>
            <a:pPr marL="0" indent="0" algn="l">
              <a:buNone/>
            </a:pPr>
            <a:r>
              <a:rPr lang="en-US" sz="1300" b="1" dirty="0">
                <a:solidFill>
                  <a:srgbClr val="F59E0B"/>
                </a:solidFill>
                <a:latin typeface="Calibri" pitchFamily="34" charset="0"/>
                <a:ea typeface="Calibri" pitchFamily="34" charset="-122"/>
                <a:cs typeface="Calibri" pitchFamily="34" charset="-120"/>
              </a:rPr>
              <a:t>The Critic Agent</a:t>
            </a:r>
            <a:endParaRPr lang="en-US" sz="1300" dirty="0"/>
          </a:p>
        </p:txBody>
      </p:sp>
      <p:sp>
        <p:nvSpPr>
          <p:cNvPr id="27" name="Text 25"/>
          <p:cNvSpPr/>
          <p:nvPr/>
        </p:nvSpPr>
        <p:spPr>
          <a:xfrm>
            <a:off x="548640" y="4224528"/>
            <a:ext cx="7772400" cy="182880"/>
          </a:xfrm>
          <a:prstGeom prst="rect">
            <a:avLst/>
          </a:prstGeom>
          <a:noFill/>
          <a:ln/>
        </p:spPr>
        <p:txBody>
          <a:bodyPr wrap="square" lIns="0" tIns="0" rIns="0" bIns="0" rtlCol="0" anchor="ctr"/>
          <a:lstStyle/>
          <a:p>
            <a:pPr marL="0" indent="0" algn="l">
              <a:buNone/>
            </a:pPr>
            <a:r>
              <a:rPr lang="en-US" sz="1000" b="1" dirty="0">
                <a:solidFill>
                  <a:srgbClr val="F59E0B"/>
                </a:solidFill>
                <a:latin typeface="Calibri" pitchFamily="34" charset="0"/>
                <a:ea typeface="Calibri" pitchFamily="34" charset="-122"/>
                <a:cs typeface="Calibri" pitchFamily="34" charset="-120"/>
              </a:rPr>
              <a:t>1.  </a:t>
            </a:r>
            <a:r>
              <a:rPr lang="en-US" sz="1000" dirty="0">
                <a:solidFill>
                  <a:srgbClr val="F9FAFB"/>
                </a:solidFill>
                <a:latin typeface="Calibri" pitchFamily="34" charset="0"/>
                <a:ea typeface="Calibri" pitchFamily="34" charset="-122"/>
                <a:cs typeface="Calibri" pitchFamily="34" charset="-120"/>
              </a:rPr>
              <a:t>Receives generated SQL + original question + schema</a:t>
            </a:r>
            <a:endParaRPr lang="en-US" sz="1000" dirty="0"/>
          </a:p>
        </p:txBody>
      </p:sp>
      <p:sp>
        <p:nvSpPr>
          <p:cNvPr id="28" name="Text 26"/>
          <p:cNvSpPr/>
          <p:nvPr/>
        </p:nvSpPr>
        <p:spPr>
          <a:xfrm>
            <a:off x="3618689" y="4092102"/>
            <a:ext cx="2187751" cy="415890"/>
          </a:xfrm>
          <a:prstGeom prst="rect">
            <a:avLst/>
          </a:prstGeom>
          <a:noFill/>
          <a:ln/>
        </p:spPr>
        <p:txBody>
          <a:bodyPr wrap="square" lIns="0" tIns="0" rIns="0" bIns="0" rtlCol="0" anchor="ctr"/>
          <a:lstStyle/>
          <a:p>
            <a:pPr marL="0" indent="0" algn="l">
              <a:buNone/>
            </a:pPr>
            <a:r>
              <a:rPr lang="en-US" sz="1000" b="1" dirty="0">
                <a:solidFill>
                  <a:srgbClr val="F59E0B"/>
                </a:solidFill>
                <a:latin typeface="Calibri" pitchFamily="34" charset="0"/>
                <a:ea typeface="Calibri" pitchFamily="34" charset="-122"/>
                <a:cs typeface="Calibri" pitchFamily="34" charset="-120"/>
              </a:rPr>
              <a:t>2.  </a:t>
            </a:r>
            <a:r>
              <a:rPr lang="en-US" sz="1000" dirty="0">
                <a:solidFill>
                  <a:srgbClr val="F9FAFB"/>
                </a:solidFill>
                <a:latin typeface="Calibri" pitchFamily="34" charset="0"/>
                <a:ea typeface="Calibri" pitchFamily="34" charset="-122"/>
                <a:cs typeface="Calibri" pitchFamily="34" charset="-120"/>
              </a:rPr>
              <a:t>Checks aggregation grain consistency</a:t>
            </a:r>
            <a:endParaRPr lang="en-US" sz="1000" dirty="0"/>
          </a:p>
        </p:txBody>
      </p:sp>
      <p:sp>
        <p:nvSpPr>
          <p:cNvPr id="29" name="Text 27"/>
          <p:cNvSpPr/>
          <p:nvPr/>
        </p:nvSpPr>
        <p:spPr>
          <a:xfrm>
            <a:off x="548640" y="4626864"/>
            <a:ext cx="7772400" cy="182880"/>
          </a:xfrm>
          <a:prstGeom prst="rect">
            <a:avLst/>
          </a:prstGeom>
          <a:noFill/>
          <a:ln/>
        </p:spPr>
        <p:txBody>
          <a:bodyPr wrap="square" lIns="0" tIns="0" rIns="0" bIns="0" rtlCol="0" anchor="ctr"/>
          <a:lstStyle/>
          <a:p>
            <a:pPr marL="0" indent="0" algn="l">
              <a:buNone/>
            </a:pPr>
            <a:r>
              <a:rPr lang="en-US" sz="1000" b="1" dirty="0">
                <a:solidFill>
                  <a:srgbClr val="F59E0B"/>
                </a:solidFill>
                <a:latin typeface="Calibri" pitchFamily="34" charset="0"/>
                <a:ea typeface="Calibri" pitchFamily="34" charset="-122"/>
                <a:cs typeface="Calibri" pitchFamily="34" charset="-120"/>
              </a:rPr>
              <a:t>3.  </a:t>
            </a:r>
            <a:r>
              <a:rPr lang="en-US" sz="1000" dirty="0">
                <a:solidFill>
                  <a:srgbClr val="F9FAFB"/>
                </a:solidFill>
                <a:latin typeface="Calibri" pitchFamily="34" charset="0"/>
                <a:ea typeface="Calibri" pitchFamily="34" charset="-122"/>
                <a:cs typeface="Calibri" pitchFamily="34" charset="-120"/>
              </a:rPr>
              <a:t>Validates join paths against schema FK hints</a:t>
            </a:r>
            <a:endParaRPr lang="en-US" sz="1000" dirty="0"/>
          </a:p>
        </p:txBody>
      </p:sp>
      <p:sp>
        <p:nvSpPr>
          <p:cNvPr id="30" name="Text 28"/>
          <p:cNvSpPr/>
          <p:nvPr/>
        </p:nvSpPr>
        <p:spPr>
          <a:xfrm>
            <a:off x="3086910" y="4448718"/>
            <a:ext cx="5234129" cy="516474"/>
          </a:xfrm>
          <a:prstGeom prst="rect">
            <a:avLst/>
          </a:prstGeom>
          <a:noFill/>
          <a:ln/>
        </p:spPr>
        <p:txBody>
          <a:bodyPr wrap="square" lIns="0" tIns="0" rIns="0" bIns="0" rtlCol="0" anchor="ctr"/>
          <a:lstStyle/>
          <a:p>
            <a:pPr marL="0" indent="0" algn="l">
              <a:buNone/>
            </a:pPr>
            <a:r>
              <a:rPr lang="en-US" sz="1000" b="1" dirty="0">
                <a:solidFill>
                  <a:srgbClr val="F59E0B"/>
                </a:solidFill>
                <a:latin typeface="Calibri" pitchFamily="34" charset="0"/>
                <a:ea typeface="Calibri" pitchFamily="34" charset="-122"/>
                <a:cs typeface="Calibri" pitchFamily="34" charset="-120"/>
              </a:rPr>
              <a:t>4.  </a:t>
            </a:r>
            <a:r>
              <a:rPr lang="en-US" sz="1000" dirty="0">
                <a:solidFill>
                  <a:srgbClr val="F9FAFB"/>
                </a:solidFill>
                <a:latin typeface="Calibri" pitchFamily="34" charset="0"/>
                <a:ea typeface="Calibri" pitchFamily="34" charset="-122"/>
                <a:cs typeface="Calibri" pitchFamily="34" charset="-120"/>
              </a:rPr>
              <a:t>Flags logical contradictions</a:t>
            </a:r>
            <a:endParaRPr lang="en-US" sz="1000" dirty="0"/>
          </a:p>
        </p:txBody>
      </p:sp>
      <p:sp>
        <p:nvSpPr>
          <p:cNvPr id="31" name="Text 29"/>
          <p:cNvSpPr/>
          <p:nvPr/>
        </p:nvSpPr>
        <p:spPr>
          <a:xfrm>
            <a:off x="4779522" y="4224528"/>
            <a:ext cx="3541517" cy="964854"/>
          </a:xfrm>
          <a:prstGeom prst="rect">
            <a:avLst/>
          </a:prstGeom>
          <a:noFill/>
          <a:ln/>
        </p:spPr>
        <p:txBody>
          <a:bodyPr wrap="square" lIns="0" tIns="0" rIns="0" bIns="0" rtlCol="0" anchor="ctr"/>
          <a:lstStyle/>
          <a:p>
            <a:pPr marL="0" indent="0" algn="l">
              <a:buNone/>
            </a:pPr>
            <a:r>
              <a:rPr lang="en-US" sz="1000" b="1" dirty="0">
                <a:solidFill>
                  <a:srgbClr val="F59E0B"/>
                </a:solidFill>
                <a:latin typeface="Calibri" pitchFamily="34" charset="0"/>
                <a:ea typeface="Calibri" pitchFamily="34" charset="-122"/>
                <a:cs typeface="Calibri" pitchFamily="34" charset="-120"/>
              </a:rPr>
              <a:t>5.  </a:t>
            </a:r>
            <a:r>
              <a:rPr lang="en-US" sz="1000" dirty="0">
                <a:solidFill>
                  <a:srgbClr val="F9FAFB"/>
                </a:solidFill>
                <a:latin typeface="Calibri" pitchFamily="34" charset="0"/>
                <a:ea typeface="Calibri" pitchFamily="34" charset="-122"/>
                <a:cs typeface="Calibri" pitchFamily="34" charset="-120"/>
              </a:rPr>
              <a:t>Produces fix_recipe: structured correction instructions</a:t>
            </a:r>
            <a:endParaRPr lang="en-US" sz="1000" dirty="0"/>
          </a:p>
        </p:txBody>
      </p:sp>
      <p:pic>
        <p:nvPicPr>
          <p:cNvPr id="32" name="Picture 31">
            <a:extLst>
              <a:ext uri="{FF2B5EF4-FFF2-40B4-BE49-F238E27FC236}">
                <a16:creationId xmlns:a16="http://schemas.microsoft.com/office/drawing/2014/main" id="{869ADC3A-956B-CCA9-807A-4FFE3C2E14AF}"/>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oundRect">
            <a:avLst>
              <a:gd name="adj" fmla="val 25000"/>
            </a:avLst>
          </a:prstGeom>
          <a:solidFill>
            <a:srgbClr val="10B981">
              <a:alpha val="80000"/>
            </a:srgbClr>
          </a:solidFill>
          <a:ln w="12700">
            <a:solidFill>
              <a:srgbClr val="10B981"/>
            </a:solidFill>
            <a:prstDash val="solid"/>
          </a:ln>
        </p:spPr>
        <p:txBody>
          <a:bodyPr/>
          <a:lstStyle/>
          <a:p>
            <a:endParaRPr lang="en-US"/>
          </a:p>
        </p:txBody>
      </p:sp>
      <p:sp>
        <p:nvSpPr>
          <p:cNvPr id="3" name="Text 1"/>
          <p:cNvSpPr/>
          <p:nvPr/>
        </p:nvSpPr>
        <p:spPr>
          <a:xfrm>
            <a:off x="365760" y="201168"/>
            <a:ext cx="2011680" cy="292608"/>
          </a:xfrm>
          <a:prstGeom prst="rect">
            <a:avLst/>
          </a:prstGeom>
          <a:noFill/>
          <a:ln/>
        </p:spPr>
        <p:txBody>
          <a:bodyPr wrap="square" lIns="0" tIns="0" rIns="0" bIns="0" rtlCol="0" anchor="ctr"/>
          <a:lstStyle/>
          <a:p>
            <a:pPr marL="0" indent="0" algn="ctr">
              <a:buNone/>
            </a:pPr>
            <a:r>
              <a:rPr lang="en-US" sz="800" b="1" kern="0" spc="200" dirty="0">
                <a:solidFill>
                  <a:srgbClr val="F9FAFB"/>
                </a:solidFill>
              </a:rPr>
              <a:t>SECTION 5 — DATA IQ</a:t>
            </a:r>
            <a:endParaRPr lang="en-US" sz="800" dirty="0"/>
          </a:p>
        </p:txBody>
      </p:sp>
      <p:sp>
        <p:nvSpPr>
          <p:cNvPr id="4" name="Text 2"/>
          <p:cNvSpPr/>
          <p:nvPr/>
        </p:nvSpPr>
        <p:spPr>
          <a:xfrm>
            <a:off x="365760" y="594360"/>
            <a:ext cx="8412480" cy="594360"/>
          </a:xfrm>
          <a:prstGeom prst="rect">
            <a:avLst/>
          </a:prstGeom>
          <a:noFill/>
          <a:ln/>
        </p:spPr>
        <p:txBody>
          <a:bodyPr wrap="square" lIns="0" tIns="0" rIns="0" bIns="0" rtlCol="0" anchor="ctr"/>
          <a:lstStyle/>
          <a:p>
            <a:pPr marL="0" indent="0" algn="l">
              <a:buNone/>
            </a:pPr>
            <a:r>
              <a:rPr lang="en-US" sz="3000" b="1" dirty="0">
                <a:solidFill>
                  <a:srgbClr val="F9FAFB"/>
                </a:solidFill>
                <a:latin typeface="Calibri" pitchFamily="34" charset="0"/>
                <a:ea typeface="Calibri" pitchFamily="34" charset="-122"/>
                <a:cs typeface="Calibri" pitchFamily="34" charset="-120"/>
              </a:rPr>
              <a:t>SQL Runs. But Is the Answer Right?</a:t>
            </a:r>
            <a:endParaRPr lang="en-US" sz="3000" dirty="0"/>
          </a:p>
        </p:txBody>
      </p:sp>
      <p:sp>
        <p:nvSpPr>
          <p:cNvPr id="5" name="Text 3"/>
          <p:cNvSpPr/>
          <p:nvPr/>
        </p:nvSpPr>
        <p:spPr>
          <a:xfrm>
            <a:off x="365760" y="1143000"/>
            <a:ext cx="8412480" cy="32004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SQL success ≠ business correctness. Enter Data IQ.</a:t>
            </a:r>
            <a:endParaRPr lang="en-US" sz="1300" dirty="0"/>
          </a:p>
        </p:txBody>
      </p:sp>
      <p:sp>
        <p:nvSpPr>
          <p:cNvPr id="6" name="Shape 4"/>
          <p:cNvSpPr/>
          <p:nvPr/>
        </p:nvSpPr>
        <p:spPr>
          <a:xfrm>
            <a:off x="365760" y="1417320"/>
            <a:ext cx="8412480" cy="36576"/>
          </a:xfrm>
          <a:prstGeom prst="rect">
            <a:avLst/>
          </a:prstGeom>
          <a:solidFill>
            <a:srgbClr val="10B981"/>
          </a:solidFill>
          <a:ln w="12700">
            <a:solidFill>
              <a:srgbClr val="10B981"/>
            </a:solidFill>
            <a:prstDash val="solid"/>
          </a:ln>
        </p:spPr>
        <p:txBody>
          <a:bodyPr/>
          <a:lstStyle/>
          <a:p>
            <a:endParaRPr lang="en-US"/>
          </a:p>
        </p:txBody>
      </p:sp>
      <p:sp>
        <p:nvSpPr>
          <p:cNvPr id="7" name="Text 5"/>
          <p:cNvSpPr/>
          <p:nvPr/>
        </p:nvSpPr>
        <p:spPr>
          <a:xfrm>
            <a:off x="365760" y="1508760"/>
            <a:ext cx="8412480" cy="640080"/>
          </a:xfrm>
          <a:prstGeom prst="rect">
            <a:avLst/>
          </a:prstGeom>
          <a:noFill/>
          <a:ln/>
        </p:spPr>
        <p:txBody>
          <a:bodyPr wrap="square" lIns="0" tIns="0" rIns="0" bIns="0" rtlCol="0" anchor="ctr"/>
          <a:lstStyle/>
          <a:p>
            <a:pPr marL="0" indent="0" algn="ctr">
              <a:buNone/>
            </a:pPr>
            <a:r>
              <a:rPr lang="en-US" sz="1300" i="1" dirty="0">
                <a:solidFill>
                  <a:srgbClr val="EF4444"/>
                </a:solidFill>
                <a:latin typeface="Calibri" pitchFamily="34" charset="0"/>
                <a:ea typeface="Calibri" pitchFamily="34" charset="-122"/>
                <a:cs typeface="Calibri" pitchFamily="34" charset="-120"/>
              </a:rPr>
              <a:t>"The query returned 42 rows with avg survival rate = 0.0."</a:t>
            </a:r>
            <a:endParaRPr lang="en-US" sz="1300" dirty="0"/>
          </a:p>
          <a:p>
            <a:pPr marL="0" indent="0" algn="ctr">
              <a:buNone/>
            </a:pPr>
            <a:r>
              <a:rPr lang="en-US" sz="1300" i="1" dirty="0">
                <a:solidFill>
                  <a:srgbClr val="EF4444"/>
                </a:solidFill>
                <a:latin typeface="Calibri" pitchFamily="34" charset="0"/>
                <a:ea typeface="Calibri" pitchFamily="34" charset="-122"/>
                <a:cs typeface="Calibri" pitchFamily="34" charset="-120"/>
              </a:rPr>
              <a:t> Nobody noticed for 3 weeks. 🙂</a:t>
            </a:r>
            <a:endParaRPr lang="en-US" sz="1300" dirty="0"/>
          </a:p>
        </p:txBody>
      </p:sp>
      <p:sp>
        <p:nvSpPr>
          <p:cNvPr id="8" name="Shape 6"/>
          <p:cNvSpPr/>
          <p:nvPr/>
        </p:nvSpPr>
        <p:spPr>
          <a:xfrm>
            <a:off x="365760" y="2377440"/>
            <a:ext cx="4114800" cy="713232"/>
          </a:xfrm>
          <a:prstGeom prst="roundRect">
            <a:avLst>
              <a:gd name="adj" fmla="val 15385"/>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9" name="Text 7"/>
          <p:cNvSpPr/>
          <p:nvPr/>
        </p:nvSpPr>
        <p:spPr>
          <a:xfrm>
            <a:off x="502920" y="2441448"/>
            <a:ext cx="3840480" cy="566928"/>
          </a:xfrm>
          <a:prstGeom prst="rect">
            <a:avLst/>
          </a:prstGeom>
          <a:noFill/>
          <a:ln/>
        </p:spPr>
        <p:txBody>
          <a:bodyPr wrap="square" lIns="0" tIns="0" rIns="0" bIns="0" rtlCol="0" anchor="ctr"/>
          <a:lstStyle/>
          <a:p>
            <a:pPr marL="0" indent="0" algn="l">
              <a:buNone/>
            </a:pPr>
            <a:r>
              <a:rPr lang="en-US" sz="1000" b="1" dirty="0">
                <a:solidFill>
                  <a:srgbClr val="00D4FF"/>
                </a:solidFill>
                <a:latin typeface="Calibri" pitchFamily="34" charset="0"/>
                <a:ea typeface="Calibri" pitchFamily="34" charset="-122"/>
                <a:cs typeface="Calibri" pitchFamily="34" charset="-120"/>
              </a:rPr>
              <a:t>▶  Null Rate Check</a:t>
            </a:r>
            <a:endParaRPr lang="en-US" sz="1000" dirty="0"/>
          </a:p>
          <a:p>
            <a:pPr marL="0" indent="0" algn="l">
              <a:buNone/>
            </a:pPr>
            <a:r>
              <a:rPr lang="en-US" sz="1000" dirty="0">
                <a:solidFill>
                  <a:srgbClr val="9CA3AF"/>
                </a:solidFill>
                <a:latin typeface="Calibri" pitchFamily="34" charset="0"/>
                <a:ea typeface="Calibri" pitchFamily="34" charset="-122"/>
                <a:cs typeface="Calibri" pitchFamily="34" charset="-120"/>
              </a:rPr>
              <a:t>If &gt;80% of result column is NULL → likely wrong join or filter</a:t>
            </a:r>
            <a:endParaRPr lang="en-US" sz="1000" dirty="0"/>
          </a:p>
        </p:txBody>
      </p:sp>
      <p:sp>
        <p:nvSpPr>
          <p:cNvPr id="10" name="Shape 8"/>
          <p:cNvSpPr/>
          <p:nvPr/>
        </p:nvSpPr>
        <p:spPr>
          <a:xfrm>
            <a:off x="4709160" y="2377440"/>
            <a:ext cx="4114800" cy="713232"/>
          </a:xfrm>
          <a:prstGeom prst="roundRect">
            <a:avLst>
              <a:gd name="adj" fmla="val 15385"/>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1" name="Text 9"/>
          <p:cNvSpPr/>
          <p:nvPr/>
        </p:nvSpPr>
        <p:spPr>
          <a:xfrm>
            <a:off x="4846320" y="2441448"/>
            <a:ext cx="3840480" cy="566928"/>
          </a:xfrm>
          <a:prstGeom prst="rect">
            <a:avLst/>
          </a:prstGeom>
          <a:noFill/>
          <a:ln/>
        </p:spPr>
        <p:txBody>
          <a:bodyPr wrap="square" lIns="0" tIns="0" rIns="0" bIns="0" rtlCol="0" anchor="ctr"/>
          <a:lstStyle/>
          <a:p>
            <a:pPr marL="0" indent="0" algn="l">
              <a:buNone/>
            </a:pPr>
            <a:r>
              <a:rPr lang="en-US" sz="1000" b="1" dirty="0">
                <a:solidFill>
                  <a:srgbClr val="7C3AED"/>
                </a:solidFill>
                <a:latin typeface="Calibri" pitchFamily="34" charset="0"/>
                <a:ea typeface="Calibri" pitchFamily="34" charset="-122"/>
                <a:cs typeface="Calibri" pitchFamily="34" charset="-120"/>
              </a:rPr>
              <a:t>▶  Variance Check</a:t>
            </a:r>
            <a:endParaRPr lang="en-US" sz="1000" dirty="0"/>
          </a:p>
          <a:p>
            <a:pPr marL="0" indent="0" algn="l">
              <a:buNone/>
            </a:pPr>
            <a:r>
              <a:rPr lang="en-US" sz="1000" dirty="0">
                <a:solidFill>
                  <a:srgbClr val="9CA3AF"/>
                </a:solidFill>
                <a:latin typeface="Calibri" pitchFamily="34" charset="0"/>
                <a:ea typeface="Calibri" pitchFamily="34" charset="-122"/>
                <a:cs typeface="Calibri" pitchFamily="34" charset="-120"/>
              </a:rPr>
              <a:t>Zero variance in numeric result = suspicious aggregation</a:t>
            </a:r>
            <a:endParaRPr lang="en-US" sz="1000" dirty="0"/>
          </a:p>
        </p:txBody>
      </p:sp>
      <p:sp>
        <p:nvSpPr>
          <p:cNvPr id="12" name="Shape 10"/>
          <p:cNvSpPr/>
          <p:nvPr/>
        </p:nvSpPr>
        <p:spPr>
          <a:xfrm>
            <a:off x="365760" y="3200400"/>
            <a:ext cx="4114800" cy="713232"/>
          </a:xfrm>
          <a:prstGeom prst="roundRect">
            <a:avLst>
              <a:gd name="adj" fmla="val 15385"/>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3" name="Text 11"/>
          <p:cNvSpPr/>
          <p:nvPr/>
        </p:nvSpPr>
        <p:spPr>
          <a:xfrm>
            <a:off x="502920" y="3264408"/>
            <a:ext cx="3840480" cy="566928"/>
          </a:xfrm>
          <a:prstGeom prst="rect">
            <a:avLst/>
          </a:prstGeom>
          <a:noFill/>
          <a:ln/>
        </p:spPr>
        <p:txBody>
          <a:bodyPr wrap="square" lIns="0" tIns="0" rIns="0" bIns="0" rtlCol="0" anchor="ctr"/>
          <a:lstStyle/>
          <a:p>
            <a:pPr marL="0" indent="0" algn="l">
              <a:buNone/>
            </a:pPr>
            <a:r>
              <a:rPr lang="en-US" sz="1000" b="1" dirty="0">
                <a:solidFill>
                  <a:srgbClr val="10B981"/>
                </a:solidFill>
                <a:latin typeface="Calibri" pitchFamily="34" charset="0"/>
                <a:ea typeface="Calibri" pitchFamily="34" charset="-122"/>
                <a:cs typeface="Calibri" pitchFamily="34" charset="-120"/>
              </a:rPr>
              <a:t>▶  Row Count Sanity</a:t>
            </a:r>
            <a:endParaRPr lang="en-US" sz="1000" dirty="0"/>
          </a:p>
          <a:p>
            <a:pPr marL="0" indent="0" algn="l">
              <a:buNone/>
            </a:pPr>
            <a:r>
              <a:rPr lang="en-US" sz="1000" dirty="0">
                <a:solidFill>
                  <a:srgbClr val="9CA3AF"/>
                </a:solidFill>
                <a:latin typeface="Calibri" pitchFamily="34" charset="0"/>
                <a:ea typeface="Calibri" pitchFamily="34" charset="-122"/>
                <a:cs typeface="Calibri" pitchFamily="34" charset="-120"/>
              </a:rPr>
              <a:t>0 rows or suspiciously large counts → flag for review</a:t>
            </a:r>
            <a:endParaRPr lang="en-US" sz="1000" dirty="0"/>
          </a:p>
        </p:txBody>
      </p:sp>
      <p:sp>
        <p:nvSpPr>
          <p:cNvPr id="14" name="Shape 12"/>
          <p:cNvSpPr/>
          <p:nvPr/>
        </p:nvSpPr>
        <p:spPr>
          <a:xfrm>
            <a:off x="4709160" y="3200400"/>
            <a:ext cx="4114800" cy="713232"/>
          </a:xfrm>
          <a:prstGeom prst="roundRect">
            <a:avLst>
              <a:gd name="adj" fmla="val 15385"/>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5" name="Text 13"/>
          <p:cNvSpPr/>
          <p:nvPr/>
        </p:nvSpPr>
        <p:spPr>
          <a:xfrm>
            <a:off x="4846320" y="3264408"/>
            <a:ext cx="3840480" cy="566928"/>
          </a:xfrm>
          <a:prstGeom prst="rect">
            <a:avLst/>
          </a:prstGeom>
          <a:noFill/>
          <a:ln/>
        </p:spPr>
        <p:txBody>
          <a:bodyPr wrap="square" lIns="0" tIns="0" rIns="0" bIns="0" rtlCol="0" anchor="ctr"/>
          <a:lstStyle/>
          <a:p>
            <a:pPr marL="0" indent="0" algn="l">
              <a:buNone/>
            </a:pPr>
            <a:r>
              <a:rPr lang="en-US" sz="1000" b="1" dirty="0">
                <a:solidFill>
                  <a:srgbClr val="F59E0B"/>
                </a:solidFill>
                <a:latin typeface="Calibri" pitchFamily="34" charset="0"/>
                <a:ea typeface="Calibri" pitchFamily="34" charset="-122"/>
                <a:cs typeface="Calibri" pitchFamily="34" charset="-120"/>
              </a:rPr>
              <a:t>▶  Distribution Anomaly</a:t>
            </a:r>
            <a:endParaRPr lang="en-US" sz="1000" dirty="0"/>
          </a:p>
          <a:p>
            <a:pPr marL="0" indent="0" algn="l">
              <a:buNone/>
            </a:pPr>
            <a:r>
              <a:rPr lang="en-US" sz="1000" dirty="0">
                <a:solidFill>
                  <a:srgbClr val="9CA3AF"/>
                </a:solidFill>
                <a:latin typeface="Calibri" pitchFamily="34" charset="0"/>
                <a:ea typeface="Calibri" pitchFamily="34" charset="-122"/>
                <a:cs typeface="Calibri" pitchFamily="34" charset="-120"/>
              </a:rPr>
              <a:t>Result distribution vs historical expectation — outlier scoring</a:t>
            </a:r>
            <a:endParaRPr lang="en-US" sz="1000" dirty="0"/>
          </a:p>
        </p:txBody>
      </p:sp>
      <p:sp>
        <p:nvSpPr>
          <p:cNvPr id="16" name="Shape 14"/>
          <p:cNvSpPr/>
          <p:nvPr/>
        </p:nvSpPr>
        <p:spPr>
          <a:xfrm>
            <a:off x="365760" y="4023360"/>
            <a:ext cx="4114800" cy="713232"/>
          </a:xfrm>
          <a:prstGeom prst="roundRect">
            <a:avLst>
              <a:gd name="adj" fmla="val 15385"/>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7" name="Text 15"/>
          <p:cNvSpPr/>
          <p:nvPr/>
        </p:nvSpPr>
        <p:spPr>
          <a:xfrm>
            <a:off x="502920" y="4087368"/>
            <a:ext cx="3840480" cy="566928"/>
          </a:xfrm>
          <a:prstGeom prst="rect">
            <a:avLst/>
          </a:prstGeom>
          <a:noFill/>
          <a:ln/>
        </p:spPr>
        <p:txBody>
          <a:bodyPr wrap="square" lIns="0" tIns="0" rIns="0" bIns="0" rtlCol="0" anchor="ctr"/>
          <a:lstStyle/>
          <a:p>
            <a:pPr marL="0" indent="0" algn="l">
              <a:buNone/>
            </a:pPr>
            <a:r>
              <a:rPr lang="en-US" sz="1000" b="1" dirty="0">
                <a:solidFill>
                  <a:srgbClr val="EF4444"/>
                </a:solidFill>
                <a:latin typeface="Calibri" pitchFamily="34" charset="0"/>
                <a:ea typeface="Calibri" pitchFamily="34" charset="-122"/>
                <a:cs typeface="Calibri" pitchFamily="34" charset="-120"/>
              </a:rPr>
              <a:t>▶  Business Rule Validation</a:t>
            </a:r>
            <a:endParaRPr lang="en-US" sz="1000" dirty="0"/>
          </a:p>
          <a:p>
            <a:pPr marL="0" indent="0" algn="l">
              <a:buNone/>
            </a:pPr>
            <a:r>
              <a:rPr lang="en-US" sz="1000" dirty="0">
                <a:solidFill>
                  <a:srgbClr val="9CA3AF"/>
                </a:solidFill>
                <a:latin typeface="Calibri" pitchFamily="34" charset="0"/>
                <a:ea typeface="Calibri" pitchFamily="34" charset="-122"/>
                <a:cs typeface="Calibri" pitchFamily="34" charset="-120"/>
              </a:rPr>
              <a:t>Domain constraints: survival rate ∈ [0,1]; age &gt; 0; etc.</a:t>
            </a:r>
            <a:endParaRPr lang="en-US" sz="1000" dirty="0"/>
          </a:p>
        </p:txBody>
      </p:sp>
      <p:sp>
        <p:nvSpPr>
          <p:cNvPr id="18" name="Shape 16"/>
          <p:cNvSpPr/>
          <p:nvPr/>
        </p:nvSpPr>
        <p:spPr>
          <a:xfrm>
            <a:off x="4709160" y="4023360"/>
            <a:ext cx="4114800" cy="713232"/>
          </a:xfrm>
          <a:prstGeom prst="roundRect">
            <a:avLst>
              <a:gd name="adj" fmla="val 15385"/>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9" name="Text 17"/>
          <p:cNvSpPr/>
          <p:nvPr/>
        </p:nvSpPr>
        <p:spPr>
          <a:xfrm>
            <a:off x="4846320" y="4087368"/>
            <a:ext cx="3840480" cy="566928"/>
          </a:xfrm>
          <a:prstGeom prst="rect">
            <a:avLst/>
          </a:prstGeom>
          <a:noFill/>
          <a:ln/>
        </p:spPr>
        <p:txBody>
          <a:bodyPr wrap="square" lIns="0" tIns="0" rIns="0" bIns="0" rtlCol="0" anchor="ctr"/>
          <a:lstStyle/>
          <a:p>
            <a:pPr marL="0" indent="0" algn="l">
              <a:buNone/>
            </a:pPr>
            <a:r>
              <a:rPr lang="en-US" sz="1000" b="1" dirty="0">
                <a:solidFill>
                  <a:srgbClr val="00D4FF"/>
                </a:solidFill>
                <a:latin typeface="Calibri" pitchFamily="34" charset="0"/>
                <a:ea typeface="Calibri" pitchFamily="34" charset="-122"/>
                <a:cs typeface="Calibri" pitchFamily="34" charset="-120"/>
              </a:rPr>
              <a:t>▶  Fallback Trigger</a:t>
            </a:r>
            <a:endParaRPr lang="en-US" sz="1000" dirty="0"/>
          </a:p>
          <a:p>
            <a:pPr marL="0" indent="0" algn="l">
              <a:buNone/>
            </a:pPr>
            <a:r>
              <a:rPr lang="en-US" sz="1000" dirty="0">
                <a:solidFill>
                  <a:srgbClr val="9CA3AF"/>
                </a:solidFill>
                <a:latin typeface="Calibri" pitchFamily="34" charset="0"/>
                <a:ea typeface="Calibri" pitchFamily="34" charset="-122"/>
                <a:cs typeface="Calibri" pitchFamily="34" charset="-120"/>
              </a:rPr>
              <a:t>On failure: route to self-correction → retry with hints</a:t>
            </a:r>
            <a:endParaRPr lang="en-US" sz="1000" dirty="0"/>
          </a:p>
        </p:txBody>
      </p:sp>
      <p:pic>
        <p:nvPicPr>
          <p:cNvPr id="20" name="Picture 19">
            <a:extLst>
              <a:ext uri="{FF2B5EF4-FFF2-40B4-BE49-F238E27FC236}">
                <a16:creationId xmlns:a16="http://schemas.microsoft.com/office/drawing/2014/main" id="{3B3AAE90-EFBA-F90B-7CD9-0A3984B66955}"/>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a:extLst>
            <a:ext uri="{FF2B5EF4-FFF2-40B4-BE49-F238E27FC236}">
              <a16:creationId xmlns:a16="http://schemas.microsoft.com/office/drawing/2014/main" id="{B0473E24-8C73-E6C0-0A59-67614336C321}"/>
            </a:ext>
          </a:extLst>
        </p:cNvPr>
        <p:cNvGrpSpPr/>
        <p:nvPr/>
      </p:nvGrpSpPr>
      <p:grpSpPr>
        <a:xfrm>
          <a:off x="0" y="0"/>
          <a:ext cx="0" cy="0"/>
          <a:chOff x="0" y="0"/>
          <a:chExt cx="0" cy="0"/>
        </a:xfrm>
      </p:grpSpPr>
      <p:sp>
        <p:nvSpPr>
          <p:cNvPr id="2" name="New shape">
            <a:extLst>
              <a:ext uri="{FF2B5EF4-FFF2-40B4-BE49-F238E27FC236}">
                <a16:creationId xmlns:a16="http://schemas.microsoft.com/office/drawing/2014/main" id="{1D0ABA67-0D8C-F0A0-F478-C5AC22D2A667}"/>
              </a:ext>
            </a:extLst>
          </p:cNvPr>
          <p:cNvSpPr/>
          <p:nvPr/>
        </p:nvSpPr>
        <p:spPr>
          <a:xfrm>
            <a:off x="254000" y="190500"/>
            <a:ext cx="1651000" cy="228600"/>
          </a:xfrm>
          <a:prstGeom prst="roundRect">
            <a:avLst>
              <a:gd name="adj" fmla="val 4000"/>
            </a:avLst>
          </a:prstGeom>
          <a:noFill/>
          <a:ln w="12700">
            <a:solidFill>
              <a:schemeClr val="accent5">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700" b="1" i="0" u="none" strike="noStrike" kern="1200" cap="none" spc="0" normalizeH="0" baseline="0" noProof="0">
                <a:ln>
                  <a:noFill/>
                </a:ln>
                <a:solidFill>
                  <a:srgbClr val="5B9BD5"/>
                </a:solidFill>
                <a:effectLst/>
                <a:uLnTx/>
                <a:uFillTx/>
                <a:latin typeface="Calibri" panose="020F0502020204030204"/>
                <a:ea typeface="Calibri" panose="020F0502020204030204"/>
                <a:cs typeface="Arial"/>
              </a:rPr>
              <a:t>SECTION 3 — AI THEORY</a:t>
            </a:r>
          </a:p>
        </p:txBody>
      </p:sp>
      <p:sp>
        <p:nvSpPr>
          <p:cNvPr id="3" name="New shape">
            <a:extLst>
              <a:ext uri="{FF2B5EF4-FFF2-40B4-BE49-F238E27FC236}">
                <a16:creationId xmlns:a16="http://schemas.microsoft.com/office/drawing/2014/main" id="{8D147AB6-85BB-7079-420B-EBD9D9EDE300}"/>
              </a:ext>
            </a:extLst>
          </p:cNvPr>
          <p:cNvSpPr/>
          <p:nvPr/>
        </p:nvSpPr>
        <p:spPr>
          <a:xfrm>
            <a:off x="254000" y="508000"/>
            <a:ext cx="8636000" cy="3556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sz="2200" b="1" i="0" u="none" strike="noStrike" kern="1200" cap="none" spc="0" normalizeH="0" baseline="0" noProof="0">
                <a:ln>
                  <a:noFill/>
                </a:ln>
                <a:solidFill>
                  <a:prstClr val="white"/>
                </a:solidFill>
                <a:effectLst/>
                <a:uLnTx/>
                <a:uFillTx/>
                <a:latin typeface="Calibri" panose="020F0502020204030204"/>
                <a:ea typeface="Calibri" panose="020F0502020204030204"/>
                <a:cs typeface="Arial"/>
              </a:rPr>
              <a:t>AI Agent Theory: Orchestrating Intelligence</a:t>
            </a:r>
          </a:p>
        </p:txBody>
      </p:sp>
      <p:sp>
        <p:nvSpPr>
          <p:cNvPr id="4" name="New shape">
            <a:extLst>
              <a:ext uri="{FF2B5EF4-FFF2-40B4-BE49-F238E27FC236}">
                <a16:creationId xmlns:a16="http://schemas.microsoft.com/office/drawing/2014/main" id="{2BEAAF9F-7FAB-DE4C-118B-2235209E3127}"/>
              </a:ext>
            </a:extLst>
          </p:cNvPr>
          <p:cNvSpPr/>
          <p:nvPr/>
        </p:nvSpPr>
        <p:spPr>
          <a:xfrm>
            <a:off x="254000" y="889000"/>
            <a:ext cx="8636000" cy="2032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sz="1100" b="0" i="0" u="none" strike="noStrike" kern="1200" cap="none" spc="0" normalizeH="0" baseline="0" noProof="0">
                <a:ln>
                  <a:noFill/>
                </a:ln>
                <a:solidFill>
                  <a:srgbClr val="FFC000"/>
                </a:solidFill>
                <a:effectLst/>
                <a:uLnTx/>
                <a:uFillTx/>
                <a:latin typeface="Calibri" panose="020F0502020204030204"/>
                <a:ea typeface="Calibri" panose="020F0502020204030204"/>
                <a:cs typeface="Arial"/>
              </a:rPr>
              <a:t>How AI agents think, act, observe, and improve.</a:t>
            </a:r>
          </a:p>
        </p:txBody>
      </p:sp>
      <p:pic>
        <p:nvPicPr>
          <p:cNvPr id="72" name="New picture">
            <a:extLst>
              <a:ext uri="{FF2B5EF4-FFF2-40B4-BE49-F238E27FC236}">
                <a16:creationId xmlns:a16="http://schemas.microsoft.com/office/drawing/2014/main" id="{CED5720F-0DE3-2C9E-204A-AB4061934B49}"/>
              </a:ext>
            </a:extLst>
          </p:cNvPr>
          <p:cNvPicPr/>
          <p:nvPr>
            <p:custDataLst>
              <p:tags r:id="rId2"/>
            </p:custDataLst>
          </p:nvPr>
        </p:nvPicPr>
        <p:blipFill>
          <a:blip>
            <a:extLst>
              <a:ext uri="{96DAC541-7B7A-43D3-8B79-37D633B846F1}">
                <asvg:svgBlip xmlns:asvg="http://schemas.microsoft.com/office/drawing/2016/SVG/main" r:embed="rId14"/>
              </a:ext>
            </a:extLst>
          </a:blip>
          <a:stretch>
            <a:fillRect/>
          </a:stretch>
        </p:blipFill>
        <p:spPr>
          <a:xfrm>
            <a:off x="254000" y="1206500"/>
            <a:ext cx="317500" cy="317500"/>
          </a:xfrm>
          <a:prstGeom prst="ellipse">
            <a:avLst/>
          </a:prstGeom>
        </p:spPr>
      </p:pic>
      <p:sp>
        <p:nvSpPr>
          <p:cNvPr id="85" name="New shape">
            <a:extLst>
              <a:ext uri="{FF2B5EF4-FFF2-40B4-BE49-F238E27FC236}">
                <a16:creationId xmlns:a16="http://schemas.microsoft.com/office/drawing/2014/main" id="{7D298218-1ACB-4A3B-43FA-F435DFE6B940}"/>
              </a:ext>
            </a:extLst>
          </p:cNvPr>
          <p:cNvSpPr/>
          <p:nvPr/>
        </p:nvSpPr>
        <p:spPr>
          <a:xfrm>
            <a:off x="698500" y="1206500"/>
            <a:ext cx="1841500" cy="1016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sz="1000" b="1" i="0" u="none" strike="noStrike" kern="1200" cap="none" spc="0" normalizeH="0" baseline="0" noProof="0" dirty="0">
                <a:ln>
                  <a:noFill/>
                </a:ln>
                <a:solidFill>
                  <a:srgbClr val="70AD47"/>
                </a:solidFill>
                <a:effectLst/>
                <a:uLnTx/>
                <a:uFillTx/>
                <a:latin typeface="Calibri" panose="020F0502020204030204"/>
                <a:ea typeface="Calibri" panose="020F0502020204030204"/>
                <a:cs typeface="Arial"/>
              </a:rPr>
              <a:t>ReAct (Reason + Act)</a:t>
            </a:r>
          </a:p>
          <a:p>
            <a:pPr marL="0" marR="0" lvl="0" indent="0" algn="l" defTabSz="914400" rtl="0" eaLnBrk="1" fontAlgn="auto" latinLnBrk="0" hangingPunct="1">
              <a:lnSpc>
                <a:spcPct val="100000"/>
              </a:lnSpc>
              <a:spcBef>
                <a:spcPct val="0"/>
              </a:spcBef>
              <a:spcAft>
                <a:spcPct val="0"/>
              </a:spcAft>
              <a:buClrTx/>
              <a:buSzTx/>
              <a:buFontTx/>
              <a:buNone/>
              <a:tabLst/>
              <a:defRPr/>
            </a:pPr>
            <a:r>
              <a:rPr kumimoji="0" sz="800" b="1" i="0" u="none" strike="noStrike" kern="1200" cap="none" spc="0" normalizeH="0" baseline="0" noProof="0" dirty="0">
                <a:ln>
                  <a:noFill/>
                </a:ln>
                <a:solidFill>
                  <a:prstClr val="white"/>
                </a:solidFill>
                <a:effectLst/>
                <a:uLnTx/>
                <a:uFillTx/>
                <a:latin typeface="Calibri" panose="020F0502020204030204"/>
                <a:ea typeface="Calibri" panose="020F0502020204030204"/>
                <a:cs typeface="Arial"/>
              </a:rPr>
              <a:t>Interweaving reasoning and actions.</a:t>
            </a:r>
          </a:p>
          <a:p>
            <a:pPr marL="0" marR="0" lvl="0" indent="0" algn="l" defTabSz="914400" rtl="0" eaLnBrk="1" fontAlgn="auto" latinLnBrk="0" hangingPunct="1">
              <a:lnSpc>
                <a:spcPct val="100000"/>
              </a:lnSpc>
              <a:spcBef>
                <a:spcPct val="150000"/>
              </a:spcBef>
              <a:spcAft>
                <a:spcPct val="0"/>
              </a:spcAft>
              <a:buClrTx/>
              <a:buSzTx/>
              <a:buFontTx/>
              <a:buNone/>
              <a:tabLst/>
              <a:defRPr/>
            </a:pPr>
            <a:r>
              <a:rPr kumimoji="0" sz="800" b="0" i="0" u="none" strike="noStrike" kern="1200" cap="none" spc="0" normalizeH="0" baseline="0" noProof="0" dirty="0">
                <a:ln>
                  <a:noFill/>
                </a:ln>
                <a:solidFill>
                  <a:srgbClr val="9CA3AF"/>
                </a:solidFill>
                <a:effectLst/>
                <a:uLnTx/>
                <a:uFillTx/>
                <a:latin typeface="Calibri" panose="020F0502020204030204"/>
                <a:ea typeface="Calibri" panose="020F0502020204030204"/>
                <a:cs typeface="Arial"/>
              </a:rPr>
              <a:t>Agents alternate between reasoning about what to do (Thought) and taking actions in the environment, then observing outcomes. This continuous loop enables grounded decision-making.</a:t>
            </a:r>
          </a:p>
        </p:txBody>
      </p:sp>
      <p:sp>
        <p:nvSpPr>
          <p:cNvPr id="86" name="New shape">
            <a:extLst>
              <a:ext uri="{FF2B5EF4-FFF2-40B4-BE49-F238E27FC236}">
                <a16:creationId xmlns:a16="http://schemas.microsoft.com/office/drawing/2014/main" id="{E89A3817-9977-C8F9-B2C0-148F074E8D7D}"/>
              </a:ext>
            </a:extLst>
          </p:cNvPr>
          <p:cNvSpPr/>
          <p:nvPr/>
        </p:nvSpPr>
        <p:spPr>
          <a:xfrm>
            <a:off x="698500" y="1585468"/>
            <a:ext cx="1714500" cy="0"/>
          </a:xfrm>
          <a:prstGeom prst="line">
            <a:avLst/>
          </a:prstGeom>
          <a:noFill/>
          <a:ln w="12700" cmpd="sng">
            <a:solidFill>
              <a:schemeClr val="accent6">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pic>
        <p:nvPicPr>
          <p:cNvPr id="73" name="New picture">
            <a:extLst>
              <a:ext uri="{FF2B5EF4-FFF2-40B4-BE49-F238E27FC236}">
                <a16:creationId xmlns:a16="http://schemas.microsoft.com/office/drawing/2014/main" id="{E342B291-4DBC-DE7B-F06E-6C40453DE9BE}"/>
              </a:ext>
            </a:extLst>
          </p:cNvPr>
          <p:cNvPicPr/>
          <p:nvPr>
            <p:custDataLst>
              <p:tags r:id="rId3"/>
            </p:custDataLst>
          </p:nvPr>
        </p:nvPicPr>
        <p:blipFill>
          <a:blip>
            <a:extLst>
              <a:ext uri="{96DAC541-7B7A-43D3-8B79-37D633B846F1}">
                <asvg:svgBlip xmlns:asvg="http://schemas.microsoft.com/office/drawing/2016/SVG/main" r:embed="rId15"/>
              </a:ext>
            </a:extLst>
          </a:blip>
          <a:stretch>
            <a:fillRect/>
          </a:stretch>
        </p:blipFill>
        <p:spPr>
          <a:xfrm>
            <a:off x="241300" y="2571750"/>
            <a:ext cx="317500" cy="317500"/>
          </a:xfrm>
          <a:prstGeom prst="ellipse">
            <a:avLst/>
          </a:prstGeom>
        </p:spPr>
      </p:pic>
      <p:sp>
        <p:nvSpPr>
          <p:cNvPr id="88" name="New shape">
            <a:extLst>
              <a:ext uri="{FF2B5EF4-FFF2-40B4-BE49-F238E27FC236}">
                <a16:creationId xmlns:a16="http://schemas.microsoft.com/office/drawing/2014/main" id="{05EF1DAC-3396-81E6-9347-6E66A65D8F26}"/>
              </a:ext>
            </a:extLst>
          </p:cNvPr>
          <p:cNvSpPr/>
          <p:nvPr/>
        </p:nvSpPr>
        <p:spPr>
          <a:xfrm>
            <a:off x="689356" y="2403856"/>
            <a:ext cx="1841500" cy="1016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dirty="0">
              <a:ln>
                <a:noFill/>
              </a:ln>
              <a:solidFill>
                <a:srgbClr val="ED7D31"/>
              </a:solidFill>
              <a:effectLst/>
              <a:uLnTx/>
              <a:uFillTx/>
              <a:latin typeface="Calibri" panose="020F0502020204030204"/>
              <a:ea typeface="Calibri" panose="020F0502020204030204"/>
              <a:cs typeface="Arial"/>
            </a:endParaRPr>
          </a:p>
          <a:p>
            <a:pPr marL="0" marR="0" lvl="0" indent="0" algn="l" defTabSz="914400" rtl="0" eaLnBrk="1" fontAlgn="auto" latinLnBrk="0" hangingPunct="1">
              <a:lnSpc>
                <a:spcPct val="100000"/>
              </a:lnSpc>
              <a:spcBef>
                <a:spcPct val="0"/>
              </a:spcBef>
              <a:spcAft>
                <a:spcPct val="0"/>
              </a:spcAft>
              <a:buClrTx/>
              <a:buSzTx/>
              <a:buFontTx/>
              <a:buNone/>
              <a:tabLst/>
              <a:defRPr/>
            </a:pPr>
            <a:r>
              <a:rPr kumimoji="0" sz="1000" b="1" i="0" u="none" strike="noStrike" kern="1200" cap="none" spc="0" normalizeH="0" baseline="0" noProof="0" dirty="0">
                <a:ln>
                  <a:noFill/>
                </a:ln>
                <a:solidFill>
                  <a:srgbClr val="ED7D31"/>
                </a:solidFill>
                <a:effectLst/>
                <a:uLnTx/>
                <a:uFillTx/>
                <a:latin typeface="Calibri" panose="020F0502020204030204"/>
                <a:ea typeface="Calibri" panose="020F0502020204030204"/>
                <a:cs typeface="Arial"/>
              </a:rPr>
              <a:t>Reflexion</a:t>
            </a:r>
          </a:p>
          <a:p>
            <a:pPr marL="0" marR="0" lvl="0" indent="0" algn="l" defTabSz="914400" rtl="0" eaLnBrk="1" fontAlgn="auto" latinLnBrk="0" hangingPunct="1">
              <a:lnSpc>
                <a:spcPct val="100000"/>
              </a:lnSpc>
              <a:spcBef>
                <a:spcPct val="0"/>
              </a:spcBef>
              <a:spcAft>
                <a:spcPct val="0"/>
              </a:spcAft>
              <a:buClrTx/>
              <a:buSzTx/>
              <a:buFontTx/>
              <a:buNone/>
              <a:tabLst/>
              <a:defRPr/>
            </a:pPr>
            <a:r>
              <a:rPr kumimoji="0" sz="800" b="1" i="0" u="none" strike="noStrike" kern="1200" cap="none" spc="0" normalizeH="0" baseline="0" noProof="0" dirty="0">
                <a:ln>
                  <a:noFill/>
                </a:ln>
                <a:solidFill>
                  <a:prstClr val="white"/>
                </a:solidFill>
                <a:effectLst/>
                <a:uLnTx/>
                <a:uFillTx/>
                <a:latin typeface="Calibri" panose="020F0502020204030204"/>
                <a:ea typeface="Calibri" panose="020F0502020204030204"/>
                <a:cs typeface="Arial"/>
              </a:rPr>
              <a:t>Self-reflective loops to correct errors.</a:t>
            </a:r>
          </a:p>
          <a:p>
            <a:pPr marL="0" marR="0" lvl="0" indent="0" algn="l" defTabSz="914400" rtl="0" eaLnBrk="1" fontAlgn="auto" latinLnBrk="0" hangingPunct="1">
              <a:lnSpc>
                <a:spcPct val="100000"/>
              </a:lnSpc>
              <a:spcBef>
                <a:spcPct val="150000"/>
              </a:spcBef>
              <a:spcAft>
                <a:spcPct val="0"/>
              </a:spcAft>
              <a:buClrTx/>
              <a:buSzTx/>
              <a:buFontTx/>
              <a:buNone/>
              <a:tabLst/>
              <a:defRPr/>
            </a:pPr>
            <a:r>
              <a:rPr kumimoji="0" sz="800" b="0" i="0" u="none" strike="noStrike" kern="1200" cap="none" spc="0" normalizeH="0" baseline="0" noProof="0" dirty="0">
                <a:ln>
                  <a:noFill/>
                </a:ln>
                <a:solidFill>
                  <a:srgbClr val="9CA3AF"/>
                </a:solidFill>
                <a:effectLst/>
                <a:uLnTx/>
                <a:uFillTx/>
                <a:latin typeface="Calibri" panose="020F0502020204030204"/>
                <a:ea typeface="Calibri" panose="020F0502020204030204"/>
                <a:cs typeface="Arial"/>
              </a:rPr>
              <a:t>After each observation, the agent reflects on results, identifies mistakes, and updates its memory and strategy for smarter future actions.</a:t>
            </a:r>
          </a:p>
        </p:txBody>
      </p:sp>
      <p:sp>
        <p:nvSpPr>
          <p:cNvPr id="89" name="New shape">
            <a:extLst>
              <a:ext uri="{FF2B5EF4-FFF2-40B4-BE49-F238E27FC236}">
                <a16:creationId xmlns:a16="http://schemas.microsoft.com/office/drawing/2014/main" id="{04BFA3B2-2E07-C549-9ADD-F8DECE1D9610}"/>
              </a:ext>
            </a:extLst>
          </p:cNvPr>
          <p:cNvSpPr/>
          <p:nvPr/>
        </p:nvSpPr>
        <p:spPr>
          <a:xfrm>
            <a:off x="698500" y="2928874"/>
            <a:ext cx="1714500" cy="0"/>
          </a:xfrm>
          <a:prstGeom prst="line">
            <a:avLst/>
          </a:prstGeom>
          <a:noFill/>
          <a:ln w="12700" cmpd="sng">
            <a:solidFill>
              <a:schemeClr val="accent2">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pic>
        <p:nvPicPr>
          <p:cNvPr id="74" name="New picture">
            <a:extLst>
              <a:ext uri="{FF2B5EF4-FFF2-40B4-BE49-F238E27FC236}">
                <a16:creationId xmlns:a16="http://schemas.microsoft.com/office/drawing/2014/main" id="{59396F77-5DB1-CE63-7060-B0A97BCE518E}"/>
              </a:ext>
            </a:extLst>
          </p:cNvPr>
          <p:cNvPicPr/>
          <p:nvPr>
            <p:custDataLst>
              <p:tags r:id="rId4"/>
            </p:custDataLst>
          </p:nvPr>
        </p:nvPicPr>
        <p:blipFill>
          <a:blip>
            <a:extLst>
              <a:ext uri="{96DAC541-7B7A-43D3-8B79-37D633B846F1}">
                <asvg:svgBlip xmlns:asvg="http://schemas.microsoft.com/office/drawing/2016/SVG/main" r:embed="rId16"/>
              </a:ext>
            </a:extLst>
          </a:blip>
          <a:stretch>
            <a:fillRect/>
          </a:stretch>
        </p:blipFill>
        <p:spPr>
          <a:xfrm>
            <a:off x="254000" y="3619500"/>
            <a:ext cx="317500" cy="317500"/>
          </a:xfrm>
          <a:prstGeom prst="ellipse">
            <a:avLst/>
          </a:prstGeom>
        </p:spPr>
      </p:pic>
      <p:sp>
        <p:nvSpPr>
          <p:cNvPr id="91" name="New shape">
            <a:extLst>
              <a:ext uri="{FF2B5EF4-FFF2-40B4-BE49-F238E27FC236}">
                <a16:creationId xmlns:a16="http://schemas.microsoft.com/office/drawing/2014/main" id="{B14B94E2-CFE6-D026-8CAE-81C8568343C2}"/>
              </a:ext>
            </a:extLst>
          </p:cNvPr>
          <p:cNvSpPr/>
          <p:nvPr/>
        </p:nvSpPr>
        <p:spPr>
          <a:xfrm>
            <a:off x="698500" y="3619500"/>
            <a:ext cx="1841500" cy="1016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sz="1000" b="1" i="0" u="none" strike="noStrike" kern="1200" cap="none" spc="0" normalizeH="0" baseline="0" noProof="0">
                <a:ln>
                  <a:noFill/>
                </a:ln>
                <a:solidFill>
                  <a:srgbClr val="4472C4"/>
                </a:solidFill>
                <a:effectLst/>
                <a:uLnTx/>
                <a:uFillTx/>
                <a:latin typeface="Calibri" panose="020F0502020204030204"/>
                <a:ea typeface="Calibri" panose="020F0502020204030204"/>
                <a:cs typeface="Arial"/>
              </a:rPr>
              <a:t>Plan-and-Solve</a:t>
            </a:r>
          </a:p>
          <a:p>
            <a:pPr marL="0" marR="0" lvl="0" indent="0" algn="l" defTabSz="914400" rtl="0" eaLnBrk="1" fontAlgn="auto" latinLnBrk="0" hangingPunct="1">
              <a:lnSpc>
                <a:spcPct val="100000"/>
              </a:lnSpc>
              <a:spcBef>
                <a:spcPct val="0"/>
              </a:spcBef>
              <a:spcAft>
                <a:spcPct val="0"/>
              </a:spcAft>
              <a:buClrTx/>
              <a:buSzTx/>
              <a:buFontTx/>
              <a:buNone/>
              <a:tabLst/>
              <a:defRPr/>
            </a:pPr>
            <a:r>
              <a:rPr kumimoji="0" sz="800" b="1" i="0" u="none" strike="noStrike" kern="1200" cap="none" spc="0" normalizeH="0" baseline="0" noProof="0">
                <a:ln>
                  <a:noFill/>
                </a:ln>
                <a:solidFill>
                  <a:prstClr val="white"/>
                </a:solidFill>
                <a:effectLst/>
                <a:uLnTx/>
                <a:uFillTx/>
                <a:latin typeface="Calibri" panose="020F0502020204030204"/>
                <a:ea typeface="Calibri" panose="020F0502020204030204"/>
                <a:cs typeface="Arial"/>
              </a:rPr>
              <a:t>Breaking complex tasks into sub-goals.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800" b="1"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a:p>
            <a:pPr marL="0" marR="0" lvl="0" indent="0" algn="l" defTabSz="914400" rtl="0" eaLnBrk="1" fontAlgn="auto" latinLnBrk="0" hangingPunct="1">
              <a:lnSpc>
                <a:spcPct val="100000"/>
              </a:lnSpc>
              <a:spcBef>
                <a:spcPct val="150000"/>
              </a:spcBef>
              <a:spcAft>
                <a:spcPct val="0"/>
              </a:spcAft>
              <a:buClrTx/>
              <a:buSzTx/>
              <a:buFontTx/>
              <a:buNone/>
              <a:tabLst/>
              <a:defRPr/>
            </a:pPr>
            <a:r>
              <a:rPr kumimoji="0" sz="800" b="0" i="0" u="none" strike="noStrike" kern="1200" cap="none" spc="0" normalizeH="0" baseline="0" noProof="0">
                <a:ln>
                  <a:noFill/>
                </a:ln>
                <a:solidFill>
                  <a:srgbClr val="9CA3AF"/>
                </a:solidFill>
                <a:effectLst/>
                <a:uLnTx/>
                <a:uFillTx/>
                <a:latin typeface="Calibri" panose="020F0502020204030204"/>
                <a:ea typeface="Calibri" panose="020F0502020204030204"/>
                <a:cs typeface="Arial"/>
              </a:rPr>
              <a:t>The agent decomposes high-level goals into manageable sub-goals, solves them sequentially, and integrates results to achieve the final objective.</a:t>
            </a:r>
          </a:p>
        </p:txBody>
      </p:sp>
      <p:sp>
        <p:nvSpPr>
          <p:cNvPr id="92" name="New shape">
            <a:extLst>
              <a:ext uri="{FF2B5EF4-FFF2-40B4-BE49-F238E27FC236}">
                <a16:creationId xmlns:a16="http://schemas.microsoft.com/office/drawing/2014/main" id="{5B5F67A5-D7D1-9A35-23A4-C5F53E85F635}"/>
              </a:ext>
            </a:extLst>
          </p:cNvPr>
          <p:cNvSpPr/>
          <p:nvPr/>
        </p:nvSpPr>
        <p:spPr>
          <a:xfrm>
            <a:off x="698500" y="4038600"/>
            <a:ext cx="1714500" cy="0"/>
          </a:xfrm>
          <a:prstGeom prst="line">
            <a:avLst/>
          </a:prstGeom>
          <a:noFill/>
          <a:ln w="12700" cmpd="sng">
            <a:solidFill>
              <a:schemeClr val="accent1">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sp>
        <p:nvSpPr>
          <p:cNvPr id="93" name="New shape">
            <a:extLst>
              <a:ext uri="{FF2B5EF4-FFF2-40B4-BE49-F238E27FC236}">
                <a16:creationId xmlns:a16="http://schemas.microsoft.com/office/drawing/2014/main" id="{11AA0B77-EFC1-F1DD-B44C-FD06AD523097}"/>
              </a:ext>
            </a:extLst>
          </p:cNvPr>
          <p:cNvSpPr/>
          <p:nvPr/>
        </p:nvSpPr>
        <p:spPr>
          <a:xfrm>
            <a:off x="2667000" y="1333500"/>
            <a:ext cx="6223000" cy="3048000"/>
          </a:xfrm>
          <a:prstGeom prst="roundRect">
            <a:avLst>
              <a:gd name="adj" fmla="val 4000"/>
            </a:avLst>
          </a:prstGeom>
          <a:solidFill>
            <a:srgbClr val="1A2535"/>
          </a:solidFill>
          <a:ln w="12700">
            <a:solidFill>
              <a:srgbClr val="1E3A5F"/>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endParaRPr>
          </a:p>
        </p:txBody>
      </p:sp>
      <p:sp>
        <p:nvSpPr>
          <p:cNvPr id="15" name="New shape">
            <a:extLst>
              <a:ext uri="{FF2B5EF4-FFF2-40B4-BE49-F238E27FC236}">
                <a16:creationId xmlns:a16="http://schemas.microsoft.com/office/drawing/2014/main" id="{1548CBFD-2254-1C56-D363-7AFC5E5DCF94}"/>
              </a:ext>
            </a:extLst>
          </p:cNvPr>
          <p:cNvSpPr/>
          <p:nvPr/>
        </p:nvSpPr>
        <p:spPr>
          <a:xfrm>
            <a:off x="5080000" y="1206500"/>
            <a:ext cx="1397000" cy="2540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800" b="1" i="0" u="none" strike="noStrike" kern="1200" cap="none" spc="0" normalizeH="0" baseline="0" noProof="0">
                <a:ln>
                  <a:noFill/>
                </a:ln>
                <a:solidFill>
                  <a:prstClr val="white"/>
                </a:solidFill>
                <a:effectLst/>
                <a:uLnTx/>
                <a:uFillTx/>
                <a:latin typeface="Calibri" panose="020F0502020204030204"/>
                <a:ea typeface="Calibri" panose="020F0502020204030204"/>
                <a:cs typeface="Arial"/>
              </a:rPr>
              <a:t>The AI Agent System</a:t>
            </a:r>
          </a:p>
        </p:txBody>
      </p:sp>
      <p:sp>
        <p:nvSpPr>
          <p:cNvPr id="16" name="New shape">
            <a:extLst>
              <a:ext uri="{FF2B5EF4-FFF2-40B4-BE49-F238E27FC236}">
                <a16:creationId xmlns:a16="http://schemas.microsoft.com/office/drawing/2014/main" id="{2E38F034-ADF8-AF80-80AB-2C614E2A1B01}"/>
              </a:ext>
            </a:extLst>
          </p:cNvPr>
          <p:cNvSpPr/>
          <p:nvPr/>
        </p:nvSpPr>
        <p:spPr>
          <a:xfrm>
            <a:off x="2921000" y="1587500"/>
            <a:ext cx="762000" cy="889000"/>
          </a:xfrm>
          <a:prstGeom prst="roundRect">
            <a:avLst>
              <a:gd name="adj" fmla="val 4000"/>
            </a:avLst>
          </a:prstGeom>
          <a:solidFill>
            <a:schemeClr val="accent1">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endParaRPr>
          </a:p>
        </p:txBody>
      </p:sp>
      <p:pic>
        <p:nvPicPr>
          <p:cNvPr id="75" name="New picture">
            <a:extLst>
              <a:ext uri="{FF2B5EF4-FFF2-40B4-BE49-F238E27FC236}">
                <a16:creationId xmlns:a16="http://schemas.microsoft.com/office/drawing/2014/main" id="{A4E5192D-EEB4-996C-1716-A257688587B1}"/>
              </a:ext>
            </a:extLst>
          </p:cNvPr>
          <p:cNvPicPr/>
          <p:nvPr>
            <p:custDataLst>
              <p:tags r:id="rId5"/>
            </p:custDataLst>
          </p:nvPr>
        </p:nvPicPr>
        <p:blipFill>
          <a:blip>
            <a:extLst>
              <a:ext uri="{96DAC541-7B7A-43D3-8B79-37D633B846F1}">
                <asvg:svgBlip xmlns:asvg="http://schemas.microsoft.com/office/drawing/2016/SVG/main" r:embed="rId17"/>
              </a:ext>
            </a:extLst>
          </a:blip>
          <a:stretch>
            <a:fillRect/>
          </a:stretch>
        </p:blipFill>
        <p:spPr>
          <a:xfrm>
            <a:off x="3175000" y="1651000"/>
            <a:ext cx="254000" cy="254000"/>
          </a:xfrm>
          <a:prstGeom prst="rect">
            <a:avLst/>
          </a:prstGeom>
        </p:spPr>
      </p:pic>
      <p:sp>
        <p:nvSpPr>
          <p:cNvPr id="18" name="New shape">
            <a:extLst>
              <a:ext uri="{FF2B5EF4-FFF2-40B4-BE49-F238E27FC236}">
                <a16:creationId xmlns:a16="http://schemas.microsoft.com/office/drawing/2014/main" id="{B61449E3-02E7-33E3-765F-C66E2AD0C8A9}"/>
              </a:ext>
            </a:extLst>
          </p:cNvPr>
          <p:cNvSpPr/>
          <p:nvPr/>
        </p:nvSpPr>
        <p:spPr>
          <a:xfrm>
            <a:off x="2921000" y="1905000"/>
            <a:ext cx="762000" cy="571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800" b="1" i="0" u="none" strike="noStrike" kern="1200" cap="none" spc="0" normalizeH="0" baseline="0" noProof="0">
                <a:ln>
                  <a:noFill/>
                </a:ln>
                <a:solidFill>
                  <a:prstClr val="white"/>
                </a:solidFill>
                <a:effectLst/>
                <a:uLnTx/>
                <a:uFillTx/>
                <a:latin typeface="Calibri" panose="020F0502020204030204"/>
                <a:ea typeface="Calibri" panose="020F0502020204030204"/>
                <a:cs typeface="Arial"/>
              </a:rPr>
              <a:t>LLM</a:t>
            </a:r>
          </a:p>
          <a:p>
            <a:pPr marL="0" marR="0" lvl="0" indent="0" algn="l"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rPr>
              <a:t>• Understands context</a:t>
            </a:r>
          </a:p>
          <a:p>
            <a:pPr marL="0" marR="0" lvl="0" indent="0" algn="l"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rPr>
              <a:t>• Generates reasoning</a:t>
            </a:r>
          </a:p>
          <a:p>
            <a:pPr marL="0" marR="0" lvl="0" indent="0" algn="l"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rPr>
              <a:t>• Proposes actions</a:t>
            </a:r>
          </a:p>
        </p:txBody>
      </p:sp>
      <p:sp>
        <p:nvSpPr>
          <p:cNvPr id="19" name="New shape">
            <a:extLst>
              <a:ext uri="{FF2B5EF4-FFF2-40B4-BE49-F238E27FC236}">
                <a16:creationId xmlns:a16="http://schemas.microsoft.com/office/drawing/2014/main" id="{8AB30964-405C-81EB-B3A3-FFC3A6D3C8D7}"/>
              </a:ext>
            </a:extLst>
          </p:cNvPr>
          <p:cNvSpPr/>
          <p:nvPr/>
        </p:nvSpPr>
        <p:spPr>
          <a:xfrm>
            <a:off x="4318000" y="1587500"/>
            <a:ext cx="762000" cy="889000"/>
          </a:xfrm>
          <a:prstGeom prst="roundRect">
            <a:avLst>
              <a:gd name="adj" fmla="val 4000"/>
            </a:avLst>
          </a:prstGeom>
          <a:solidFill>
            <a:schemeClr val="accent5">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endParaRPr>
          </a:p>
        </p:txBody>
      </p:sp>
      <p:pic>
        <p:nvPicPr>
          <p:cNvPr id="76" name="New picture">
            <a:extLst>
              <a:ext uri="{FF2B5EF4-FFF2-40B4-BE49-F238E27FC236}">
                <a16:creationId xmlns:a16="http://schemas.microsoft.com/office/drawing/2014/main" id="{20D41BFC-6673-0388-5510-8CE22FA61A9B}"/>
              </a:ext>
            </a:extLst>
          </p:cNvPr>
          <p:cNvPicPr/>
          <p:nvPr>
            <p:custDataLst>
              <p:tags r:id="rId6"/>
            </p:custDataLst>
          </p:nvPr>
        </p:nvPicPr>
        <p:blipFill>
          <a:blip>
            <a:extLst>
              <a:ext uri="{96DAC541-7B7A-43D3-8B79-37D633B846F1}">
                <asvg:svgBlip xmlns:asvg="http://schemas.microsoft.com/office/drawing/2016/SVG/main" r:embed="rId18"/>
              </a:ext>
            </a:extLst>
          </a:blip>
          <a:stretch>
            <a:fillRect/>
          </a:stretch>
        </p:blipFill>
        <p:spPr>
          <a:xfrm>
            <a:off x="4572000" y="1651000"/>
            <a:ext cx="254000" cy="254000"/>
          </a:xfrm>
          <a:prstGeom prst="rect">
            <a:avLst/>
          </a:prstGeom>
        </p:spPr>
      </p:pic>
      <p:sp>
        <p:nvSpPr>
          <p:cNvPr id="21" name="New shape">
            <a:extLst>
              <a:ext uri="{FF2B5EF4-FFF2-40B4-BE49-F238E27FC236}">
                <a16:creationId xmlns:a16="http://schemas.microsoft.com/office/drawing/2014/main" id="{FCE18766-1E04-EB44-9825-108793CCAE16}"/>
              </a:ext>
            </a:extLst>
          </p:cNvPr>
          <p:cNvSpPr/>
          <p:nvPr/>
        </p:nvSpPr>
        <p:spPr>
          <a:xfrm>
            <a:off x="4318000" y="1905000"/>
            <a:ext cx="762000" cy="571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800" b="1" i="0" u="none" strike="noStrike" kern="1200" cap="none" spc="0" normalizeH="0" baseline="0" noProof="0">
                <a:ln>
                  <a:noFill/>
                </a:ln>
                <a:solidFill>
                  <a:prstClr val="white"/>
                </a:solidFill>
                <a:effectLst/>
                <a:uLnTx/>
                <a:uFillTx/>
                <a:latin typeface="Calibri" panose="020F0502020204030204"/>
                <a:ea typeface="Calibri" panose="020F0502020204030204"/>
                <a:cs typeface="Arial"/>
              </a:rPr>
              <a:t>Agent</a:t>
            </a:r>
          </a:p>
          <a:p>
            <a:pPr marL="0" marR="0" lvl="0" indent="0" algn="l"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rPr>
              <a:t>• Maintains memory</a:t>
            </a:r>
          </a:p>
          <a:p>
            <a:pPr marL="0" marR="0" lvl="0" indent="0" algn="l"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rPr>
              <a:t>• Uses tools</a:t>
            </a:r>
          </a:p>
          <a:p>
            <a:pPr marL="0" marR="0" lvl="0" indent="0" algn="l"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rPr>
              <a:t>• Pursues goals</a:t>
            </a:r>
          </a:p>
        </p:txBody>
      </p:sp>
      <p:sp>
        <p:nvSpPr>
          <p:cNvPr id="94" name="New shape">
            <a:extLst>
              <a:ext uri="{FF2B5EF4-FFF2-40B4-BE49-F238E27FC236}">
                <a16:creationId xmlns:a16="http://schemas.microsoft.com/office/drawing/2014/main" id="{320280D6-9E9D-E20C-6C42-F32836902B05}"/>
              </a:ext>
            </a:extLst>
          </p:cNvPr>
          <p:cNvSpPr/>
          <p:nvPr/>
        </p:nvSpPr>
        <p:spPr>
          <a:xfrm>
            <a:off x="3683000" y="1778000"/>
            <a:ext cx="635000" cy="0"/>
          </a:xfrm>
          <a:prstGeom prst="straightConnector1">
            <a:avLst/>
          </a:prstGeom>
          <a:noFill/>
          <a:ln w="12700" cmpd="sng">
            <a:solidFill>
              <a:srgbClr val="9CA3AF"/>
            </a:solidFill>
            <a:prstDash val="solid"/>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sp>
        <p:nvSpPr>
          <p:cNvPr id="95" name="New shape">
            <a:extLst>
              <a:ext uri="{FF2B5EF4-FFF2-40B4-BE49-F238E27FC236}">
                <a16:creationId xmlns:a16="http://schemas.microsoft.com/office/drawing/2014/main" id="{4BC3D0A6-BFBA-C34D-4D11-39296FC065B5}"/>
              </a:ext>
            </a:extLst>
          </p:cNvPr>
          <p:cNvSpPr/>
          <p:nvPr/>
        </p:nvSpPr>
        <p:spPr>
          <a:xfrm>
            <a:off x="3683000" y="1524000"/>
            <a:ext cx="635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srgbClr val="9CA3AF"/>
                </a:solidFill>
                <a:effectLst/>
                <a:uLnTx/>
                <a:uFillTx/>
                <a:latin typeface="Calibri" panose="020F0502020204030204"/>
                <a:ea typeface="Calibri" panose="020F0502020204030204"/>
                <a:cs typeface="Arial"/>
              </a:rPr>
              <a:t>Reasoning &amp;</a:t>
            </a:r>
          </a:p>
          <a:p>
            <a:pPr marL="0" marR="0" lvl="0" indent="0" algn="ctr"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srgbClr val="9CA3AF"/>
                </a:solidFill>
                <a:effectLst/>
                <a:uLnTx/>
                <a:uFillTx/>
                <a:latin typeface="Calibri" panose="020F0502020204030204"/>
                <a:ea typeface="Calibri" panose="020F0502020204030204"/>
                <a:cs typeface="Arial"/>
              </a:rPr>
              <a:t>Decisions</a:t>
            </a:r>
          </a:p>
        </p:txBody>
      </p:sp>
      <p:sp>
        <p:nvSpPr>
          <p:cNvPr id="96" name="New shape">
            <a:extLst>
              <a:ext uri="{FF2B5EF4-FFF2-40B4-BE49-F238E27FC236}">
                <a16:creationId xmlns:a16="http://schemas.microsoft.com/office/drawing/2014/main" id="{A83CE95B-F4EB-D668-772F-3697F16B5213}"/>
              </a:ext>
            </a:extLst>
          </p:cNvPr>
          <p:cNvSpPr/>
          <p:nvPr/>
        </p:nvSpPr>
        <p:spPr>
          <a:xfrm flipH="1">
            <a:off x="3683000" y="2159000"/>
            <a:ext cx="635000" cy="0"/>
          </a:xfrm>
          <a:prstGeom prst="straightConnector1">
            <a:avLst/>
          </a:prstGeom>
          <a:noFill/>
          <a:ln w="12700" cmpd="sng">
            <a:solidFill>
              <a:srgbClr val="9CA3AF"/>
            </a:solidFill>
            <a:prstDash val="solid"/>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sp>
        <p:nvSpPr>
          <p:cNvPr id="97" name="New shape">
            <a:extLst>
              <a:ext uri="{FF2B5EF4-FFF2-40B4-BE49-F238E27FC236}">
                <a16:creationId xmlns:a16="http://schemas.microsoft.com/office/drawing/2014/main" id="{04D5BA1F-B0CC-75A7-5D7D-CAA8E6500D0C}"/>
              </a:ext>
            </a:extLst>
          </p:cNvPr>
          <p:cNvSpPr/>
          <p:nvPr/>
        </p:nvSpPr>
        <p:spPr>
          <a:xfrm>
            <a:off x="3683000" y="2222500"/>
            <a:ext cx="635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srgbClr val="9CA3AF"/>
                </a:solidFill>
                <a:effectLst/>
                <a:uLnTx/>
                <a:uFillTx/>
                <a:latin typeface="Calibri" panose="020F0502020204030204"/>
                <a:ea typeface="Calibri" panose="020F0502020204030204"/>
                <a:cs typeface="Arial"/>
              </a:rPr>
              <a:t>Observations &amp;</a:t>
            </a:r>
          </a:p>
          <a:p>
            <a:pPr marL="0" marR="0" lvl="0" indent="0" algn="ctr"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srgbClr val="9CA3AF"/>
                </a:solidFill>
                <a:effectLst/>
                <a:uLnTx/>
                <a:uFillTx/>
                <a:latin typeface="Calibri" panose="020F0502020204030204"/>
                <a:ea typeface="Calibri" panose="020F0502020204030204"/>
                <a:cs typeface="Arial"/>
              </a:rPr>
              <a:t>Feedback</a:t>
            </a:r>
          </a:p>
        </p:txBody>
      </p:sp>
      <p:sp>
        <p:nvSpPr>
          <p:cNvPr id="26" name="New shape">
            <a:extLst>
              <a:ext uri="{FF2B5EF4-FFF2-40B4-BE49-F238E27FC236}">
                <a16:creationId xmlns:a16="http://schemas.microsoft.com/office/drawing/2014/main" id="{9CCE4A7C-1FD0-6BF8-0786-D87969AD2425}"/>
              </a:ext>
            </a:extLst>
          </p:cNvPr>
          <p:cNvSpPr/>
          <p:nvPr/>
        </p:nvSpPr>
        <p:spPr>
          <a:xfrm>
            <a:off x="5461000" y="1587500"/>
            <a:ext cx="3175000" cy="762000"/>
          </a:xfrm>
          <a:prstGeom prst="roundRect">
            <a:avLst>
              <a:gd name="adj" fmla="val 4000"/>
            </a:avLst>
          </a:prstGeom>
          <a:noFill/>
          <a:ln w="12700">
            <a:solidFill>
              <a:schemeClr val="accent6">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endParaRPr>
          </a:p>
        </p:txBody>
      </p:sp>
      <p:sp>
        <p:nvSpPr>
          <p:cNvPr id="98" name="New shape">
            <a:extLst>
              <a:ext uri="{FF2B5EF4-FFF2-40B4-BE49-F238E27FC236}">
                <a16:creationId xmlns:a16="http://schemas.microsoft.com/office/drawing/2014/main" id="{BEDFFD5F-8056-FCAF-492C-A817D6E73F56}"/>
              </a:ext>
            </a:extLst>
          </p:cNvPr>
          <p:cNvSpPr/>
          <p:nvPr/>
        </p:nvSpPr>
        <p:spPr>
          <a:xfrm>
            <a:off x="6350000" y="1460500"/>
            <a:ext cx="1397000" cy="254000"/>
          </a:xfrm>
          <a:prstGeom prst="rect">
            <a:avLst/>
          </a:prstGeom>
          <a:solidFill>
            <a:srgbClr val="0A0E1A"/>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800" b="1" i="0" u="none" strike="noStrike" kern="1200" cap="none" spc="0" normalizeH="0" baseline="0" noProof="0" dirty="0">
                <a:ln>
                  <a:noFill/>
                </a:ln>
                <a:solidFill>
                  <a:srgbClr val="70AD47"/>
                </a:solidFill>
                <a:effectLst/>
                <a:uLnTx/>
                <a:uFillTx/>
                <a:latin typeface="Calibri" panose="020F0502020204030204"/>
                <a:ea typeface="Calibri" panose="020F0502020204030204"/>
                <a:cs typeface="Arial"/>
              </a:rPr>
              <a:t>ReAct Loop (Reason + Act)</a:t>
            </a:r>
          </a:p>
        </p:txBody>
      </p:sp>
      <p:sp>
        <p:nvSpPr>
          <p:cNvPr id="28" name="New shape">
            <a:extLst>
              <a:ext uri="{FF2B5EF4-FFF2-40B4-BE49-F238E27FC236}">
                <a16:creationId xmlns:a16="http://schemas.microsoft.com/office/drawing/2014/main" id="{03E2E934-DEA6-53A9-C36C-C99A5BB6A0F4}"/>
              </a:ext>
            </a:extLst>
          </p:cNvPr>
          <p:cNvSpPr/>
          <p:nvPr/>
        </p:nvSpPr>
        <p:spPr>
          <a:xfrm>
            <a:off x="5588000" y="1778000"/>
            <a:ext cx="698500" cy="444500"/>
          </a:xfrm>
          <a:prstGeom prst="roundRect">
            <a:avLst>
              <a:gd name="adj" fmla="val 4000"/>
            </a:avLst>
          </a:prstGeom>
          <a:solidFill>
            <a:schemeClr val="lt1">
              <a:lumMod val="95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152400" rIns="91440" bIns="4572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600" b="1" i="0" u="none" strike="noStrike" kern="1200" cap="none" spc="0" normalizeH="0" baseline="0" noProof="0">
                <a:ln>
                  <a:noFill/>
                </a:ln>
                <a:solidFill>
                  <a:prstClr val="black"/>
                </a:solidFill>
                <a:effectLst/>
                <a:uLnTx/>
                <a:uFillTx/>
                <a:latin typeface="Calibri" panose="020F0502020204030204"/>
                <a:ea typeface="Calibri" panose="020F0502020204030204"/>
                <a:cs typeface="Arial"/>
              </a:rPr>
              <a:t>Thought</a:t>
            </a:r>
          </a:p>
          <a:p>
            <a:pPr marL="0" marR="0" lvl="0" indent="0" algn="ctr"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rPr>
              <a:t>Reason about what to do</a:t>
            </a:r>
          </a:p>
        </p:txBody>
      </p:sp>
      <p:pic>
        <p:nvPicPr>
          <p:cNvPr id="77" name="New picture">
            <a:extLst>
              <a:ext uri="{FF2B5EF4-FFF2-40B4-BE49-F238E27FC236}">
                <a16:creationId xmlns:a16="http://schemas.microsoft.com/office/drawing/2014/main" id="{EEEDFB16-8296-9612-D07E-69AD2B21371A}"/>
              </a:ext>
            </a:extLst>
          </p:cNvPr>
          <p:cNvPicPr/>
          <p:nvPr>
            <p:custDataLst>
              <p:tags r:id="rId7"/>
            </p:custDataLst>
          </p:nvPr>
        </p:nvPicPr>
        <p:blipFill>
          <a:blip>
            <a:extLst>
              <a:ext uri="{96DAC541-7B7A-43D3-8B79-37D633B846F1}">
                <asvg:svgBlip xmlns:asvg="http://schemas.microsoft.com/office/drawing/2016/SVG/main" r:embed="rId19"/>
              </a:ext>
            </a:extLst>
          </a:blip>
          <a:stretch>
            <a:fillRect/>
          </a:stretch>
        </p:blipFill>
        <p:spPr>
          <a:xfrm>
            <a:off x="5854700" y="1816100"/>
            <a:ext cx="152400" cy="152400"/>
          </a:xfrm>
          <a:prstGeom prst="rect">
            <a:avLst/>
          </a:prstGeom>
        </p:spPr>
      </p:pic>
      <p:sp>
        <p:nvSpPr>
          <p:cNvPr id="30" name="New shape">
            <a:extLst>
              <a:ext uri="{FF2B5EF4-FFF2-40B4-BE49-F238E27FC236}">
                <a16:creationId xmlns:a16="http://schemas.microsoft.com/office/drawing/2014/main" id="{8C5BF336-6F7A-153A-7DF7-08D7CF952306}"/>
              </a:ext>
            </a:extLst>
          </p:cNvPr>
          <p:cNvSpPr/>
          <p:nvPr/>
        </p:nvSpPr>
        <p:spPr>
          <a:xfrm>
            <a:off x="6604000" y="1778000"/>
            <a:ext cx="698500" cy="444500"/>
          </a:xfrm>
          <a:prstGeom prst="roundRect">
            <a:avLst>
              <a:gd name="adj" fmla="val 4000"/>
            </a:avLst>
          </a:prstGeom>
          <a:solidFill>
            <a:schemeClr val="lt1">
              <a:lumMod val="95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152400" rIns="91440" bIns="4572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600" b="1" i="0" u="none" strike="noStrike" kern="1200" cap="none" spc="0" normalizeH="0" baseline="0" noProof="0">
                <a:ln>
                  <a:noFill/>
                </a:ln>
                <a:solidFill>
                  <a:prstClr val="black"/>
                </a:solidFill>
                <a:effectLst/>
                <a:uLnTx/>
                <a:uFillTx/>
                <a:latin typeface="Calibri" panose="020F0502020204030204"/>
                <a:ea typeface="Calibri" panose="020F0502020204030204"/>
                <a:cs typeface="Arial"/>
              </a:rPr>
              <a:t>Action</a:t>
            </a:r>
          </a:p>
          <a:p>
            <a:pPr marL="0" marR="0" lvl="0" indent="0" algn="ctr"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rPr>
              <a:t>Execute using tools</a:t>
            </a:r>
          </a:p>
        </p:txBody>
      </p:sp>
      <p:pic>
        <p:nvPicPr>
          <p:cNvPr id="78" name="New picture">
            <a:extLst>
              <a:ext uri="{FF2B5EF4-FFF2-40B4-BE49-F238E27FC236}">
                <a16:creationId xmlns:a16="http://schemas.microsoft.com/office/drawing/2014/main" id="{0074322F-EAC4-C3F7-3290-D3F4815566A3}"/>
              </a:ext>
            </a:extLst>
          </p:cNvPr>
          <p:cNvPicPr/>
          <p:nvPr>
            <p:custDataLst>
              <p:tags r:id="rId8"/>
            </p:custDataLst>
          </p:nvPr>
        </p:nvPicPr>
        <p:blipFill>
          <a:blip>
            <a:extLst>
              <a:ext uri="{96DAC541-7B7A-43D3-8B79-37D633B846F1}">
                <asvg:svgBlip xmlns:asvg="http://schemas.microsoft.com/office/drawing/2016/SVG/main" r:embed="rId20"/>
              </a:ext>
            </a:extLst>
          </a:blip>
          <a:stretch>
            <a:fillRect/>
          </a:stretch>
        </p:blipFill>
        <p:spPr>
          <a:xfrm>
            <a:off x="6870700" y="1816100"/>
            <a:ext cx="152400" cy="152400"/>
          </a:xfrm>
          <a:prstGeom prst="rect">
            <a:avLst/>
          </a:prstGeom>
        </p:spPr>
      </p:pic>
      <p:sp>
        <p:nvSpPr>
          <p:cNvPr id="32" name="New shape">
            <a:extLst>
              <a:ext uri="{FF2B5EF4-FFF2-40B4-BE49-F238E27FC236}">
                <a16:creationId xmlns:a16="http://schemas.microsoft.com/office/drawing/2014/main" id="{0D75A515-4FE0-A734-C4DD-2248C57D7E2C}"/>
              </a:ext>
            </a:extLst>
          </p:cNvPr>
          <p:cNvSpPr/>
          <p:nvPr/>
        </p:nvSpPr>
        <p:spPr>
          <a:xfrm>
            <a:off x="7620000" y="1778000"/>
            <a:ext cx="698500" cy="444500"/>
          </a:xfrm>
          <a:prstGeom prst="roundRect">
            <a:avLst>
              <a:gd name="adj" fmla="val 4000"/>
            </a:avLst>
          </a:prstGeom>
          <a:solidFill>
            <a:schemeClr val="lt1">
              <a:lumMod val="95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152400" rIns="91440" bIns="4572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600" b="1" i="0" u="none" strike="noStrike" kern="1200" cap="none" spc="0" normalizeH="0" baseline="0" noProof="0">
                <a:ln>
                  <a:noFill/>
                </a:ln>
                <a:solidFill>
                  <a:prstClr val="black"/>
                </a:solidFill>
                <a:effectLst/>
                <a:uLnTx/>
                <a:uFillTx/>
                <a:latin typeface="Calibri" panose="020F0502020204030204"/>
                <a:ea typeface="Calibri" panose="020F0502020204030204"/>
                <a:cs typeface="Arial"/>
              </a:rPr>
              <a:t>Observation</a:t>
            </a:r>
          </a:p>
          <a:p>
            <a:pPr marL="0" marR="0" lvl="0" indent="0" algn="ctr"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rPr>
              <a:t>Observe outcome</a:t>
            </a:r>
          </a:p>
        </p:txBody>
      </p:sp>
      <p:pic>
        <p:nvPicPr>
          <p:cNvPr id="79" name="New picture">
            <a:extLst>
              <a:ext uri="{FF2B5EF4-FFF2-40B4-BE49-F238E27FC236}">
                <a16:creationId xmlns:a16="http://schemas.microsoft.com/office/drawing/2014/main" id="{331C2C82-CD4B-86AE-13A2-20A548BF134D}"/>
              </a:ext>
            </a:extLst>
          </p:cNvPr>
          <p:cNvPicPr/>
          <p:nvPr>
            <p:custDataLst>
              <p:tags r:id="rId9"/>
            </p:custDataLst>
          </p:nvPr>
        </p:nvPicPr>
        <p:blipFill>
          <a:blip>
            <a:extLst>
              <a:ext uri="{96DAC541-7B7A-43D3-8B79-37D633B846F1}">
                <asvg:svgBlip xmlns:asvg="http://schemas.microsoft.com/office/drawing/2016/SVG/main" r:embed="rId21"/>
              </a:ext>
            </a:extLst>
          </a:blip>
          <a:stretch>
            <a:fillRect/>
          </a:stretch>
        </p:blipFill>
        <p:spPr>
          <a:xfrm>
            <a:off x="7886700" y="1816100"/>
            <a:ext cx="152400" cy="152400"/>
          </a:xfrm>
          <a:prstGeom prst="rect">
            <a:avLst/>
          </a:prstGeom>
        </p:spPr>
      </p:pic>
      <p:sp>
        <p:nvSpPr>
          <p:cNvPr id="34" name="New shape">
            <a:extLst>
              <a:ext uri="{FF2B5EF4-FFF2-40B4-BE49-F238E27FC236}">
                <a16:creationId xmlns:a16="http://schemas.microsoft.com/office/drawing/2014/main" id="{186E1861-13AA-013D-35C9-700E0EA95AC7}"/>
              </a:ext>
            </a:extLst>
          </p:cNvPr>
          <p:cNvSpPr/>
          <p:nvPr/>
        </p:nvSpPr>
        <p:spPr>
          <a:xfrm>
            <a:off x="5461000" y="2540000"/>
            <a:ext cx="3175000" cy="635000"/>
          </a:xfrm>
          <a:prstGeom prst="roundRect">
            <a:avLst>
              <a:gd name="adj" fmla="val 4000"/>
            </a:avLst>
          </a:prstGeom>
          <a:noFill/>
          <a:ln w="12700">
            <a:solidFill>
              <a:schemeClr val="accent2">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endParaRPr>
          </a:p>
        </p:txBody>
      </p:sp>
      <p:sp>
        <p:nvSpPr>
          <p:cNvPr id="99" name="New shape">
            <a:extLst>
              <a:ext uri="{FF2B5EF4-FFF2-40B4-BE49-F238E27FC236}">
                <a16:creationId xmlns:a16="http://schemas.microsoft.com/office/drawing/2014/main" id="{5B2DAE3A-D3FA-0FFD-573C-7947BA3D1B4C}"/>
              </a:ext>
            </a:extLst>
          </p:cNvPr>
          <p:cNvSpPr/>
          <p:nvPr/>
        </p:nvSpPr>
        <p:spPr>
          <a:xfrm>
            <a:off x="6096000" y="2413000"/>
            <a:ext cx="1905000" cy="254000"/>
          </a:xfrm>
          <a:prstGeom prst="rect">
            <a:avLst/>
          </a:prstGeom>
          <a:solidFill>
            <a:srgbClr val="0A0E1A"/>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800" b="1" i="0" u="none" strike="noStrike" kern="1200" cap="none" spc="0" normalizeH="0" baseline="0" noProof="0" dirty="0">
                <a:ln>
                  <a:noFill/>
                </a:ln>
                <a:solidFill>
                  <a:srgbClr val="ED7D31"/>
                </a:solidFill>
                <a:effectLst/>
                <a:uLnTx/>
                <a:uFillTx/>
                <a:latin typeface="Calibri" panose="020F0502020204030204"/>
                <a:ea typeface="Calibri" panose="020F0502020204030204"/>
                <a:cs typeface="Arial"/>
              </a:rPr>
              <a:t>Reflexion Loop (Self-Reflect &amp; Improve)</a:t>
            </a:r>
          </a:p>
        </p:txBody>
      </p:sp>
      <p:sp>
        <p:nvSpPr>
          <p:cNvPr id="36" name="New shape">
            <a:extLst>
              <a:ext uri="{FF2B5EF4-FFF2-40B4-BE49-F238E27FC236}">
                <a16:creationId xmlns:a16="http://schemas.microsoft.com/office/drawing/2014/main" id="{87BBE914-473E-57DB-56F6-1AAC57367E39}"/>
              </a:ext>
            </a:extLst>
          </p:cNvPr>
          <p:cNvSpPr/>
          <p:nvPr/>
        </p:nvSpPr>
        <p:spPr>
          <a:xfrm>
            <a:off x="5588000" y="2667000"/>
            <a:ext cx="698500" cy="381000"/>
          </a:xfrm>
          <a:prstGeom prst="roundRect">
            <a:avLst>
              <a:gd name="adj" fmla="val 4000"/>
            </a:avLst>
          </a:prstGeom>
          <a:solidFill>
            <a:schemeClr val="accent2">
              <a:lumMod val="20000"/>
              <a:lumOff val="8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127000" rIns="91440" bIns="4572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600" b="1" i="0" u="none" strike="noStrike" kern="1200" cap="none" spc="0" normalizeH="0" baseline="0" noProof="0">
                <a:ln>
                  <a:noFill/>
                </a:ln>
                <a:solidFill>
                  <a:prstClr val="black"/>
                </a:solidFill>
                <a:effectLst/>
                <a:uLnTx/>
                <a:uFillTx/>
                <a:latin typeface="Calibri" panose="020F0502020204030204"/>
                <a:ea typeface="Calibri" panose="020F0502020204030204"/>
                <a:cs typeface="Arial"/>
              </a:rPr>
              <a:t>Evaluate</a:t>
            </a:r>
          </a:p>
          <a:p>
            <a:pPr marL="0" marR="0" lvl="0" indent="0" algn="ctr"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rPr>
              <a:t>Assess outcome</a:t>
            </a:r>
          </a:p>
        </p:txBody>
      </p:sp>
      <p:pic>
        <p:nvPicPr>
          <p:cNvPr id="80" name="New picture">
            <a:extLst>
              <a:ext uri="{FF2B5EF4-FFF2-40B4-BE49-F238E27FC236}">
                <a16:creationId xmlns:a16="http://schemas.microsoft.com/office/drawing/2014/main" id="{9346D679-F16E-E5BD-D817-8414CFF61D57}"/>
              </a:ext>
            </a:extLst>
          </p:cNvPr>
          <p:cNvPicPr/>
          <p:nvPr>
            <p:custDataLst>
              <p:tags r:id="rId10"/>
            </p:custDataLst>
          </p:nvPr>
        </p:nvPicPr>
        <p:blipFill>
          <a:blip>
            <a:extLst>
              <a:ext uri="{96DAC541-7B7A-43D3-8B79-37D633B846F1}">
                <asvg:svgBlip xmlns:asvg="http://schemas.microsoft.com/office/drawing/2016/SVG/main" r:embed="rId22"/>
              </a:ext>
            </a:extLst>
          </a:blip>
          <a:stretch>
            <a:fillRect/>
          </a:stretch>
        </p:blipFill>
        <p:spPr>
          <a:xfrm>
            <a:off x="5867400" y="2692400"/>
            <a:ext cx="127000" cy="127000"/>
          </a:xfrm>
          <a:prstGeom prst="rect">
            <a:avLst/>
          </a:prstGeom>
        </p:spPr>
      </p:pic>
      <p:sp>
        <p:nvSpPr>
          <p:cNvPr id="38" name="New shape">
            <a:extLst>
              <a:ext uri="{FF2B5EF4-FFF2-40B4-BE49-F238E27FC236}">
                <a16:creationId xmlns:a16="http://schemas.microsoft.com/office/drawing/2014/main" id="{E53AAFE6-54DB-32C3-3912-F2A95E85D3C2}"/>
              </a:ext>
            </a:extLst>
          </p:cNvPr>
          <p:cNvSpPr/>
          <p:nvPr/>
        </p:nvSpPr>
        <p:spPr>
          <a:xfrm>
            <a:off x="6604000" y="2667000"/>
            <a:ext cx="698500" cy="381000"/>
          </a:xfrm>
          <a:prstGeom prst="roundRect">
            <a:avLst>
              <a:gd name="adj" fmla="val 4000"/>
            </a:avLst>
          </a:prstGeom>
          <a:solidFill>
            <a:schemeClr val="accent2">
              <a:lumMod val="20000"/>
              <a:lumOff val="8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127000" rIns="91440" bIns="4572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600" b="1" i="0" u="none" strike="noStrike" kern="1200" cap="none" spc="0" normalizeH="0" baseline="0" noProof="0">
                <a:ln>
                  <a:noFill/>
                </a:ln>
                <a:solidFill>
                  <a:prstClr val="black"/>
                </a:solidFill>
                <a:effectLst/>
                <a:uLnTx/>
                <a:uFillTx/>
                <a:latin typeface="Calibri" panose="020F0502020204030204"/>
                <a:ea typeface="Calibri" panose="020F0502020204030204"/>
                <a:cs typeface="Arial"/>
              </a:rPr>
              <a:t>Diagnose</a:t>
            </a:r>
          </a:p>
          <a:p>
            <a:pPr marL="0" marR="0" lvl="0" indent="0" algn="ctr"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rPr>
              <a:t>Identify errors</a:t>
            </a:r>
          </a:p>
        </p:txBody>
      </p:sp>
      <p:pic>
        <p:nvPicPr>
          <p:cNvPr id="81" name="New picture">
            <a:extLst>
              <a:ext uri="{FF2B5EF4-FFF2-40B4-BE49-F238E27FC236}">
                <a16:creationId xmlns:a16="http://schemas.microsoft.com/office/drawing/2014/main" id="{ED677800-CED6-67D7-71ED-3C56F0D92803}"/>
              </a:ext>
            </a:extLst>
          </p:cNvPr>
          <p:cNvPicPr/>
          <p:nvPr>
            <p:custDataLst>
              <p:tags r:id="rId11"/>
            </p:custDataLst>
          </p:nvPr>
        </p:nvPicPr>
        <p:blipFill>
          <a:blip>
            <a:extLst>
              <a:ext uri="{96DAC541-7B7A-43D3-8B79-37D633B846F1}">
                <asvg:svgBlip xmlns:asvg="http://schemas.microsoft.com/office/drawing/2016/SVG/main" r:embed="rId23"/>
              </a:ext>
            </a:extLst>
          </a:blip>
          <a:stretch>
            <a:fillRect/>
          </a:stretch>
        </p:blipFill>
        <p:spPr>
          <a:xfrm>
            <a:off x="6883400" y="2692400"/>
            <a:ext cx="127000" cy="127000"/>
          </a:xfrm>
          <a:prstGeom prst="rect">
            <a:avLst/>
          </a:prstGeom>
        </p:spPr>
      </p:pic>
      <p:sp>
        <p:nvSpPr>
          <p:cNvPr id="40" name="New shape">
            <a:extLst>
              <a:ext uri="{FF2B5EF4-FFF2-40B4-BE49-F238E27FC236}">
                <a16:creationId xmlns:a16="http://schemas.microsoft.com/office/drawing/2014/main" id="{2AC6CC09-671D-C793-E508-D59C2E63F109}"/>
              </a:ext>
            </a:extLst>
          </p:cNvPr>
          <p:cNvSpPr/>
          <p:nvPr/>
        </p:nvSpPr>
        <p:spPr>
          <a:xfrm>
            <a:off x="7620000" y="2667000"/>
            <a:ext cx="698500" cy="381000"/>
          </a:xfrm>
          <a:prstGeom prst="roundRect">
            <a:avLst>
              <a:gd name="adj" fmla="val 4000"/>
            </a:avLst>
          </a:prstGeom>
          <a:solidFill>
            <a:schemeClr val="accent2">
              <a:lumMod val="20000"/>
              <a:lumOff val="8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127000" rIns="91440" bIns="4572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600" b="1" i="0" u="none" strike="noStrike" kern="1200" cap="none" spc="0" normalizeH="0" baseline="0" noProof="0">
                <a:ln>
                  <a:noFill/>
                </a:ln>
                <a:solidFill>
                  <a:prstClr val="black"/>
                </a:solidFill>
                <a:effectLst/>
                <a:uLnTx/>
                <a:uFillTx/>
                <a:latin typeface="Calibri" panose="020F0502020204030204"/>
                <a:ea typeface="Calibri" panose="020F0502020204030204"/>
                <a:cs typeface="Arial"/>
              </a:rPr>
              <a:t>Learn</a:t>
            </a:r>
          </a:p>
          <a:p>
            <a:pPr marL="0" marR="0" lvl="0" indent="0" algn="ctr"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rPr>
              <a:t>Update memory</a:t>
            </a:r>
          </a:p>
        </p:txBody>
      </p:sp>
      <p:pic>
        <p:nvPicPr>
          <p:cNvPr id="82" name="New picture">
            <a:extLst>
              <a:ext uri="{FF2B5EF4-FFF2-40B4-BE49-F238E27FC236}">
                <a16:creationId xmlns:a16="http://schemas.microsoft.com/office/drawing/2014/main" id="{98241C81-E292-527C-3F13-F2B7A61180E9}"/>
              </a:ext>
            </a:extLst>
          </p:cNvPr>
          <p:cNvPicPr/>
          <p:nvPr>
            <p:custDataLst>
              <p:tags r:id="rId12"/>
            </p:custDataLst>
          </p:nvPr>
        </p:nvPicPr>
        <p:blipFill>
          <a:blip>
            <a:extLst>
              <a:ext uri="{96DAC541-7B7A-43D3-8B79-37D633B846F1}">
                <asvg:svgBlip xmlns:asvg="http://schemas.microsoft.com/office/drawing/2016/SVG/main" r:embed="rId24"/>
              </a:ext>
            </a:extLst>
          </a:blip>
          <a:stretch>
            <a:fillRect/>
          </a:stretch>
        </p:blipFill>
        <p:spPr>
          <a:xfrm>
            <a:off x="7899400" y="2692400"/>
            <a:ext cx="127000" cy="127000"/>
          </a:xfrm>
          <a:prstGeom prst="rect">
            <a:avLst/>
          </a:prstGeom>
        </p:spPr>
      </p:pic>
      <p:sp>
        <p:nvSpPr>
          <p:cNvPr id="42" name="New shape">
            <a:extLst>
              <a:ext uri="{FF2B5EF4-FFF2-40B4-BE49-F238E27FC236}">
                <a16:creationId xmlns:a16="http://schemas.microsoft.com/office/drawing/2014/main" id="{9D516B0A-0367-1106-5A1D-72161A08072B}"/>
              </a:ext>
            </a:extLst>
          </p:cNvPr>
          <p:cNvSpPr/>
          <p:nvPr/>
        </p:nvSpPr>
        <p:spPr>
          <a:xfrm>
            <a:off x="4064000" y="3492500"/>
            <a:ext cx="3556000" cy="635000"/>
          </a:xfrm>
          <a:prstGeom prst="roundRect">
            <a:avLst>
              <a:gd name="adj" fmla="val 4000"/>
            </a:avLst>
          </a:prstGeom>
          <a:noFill/>
          <a:ln w="12700">
            <a:solidFill>
              <a:schemeClr val="accent1">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endParaRPr>
          </a:p>
        </p:txBody>
      </p:sp>
      <p:sp>
        <p:nvSpPr>
          <p:cNvPr id="100" name="New shape">
            <a:extLst>
              <a:ext uri="{FF2B5EF4-FFF2-40B4-BE49-F238E27FC236}">
                <a16:creationId xmlns:a16="http://schemas.microsoft.com/office/drawing/2014/main" id="{0791B107-A5D7-495E-92A1-EC5ED4550B32}"/>
              </a:ext>
            </a:extLst>
          </p:cNvPr>
          <p:cNvSpPr/>
          <p:nvPr/>
        </p:nvSpPr>
        <p:spPr>
          <a:xfrm>
            <a:off x="4572000" y="3365500"/>
            <a:ext cx="2540000" cy="254000"/>
          </a:xfrm>
          <a:prstGeom prst="rect">
            <a:avLst/>
          </a:prstGeom>
          <a:solidFill>
            <a:srgbClr val="0A0E1A"/>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800" b="1" i="0" u="none" strike="noStrike" kern="1200" cap="none" spc="0" normalizeH="0" baseline="0" noProof="0">
                <a:ln>
                  <a:noFill/>
                </a:ln>
                <a:solidFill>
                  <a:srgbClr val="4472C4"/>
                </a:solidFill>
                <a:effectLst/>
                <a:uLnTx/>
                <a:uFillTx/>
                <a:latin typeface="Calibri" panose="020F0502020204030204"/>
                <a:ea typeface="Calibri" panose="020F0502020204030204"/>
                <a:cs typeface="Arial"/>
              </a:rPr>
              <a:t>Plan-and-Solve (Decompose &amp; Conquer)</a:t>
            </a:r>
          </a:p>
        </p:txBody>
      </p:sp>
      <p:sp>
        <p:nvSpPr>
          <p:cNvPr id="44" name="New shape">
            <a:extLst>
              <a:ext uri="{FF2B5EF4-FFF2-40B4-BE49-F238E27FC236}">
                <a16:creationId xmlns:a16="http://schemas.microsoft.com/office/drawing/2014/main" id="{75AB2647-CAB1-542A-6025-54F84AFB5C55}"/>
              </a:ext>
            </a:extLst>
          </p:cNvPr>
          <p:cNvSpPr/>
          <p:nvPr/>
        </p:nvSpPr>
        <p:spPr>
          <a:xfrm>
            <a:off x="2794000" y="3619500"/>
            <a:ext cx="952500" cy="381000"/>
          </a:xfrm>
          <a:prstGeom prst="roundRect">
            <a:avLst>
              <a:gd name="adj" fmla="val 4000"/>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600" b="1" i="0" u="none" strike="noStrike" kern="1200" cap="none" spc="0" normalizeH="0" baseline="0" noProof="0" dirty="0">
                <a:ln>
                  <a:noFill/>
                </a:ln>
                <a:solidFill>
                  <a:prstClr val="white"/>
                </a:solidFill>
                <a:effectLst/>
                <a:uLnTx/>
                <a:uFillTx/>
                <a:latin typeface="Calibri" panose="020F0502020204030204"/>
                <a:ea typeface="Calibri" panose="020F0502020204030204"/>
                <a:cs typeface="Arial"/>
              </a:rPr>
              <a:t>High-Level Goal</a:t>
            </a:r>
          </a:p>
          <a:p>
            <a:pPr marL="0" marR="0" lvl="0" indent="0" algn="ctr"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dirty="0">
                <a:ln>
                  <a:noFill/>
                </a:ln>
                <a:solidFill>
                  <a:prstClr val="white"/>
                </a:solidFill>
                <a:effectLst/>
                <a:uLnTx/>
                <a:uFillTx/>
                <a:latin typeface="Calibri" panose="020F0502020204030204"/>
                <a:ea typeface="Calibri" panose="020F0502020204030204"/>
                <a:cs typeface="Arial"/>
              </a:rPr>
              <a:t>Define ultimate objective</a:t>
            </a:r>
          </a:p>
        </p:txBody>
      </p:sp>
      <p:sp>
        <p:nvSpPr>
          <p:cNvPr id="45" name="New shape">
            <a:extLst>
              <a:ext uri="{FF2B5EF4-FFF2-40B4-BE49-F238E27FC236}">
                <a16:creationId xmlns:a16="http://schemas.microsoft.com/office/drawing/2014/main" id="{B3E3455B-A439-01B1-0431-5E31D0DA3EAC}"/>
              </a:ext>
            </a:extLst>
          </p:cNvPr>
          <p:cNvSpPr/>
          <p:nvPr/>
        </p:nvSpPr>
        <p:spPr>
          <a:xfrm>
            <a:off x="4191000" y="3619500"/>
            <a:ext cx="762000" cy="381000"/>
          </a:xfrm>
          <a:prstGeom prst="roundRect">
            <a:avLst>
              <a:gd name="adj" fmla="val 4000"/>
            </a:avLst>
          </a:prstGeom>
          <a:solidFill>
            <a:schemeClr val="accent1">
              <a:lumMod val="20000"/>
              <a:lumOff val="8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6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Arial"/>
              </a:rPr>
              <a:t>Sub-goal 1</a:t>
            </a:r>
          </a:p>
          <a:p>
            <a:pPr marL="0" marR="0" lvl="0" indent="0" algn="ctr"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Arial"/>
              </a:rPr>
              <a:t>Solve using ReAct</a:t>
            </a:r>
          </a:p>
        </p:txBody>
      </p:sp>
      <p:sp>
        <p:nvSpPr>
          <p:cNvPr id="46" name="New shape">
            <a:extLst>
              <a:ext uri="{FF2B5EF4-FFF2-40B4-BE49-F238E27FC236}">
                <a16:creationId xmlns:a16="http://schemas.microsoft.com/office/drawing/2014/main" id="{68631660-FD5A-4C12-1111-E499BBB028F3}"/>
              </a:ext>
            </a:extLst>
          </p:cNvPr>
          <p:cNvSpPr/>
          <p:nvPr/>
        </p:nvSpPr>
        <p:spPr>
          <a:xfrm>
            <a:off x="5207000" y="3619500"/>
            <a:ext cx="762000" cy="381000"/>
          </a:xfrm>
          <a:prstGeom prst="roundRect">
            <a:avLst>
              <a:gd name="adj" fmla="val 4000"/>
            </a:avLst>
          </a:prstGeom>
          <a:solidFill>
            <a:schemeClr val="accent1">
              <a:lumMod val="20000"/>
              <a:lumOff val="8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6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Arial"/>
              </a:rPr>
              <a:t>Sub-goal 2</a:t>
            </a:r>
          </a:p>
          <a:p>
            <a:pPr marL="0" marR="0" lvl="0" indent="0" algn="ctr"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Arial"/>
              </a:rPr>
              <a:t>Solve using ReAct</a:t>
            </a:r>
          </a:p>
        </p:txBody>
      </p:sp>
      <p:sp>
        <p:nvSpPr>
          <p:cNvPr id="47" name="New shape">
            <a:extLst>
              <a:ext uri="{FF2B5EF4-FFF2-40B4-BE49-F238E27FC236}">
                <a16:creationId xmlns:a16="http://schemas.microsoft.com/office/drawing/2014/main" id="{BB3F58E2-DA41-B1BC-02FA-77AF4057FC9D}"/>
              </a:ext>
            </a:extLst>
          </p:cNvPr>
          <p:cNvSpPr/>
          <p:nvPr/>
        </p:nvSpPr>
        <p:spPr>
          <a:xfrm>
            <a:off x="6032500" y="3683000"/>
            <a:ext cx="508000" cy="25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1000" b="0" i="0" u="none" strike="noStrike" kern="1200" cap="none" spc="0" normalizeH="0" baseline="0" noProof="0">
                <a:ln>
                  <a:noFill/>
                </a:ln>
                <a:solidFill>
                  <a:srgbClr val="4472C4"/>
                </a:solidFill>
                <a:effectLst/>
                <a:uLnTx/>
                <a:uFillTx/>
                <a:latin typeface="Calibri" panose="020F0502020204030204"/>
                <a:ea typeface="Calibri" panose="020F0502020204030204"/>
                <a:cs typeface="Arial"/>
              </a:rPr>
              <a:t>• • •</a:t>
            </a:r>
          </a:p>
        </p:txBody>
      </p:sp>
      <p:sp>
        <p:nvSpPr>
          <p:cNvPr id="48" name="New shape">
            <a:extLst>
              <a:ext uri="{FF2B5EF4-FFF2-40B4-BE49-F238E27FC236}">
                <a16:creationId xmlns:a16="http://schemas.microsoft.com/office/drawing/2014/main" id="{A13A35E4-9C2F-AA40-BE8C-28855199AABD}"/>
              </a:ext>
            </a:extLst>
          </p:cNvPr>
          <p:cNvSpPr/>
          <p:nvPr/>
        </p:nvSpPr>
        <p:spPr>
          <a:xfrm>
            <a:off x="6604000" y="3619500"/>
            <a:ext cx="762000" cy="381000"/>
          </a:xfrm>
          <a:prstGeom prst="roundRect">
            <a:avLst>
              <a:gd name="adj" fmla="val 4000"/>
            </a:avLst>
          </a:prstGeom>
          <a:solidFill>
            <a:schemeClr val="accent1">
              <a:lumMod val="20000"/>
              <a:lumOff val="8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600" b="1" i="0" u="none" strike="noStrike" kern="1200" cap="none" spc="0" normalizeH="0" baseline="0" noProof="0" dirty="0">
                <a:ln>
                  <a:noFill/>
                </a:ln>
                <a:solidFill>
                  <a:prstClr val="black"/>
                </a:solidFill>
                <a:effectLst/>
                <a:uLnTx/>
                <a:uFillTx/>
                <a:latin typeface="Calibri" panose="020F0502020204030204"/>
                <a:ea typeface="Calibri" panose="020F0502020204030204"/>
                <a:cs typeface="Arial"/>
              </a:rPr>
              <a:t>Sub-goal N</a:t>
            </a:r>
          </a:p>
          <a:p>
            <a:pPr marL="0" marR="0" lvl="0" indent="0" algn="ctr"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dirty="0">
                <a:ln>
                  <a:noFill/>
                </a:ln>
                <a:solidFill>
                  <a:prstClr val="black"/>
                </a:solidFill>
                <a:effectLst/>
                <a:uLnTx/>
                <a:uFillTx/>
                <a:latin typeface="Calibri" panose="020F0502020204030204"/>
                <a:ea typeface="Calibri" panose="020F0502020204030204"/>
                <a:cs typeface="Arial"/>
              </a:rPr>
              <a:t>Solve using ReAct</a:t>
            </a:r>
          </a:p>
        </p:txBody>
      </p:sp>
      <p:sp>
        <p:nvSpPr>
          <p:cNvPr id="49" name="New shape">
            <a:extLst>
              <a:ext uri="{FF2B5EF4-FFF2-40B4-BE49-F238E27FC236}">
                <a16:creationId xmlns:a16="http://schemas.microsoft.com/office/drawing/2014/main" id="{02634935-05EA-1527-2CCB-05BA060DBCA3}"/>
              </a:ext>
            </a:extLst>
          </p:cNvPr>
          <p:cNvSpPr/>
          <p:nvPr/>
        </p:nvSpPr>
        <p:spPr>
          <a:xfrm>
            <a:off x="7810500" y="3619500"/>
            <a:ext cx="952500" cy="381000"/>
          </a:xfrm>
          <a:prstGeom prst="roundRect">
            <a:avLst>
              <a:gd name="adj" fmla="val 4000"/>
            </a:avLst>
          </a:prstGeom>
          <a:solidFill>
            <a:schemeClr val="dk2">
              <a:lumMod val="5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sz="600" b="1" i="0" u="none" strike="noStrike" kern="1200" cap="none" spc="0" normalizeH="0" baseline="0" noProof="0">
                <a:ln>
                  <a:noFill/>
                </a:ln>
                <a:solidFill>
                  <a:prstClr val="white"/>
                </a:solidFill>
                <a:effectLst/>
                <a:uLnTx/>
                <a:uFillTx/>
                <a:latin typeface="Calibri" panose="020F0502020204030204"/>
                <a:ea typeface="Calibri" panose="020F0502020204030204"/>
                <a:cs typeface="Arial"/>
              </a:rPr>
              <a:t>Final Output</a:t>
            </a:r>
          </a:p>
          <a:p>
            <a:pPr marL="0" marR="0" lvl="0" indent="0" algn="ctr" defTabSz="914400" rtl="0" eaLnBrk="1" fontAlgn="auto" latinLnBrk="0" hangingPunct="1">
              <a:lnSpc>
                <a:spcPct val="100000"/>
              </a:lnSpc>
              <a:spcBef>
                <a:spcPct val="0"/>
              </a:spcBef>
              <a:spcAft>
                <a:spcPct val="0"/>
              </a:spcAft>
              <a:buClrTx/>
              <a:buSzTx/>
              <a:buFontTx/>
              <a:buNone/>
              <a:tabLst/>
              <a:defRPr/>
            </a:pPr>
            <a:r>
              <a:rPr kumimoji="0" sz="5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rPr>
              <a:t>Integrate results</a:t>
            </a:r>
          </a:p>
        </p:txBody>
      </p:sp>
      <p:sp>
        <p:nvSpPr>
          <p:cNvPr id="50" name="New shape">
            <a:extLst>
              <a:ext uri="{FF2B5EF4-FFF2-40B4-BE49-F238E27FC236}">
                <a16:creationId xmlns:a16="http://schemas.microsoft.com/office/drawing/2014/main" id="{09890E88-1715-EA23-908E-B3205007E235}"/>
              </a:ext>
            </a:extLst>
          </p:cNvPr>
          <p:cNvSpPr/>
          <p:nvPr/>
        </p:nvSpPr>
        <p:spPr>
          <a:xfrm>
            <a:off x="2667000" y="4572000"/>
            <a:ext cx="152400" cy="152400"/>
          </a:xfrm>
          <a:prstGeom prst="roundRect">
            <a:avLst>
              <a:gd name="adj" fmla="val 4000"/>
            </a:avLst>
          </a:prstGeom>
          <a:solidFill>
            <a:schemeClr val="accent1">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endParaRPr>
          </a:p>
        </p:txBody>
      </p:sp>
      <p:sp>
        <p:nvSpPr>
          <p:cNvPr id="101" name="New shape">
            <a:extLst>
              <a:ext uri="{FF2B5EF4-FFF2-40B4-BE49-F238E27FC236}">
                <a16:creationId xmlns:a16="http://schemas.microsoft.com/office/drawing/2014/main" id="{D86CC524-D4F3-E9F2-0132-ADB81798AA20}"/>
              </a:ext>
            </a:extLst>
          </p:cNvPr>
          <p:cNvSpPr/>
          <p:nvPr/>
        </p:nvSpPr>
        <p:spPr>
          <a:xfrm>
            <a:off x="2857500" y="4546600"/>
            <a:ext cx="13335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sz="900" b="1" i="0" u="none" strike="noStrike" kern="1200" cap="none" spc="0" normalizeH="0" baseline="0" noProof="0">
                <a:ln>
                  <a:noFill/>
                </a:ln>
                <a:solidFill>
                  <a:srgbClr val="4472C4"/>
                </a:solidFill>
                <a:effectLst/>
                <a:uLnTx/>
                <a:uFillTx/>
                <a:latin typeface="Calibri" panose="020F0502020204030204"/>
                <a:ea typeface="Calibri" panose="020F0502020204030204"/>
                <a:cs typeface="Arial"/>
              </a:rPr>
              <a:t>LLM</a:t>
            </a:r>
          </a:p>
          <a:p>
            <a:pPr marL="0" marR="0" lvl="0" indent="0" algn="l" defTabSz="914400" rtl="0" eaLnBrk="1" fontAlgn="auto" latinLnBrk="0" hangingPunct="1">
              <a:lnSpc>
                <a:spcPct val="100000"/>
              </a:lnSpc>
              <a:spcBef>
                <a:spcPct val="0"/>
              </a:spcBef>
              <a:spcAft>
                <a:spcPct val="0"/>
              </a:spcAft>
              <a:buClrTx/>
              <a:buSzTx/>
              <a:buFontTx/>
              <a:buNone/>
              <a:tabLst/>
              <a:defRPr/>
            </a:pPr>
            <a:r>
              <a:rPr kumimoji="0" sz="600" b="0" i="0" u="none" strike="noStrike" kern="1200" cap="none" spc="0" normalizeH="0" baseline="0" noProof="0">
                <a:ln>
                  <a:noFill/>
                </a:ln>
                <a:solidFill>
                  <a:srgbClr val="D1D5DB"/>
                </a:solidFill>
                <a:effectLst/>
                <a:uLnTx/>
                <a:uFillTx/>
                <a:latin typeface="Calibri" panose="020F0502020204030204"/>
                <a:ea typeface="Calibri" panose="020F0502020204030204"/>
                <a:cs typeface="Arial"/>
              </a:rPr>
              <a:t>Large Language Model that reasons and generates responses.</a:t>
            </a:r>
          </a:p>
        </p:txBody>
      </p:sp>
      <p:sp>
        <p:nvSpPr>
          <p:cNvPr id="52" name="New shape">
            <a:extLst>
              <a:ext uri="{FF2B5EF4-FFF2-40B4-BE49-F238E27FC236}">
                <a16:creationId xmlns:a16="http://schemas.microsoft.com/office/drawing/2014/main" id="{AD934C88-84DF-6585-44F2-50FF5E7DD1A1}"/>
              </a:ext>
            </a:extLst>
          </p:cNvPr>
          <p:cNvSpPr/>
          <p:nvPr/>
        </p:nvSpPr>
        <p:spPr>
          <a:xfrm>
            <a:off x="4254500" y="4572000"/>
            <a:ext cx="152400" cy="152400"/>
          </a:xfrm>
          <a:prstGeom prst="roundRect">
            <a:avLst>
              <a:gd name="adj" fmla="val 4000"/>
            </a:avLst>
          </a:prstGeom>
          <a:solidFill>
            <a:schemeClr val="accent5">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endParaRPr>
          </a:p>
        </p:txBody>
      </p:sp>
      <p:sp>
        <p:nvSpPr>
          <p:cNvPr id="102" name="New shape">
            <a:extLst>
              <a:ext uri="{FF2B5EF4-FFF2-40B4-BE49-F238E27FC236}">
                <a16:creationId xmlns:a16="http://schemas.microsoft.com/office/drawing/2014/main" id="{91CA569D-583A-E18E-BF55-0DC771F266B5}"/>
              </a:ext>
            </a:extLst>
          </p:cNvPr>
          <p:cNvSpPr/>
          <p:nvPr/>
        </p:nvSpPr>
        <p:spPr>
          <a:xfrm>
            <a:off x="4445000" y="4546600"/>
            <a:ext cx="13335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sz="900" b="1" i="0" u="none" strike="noStrike" kern="1200" cap="none" spc="0" normalizeH="0" baseline="0" noProof="0">
                <a:ln>
                  <a:noFill/>
                </a:ln>
                <a:solidFill>
                  <a:srgbClr val="5B9BD5"/>
                </a:solidFill>
                <a:effectLst/>
                <a:uLnTx/>
                <a:uFillTx/>
                <a:latin typeface="Calibri" panose="020F0502020204030204"/>
                <a:ea typeface="Calibri" panose="020F0502020204030204"/>
                <a:cs typeface="Arial"/>
              </a:rPr>
              <a:t>Agent</a:t>
            </a:r>
          </a:p>
          <a:p>
            <a:pPr marL="0" marR="0" lvl="0" indent="0" algn="l" defTabSz="914400" rtl="0" eaLnBrk="1" fontAlgn="auto" latinLnBrk="0" hangingPunct="1">
              <a:lnSpc>
                <a:spcPct val="100000"/>
              </a:lnSpc>
              <a:spcBef>
                <a:spcPct val="0"/>
              </a:spcBef>
              <a:spcAft>
                <a:spcPct val="0"/>
              </a:spcAft>
              <a:buClrTx/>
              <a:buSzTx/>
              <a:buFontTx/>
              <a:buNone/>
              <a:tabLst/>
              <a:defRPr/>
            </a:pPr>
            <a:r>
              <a:rPr kumimoji="0" sz="600" b="0" i="0" u="none" strike="noStrike" kern="1200" cap="none" spc="0" normalizeH="0" baseline="0" noProof="0">
                <a:ln>
                  <a:noFill/>
                </a:ln>
                <a:solidFill>
                  <a:srgbClr val="D1D5DB"/>
                </a:solidFill>
                <a:effectLst/>
                <a:uLnTx/>
                <a:uFillTx/>
                <a:latin typeface="Calibri" panose="020F0502020204030204"/>
                <a:ea typeface="Calibri" panose="020F0502020204030204"/>
                <a:cs typeface="Arial"/>
              </a:rPr>
              <a:t>Orchestrator that leverages LLM, memory, tools, and goals.</a:t>
            </a:r>
          </a:p>
        </p:txBody>
      </p:sp>
      <p:sp>
        <p:nvSpPr>
          <p:cNvPr id="54" name="New shape">
            <a:extLst>
              <a:ext uri="{FF2B5EF4-FFF2-40B4-BE49-F238E27FC236}">
                <a16:creationId xmlns:a16="http://schemas.microsoft.com/office/drawing/2014/main" id="{8A62B112-6C0C-6A4A-9347-C06AA420BF71}"/>
              </a:ext>
            </a:extLst>
          </p:cNvPr>
          <p:cNvSpPr/>
          <p:nvPr/>
        </p:nvSpPr>
        <p:spPr>
          <a:xfrm>
            <a:off x="5842000" y="4572000"/>
            <a:ext cx="152400" cy="152400"/>
          </a:xfrm>
          <a:prstGeom prst="roundRect">
            <a:avLst>
              <a:gd name="adj" fmla="val 4000"/>
            </a:avLst>
          </a:prstGeom>
          <a:solidFill>
            <a:schemeClr val="accent6">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endParaRPr>
          </a:p>
        </p:txBody>
      </p:sp>
      <p:sp>
        <p:nvSpPr>
          <p:cNvPr id="103" name="New shape">
            <a:extLst>
              <a:ext uri="{FF2B5EF4-FFF2-40B4-BE49-F238E27FC236}">
                <a16:creationId xmlns:a16="http://schemas.microsoft.com/office/drawing/2014/main" id="{15AEA252-BA9A-C9BF-995D-9E5D2E904E51}"/>
              </a:ext>
            </a:extLst>
          </p:cNvPr>
          <p:cNvSpPr/>
          <p:nvPr/>
        </p:nvSpPr>
        <p:spPr>
          <a:xfrm>
            <a:off x="6032500" y="4546600"/>
            <a:ext cx="13335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sz="900" b="1" i="0" u="none" strike="noStrike" kern="1200" cap="none" spc="0" normalizeH="0" baseline="0" noProof="0" dirty="0">
                <a:ln>
                  <a:noFill/>
                </a:ln>
                <a:solidFill>
                  <a:srgbClr val="70AD47"/>
                </a:solidFill>
                <a:effectLst/>
                <a:uLnTx/>
                <a:uFillTx/>
                <a:latin typeface="Calibri" panose="020F0502020204030204"/>
                <a:ea typeface="Calibri" panose="020F0502020204030204"/>
                <a:cs typeface="Arial"/>
              </a:rPr>
              <a:t>ReAct</a:t>
            </a:r>
          </a:p>
          <a:p>
            <a:pPr marL="0" marR="0" lvl="0" indent="0" algn="l" defTabSz="914400" rtl="0" eaLnBrk="1" fontAlgn="auto" latinLnBrk="0" hangingPunct="1">
              <a:lnSpc>
                <a:spcPct val="100000"/>
              </a:lnSpc>
              <a:spcBef>
                <a:spcPct val="0"/>
              </a:spcBef>
              <a:spcAft>
                <a:spcPct val="0"/>
              </a:spcAft>
              <a:buClrTx/>
              <a:buSzTx/>
              <a:buFontTx/>
              <a:buNone/>
              <a:tabLst/>
              <a:defRPr/>
            </a:pPr>
            <a:r>
              <a:rPr kumimoji="0" sz="600" b="0" i="0" u="none" strike="noStrike" kern="1200" cap="none" spc="0" normalizeH="0" baseline="0" noProof="0" dirty="0">
                <a:ln>
                  <a:noFill/>
                </a:ln>
                <a:solidFill>
                  <a:srgbClr val="D1D5DB"/>
                </a:solidFill>
                <a:effectLst/>
                <a:uLnTx/>
                <a:uFillTx/>
                <a:latin typeface="Calibri" panose="020F0502020204030204"/>
                <a:ea typeface="Calibri" panose="020F0502020204030204"/>
                <a:cs typeface="Arial"/>
              </a:rPr>
              <a:t>Interweaves reasoning and actions in a continuous thought-act-observe loop.</a:t>
            </a:r>
          </a:p>
        </p:txBody>
      </p:sp>
      <p:sp>
        <p:nvSpPr>
          <p:cNvPr id="56" name="New shape">
            <a:extLst>
              <a:ext uri="{FF2B5EF4-FFF2-40B4-BE49-F238E27FC236}">
                <a16:creationId xmlns:a16="http://schemas.microsoft.com/office/drawing/2014/main" id="{8E24CE50-FA5F-3C63-E086-D5B739A5E243}"/>
              </a:ext>
            </a:extLst>
          </p:cNvPr>
          <p:cNvSpPr/>
          <p:nvPr/>
        </p:nvSpPr>
        <p:spPr>
          <a:xfrm>
            <a:off x="7429500" y="4572000"/>
            <a:ext cx="152400" cy="152400"/>
          </a:xfrm>
          <a:prstGeom prst="roundRect">
            <a:avLst>
              <a:gd name="adj" fmla="val 4000"/>
            </a:avLst>
          </a:prstGeom>
          <a:solidFill>
            <a:schemeClr val="accent2">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Calibri" panose="020F0502020204030204"/>
              <a:cs typeface="Arial"/>
            </a:endParaRPr>
          </a:p>
        </p:txBody>
      </p:sp>
      <p:sp>
        <p:nvSpPr>
          <p:cNvPr id="104" name="New shape">
            <a:extLst>
              <a:ext uri="{FF2B5EF4-FFF2-40B4-BE49-F238E27FC236}">
                <a16:creationId xmlns:a16="http://schemas.microsoft.com/office/drawing/2014/main" id="{FB7614D9-122A-386C-8168-DB43308AFAA8}"/>
              </a:ext>
            </a:extLst>
          </p:cNvPr>
          <p:cNvSpPr/>
          <p:nvPr/>
        </p:nvSpPr>
        <p:spPr>
          <a:xfrm>
            <a:off x="7620000" y="4546600"/>
            <a:ext cx="13335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sz="900" b="1" i="0" u="none" strike="noStrike" kern="1200" cap="none" spc="0" normalizeH="0" baseline="0" noProof="0" dirty="0">
                <a:ln>
                  <a:noFill/>
                </a:ln>
                <a:solidFill>
                  <a:srgbClr val="ED7D31"/>
                </a:solidFill>
                <a:effectLst/>
                <a:uLnTx/>
                <a:uFillTx/>
                <a:latin typeface="Calibri" panose="020F0502020204030204"/>
                <a:ea typeface="Calibri" panose="020F0502020204030204"/>
                <a:cs typeface="Arial"/>
              </a:rPr>
              <a:t>Reflexion</a:t>
            </a:r>
          </a:p>
          <a:p>
            <a:pPr marL="0" marR="0" lvl="0" indent="0" algn="l" defTabSz="914400" rtl="0" eaLnBrk="1" fontAlgn="auto" latinLnBrk="0" hangingPunct="1">
              <a:lnSpc>
                <a:spcPct val="100000"/>
              </a:lnSpc>
              <a:spcBef>
                <a:spcPct val="0"/>
              </a:spcBef>
              <a:spcAft>
                <a:spcPct val="0"/>
              </a:spcAft>
              <a:buClrTx/>
              <a:buSzTx/>
              <a:buFontTx/>
              <a:buNone/>
              <a:tabLst/>
              <a:defRPr/>
            </a:pPr>
            <a:r>
              <a:rPr kumimoji="0" sz="600" b="0" i="0" u="none" strike="noStrike" kern="1200" cap="none" spc="0" normalizeH="0" baseline="0" noProof="0" dirty="0">
                <a:ln>
                  <a:noFill/>
                </a:ln>
                <a:solidFill>
                  <a:srgbClr val="D1D5DB"/>
                </a:solidFill>
                <a:effectLst/>
                <a:uLnTx/>
                <a:uFillTx/>
                <a:latin typeface="Calibri" panose="020F0502020204030204"/>
                <a:ea typeface="Calibri" panose="020F0502020204030204"/>
                <a:cs typeface="Arial"/>
              </a:rPr>
              <a:t>Enables self-correction through evaluation, diagnosis, and learning.</a:t>
            </a:r>
          </a:p>
        </p:txBody>
      </p:sp>
      <p:sp>
        <p:nvSpPr>
          <p:cNvPr id="105" name="New shape">
            <a:extLst>
              <a:ext uri="{FF2B5EF4-FFF2-40B4-BE49-F238E27FC236}">
                <a16:creationId xmlns:a16="http://schemas.microsoft.com/office/drawing/2014/main" id="{786D91AB-064C-79DD-0D69-2D28303350C4}"/>
              </a:ext>
            </a:extLst>
          </p:cNvPr>
          <p:cNvSpPr/>
          <p:nvPr/>
        </p:nvSpPr>
        <p:spPr>
          <a:xfrm>
            <a:off x="5080000" y="1993900"/>
            <a:ext cx="508000" cy="0"/>
          </a:xfrm>
          <a:prstGeom prst="straightConnector1">
            <a:avLst/>
          </a:prstGeom>
          <a:noFill/>
          <a:ln w="12700" cmpd="sng">
            <a:solidFill>
              <a:srgbClr val="9CA3AF"/>
            </a:solidFill>
            <a:prstDash val="solid"/>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sp>
        <p:nvSpPr>
          <p:cNvPr id="106" name="New shape">
            <a:extLst>
              <a:ext uri="{FF2B5EF4-FFF2-40B4-BE49-F238E27FC236}">
                <a16:creationId xmlns:a16="http://schemas.microsoft.com/office/drawing/2014/main" id="{F857C09C-DB40-7889-01C6-44CF90CCF0F7}"/>
              </a:ext>
            </a:extLst>
          </p:cNvPr>
          <p:cNvSpPr/>
          <p:nvPr/>
        </p:nvSpPr>
        <p:spPr>
          <a:xfrm>
            <a:off x="6286500" y="1993900"/>
            <a:ext cx="317500" cy="0"/>
          </a:xfrm>
          <a:prstGeom prst="straightConnector1">
            <a:avLst/>
          </a:prstGeom>
          <a:noFill/>
          <a:ln w="12700" cmpd="sng">
            <a:solidFill>
              <a:srgbClr val="9CA3AF"/>
            </a:solidFill>
            <a:prstDash val="solid"/>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sp>
        <p:nvSpPr>
          <p:cNvPr id="107" name="New shape">
            <a:extLst>
              <a:ext uri="{FF2B5EF4-FFF2-40B4-BE49-F238E27FC236}">
                <a16:creationId xmlns:a16="http://schemas.microsoft.com/office/drawing/2014/main" id="{AD45CCEC-50D3-42F5-9691-826869E722D8}"/>
              </a:ext>
            </a:extLst>
          </p:cNvPr>
          <p:cNvSpPr/>
          <p:nvPr/>
        </p:nvSpPr>
        <p:spPr>
          <a:xfrm>
            <a:off x="7302500" y="1993900"/>
            <a:ext cx="317500" cy="0"/>
          </a:xfrm>
          <a:prstGeom prst="straightConnector1">
            <a:avLst/>
          </a:prstGeom>
          <a:noFill/>
          <a:ln w="12700" cmpd="sng">
            <a:solidFill>
              <a:srgbClr val="9CA3AF"/>
            </a:solidFill>
            <a:prstDash val="solid"/>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sp>
        <p:nvSpPr>
          <p:cNvPr id="108" name="New shape">
            <a:extLst>
              <a:ext uri="{FF2B5EF4-FFF2-40B4-BE49-F238E27FC236}">
                <a16:creationId xmlns:a16="http://schemas.microsoft.com/office/drawing/2014/main" id="{1E85AEB8-5663-FE6C-FBF8-A237EBD9ED55}"/>
              </a:ext>
            </a:extLst>
          </p:cNvPr>
          <p:cNvSpPr/>
          <p:nvPr/>
        </p:nvSpPr>
        <p:spPr>
          <a:xfrm>
            <a:off x="6286500" y="2857500"/>
            <a:ext cx="317500" cy="0"/>
          </a:xfrm>
          <a:prstGeom prst="straightConnector1">
            <a:avLst/>
          </a:prstGeom>
          <a:noFill/>
          <a:ln w="12700" cmpd="sng">
            <a:solidFill>
              <a:srgbClr val="9CA3AF"/>
            </a:solidFill>
            <a:prstDash val="solid"/>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sp>
        <p:nvSpPr>
          <p:cNvPr id="109" name="New shape">
            <a:extLst>
              <a:ext uri="{FF2B5EF4-FFF2-40B4-BE49-F238E27FC236}">
                <a16:creationId xmlns:a16="http://schemas.microsoft.com/office/drawing/2014/main" id="{9FA8FAF6-668D-C45D-6600-75B7D8C2ADA7}"/>
              </a:ext>
            </a:extLst>
          </p:cNvPr>
          <p:cNvSpPr/>
          <p:nvPr/>
        </p:nvSpPr>
        <p:spPr>
          <a:xfrm>
            <a:off x="7302500" y="2857500"/>
            <a:ext cx="317500" cy="0"/>
          </a:xfrm>
          <a:prstGeom prst="straightConnector1">
            <a:avLst/>
          </a:prstGeom>
          <a:noFill/>
          <a:ln w="12700" cmpd="sng">
            <a:solidFill>
              <a:srgbClr val="9CA3AF"/>
            </a:solidFill>
            <a:prstDash val="solid"/>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sp>
        <p:nvSpPr>
          <p:cNvPr id="110" name="New shape">
            <a:extLst>
              <a:ext uri="{FF2B5EF4-FFF2-40B4-BE49-F238E27FC236}">
                <a16:creationId xmlns:a16="http://schemas.microsoft.com/office/drawing/2014/main" id="{CFCC2FBF-E3B3-5782-050D-E2438DBE277D}"/>
              </a:ext>
            </a:extLst>
          </p:cNvPr>
          <p:cNvSpPr/>
          <p:nvPr/>
        </p:nvSpPr>
        <p:spPr>
          <a:xfrm>
            <a:off x="3746500" y="3810000"/>
            <a:ext cx="444500" cy="0"/>
          </a:xfrm>
          <a:prstGeom prst="straightConnector1">
            <a:avLst/>
          </a:prstGeom>
          <a:noFill/>
          <a:ln w="12700" cmpd="sng">
            <a:solidFill>
              <a:srgbClr val="9CA3AF"/>
            </a:solidFill>
            <a:prstDash val="solid"/>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sp>
        <p:nvSpPr>
          <p:cNvPr id="111" name="New shape">
            <a:extLst>
              <a:ext uri="{FF2B5EF4-FFF2-40B4-BE49-F238E27FC236}">
                <a16:creationId xmlns:a16="http://schemas.microsoft.com/office/drawing/2014/main" id="{3FBC00D2-99BC-4F1C-D390-8B440F571376}"/>
              </a:ext>
            </a:extLst>
          </p:cNvPr>
          <p:cNvSpPr/>
          <p:nvPr/>
        </p:nvSpPr>
        <p:spPr>
          <a:xfrm>
            <a:off x="4953000" y="3810000"/>
            <a:ext cx="254000" cy="0"/>
          </a:xfrm>
          <a:prstGeom prst="straightConnector1">
            <a:avLst/>
          </a:prstGeom>
          <a:noFill/>
          <a:ln w="12700" cmpd="sng">
            <a:solidFill>
              <a:srgbClr val="9CA3AF"/>
            </a:solidFill>
            <a:prstDash val="solid"/>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sp>
        <p:nvSpPr>
          <p:cNvPr id="112" name="New shape">
            <a:extLst>
              <a:ext uri="{FF2B5EF4-FFF2-40B4-BE49-F238E27FC236}">
                <a16:creationId xmlns:a16="http://schemas.microsoft.com/office/drawing/2014/main" id="{649C304F-F31F-1A6F-ADEB-00B3EE3D3328}"/>
              </a:ext>
            </a:extLst>
          </p:cNvPr>
          <p:cNvSpPr/>
          <p:nvPr/>
        </p:nvSpPr>
        <p:spPr>
          <a:xfrm>
            <a:off x="7366000" y="3810000"/>
            <a:ext cx="444500" cy="0"/>
          </a:xfrm>
          <a:prstGeom prst="straightConnector1">
            <a:avLst/>
          </a:prstGeom>
          <a:noFill/>
          <a:ln w="12700" cmpd="sng">
            <a:solidFill>
              <a:srgbClr val="9CA3AF"/>
            </a:solidFill>
            <a:prstDash val="solid"/>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cxnSp>
        <p:nvCxnSpPr>
          <p:cNvPr id="67" name="New connector">
            <a:extLst>
              <a:ext uri="{FF2B5EF4-FFF2-40B4-BE49-F238E27FC236}">
                <a16:creationId xmlns:a16="http://schemas.microsoft.com/office/drawing/2014/main" id="{845F2FE1-BA25-73E9-35F9-CBB49CB52AE2}"/>
              </a:ext>
            </a:extLst>
          </p:cNvPr>
          <p:cNvCxnSpPr>
            <a:stCxn id="19" idx="2"/>
            <a:endCxn id="36" idx="1"/>
          </p:cNvCxnSpPr>
          <p:nvPr/>
        </p:nvCxnSpPr>
        <p:spPr>
          <a:xfrm rot="5400000" flipV="1">
            <a:off x="4953000" y="2222500"/>
            <a:ext cx="381000" cy="889000"/>
          </a:xfrm>
          <a:prstGeom prst="bentConnector2">
            <a:avLst/>
          </a:prstGeom>
          <a:noFill/>
          <a:ln w="12700" cmpd="sng">
            <a:solidFill>
              <a:schemeClr val="accent2"/>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83" name="New connector">
            <a:extLst>
              <a:ext uri="{FF2B5EF4-FFF2-40B4-BE49-F238E27FC236}">
                <a16:creationId xmlns:a16="http://schemas.microsoft.com/office/drawing/2014/main" id="{6C579E69-3A25-25D2-506D-4E498FB164A5}"/>
              </a:ext>
            </a:extLst>
          </p:cNvPr>
          <p:cNvCxnSpPr>
            <a:stCxn id="40" idx="0"/>
            <a:endCxn id="32" idx="2"/>
          </p:cNvCxnSpPr>
          <p:nvPr/>
        </p:nvCxnSpPr>
        <p:spPr>
          <a:xfrm flipV="1">
            <a:off x="7969250" y="2222500"/>
            <a:ext cx="0" cy="444500"/>
          </a:xfrm>
          <a:prstGeom prst="straightConnector1">
            <a:avLst/>
          </a:prstGeom>
          <a:noFill/>
          <a:ln w="12700" cmpd="sng">
            <a:solidFill>
              <a:schemeClr val="accent2"/>
            </a:solidFill>
            <a:headEnd type="none"/>
            <a:tailEnd type="triangle" w="med" len="med"/>
          </a:ln>
        </p:spPr>
        <p:style>
          <a:lnRef idx="1">
            <a:schemeClr val="accent1"/>
          </a:lnRef>
          <a:fillRef idx="0">
            <a:schemeClr val="accent1"/>
          </a:fillRef>
          <a:effectRef idx="0">
            <a:schemeClr val="accent1"/>
          </a:effectRef>
          <a:fontRef idx="minor">
            <a:schemeClr val="tx1"/>
          </a:fontRef>
        </p:style>
      </p:cxnSp>
      <p:sp>
        <p:nvSpPr>
          <p:cNvPr id="69" name="New shape">
            <a:extLst>
              <a:ext uri="{FF2B5EF4-FFF2-40B4-BE49-F238E27FC236}">
                <a16:creationId xmlns:a16="http://schemas.microsoft.com/office/drawing/2014/main" id="{5359CFB1-AB60-3072-4017-8D36D9E0C4D8}"/>
              </a:ext>
            </a:extLst>
          </p:cNvPr>
          <p:cNvSpPr/>
          <p:nvPr/>
        </p:nvSpPr>
        <p:spPr>
          <a:xfrm flipV="1">
            <a:off x="4572000" y="3302000"/>
            <a:ext cx="0" cy="317500"/>
          </a:xfrm>
          <a:prstGeom prst="straightConnector1">
            <a:avLst/>
          </a:prstGeom>
          <a:noFill/>
          <a:ln w="12700" cmpd="sng">
            <a:solidFill>
              <a:schemeClr val="accent1">
                <a:alpha val="100000"/>
              </a:schemeClr>
            </a:solidFill>
            <a:prstDash val="sysDash"/>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sp>
        <p:nvSpPr>
          <p:cNvPr id="70" name="New shape">
            <a:extLst>
              <a:ext uri="{FF2B5EF4-FFF2-40B4-BE49-F238E27FC236}">
                <a16:creationId xmlns:a16="http://schemas.microsoft.com/office/drawing/2014/main" id="{11B8CB9A-5001-C4C1-1AD7-A5D9A4EA0518}"/>
              </a:ext>
            </a:extLst>
          </p:cNvPr>
          <p:cNvSpPr/>
          <p:nvPr/>
        </p:nvSpPr>
        <p:spPr>
          <a:xfrm flipV="1">
            <a:off x="5588000" y="3302000"/>
            <a:ext cx="0" cy="317500"/>
          </a:xfrm>
          <a:prstGeom prst="straightConnector1">
            <a:avLst/>
          </a:prstGeom>
          <a:noFill/>
          <a:ln w="12700" cmpd="sng">
            <a:solidFill>
              <a:schemeClr val="accent1">
                <a:alpha val="100000"/>
              </a:schemeClr>
            </a:solidFill>
            <a:prstDash val="sysDash"/>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sp>
        <p:nvSpPr>
          <p:cNvPr id="71" name="New shape">
            <a:extLst>
              <a:ext uri="{FF2B5EF4-FFF2-40B4-BE49-F238E27FC236}">
                <a16:creationId xmlns:a16="http://schemas.microsoft.com/office/drawing/2014/main" id="{AA849E42-F0D9-A1B0-6F6A-FEEFEBC40673}"/>
              </a:ext>
            </a:extLst>
          </p:cNvPr>
          <p:cNvSpPr/>
          <p:nvPr/>
        </p:nvSpPr>
        <p:spPr>
          <a:xfrm flipV="1">
            <a:off x="6985000" y="3302000"/>
            <a:ext cx="0" cy="317500"/>
          </a:xfrm>
          <a:prstGeom prst="straightConnector1">
            <a:avLst/>
          </a:prstGeom>
          <a:noFill/>
          <a:ln w="12700" cmpd="sng">
            <a:solidFill>
              <a:schemeClr val="accent1">
                <a:alpha val="100000"/>
              </a:schemeClr>
            </a:solidFill>
            <a:prstDash val="sysDash"/>
            <a:headEnd type="none"/>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Arial"/>
            </a:endParaRPr>
          </a:p>
        </p:txBody>
      </p:sp>
      <p:cxnSp>
        <p:nvCxnSpPr>
          <p:cNvPr id="114" name="New connector">
            <a:extLst>
              <a:ext uri="{FF2B5EF4-FFF2-40B4-BE49-F238E27FC236}">
                <a16:creationId xmlns:a16="http://schemas.microsoft.com/office/drawing/2014/main" id="{4D0AEFCC-C761-91A3-DBE6-12EC92540B28}"/>
              </a:ext>
            </a:extLst>
          </p:cNvPr>
          <p:cNvCxnSpPr>
            <a:stCxn id="32" idx="3"/>
            <a:endCxn id="19" idx="0"/>
          </p:cNvCxnSpPr>
          <p:nvPr/>
        </p:nvCxnSpPr>
        <p:spPr>
          <a:xfrm flipH="1" flipV="1">
            <a:off x="4699000" y="1587500"/>
            <a:ext cx="3619500" cy="412750"/>
          </a:xfrm>
          <a:prstGeom prst="straightConnector1">
            <a:avLst/>
          </a:prstGeom>
          <a:ln>
            <a:solidFill>
              <a:srgbClr val="9CA3AF"/>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41027D74-CAD5-050C-FD6C-3C3F445BF5FF}"/>
              </a:ext>
            </a:extLst>
          </p:cNvPr>
          <p:cNvPicPr>
            <a:picLocks noChangeAspect="1"/>
          </p:cNvPicPr>
          <p:nvPr/>
        </p:nvPicPr>
        <p:blipFill>
          <a:blip r:embed="rId25"/>
          <a:srcRect l="-928" t="29746" r="928" b="36645"/>
          <a:stretch>
            <a:fillRect/>
          </a:stretch>
        </p:blipFill>
        <p:spPr>
          <a:xfrm>
            <a:off x="8218575" y="45720"/>
            <a:ext cx="861058" cy="289396"/>
          </a:xfrm>
          <a:prstGeom prst="rect">
            <a:avLst/>
          </a:prstGeom>
        </p:spPr>
      </p:pic>
    </p:spTree>
    <p:extLst>
      <p:ext uri="{BB962C8B-B14F-4D97-AF65-F5344CB8AC3E}">
        <p14:creationId xmlns:p14="http://schemas.microsoft.com/office/powerpoint/2010/main" val="3914189317"/>
      </p:ext>
    </p:extLst>
  </p:cSld>
  <p:clrMapOvr>
    <a:overrideClrMapping bg1="lt1" tx1="dk1" bg2="lt2" tx2="dk2" accent1="accent1" accent2="accent2" accent3="accent3" accent4="accent4" accent5="accent5" accent6="accent6" hlink="hlink" folHlink="folHlink"/>
  </p:clrMapOvr>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0E1A"/>
        </a:solidFill>
        <a:effectLst/>
      </p:bgPr>
    </p:bg>
    <p:spTree>
      <p:nvGrpSpPr>
        <p:cNvPr id="1" name="">
          <a:extLst>
            <a:ext uri="{FF2B5EF4-FFF2-40B4-BE49-F238E27FC236}">
              <a16:creationId xmlns:a16="http://schemas.microsoft.com/office/drawing/2014/main" id="{1D777F50-9C8E-0788-8515-B2FE602E94C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368637F-6ACA-4D5C-15EB-23B6DA40F5E8}"/>
              </a:ext>
            </a:extLst>
          </p:cNvPr>
          <p:cNvSpPr/>
          <p:nvPr/>
        </p:nvSpPr>
        <p:spPr>
          <a:xfrm>
            <a:off x="365760" y="201168"/>
            <a:ext cx="2011680" cy="292608"/>
          </a:xfrm>
          <a:prstGeom prst="roundRect">
            <a:avLst>
              <a:gd name="adj" fmla="val 25000"/>
            </a:avLst>
          </a:prstGeom>
          <a:solidFill>
            <a:srgbClr val="00D4FF">
              <a:alpha val="80000"/>
            </a:srgbClr>
          </a:solidFill>
          <a:ln w="12700">
            <a:solidFill>
              <a:srgbClr val="00D4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93071D05-B8BB-C99A-CBE2-545BCC29F5B6}"/>
              </a:ext>
            </a:extLst>
          </p:cNvPr>
          <p:cNvSpPr/>
          <p:nvPr/>
        </p:nvSpPr>
        <p:spPr>
          <a:xfrm>
            <a:off x="365760" y="201168"/>
            <a:ext cx="201168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200" normalizeH="0" baseline="0" noProof="0" dirty="0">
                <a:ln>
                  <a:noFill/>
                </a:ln>
                <a:solidFill>
                  <a:srgbClr val="F9FAFB"/>
                </a:solidFill>
                <a:effectLst/>
                <a:uLnTx/>
                <a:uFillTx/>
                <a:latin typeface="Calibri" panose="020F0502020204030204"/>
                <a:ea typeface="+mn-ea"/>
                <a:cs typeface="+mn-cs"/>
              </a:rPr>
              <a:t>SECTION 3 — AI THEORY</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28745A03-891B-AF5D-103A-19C8F992A3AD}"/>
              </a:ext>
            </a:extLst>
          </p:cNvPr>
          <p:cNvSpPr/>
          <p:nvPr/>
        </p:nvSpPr>
        <p:spPr>
          <a:xfrm>
            <a:off x="365760" y="594360"/>
            <a:ext cx="841248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9FAFB"/>
                </a:solidFill>
                <a:effectLst/>
                <a:uLnTx/>
                <a:uFillTx/>
                <a:latin typeface="Calibri" pitchFamily="34" charset="0"/>
                <a:ea typeface="Calibri" pitchFamily="34" charset="-122"/>
                <a:cs typeface="Calibri" pitchFamily="34" charset="-120"/>
              </a:rPr>
              <a:t>Prompt Assembly, RAG &amp; Dialect Rules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149E095C-9268-ABE5-2767-E127E688EE77}"/>
              </a:ext>
            </a:extLst>
          </p:cNvPr>
          <p:cNvSpPr/>
          <p:nvPr/>
        </p:nvSpPr>
        <p:spPr>
          <a:xfrm>
            <a:off x="365760" y="1143000"/>
            <a:ext cx="8412480" cy="320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9CA3AF"/>
                </a:solidFill>
                <a:effectLst/>
                <a:uLnTx/>
                <a:uFillTx/>
                <a:latin typeface="Calibri" pitchFamily="34" charset="0"/>
                <a:ea typeface="Calibri" pitchFamily="34" charset="-122"/>
                <a:cs typeface="Calibri" pitchFamily="34" charset="-120"/>
              </a:rPr>
              <a:t>Compression pipeline - Hybrid retrieval - Snowflake rules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15B6879D-24CE-C988-27F7-B1CF6F111998}"/>
              </a:ext>
            </a:extLst>
          </p:cNvPr>
          <p:cNvSpPr/>
          <p:nvPr/>
        </p:nvSpPr>
        <p:spPr>
          <a:xfrm>
            <a:off x="365760" y="1417320"/>
            <a:ext cx="8412480" cy="36576"/>
          </a:xfrm>
          <a:prstGeom prst="rect">
            <a:avLst/>
          </a:prstGeom>
          <a:solidFill>
            <a:srgbClr val="00D4FF"/>
          </a:solidFill>
          <a:ln w="12700">
            <a:solidFill>
              <a:srgbClr val="00D4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7B0FA7D5-51BE-8248-8FC1-CC8BC3C5D26E}"/>
              </a:ext>
            </a:extLst>
          </p:cNvPr>
          <p:cNvSpPr/>
          <p:nvPr/>
        </p:nvSpPr>
        <p:spPr>
          <a:xfrm>
            <a:off x="365760" y="1600200"/>
            <a:ext cx="2651760" cy="3200400"/>
          </a:xfrm>
          <a:prstGeom prst="roundRect">
            <a:avLst>
              <a:gd name="adj" fmla="val 4138"/>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84E817BF-2BFF-112E-3770-D479349A0904}"/>
              </a:ext>
            </a:extLst>
          </p:cNvPr>
          <p:cNvSpPr/>
          <p:nvPr/>
        </p:nvSpPr>
        <p:spPr>
          <a:xfrm>
            <a:off x="365760" y="1600200"/>
            <a:ext cx="2651760" cy="64008"/>
          </a:xfrm>
          <a:prstGeom prst="rect">
            <a:avLst/>
          </a:prstGeom>
          <a:solidFill>
            <a:srgbClr val="00D4FF"/>
          </a:solidFill>
          <a:ln w="12700">
            <a:solidFill>
              <a:srgbClr val="00D4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CA068E1C-E483-7AD3-7940-CE67327B3741}"/>
              </a:ext>
            </a:extLst>
          </p:cNvPr>
          <p:cNvSpPr/>
          <p:nvPr/>
        </p:nvSpPr>
        <p:spPr>
          <a:xfrm>
            <a:off x="502920" y="1764792"/>
            <a:ext cx="23774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D4FF"/>
                </a:solidFill>
                <a:effectLst/>
                <a:uLnTx/>
                <a:uFillTx/>
                <a:latin typeface="Calibri" pitchFamily="34" charset="0"/>
                <a:ea typeface="Calibri" pitchFamily="34" charset="-122"/>
                <a:cs typeface="Calibri" pitchFamily="34" charset="-120"/>
              </a:rPr>
              <a:t>PromptAssembler</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742BE6FE-EDD5-D675-9929-5B7DC2EBC879}"/>
              </a:ext>
            </a:extLst>
          </p:cNvPr>
          <p:cNvSpPr/>
          <p:nvPr/>
        </p:nvSpPr>
        <p:spPr>
          <a:xfrm>
            <a:off x="502920" y="2194560"/>
            <a:ext cx="2377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CA3AF"/>
                </a:solidFill>
                <a:effectLst/>
                <a:uLnTx/>
                <a:uFillTx/>
                <a:latin typeface="Calibri" pitchFamily="34" charset="0"/>
                <a:ea typeface="Calibri" pitchFamily="34" charset="-122"/>
                <a:cs typeface="Calibri" pitchFamily="34" charset="-120"/>
              </a:rPr>
              <a:t>Surgical Prompt Compiler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DEF2F525-A164-D2F6-C78C-6EC2236A74A5}"/>
              </a:ext>
            </a:extLst>
          </p:cNvPr>
          <p:cNvSpPr/>
          <p:nvPr/>
        </p:nvSpPr>
        <p:spPr>
          <a:xfrm>
            <a:off x="502920" y="2560320"/>
            <a:ext cx="2377440" cy="1920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9FAFB"/>
                </a:solidFill>
                <a:effectLst/>
                <a:uLnTx/>
                <a:uFillTx/>
                <a:latin typeface="Calibri" pitchFamily="34" charset="0"/>
                <a:ea typeface="Calibri" pitchFamily="34" charset="-122"/>
                <a:cs typeface="Calibri" pitchFamily="34" charset="-120"/>
              </a:rPr>
              <a:t>Builds agent prompts from compact system files, intent analysis, confidence scoring, budgets, dialect rules, templates, and compressed schema context.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C281F1D3-48E5-9B48-0B29-D287F6B85CE3}"/>
              </a:ext>
            </a:extLst>
          </p:cNvPr>
          <p:cNvSpPr/>
          <p:nvPr/>
        </p:nvSpPr>
        <p:spPr>
          <a:xfrm>
            <a:off x="3246120" y="1600200"/>
            <a:ext cx="2651760" cy="3200400"/>
          </a:xfrm>
          <a:prstGeom prst="roundRect">
            <a:avLst>
              <a:gd name="adj" fmla="val 4138"/>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7423E326-77E9-1F66-A0E1-A58253190668}"/>
              </a:ext>
            </a:extLst>
          </p:cNvPr>
          <p:cNvSpPr/>
          <p:nvPr/>
        </p:nvSpPr>
        <p:spPr>
          <a:xfrm>
            <a:off x="3246120" y="1600200"/>
            <a:ext cx="2651760" cy="64008"/>
          </a:xfrm>
          <a:prstGeom prst="rect">
            <a:avLst/>
          </a:prstGeom>
          <a:solidFill>
            <a:srgbClr val="7C3AED"/>
          </a:solidFill>
          <a:ln w="12700">
            <a:solidFill>
              <a:srgbClr val="7C3AE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a:extLst>
              <a:ext uri="{FF2B5EF4-FFF2-40B4-BE49-F238E27FC236}">
                <a16:creationId xmlns:a16="http://schemas.microsoft.com/office/drawing/2014/main" id="{BEF8B087-AB1A-B03C-826C-B1BC75C74058}"/>
              </a:ext>
            </a:extLst>
          </p:cNvPr>
          <p:cNvSpPr/>
          <p:nvPr/>
        </p:nvSpPr>
        <p:spPr>
          <a:xfrm>
            <a:off x="3383280" y="1764792"/>
            <a:ext cx="23774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C3AED"/>
                </a:solidFill>
                <a:effectLst/>
                <a:uLnTx/>
                <a:uFillTx/>
                <a:latin typeface="Calibri" pitchFamily="34" charset="0"/>
                <a:ea typeface="Calibri" pitchFamily="34" charset="-122"/>
                <a:cs typeface="Calibri" pitchFamily="34" charset="-120"/>
              </a:rPr>
              <a:t>Dialect Rule Engine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B7392418-7A27-78B8-5925-43737EC8B34B}"/>
              </a:ext>
            </a:extLst>
          </p:cNvPr>
          <p:cNvSpPr/>
          <p:nvPr/>
        </p:nvSpPr>
        <p:spPr>
          <a:xfrm>
            <a:off x="3383280" y="2194560"/>
            <a:ext cx="2377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CA3AF"/>
                </a:solidFill>
                <a:effectLst/>
                <a:uLnTx/>
                <a:uFillTx/>
                <a:latin typeface="Calibri" pitchFamily="34" charset="0"/>
                <a:ea typeface="Calibri" pitchFamily="34" charset="-122"/>
                <a:cs typeface="Calibri" pitchFamily="34" charset="-120"/>
              </a:rPr>
              <a:t>Snowflake-Aware Tooling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0573F557-BBCB-CAEB-0F08-169838D1853B}"/>
              </a:ext>
            </a:extLst>
          </p:cNvPr>
          <p:cNvSpPr/>
          <p:nvPr/>
        </p:nvSpPr>
        <p:spPr>
          <a:xfrm>
            <a:off x="3383280" y="2560320"/>
            <a:ext cx="2377440" cy="1920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9FAFB"/>
                </a:solidFill>
                <a:effectLst/>
                <a:uLnTx/>
                <a:uFillTx/>
                <a:latin typeface="Calibri" pitchFamily="34" charset="0"/>
                <a:ea typeface="Calibri" pitchFamily="34" charset="-122"/>
                <a:cs typeface="Calibri" pitchFamily="34" charset="-120"/>
              </a:rPr>
              <a:t>Retrieves rule families for arrays, casting, joins, geospatial, identifiers, regex, timestamps, VARIANT, and windows before generation.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44ADA823-05F8-593E-5D1D-CC6AD7625BAD}"/>
              </a:ext>
            </a:extLst>
          </p:cNvPr>
          <p:cNvSpPr/>
          <p:nvPr/>
        </p:nvSpPr>
        <p:spPr>
          <a:xfrm>
            <a:off x="6126480" y="1600200"/>
            <a:ext cx="2651760" cy="3200400"/>
          </a:xfrm>
          <a:prstGeom prst="roundRect">
            <a:avLst>
              <a:gd name="adj" fmla="val 4138"/>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B2327F2E-6E5D-CE55-D727-7BEB6D91E6E3}"/>
              </a:ext>
            </a:extLst>
          </p:cNvPr>
          <p:cNvSpPr/>
          <p:nvPr/>
        </p:nvSpPr>
        <p:spPr>
          <a:xfrm>
            <a:off x="6126480" y="1600200"/>
            <a:ext cx="2651760" cy="64008"/>
          </a:xfrm>
          <a:prstGeom prst="rect">
            <a:avLst/>
          </a:prstGeom>
          <a:solidFill>
            <a:srgbClr val="10B981"/>
          </a:solidFill>
          <a:ln w="12700">
            <a:solidFill>
              <a:srgbClr val="10B98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a:extLst>
              <a:ext uri="{FF2B5EF4-FFF2-40B4-BE49-F238E27FC236}">
                <a16:creationId xmlns:a16="http://schemas.microsoft.com/office/drawing/2014/main" id="{95334704-8C8D-C7AD-E84B-AAE74E106051}"/>
              </a:ext>
            </a:extLst>
          </p:cNvPr>
          <p:cNvSpPr/>
          <p:nvPr/>
        </p:nvSpPr>
        <p:spPr>
          <a:xfrm>
            <a:off x="6263640" y="1764792"/>
            <a:ext cx="237744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0B981"/>
                </a:solidFill>
                <a:effectLst/>
                <a:uLnTx/>
                <a:uFillTx/>
                <a:latin typeface="Calibri" pitchFamily="34" charset="0"/>
                <a:ea typeface="Calibri" pitchFamily="34" charset="-122"/>
                <a:cs typeface="Calibri" pitchFamily="34" charset="-120"/>
              </a:rPr>
              <a:t>Hybrid Retrieval</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a:extLst>
              <a:ext uri="{FF2B5EF4-FFF2-40B4-BE49-F238E27FC236}">
                <a16:creationId xmlns:a16="http://schemas.microsoft.com/office/drawing/2014/main" id="{F1377310-B222-3775-E1B7-B0C9269DE07B}"/>
              </a:ext>
            </a:extLst>
          </p:cNvPr>
          <p:cNvSpPr/>
          <p:nvPr/>
        </p:nvSpPr>
        <p:spPr>
          <a:xfrm>
            <a:off x="6263640" y="2194560"/>
            <a:ext cx="2377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CA3AF"/>
                </a:solidFill>
                <a:effectLst/>
                <a:uLnTx/>
                <a:uFillTx/>
                <a:latin typeface="Calibri" pitchFamily="34" charset="0"/>
                <a:ea typeface="Calibri" pitchFamily="34" charset="-122"/>
                <a:cs typeface="Calibri" pitchFamily="34" charset="-120"/>
              </a:rPr>
              <a:t>Semantic + Lexical Grounding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a:extLst>
              <a:ext uri="{FF2B5EF4-FFF2-40B4-BE49-F238E27FC236}">
                <a16:creationId xmlns:a16="http://schemas.microsoft.com/office/drawing/2014/main" id="{53931EC2-0463-319C-3451-533BC6A7A719}"/>
              </a:ext>
            </a:extLst>
          </p:cNvPr>
          <p:cNvSpPr/>
          <p:nvPr/>
        </p:nvSpPr>
        <p:spPr>
          <a:xfrm>
            <a:off x="6263640" y="2560320"/>
            <a:ext cx="2377440" cy="1920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9FAFB"/>
                </a:solidFill>
                <a:effectLst/>
                <a:uLnTx/>
                <a:uFillTx/>
                <a:latin typeface="Calibri" pitchFamily="34" charset="0"/>
                <a:ea typeface="Calibri" pitchFamily="34" charset="-122"/>
                <a:cs typeface="Calibri" pitchFamily="34" charset="-120"/>
              </a:rPr>
              <a:t>Ranks tables, columns, samples, ontology tags, and nested VARIANT keys before any LLM sees the schema.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a:extLst>
              <a:ext uri="{FF2B5EF4-FFF2-40B4-BE49-F238E27FC236}">
                <a16:creationId xmlns:a16="http://schemas.microsoft.com/office/drawing/2014/main" id="{118EF0B7-2A2A-BD59-E810-563E499995E2}"/>
              </a:ext>
            </a:extLst>
          </p:cNvPr>
          <p:cNvSpPr/>
          <p:nvPr/>
        </p:nvSpPr>
        <p:spPr>
          <a:xfrm>
            <a:off x="365760" y="4800600"/>
            <a:ext cx="841248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9CA3AF"/>
                </a:solidFill>
                <a:effectLst/>
                <a:uLnTx/>
                <a:uFillTx/>
                <a:latin typeface="Calibri" pitchFamily="34" charset="0"/>
                <a:ea typeface="Calibri" pitchFamily="34" charset="-122"/>
                <a:cs typeface="Calibri" pitchFamily="34" charset="-120"/>
              </a:rPr>
              <a:t>SpiderDIN today uses repo-native retrieval, compression, Bedrock structured JSON, and Snowflake execution; DSPy/MCP are not in the current code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3" name="Picture 22">
            <a:extLst>
              <a:ext uri="{FF2B5EF4-FFF2-40B4-BE49-F238E27FC236}">
                <a16:creationId xmlns:a16="http://schemas.microsoft.com/office/drawing/2014/main" id="{E08C1C97-65F5-9544-C6A8-CEF9829E158B}"/>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extLst>
      <p:ext uri="{BB962C8B-B14F-4D97-AF65-F5344CB8AC3E}">
        <p14:creationId xmlns:p14="http://schemas.microsoft.com/office/powerpoint/2010/main" val="16321368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0B0E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p:cNvSpPr/>
          <p:nvPr/>
        </p:nvSpPr>
        <p:spPr>
          <a:xfrm>
            <a:off x="685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p:cNvSpPr/>
          <p:nvPr/>
        </p:nvSpPr>
        <p:spPr>
          <a:xfrm>
            <a:off x="1371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2057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2743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p:cNvSpPr/>
          <p:nvPr/>
        </p:nvSpPr>
        <p:spPr>
          <a:xfrm>
            <a:off x="3429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114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4800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5486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6172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6858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7543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8229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ectangle 14"/>
          <p:cNvSpPr/>
          <p:nvPr/>
        </p:nvSpPr>
        <p:spPr>
          <a:xfrm>
            <a:off x="8915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1" y="685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ectangle 16"/>
          <p:cNvSpPr/>
          <p:nvPr/>
        </p:nvSpPr>
        <p:spPr>
          <a:xfrm>
            <a:off x="1" y="1371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ectangle 17"/>
          <p:cNvSpPr/>
          <p:nvPr/>
        </p:nvSpPr>
        <p:spPr>
          <a:xfrm>
            <a:off x="1" y="20574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ectangle 18"/>
          <p:cNvSpPr/>
          <p:nvPr/>
        </p:nvSpPr>
        <p:spPr>
          <a:xfrm>
            <a:off x="1" y="27432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ectangle 19"/>
          <p:cNvSpPr/>
          <p:nvPr/>
        </p:nvSpPr>
        <p:spPr>
          <a:xfrm>
            <a:off x="1" y="34290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Rectangle 20"/>
          <p:cNvSpPr/>
          <p:nvPr/>
        </p:nvSpPr>
        <p:spPr>
          <a:xfrm>
            <a:off x="1" y="4114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Rectangle 21"/>
          <p:cNvSpPr/>
          <p:nvPr/>
        </p:nvSpPr>
        <p:spPr>
          <a:xfrm>
            <a:off x="1" y="4800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Rectangle 22"/>
          <p:cNvSpPr/>
          <p:nvPr/>
        </p:nvSpPr>
        <p:spPr>
          <a:xfrm>
            <a:off x="315468" y="192024"/>
            <a:ext cx="2434590" cy="20574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685800" y="246889"/>
            <a:ext cx="1680210" cy="96950"/>
          </a:xfrm>
          <a:prstGeom prst="rect">
            <a:avLst/>
          </a:prstGeom>
          <a:noFill/>
        </p:spPr>
        <p:txBody>
          <a:bodyPr wrap="square" lIns="13716" tIns="13716" rIns="13716" bIns="13716" anchor="t">
            <a:spAutoFit/>
          </a:bodyPr>
          <a:lstStyle/>
          <a:p>
            <a:pPr algn="ctr"/>
            <a:r>
              <a:rPr sz="450" b="1">
                <a:solidFill>
                  <a:srgbClr val="0B0E13"/>
                </a:solidFill>
                <a:latin typeface="Aptos"/>
              </a:rPr>
              <a:t>SPIDERDIN CURRENT ARCHITECTURE</a:t>
            </a:r>
          </a:p>
        </p:txBody>
      </p:sp>
      <p:sp>
        <p:nvSpPr>
          <p:cNvPr id="25" name="TextBox 24"/>
          <p:cNvSpPr txBox="1"/>
          <p:nvPr/>
        </p:nvSpPr>
        <p:spPr>
          <a:xfrm>
            <a:off x="8606790" y="246888"/>
            <a:ext cx="240030" cy="131574"/>
          </a:xfrm>
          <a:prstGeom prst="rect">
            <a:avLst/>
          </a:prstGeom>
          <a:noFill/>
        </p:spPr>
        <p:txBody>
          <a:bodyPr wrap="square" lIns="13716" tIns="13716" rIns="13716" bIns="13716" anchor="t">
            <a:spAutoFit/>
          </a:bodyPr>
          <a:lstStyle/>
          <a:p>
            <a:pPr algn="r"/>
            <a:r>
              <a:rPr sz="675">
                <a:solidFill>
                  <a:srgbClr val="6C7079"/>
                </a:solidFill>
                <a:latin typeface="Aptos"/>
              </a:rPr>
              <a:t>01</a:t>
            </a:r>
          </a:p>
        </p:txBody>
      </p:sp>
      <p:sp>
        <p:nvSpPr>
          <p:cNvPr id="26" name="TextBox 25"/>
          <p:cNvSpPr txBox="1"/>
          <p:nvPr/>
        </p:nvSpPr>
        <p:spPr>
          <a:xfrm>
            <a:off x="315468" y="576072"/>
            <a:ext cx="7955280" cy="362407"/>
          </a:xfrm>
          <a:prstGeom prst="rect">
            <a:avLst/>
          </a:prstGeom>
          <a:noFill/>
        </p:spPr>
        <p:txBody>
          <a:bodyPr wrap="square" lIns="13716" tIns="13716" rIns="13716" bIns="13716" anchor="t">
            <a:spAutoFit/>
          </a:bodyPr>
          <a:lstStyle/>
          <a:p>
            <a:pPr algn="l"/>
            <a:r>
              <a:rPr sz="2175" b="1">
                <a:solidFill>
                  <a:srgbClr val="F6F4EF"/>
                </a:solidFill>
                <a:latin typeface="Aptos Display"/>
              </a:rPr>
              <a:t>SemanticDINOrchestrator — Full Pipeline</a:t>
            </a:r>
          </a:p>
        </p:txBody>
      </p:sp>
      <p:sp>
        <p:nvSpPr>
          <p:cNvPr id="27" name="TextBox 26"/>
          <p:cNvSpPr txBox="1"/>
          <p:nvPr/>
        </p:nvSpPr>
        <p:spPr>
          <a:xfrm>
            <a:off x="329184" y="1062991"/>
            <a:ext cx="7543800" cy="154658"/>
          </a:xfrm>
          <a:prstGeom prst="rect">
            <a:avLst/>
          </a:prstGeom>
          <a:noFill/>
        </p:spPr>
        <p:txBody>
          <a:bodyPr wrap="square" lIns="13716" tIns="13716" rIns="13716" bIns="13716" anchor="t">
            <a:spAutoFit/>
          </a:bodyPr>
          <a:lstStyle/>
          <a:p>
            <a:pPr algn="l"/>
            <a:r>
              <a:rPr sz="825">
                <a:solidFill>
                  <a:srgbClr val="AEB0B5"/>
                </a:solidFill>
                <a:latin typeface="Aptos"/>
              </a:rPr>
              <a:t>Every arrow below is directional: setup dependencies, per-query reasoning, execution, validation, repair, and final output.</a:t>
            </a:r>
          </a:p>
        </p:txBody>
      </p:sp>
      <p:sp>
        <p:nvSpPr>
          <p:cNvPr id="28" name="Rectangle 27"/>
          <p:cNvSpPr/>
          <p:nvPr/>
        </p:nvSpPr>
        <p:spPr>
          <a:xfrm>
            <a:off x="329184" y="1303020"/>
            <a:ext cx="8517636" cy="6858"/>
          </a:xfrm>
          <a:prstGeom prst="rect">
            <a:avLst/>
          </a:prstGeom>
          <a:solidFill>
            <a:srgbClr val="393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9" name="Rectangle 28"/>
          <p:cNvSpPr/>
          <p:nvPr/>
        </p:nvSpPr>
        <p:spPr>
          <a:xfrm>
            <a:off x="329184" y="1495044"/>
            <a:ext cx="836676" cy="425196"/>
          </a:xfrm>
          <a:prstGeom prst="rect">
            <a:avLst/>
          </a:prstGeom>
          <a:solidFill>
            <a:srgbClr val="00B89D"/>
          </a:solidFill>
          <a:ln w="12700">
            <a:solidFill>
              <a:srgbClr val="00CC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TextBox 29"/>
          <p:cNvSpPr txBox="1"/>
          <p:nvPr/>
        </p:nvSpPr>
        <p:spPr>
          <a:xfrm>
            <a:off x="363475" y="1622034"/>
            <a:ext cx="768095" cy="212366"/>
          </a:xfrm>
          <a:prstGeom prst="rect">
            <a:avLst/>
          </a:prstGeom>
          <a:noFill/>
        </p:spPr>
        <p:txBody>
          <a:bodyPr wrap="square" lIns="13716" tIns="13716" rIns="13716" bIns="13716" anchor="ctr">
            <a:spAutoFit/>
          </a:bodyPr>
          <a:lstStyle/>
          <a:p>
            <a:pPr algn="ctr"/>
            <a:r>
              <a:rPr sz="600">
                <a:solidFill>
                  <a:srgbClr val="F6F4EF"/>
                </a:solidFill>
                <a:latin typeface="Aptos"/>
              </a:rPr>
              <a:t>User
Question</a:t>
            </a:r>
          </a:p>
        </p:txBody>
      </p:sp>
      <p:sp>
        <p:nvSpPr>
          <p:cNvPr id="31" name="Rectangle 30"/>
          <p:cNvSpPr/>
          <p:nvPr/>
        </p:nvSpPr>
        <p:spPr>
          <a:xfrm>
            <a:off x="1405889" y="1495044"/>
            <a:ext cx="836676" cy="425196"/>
          </a:xfrm>
          <a:prstGeom prst="rect">
            <a:avLst/>
          </a:prstGeom>
          <a:solidFill>
            <a:srgbClr val="3680E6"/>
          </a:solidFill>
          <a:ln w="12700">
            <a:solidFill>
              <a:srgbClr val="4B9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2" name="TextBox 31"/>
          <p:cNvSpPr txBox="1"/>
          <p:nvPr/>
        </p:nvSpPr>
        <p:spPr>
          <a:xfrm>
            <a:off x="1440180" y="1622034"/>
            <a:ext cx="768095" cy="212366"/>
          </a:xfrm>
          <a:prstGeom prst="rect">
            <a:avLst/>
          </a:prstGeom>
          <a:noFill/>
        </p:spPr>
        <p:txBody>
          <a:bodyPr wrap="square" lIns="13716" tIns="13716" rIns="13716" bIns="13716" anchor="ctr">
            <a:spAutoFit/>
          </a:bodyPr>
          <a:lstStyle/>
          <a:p>
            <a:pPr algn="ctr"/>
            <a:r>
              <a:rPr sz="600">
                <a:solidFill>
                  <a:srgbClr val="F6F4EF"/>
                </a:solidFill>
                <a:latin typeface="Aptos"/>
              </a:rPr>
              <a:t>FastAPI /
Scripts</a:t>
            </a:r>
          </a:p>
        </p:txBody>
      </p:sp>
      <p:sp>
        <p:nvSpPr>
          <p:cNvPr id="33" name="Rectangle 32"/>
          <p:cNvSpPr/>
          <p:nvPr/>
        </p:nvSpPr>
        <p:spPr>
          <a:xfrm>
            <a:off x="2503170" y="1495044"/>
            <a:ext cx="1062990" cy="425196"/>
          </a:xfrm>
          <a:prstGeom prst="rect">
            <a:avLst/>
          </a:prstGeom>
          <a:solidFill>
            <a:srgbClr val="EF9A19"/>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4" name="TextBox 33"/>
          <p:cNvSpPr txBox="1"/>
          <p:nvPr/>
        </p:nvSpPr>
        <p:spPr>
          <a:xfrm>
            <a:off x="2537459" y="1622034"/>
            <a:ext cx="994410" cy="212366"/>
          </a:xfrm>
          <a:prstGeom prst="rect">
            <a:avLst/>
          </a:prstGeom>
          <a:noFill/>
        </p:spPr>
        <p:txBody>
          <a:bodyPr wrap="square" lIns="13716" tIns="13716" rIns="13716" bIns="13716" anchor="ctr">
            <a:spAutoFit/>
          </a:bodyPr>
          <a:lstStyle/>
          <a:p>
            <a:pPr algn="ctr"/>
            <a:r>
              <a:rPr sz="600">
                <a:solidFill>
                  <a:srgbClr val="F6F4EF"/>
                </a:solidFill>
                <a:latin typeface="Aptos"/>
              </a:rPr>
              <a:t>SemanticDIN
Orchestrator</a:t>
            </a:r>
          </a:p>
        </p:txBody>
      </p:sp>
      <p:cxnSp>
        <p:nvCxnSpPr>
          <p:cNvPr id="35" name="Connector 34"/>
          <p:cNvCxnSpPr/>
          <p:nvPr/>
        </p:nvCxnSpPr>
        <p:spPr>
          <a:xfrm>
            <a:off x="1165861" y="1707642"/>
            <a:ext cx="240029"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36" name="Isosceles Triangle 35"/>
          <p:cNvSpPr/>
          <p:nvPr/>
        </p:nvSpPr>
        <p:spPr>
          <a:xfrm rot="5400000">
            <a:off x="1371599" y="1673352"/>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37" name="Connector 36"/>
          <p:cNvCxnSpPr/>
          <p:nvPr/>
        </p:nvCxnSpPr>
        <p:spPr>
          <a:xfrm>
            <a:off x="2242566" y="1707642"/>
            <a:ext cx="260604"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38" name="Isosceles Triangle 37"/>
          <p:cNvSpPr/>
          <p:nvPr/>
        </p:nvSpPr>
        <p:spPr>
          <a:xfrm rot="5400000">
            <a:off x="2468880" y="1673352"/>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9" name="Rectangle 38"/>
          <p:cNvSpPr/>
          <p:nvPr/>
        </p:nvSpPr>
        <p:spPr>
          <a:xfrm>
            <a:off x="3737610" y="1344168"/>
            <a:ext cx="5109210" cy="1062990"/>
          </a:xfrm>
          <a:prstGeom prst="rect">
            <a:avLst/>
          </a:prstGeom>
          <a:solidFill>
            <a:srgbClr val="18191B"/>
          </a:solidFill>
          <a:ln w="7620">
            <a:solidFill>
              <a:srgbClr val="363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0" name="TextBox 39"/>
          <p:cNvSpPr txBox="1"/>
          <p:nvPr/>
        </p:nvSpPr>
        <p:spPr>
          <a:xfrm>
            <a:off x="3819906" y="1412748"/>
            <a:ext cx="4937760" cy="110800"/>
          </a:xfrm>
          <a:prstGeom prst="rect">
            <a:avLst/>
          </a:prstGeom>
          <a:noFill/>
        </p:spPr>
        <p:txBody>
          <a:bodyPr wrap="square" lIns="13716" tIns="13716" rIns="13716" bIns="13716" anchor="t">
            <a:spAutoFit/>
          </a:bodyPr>
          <a:lstStyle/>
          <a:p>
            <a:pPr algn="l"/>
            <a:r>
              <a:rPr sz="540" b="1">
                <a:solidFill>
                  <a:srgbClr val="6C7079"/>
                </a:solidFill>
                <a:latin typeface="Aptos"/>
              </a:rPr>
              <a:t>INITIALIZATION DEPENDENCIES LOADED BY ORCHESTRATOR</a:t>
            </a:r>
          </a:p>
        </p:txBody>
      </p:sp>
      <p:sp>
        <p:nvSpPr>
          <p:cNvPr id="41" name="Rectangle 40"/>
          <p:cNvSpPr/>
          <p:nvPr/>
        </p:nvSpPr>
        <p:spPr>
          <a:xfrm>
            <a:off x="3840480" y="1611630"/>
            <a:ext cx="1316736" cy="240030"/>
          </a:xfrm>
          <a:prstGeom prst="rect">
            <a:avLst/>
          </a:prstGeom>
          <a:solidFill>
            <a:srgbClr val="1C1E22"/>
          </a:solidFill>
          <a:ln w="12700">
            <a:solidFill>
              <a:srgbClr val="00CC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2" name="TextBox 41"/>
          <p:cNvSpPr txBox="1"/>
          <p:nvPr/>
        </p:nvSpPr>
        <p:spPr>
          <a:xfrm>
            <a:off x="3874770" y="1700827"/>
            <a:ext cx="1248155" cy="102785"/>
          </a:xfrm>
          <a:prstGeom prst="rect">
            <a:avLst/>
          </a:prstGeom>
          <a:noFill/>
        </p:spPr>
        <p:txBody>
          <a:bodyPr wrap="square" lIns="13716" tIns="13716" rIns="13716" bIns="13716" anchor="ctr">
            <a:spAutoFit/>
          </a:bodyPr>
          <a:lstStyle/>
          <a:p>
            <a:pPr algn="ctr"/>
            <a:r>
              <a:rPr sz="488">
                <a:solidFill>
                  <a:srgbClr val="F6F4EF"/>
                </a:solidFill>
                <a:latin typeface="Aptos"/>
              </a:rPr>
              <a:t>LLMClient</a:t>
            </a:r>
          </a:p>
        </p:txBody>
      </p:sp>
      <p:sp>
        <p:nvSpPr>
          <p:cNvPr id="43" name="Rectangle 42"/>
          <p:cNvSpPr/>
          <p:nvPr/>
        </p:nvSpPr>
        <p:spPr>
          <a:xfrm>
            <a:off x="5314950" y="1611630"/>
            <a:ext cx="1316736" cy="240030"/>
          </a:xfrm>
          <a:prstGeom prst="rect">
            <a:avLst/>
          </a:prstGeom>
          <a:solidFill>
            <a:srgbClr val="1C1E22"/>
          </a:solidFill>
          <a:ln w="12700">
            <a:solidFill>
              <a:srgbClr val="00CC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4" name="TextBox 43"/>
          <p:cNvSpPr txBox="1"/>
          <p:nvPr/>
        </p:nvSpPr>
        <p:spPr>
          <a:xfrm>
            <a:off x="5349241" y="1700827"/>
            <a:ext cx="1248155" cy="102785"/>
          </a:xfrm>
          <a:prstGeom prst="rect">
            <a:avLst/>
          </a:prstGeom>
          <a:noFill/>
        </p:spPr>
        <p:txBody>
          <a:bodyPr wrap="square" lIns="13716" tIns="13716" rIns="13716" bIns="13716" anchor="ctr">
            <a:spAutoFit/>
          </a:bodyPr>
          <a:lstStyle/>
          <a:p>
            <a:pPr algn="ctr"/>
            <a:r>
              <a:rPr sz="488">
                <a:solidFill>
                  <a:srgbClr val="F6F4EF"/>
                </a:solidFill>
                <a:latin typeface="Aptos"/>
              </a:rPr>
              <a:t>SemanticContextEngine</a:t>
            </a:r>
          </a:p>
        </p:txBody>
      </p:sp>
      <p:sp>
        <p:nvSpPr>
          <p:cNvPr id="45" name="Rectangle 44"/>
          <p:cNvSpPr/>
          <p:nvPr/>
        </p:nvSpPr>
        <p:spPr>
          <a:xfrm>
            <a:off x="6789420" y="1611630"/>
            <a:ext cx="1316736" cy="240030"/>
          </a:xfrm>
          <a:prstGeom prst="rect">
            <a:avLst/>
          </a:prstGeom>
          <a:solidFill>
            <a:srgbClr val="1C1E22"/>
          </a:solidFill>
          <a:ln w="12700">
            <a:solidFill>
              <a:srgbClr val="FF4D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6" name="TextBox 45"/>
          <p:cNvSpPr txBox="1"/>
          <p:nvPr/>
        </p:nvSpPr>
        <p:spPr>
          <a:xfrm>
            <a:off x="6823711" y="1700827"/>
            <a:ext cx="1248155" cy="102785"/>
          </a:xfrm>
          <a:prstGeom prst="rect">
            <a:avLst/>
          </a:prstGeom>
          <a:noFill/>
        </p:spPr>
        <p:txBody>
          <a:bodyPr wrap="square" lIns="13716" tIns="13716" rIns="13716" bIns="13716" anchor="ctr">
            <a:spAutoFit/>
          </a:bodyPr>
          <a:lstStyle/>
          <a:p>
            <a:pPr algn="ctr"/>
            <a:r>
              <a:rPr sz="488">
                <a:solidFill>
                  <a:srgbClr val="F6F4EF"/>
                </a:solidFill>
                <a:latin typeface="Aptos"/>
              </a:rPr>
              <a:t>SQLCritic</a:t>
            </a:r>
          </a:p>
        </p:txBody>
      </p:sp>
      <p:sp>
        <p:nvSpPr>
          <p:cNvPr id="47" name="Rectangle 46"/>
          <p:cNvSpPr/>
          <p:nvPr/>
        </p:nvSpPr>
        <p:spPr>
          <a:xfrm>
            <a:off x="3840480" y="1961388"/>
            <a:ext cx="1316736" cy="240030"/>
          </a:xfrm>
          <a:prstGeom prst="rect">
            <a:avLst/>
          </a:prstGeom>
          <a:solidFill>
            <a:srgbClr val="1C1E22"/>
          </a:solidFill>
          <a:ln w="12700">
            <a:solidFill>
              <a:srgbClr val="4B9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8" name="TextBox 47"/>
          <p:cNvSpPr txBox="1"/>
          <p:nvPr/>
        </p:nvSpPr>
        <p:spPr>
          <a:xfrm>
            <a:off x="3874770" y="2050585"/>
            <a:ext cx="1248155" cy="102785"/>
          </a:xfrm>
          <a:prstGeom prst="rect">
            <a:avLst/>
          </a:prstGeom>
          <a:noFill/>
        </p:spPr>
        <p:txBody>
          <a:bodyPr wrap="square" lIns="13716" tIns="13716" rIns="13716" bIns="13716" anchor="ctr">
            <a:spAutoFit/>
          </a:bodyPr>
          <a:lstStyle/>
          <a:p>
            <a:pPr algn="ctr"/>
            <a:r>
              <a:rPr sz="488">
                <a:solidFill>
                  <a:srgbClr val="F6F4EF"/>
                </a:solidFill>
                <a:latin typeface="Aptos"/>
              </a:rPr>
              <a:t>DatabaseExecutor</a:t>
            </a:r>
          </a:p>
        </p:txBody>
      </p:sp>
      <p:sp>
        <p:nvSpPr>
          <p:cNvPr id="49" name="Rectangle 48"/>
          <p:cNvSpPr/>
          <p:nvPr/>
        </p:nvSpPr>
        <p:spPr>
          <a:xfrm>
            <a:off x="5314950" y="1961388"/>
            <a:ext cx="1316736" cy="240030"/>
          </a:xfrm>
          <a:prstGeom prst="rect">
            <a:avLst/>
          </a:prstGeom>
          <a:solidFill>
            <a:srgbClr val="1C1E22"/>
          </a:solidFill>
          <a:ln w="12700">
            <a:solidFill>
              <a:srgbClr val="4B9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0" name="TextBox 49"/>
          <p:cNvSpPr txBox="1"/>
          <p:nvPr/>
        </p:nvSpPr>
        <p:spPr>
          <a:xfrm>
            <a:off x="5349241" y="2050585"/>
            <a:ext cx="1248155" cy="102785"/>
          </a:xfrm>
          <a:prstGeom prst="rect">
            <a:avLst/>
          </a:prstGeom>
          <a:noFill/>
        </p:spPr>
        <p:txBody>
          <a:bodyPr wrap="square" lIns="13716" tIns="13716" rIns="13716" bIns="13716" anchor="ctr">
            <a:spAutoFit/>
          </a:bodyPr>
          <a:lstStyle/>
          <a:p>
            <a:pPr algn="ctr"/>
            <a:r>
              <a:rPr sz="488">
                <a:solidFill>
                  <a:srgbClr val="F6F4EF"/>
                </a:solidFill>
                <a:latin typeface="Aptos"/>
              </a:rPr>
              <a:t>SchemaLinker</a:t>
            </a:r>
          </a:p>
        </p:txBody>
      </p:sp>
      <p:sp>
        <p:nvSpPr>
          <p:cNvPr id="51" name="Rectangle 50"/>
          <p:cNvSpPr/>
          <p:nvPr/>
        </p:nvSpPr>
        <p:spPr>
          <a:xfrm>
            <a:off x="6789420" y="1961388"/>
            <a:ext cx="1316736" cy="240030"/>
          </a:xfrm>
          <a:prstGeom prst="rect">
            <a:avLst/>
          </a:prstGeom>
          <a:solidFill>
            <a:srgbClr val="1C1E22"/>
          </a:solidFill>
          <a:ln w="12700">
            <a:solidFill>
              <a:srgbClr val="16C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2" name="TextBox 51"/>
          <p:cNvSpPr txBox="1"/>
          <p:nvPr/>
        </p:nvSpPr>
        <p:spPr>
          <a:xfrm>
            <a:off x="6823711" y="2050585"/>
            <a:ext cx="1248155" cy="102785"/>
          </a:xfrm>
          <a:prstGeom prst="rect">
            <a:avLst/>
          </a:prstGeom>
          <a:noFill/>
        </p:spPr>
        <p:txBody>
          <a:bodyPr wrap="square" lIns="13716" tIns="13716" rIns="13716" bIns="13716" anchor="ctr">
            <a:spAutoFit/>
          </a:bodyPr>
          <a:lstStyle/>
          <a:p>
            <a:pPr algn="ctr"/>
            <a:r>
              <a:rPr sz="488">
                <a:solidFill>
                  <a:srgbClr val="F6F4EF"/>
                </a:solidFill>
                <a:latin typeface="Aptos"/>
              </a:rPr>
              <a:t>ResultValidator</a:t>
            </a:r>
          </a:p>
        </p:txBody>
      </p:sp>
      <p:sp>
        <p:nvSpPr>
          <p:cNvPr id="53" name="Rectangle 52"/>
          <p:cNvSpPr/>
          <p:nvPr/>
        </p:nvSpPr>
        <p:spPr>
          <a:xfrm>
            <a:off x="3840480" y="2311146"/>
            <a:ext cx="1316736" cy="240030"/>
          </a:xfrm>
          <a:prstGeom prst="rect">
            <a:avLst/>
          </a:prstGeom>
          <a:solidFill>
            <a:srgbClr val="1C1E22"/>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4" name="TextBox 53"/>
          <p:cNvSpPr txBox="1"/>
          <p:nvPr/>
        </p:nvSpPr>
        <p:spPr>
          <a:xfrm>
            <a:off x="3874770" y="2400343"/>
            <a:ext cx="1248155" cy="102785"/>
          </a:xfrm>
          <a:prstGeom prst="rect">
            <a:avLst/>
          </a:prstGeom>
          <a:noFill/>
        </p:spPr>
        <p:txBody>
          <a:bodyPr wrap="square" lIns="13716" tIns="13716" rIns="13716" bIns="13716" anchor="ctr">
            <a:spAutoFit/>
          </a:bodyPr>
          <a:lstStyle/>
          <a:p>
            <a:pPr algn="ctr"/>
            <a:r>
              <a:rPr sz="488">
                <a:solidFill>
                  <a:srgbClr val="F6F4EF"/>
                </a:solidFill>
                <a:latin typeface="Aptos"/>
              </a:rPr>
              <a:t>ExecutionStabilizer</a:t>
            </a:r>
          </a:p>
        </p:txBody>
      </p:sp>
      <p:sp>
        <p:nvSpPr>
          <p:cNvPr id="55" name="Rectangle 54"/>
          <p:cNvSpPr/>
          <p:nvPr/>
        </p:nvSpPr>
        <p:spPr>
          <a:xfrm>
            <a:off x="5314950" y="2311146"/>
            <a:ext cx="1316736" cy="240030"/>
          </a:xfrm>
          <a:prstGeom prst="rect">
            <a:avLst/>
          </a:prstGeom>
          <a:solidFill>
            <a:srgbClr val="1C1E22"/>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6" name="TextBox 55"/>
          <p:cNvSpPr txBox="1"/>
          <p:nvPr/>
        </p:nvSpPr>
        <p:spPr>
          <a:xfrm>
            <a:off x="5349241" y="2400343"/>
            <a:ext cx="1248155" cy="102785"/>
          </a:xfrm>
          <a:prstGeom prst="rect">
            <a:avLst/>
          </a:prstGeom>
          <a:noFill/>
        </p:spPr>
        <p:txBody>
          <a:bodyPr wrap="square" lIns="13716" tIns="13716" rIns="13716" bIns="13716" anchor="ctr">
            <a:spAutoFit/>
          </a:bodyPr>
          <a:lstStyle/>
          <a:p>
            <a:pPr algn="ctr"/>
            <a:r>
              <a:rPr sz="488">
                <a:solidFill>
                  <a:srgbClr val="F6F4EF"/>
                </a:solidFill>
                <a:latin typeface="Aptos"/>
              </a:rPr>
              <a:t>AdaptiveSQLGenerator</a:t>
            </a:r>
          </a:p>
        </p:txBody>
      </p:sp>
      <p:sp>
        <p:nvSpPr>
          <p:cNvPr id="57" name="Rectangle 56"/>
          <p:cNvSpPr/>
          <p:nvPr/>
        </p:nvSpPr>
        <p:spPr>
          <a:xfrm>
            <a:off x="6789420" y="2311146"/>
            <a:ext cx="1316736" cy="240030"/>
          </a:xfrm>
          <a:prstGeom prst="rect">
            <a:avLst/>
          </a:prstGeom>
          <a:solidFill>
            <a:srgbClr val="1C1E22"/>
          </a:solidFill>
          <a:ln w="12700">
            <a:solidFill>
              <a:srgbClr val="A95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8" name="TextBox 57"/>
          <p:cNvSpPr txBox="1"/>
          <p:nvPr/>
        </p:nvSpPr>
        <p:spPr>
          <a:xfrm>
            <a:off x="6823711" y="2400343"/>
            <a:ext cx="1248155" cy="102785"/>
          </a:xfrm>
          <a:prstGeom prst="rect">
            <a:avLst/>
          </a:prstGeom>
          <a:noFill/>
        </p:spPr>
        <p:txBody>
          <a:bodyPr wrap="square" lIns="13716" tIns="13716" rIns="13716" bIns="13716" anchor="ctr">
            <a:spAutoFit/>
          </a:bodyPr>
          <a:lstStyle/>
          <a:p>
            <a:pPr algn="ctr"/>
            <a:r>
              <a:rPr sz="488">
                <a:solidFill>
                  <a:srgbClr val="F6F4EF"/>
                </a:solidFill>
                <a:latin typeface="Aptos"/>
              </a:rPr>
              <a:t>SQLManager cache</a:t>
            </a:r>
          </a:p>
        </p:txBody>
      </p:sp>
      <p:cxnSp>
        <p:nvCxnSpPr>
          <p:cNvPr id="59" name="Connector 58"/>
          <p:cNvCxnSpPr/>
          <p:nvPr/>
        </p:nvCxnSpPr>
        <p:spPr>
          <a:xfrm>
            <a:off x="3566160" y="1707642"/>
            <a:ext cx="123444" cy="0"/>
          </a:xfrm>
          <a:prstGeom prst="line">
            <a:avLst/>
          </a:prstGeom>
          <a:ln w="12700">
            <a:solidFill>
              <a:srgbClr val="F5A012"/>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689604" y="1481328"/>
            <a:ext cx="0" cy="226314"/>
          </a:xfrm>
          <a:prstGeom prst="line">
            <a:avLst/>
          </a:prstGeom>
          <a:ln w="12700">
            <a:solidFill>
              <a:srgbClr val="F5A012"/>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689604" y="1481328"/>
            <a:ext cx="253746" cy="0"/>
          </a:xfrm>
          <a:prstGeom prst="line">
            <a:avLst/>
          </a:prstGeom>
          <a:ln w="12700">
            <a:solidFill>
              <a:srgbClr val="F5A012"/>
            </a:solidFill>
            <a:prstDash val="dash"/>
          </a:ln>
        </p:spPr>
        <p:style>
          <a:lnRef idx="2">
            <a:schemeClr val="accent1"/>
          </a:lnRef>
          <a:fillRef idx="0">
            <a:schemeClr val="accent1"/>
          </a:fillRef>
          <a:effectRef idx="1">
            <a:schemeClr val="accent1"/>
          </a:effectRef>
          <a:fontRef idx="minor">
            <a:schemeClr val="tx1"/>
          </a:fontRef>
        </p:style>
      </p:cxnSp>
      <p:sp>
        <p:nvSpPr>
          <p:cNvPr id="62" name="Isosceles Triangle 61"/>
          <p:cNvSpPr/>
          <p:nvPr/>
        </p:nvSpPr>
        <p:spPr>
          <a:xfrm rot="5400000">
            <a:off x="3909060" y="1447038"/>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3" name="TextBox 62"/>
          <p:cNvSpPr txBox="1"/>
          <p:nvPr/>
        </p:nvSpPr>
        <p:spPr>
          <a:xfrm>
            <a:off x="3442716" y="1392174"/>
            <a:ext cx="617220" cy="99258"/>
          </a:xfrm>
          <a:prstGeom prst="rect">
            <a:avLst/>
          </a:prstGeom>
          <a:noFill/>
        </p:spPr>
        <p:txBody>
          <a:bodyPr wrap="square" lIns="13716" tIns="13716" rIns="13716" bIns="13716" anchor="t">
            <a:spAutoFit/>
          </a:bodyPr>
          <a:lstStyle/>
          <a:p>
            <a:pPr algn="l"/>
            <a:r>
              <a:rPr sz="465" b="1">
                <a:solidFill>
                  <a:srgbClr val="F5A012"/>
                </a:solidFill>
                <a:latin typeface="Aptos"/>
              </a:rPr>
              <a:t>loads services</a:t>
            </a:r>
          </a:p>
        </p:txBody>
      </p:sp>
      <p:sp>
        <p:nvSpPr>
          <p:cNvPr id="64" name="Rectangle 63"/>
          <p:cNvSpPr/>
          <p:nvPr/>
        </p:nvSpPr>
        <p:spPr>
          <a:xfrm>
            <a:off x="240030" y="2091690"/>
            <a:ext cx="3669030" cy="1062990"/>
          </a:xfrm>
          <a:prstGeom prst="rect">
            <a:avLst/>
          </a:prstGeom>
          <a:solidFill>
            <a:srgbClr val="18191B"/>
          </a:solidFill>
          <a:ln w="7620">
            <a:solidFill>
              <a:srgbClr val="363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5" name="TextBox 64"/>
          <p:cNvSpPr txBox="1"/>
          <p:nvPr/>
        </p:nvSpPr>
        <p:spPr>
          <a:xfrm>
            <a:off x="322326" y="2160270"/>
            <a:ext cx="3497580" cy="110800"/>
          </a:xfrm>
          <a:prstGeom prst="rect">
            <a:avLst/>
          </a:prstGeom>
          <a:noFill/>
        </p:spPr>
        <p:txBody>
          <a:bodyPr wrap="square" lIns="13716" tIns="13716" rIns="13716" bIns="13716" anchor="t">
            <a:spAutoFit/>
          </a:bodyPr>
          <a:lstStyle/>
          <a:p>
            <a:pPr algn="l"/>
            <a:r>
              <a:rPr sz="540" b="1">
                <a:solidFill>
                  <a:srgbClr val="6C7079"/>
                </a:solidFill>
                <a:latin typeface="Aptos"/>
              </a:rPr>
              <a:t>PER-QUERY SETUP</a:t>
            </a:r>
          </a:p>
        </p:txBody>
      </p:sp>
      <p:sp>
        <p:nvSpPr>
          <p:cNvPr id="66" name="Rectangle 65"/>
          <p:cNvSpPr/>
          <p:nvPr/>
        </p:nvSpPr>
        <p:spPr>
          <a:xfrm>
            <a:off x="377190" y="2386584"/>
            <a:ext cx="1234440" cy="342900"/>
          </a:xfrm>
          <a:prstGeom prst="rect">
            <a:avLst/>
          </a:prstGeom>
          <a:solidFill>
            <a:srgbClr val="1C1E22"/>
          </a:solidFill>
          <a:ln w="12700">
            <a:solidFill>
              <a:srgbClr val="00CC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7" name="TextBox 66"/>
          <p:cNvSpPr txBox="1"/>
          <p:nvPr/>
        </p:nvSpPr>
        <p:spPr>
          <a:xfrm>
            <a:off x="411480" y="2483967"/>
            <a:ext cx="1165860" cy="189283"/>
          </a:xfrm>
          <a:prstGeom prst="rect">
            <a:avLst/>
          </a:prstGeom>
          <a:noFill/>
        </p:spPr>
        <p:txBody>
          <a:bodyPr wrap="square" lIns="13716" tIns="13716" rIns="13716" bIns="13716" anchor="ctr">
            <a:spAutoFit/>
          </a:bodyPr>
          <a:lstStyle/>
          <a:p>
            <a:pPr algn="ctr"/>
            <a:r>
              <a:rPr sz="525">
                <a:solidFill>
                  <a:srgbClr val="F6F4EF"/>
                </a:solidFill>
                <a:latin typeface="Aptos"/>
              </a:rPr>
              <a:t>Analyze intent
HierarchicalRetriever</a:t>
            </a:r>
          </a:p>
        </p:txBody>
      </p:sp>
      <p:sp>
        <p:nvSpPr>
          <p:cNvPr id="68" name="Rectangle 67"/>
          <p:cNvSpPr/>
          <p:nvPr/>
        </p:nvSpPr>
        <p:spPr>
          <a:xfrm>
            <a:off x="377190" y="2798064"/>
            <a:ext cx="1234440" cy="342900"/>
          </a:xfrm>
          <a:prstGeom prst="rect">
            <a:avLst/>
          </a:prstGeom>
          <a:solidFill>
            <a:srgbClr val="1C1E22"/>
          </a:solidFill>
          <a:ln w="12700">
            <a:solidFill>
              <a:srgbClr val="4B9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9" name="TextBox 68"/>
          <p:cNvSpPr txBox="1"/>
          <p:nvPr/>
        </p:nvSpPr>
        <p:spPr>
          <a:xfrm>
            <a:off x="411480" y="2895447"/>
            <a:ext cx="1165860" cy="189283"/>
          </a:xfrm>
          <a:prstGeom prst="rect">
            <a:avLst/>
          </a:prstGeom>
          <a:noFill/>
        </p:spPr>
        <p:txBody>
          <a:bodyPr wrap="square" lIns="13716" tIns="13716" rIns="13716" bIns="13716" anchor="ctr">
            <a:spAutoFit/>
          </a:bodyPr>
          <a:lstStyle/>
          <a:p>
            <a:pPr algn="ctr"/>
            <a:r>
              <a:rPr sz="525">
                <a:solidFill>
                  <a:srgbClr val="F6F4EF"/>
                </a:solidFill>
                <a:latin typeface="Aptos"/>
              </a:rPr>
              <a:t>Retrieve dialect
rules / lessons</a:t>
            </a:r>
          </a:p>
        </p:txBody>
      </p:sp>
      <p:sp>
        <p:nvSpPr>
          <p:cNvPr id="70" name="Rectangle 69"/>
          <p:cNvSpPr/>
          <p:nvPr/>
        </p:nvSpPr>
        <p:spPr>
          <a:xfrm>
            <a:off x="1885950" y="2386584"/>
            <a:ext cx="1062990" cy="342900"/>
          </a:xfrm>
          <a:prstGeom prst="rect">
            <a:avLst/>
          </a:prstGeom>
          <a:solidFill>
            <a:srgbClr val="1C1E22"/>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1" name="TextBox 70"/>
          <p:cNvSpPr txBox="1"/>
          <p:nvPr/>
        </p:nvSpPr>
        <p:spPr>
          <a:xfrm>
            <a:off x="1920240" y="2483967"/>
            <a:ext cx="994410" cy="189283"/>
          </a:xfrm>
          <a:prstGeom prst="rect">
            <a:avLst/>
          </a:prstGeom>
          <a:noFill/>
        </p:spPr>
        <p:txBody>
          <a:bodyPr wrap="square" lIns="13716" tIns="13716" rIns="13716" bIns="13716" anchor="ctr">
            <a:spAutoFit/>
          </a:bodyPr>
          <a:lstStyle/>
          <a:p>
            <a:pPr algn="ctr"/>
            <a:r>
              <a:rPr sz="525">
                <a:solidFill>
                  <a:srgbClr val="F6F4EF"/>
                </a:solidFill>
                <a:latin typeface="Aptos"/>
              </a:rPr>
              <a:t>Schema density
+ token heuristic</a:t>
            </a:r>
          </a:p>
        </p:txBody>
      </p:sp>
      <p:sp>
        <p:nvSpPr>
          <p:cNvPr id="72" name="Rectangle 71"/>
          <p:cNvSpPr/>
          <p:nvPr/>
        </p:nvSpPr>
        <p:spPr>
          <a:xfrm>
            <a:off x="2743200" y="2798064"/>
            <a:ext cx="1028700" cy="342900"/>
          </a:xfrm>
          <a:prstGeom prst="rect">
            <a:avLst/>
          </a:prstGeom>
          <a:solidFill>
            <a:srgbClr val="1C1E22"/>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3" name="TextBox 72"/>
          <p:cNvSpPr txBox="1"/>
          <p:nvPr/>
        </p:nvSpPr>
        <p:spPr>
          <a:xfrm>
            <a:off x="2777490" y="2895447"/>
            <a:ext cx="960120" cy="189283"/>
          </a:xfrm>
          <a:prstGeom prst="rect">
            <a:avLst/>
          </a:prstGeom>
          <a:noFill/>
        </p:spPr>
        <p:txBody>
          <a:bodyPr wrap="square" lIns="13716" tIns="13716" rIns="13716" bIns="13716" anchor="ctr">
            <a:spAutoFit/>
          </a:bodyPr>
          <a:lstStyle/>
          <a:p>
            <a:pPr algn="ctr"/>
            <a:r>
              <a:rPr sz="525">
                <a:solidFill>
                  <a:srgbClr val="F6F4EF"/>
                </a:solidFill>
                <a:latin typeface="Aptos"/>
              </a:rPr>
              <a:t>Schema linking
selected tables</a:t>
            </a:r>
          </a:p>
        </p:txBody>
      </p:sp>
      <p:sp>
        <p:nvSpPr>
          <p:cNvPr id="74" name="Rectangle 73"/>
          <p:cNvSpPr/>
          <p:nvPr/>
        </p:nvSpPr>
        <p:spPr>
          <a:xfrm>
            <a:off x="1885950" y="2798064"/>
            <a:ext cx="685800" cy="342900"/>
          </a:xfrm>
          <a:prstGeom prst="rect">
            <a:avLst/>
          </a:prstGeom>
          <a:solidFill>
            <a:srgbClr val="1C1E22"/>
          </a:solidFill>
          <a:ln w="12700">
            <a:solidFill>
              <a:srgbClr val="A95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5" name="TextBox 74"/>
          <p:cNvSpPr txBox="1"/>
          <p:nvPr/>
        </p:nvSpPr>
        <p:spPr>
          <a:xfrm>
            <a:off x="1920240" y="2901154"/>
            <a:ext cx="617220" cy="177869"/>
          </a:xfrm>
          <a:prstGeom prst="rect">
            <a:avLst/>
          </a:prstGeom>
          <a:noFill/>
        </p:spPr>
        <p:txBody>
          <a:bodyPr wrap="square" lIns="13716" tIns="13716" rIns="13716" bIns="13716" anchor="ctr">
            <a:spAutoFit/>
          </a:bodyPr>
          <a:lstStyle/>
          <a:p>
            <a:pPr algn="ctr"/>
            <a:r>
              <a:rPr sz="488">
                <a:solidFill>
                  <a:srgbClr val="F6F4EF"/>
                </a:solidFill>
                <a:latin typeface="Aptos"/>
              </a:rPr>
              <a:t>Live profiling
sample evidence</a:t>
            </a:r>
          </a:p>
        </p:txBody>
      </p:sp>
      <p:cxnSp>
        <p:nvCxnSpPr>
          <p:cNvPr id="76" name="Connector 75"/>
          <p:cNvCxnSpPr/>
          <p:nvPr/>
        </p:nvCxnSpPr>
        <p:spPr>
          <a:xfrm>
            <a:off x="3031236" y="1920240"/>
            <a:ext cx="0" cy="240030"/>
          </a:xfrm>
          <a:prstGeom prst="line">
            <a:avLst/>
          </a:prstGeom>
          <a:ln w="15240">
            <a:solidFill>
              <a:srgbClr val="F5A012"/>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994410" y="2160270"/>
            <a:ext cx="2036826" cy="0"/>
          </a:xfrm>
          <a:prstGeom prst="line">
            <a:avLst/>
          </a:prstGeom>
          <a:ln w="15240">
            <a:solidFill>
              <a:srgbClr val="F5A012"/>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94410" y="2160270"/>
            <a:ext cx="0" cy="226314"/>
          </a:xfrm>
          <a:prstGeom prst="line">
            <a:avLst/>
          </a:prstGeom>
          <a:ln w="15240">
            <a:solidFill>
              <a:srgbClr val="F5A012"/>
            </a:solidFill>
          </a:ln>
        </p:spPr>
        <p:style>
          <a:lnRef idx="2">
            <a:schemeClr val="accent1"/>
          </a:lnRef>
          <a:fillRef idx="0">
            <a:schemeClr val="accent1"/>
          </a:fillRef>
          <a:effectRef idx="1">
            <a:schemeClr val="accent1"/>
          </a:effectRef>
          <a:fontRef idx="minor">
            <a:schemeClr val="tx1"/>
          </a:fontRef>
        </p:style>
      </p:cxnSp>
      <p:sp>
        <p:nvSpPr>
          <p:cNvPr id="79" name="Isosceles Triangle 78"/>
          <p:cNvSpPr/>
          <p:nvPr/>
        </p:nvSpPr>
        <p:spPr>
          <a:xfrm rot="10800000">
            <a:off x="960120" y="2352294"/>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80" name="Connector 79"/>
          <p:cNvCxnSpPr/>
          <p:nvPr/>
        </p:nvCxnSpPr>
        <p:spPr>
          <a:xfrm>
            <a:off x="994410" y="2729484"/>
            <a:ext cx="0" cy="68580"/>
          </a:xfrm>
          <a:prstGeom prst="line">
            <a:avLst/>
          </a:prstGeom>
          <a:ln w="16510">
            <a:solidFill>
              <a:srgbClr val="4B92FF"/>
            </a:solidFill>
          </a:ln>
        </p:spPr>
        <p:style>
          <a:lnRef idx="2">
            <a:schemeClr val="accent1"/>
          </a:lnRef>
          <a:fillRef idx="0">
            <a:schemeClr val="accent1"/>
          </a:fillRef>
          <a:effectRef idx="1">
            <a:schemeClr val="accent1"/>
          </a:effectRef>
          <a:fontRef idx="minor">
            <a:schemeClr val="tx1"/>
          </a:fontRef>
        </p:style>
      </p:cxnSp>
      <p:sp>
        <p:nvSpPr>
          <p:cNvPr id="81" name="Isosceles Triangle 80"/>
          <p:cNvSpPr/>
          <p:nvPr/>
        </p:nvSpPr>
        <p:spPr>
          <a:xfrm rot="10800000">
            <a:off x="960120" y="2763774"/>
            <a:ext cx="68580" cy="68580"/>
          </a:xfrm>
          <a:prstGeom prst="triangle">
            <a:avLst/>
          </a:prstGeom>
          <a:solidFill>
            <a:srgbClr val="4B9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82" name="Connector 81"/>
          <p:cNvCxnSpPr/>
          <p:nvPr/>
        </p:nvCxnSpPr>
        <p:spPr>
          <a:xfrm>
            <a:off x="1611630" y="2558034"/>
            <a:ext cx="274320" cy="0"/>
          </a:xfrm>
          <a:prstGeom prst="line">
            <a:avLst/>
          </a:prstGeom>
          <a:ln w="15240">
            <a:solidFill>
              <a:srgbClr val="F5A012"/>
            </a:solidFill>
          </a:ln>
        </p:spPr>
        <p:style>
          <a:lnRef idx="2">
            <a:schemeClr val="accent1"/>
          </a:lnRef>
          <a:fillRef idx="0">
            <a:schemeClr val="accent1"/>
          </a:fillRef>
          <a:effectRef idx="1">
            <a:schemeClr val="accent1"/>
          </a:effectRef>
          <a:fontRef idx="minor">
            <a:schemeClr val="tx1"/>
          </a:fontRef>
        </p:style>
      </p:cxnSp>
      <p:sp>
        <p:nvSpPr>
          <p:cNvPr id="83" name="Isosceles Triangle 82"/>
          <p:cNvSpPr/>
          <p:nvPr/>
        </p:nvSpPr>
        <p:spPr>
          <a:xfrm rot="5400000">
            <a:off x="1851660" y="2523744"/>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84" name="Connector 83"/>
          <p:cNvCxnSpPr/>
          <p:nvPr/>
        </p:nvCxnSpPr>
        <p:spPr>
          <a:xfrm>
            <a:off x="2414016" y="2729484"/>
            <a:ext cx="0" cy="68580"/>
          </a:xfrm>
          <a:prstGeom prst="line">
            <a:avLst/>
          </a:prstGeom>
          <a:ln w="15240">
            <a:solidFill>
              <a:srgbClr val="A956D6"/>
            </a:solidFill>
          </a:ln>
        </p:spPr>
        <p:style>
          <a:lnRef idx="2">
            <a:schemeClr val="accent1"/>
          </a:lnRef>
          <a:fillRef idx="0">
            <a:schemeClr val="accent1"/>
          </a:fillRef>
          <a:effectRef idx="1">
            <a:schemeClr val="accent1"/>
          </a:effectRef>
          <a:fontRef idx="minor">
            <a:schemeClr val="tx1"/>
          </a:fontRef>
        </p:style>
      </p:cxnSp>
      <p:sp>
        <p:nvSpPr>
          <p:cNvPr id="85" name="Isosceles Triangle 84"/>
          <p:cNvSpPr/>
          <p:nvPr/>
        </p:nvSpPr>
        <p:spPr>
          <a:xfrm rot="10800000">
            <a:off x="2379726" y="2763774"/>
            <a:ext cx="68580" cy="68580"/>
          </a:xfrm>
          <a:prstGeom prst="triangle">
            <a:avLst/>
          </a:prstGeom>
          <a:solidFill>
            <a:srgbClr val="A9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86" name="Connector 85"/>
          <p:cNvCxnSpPr/>
          <p:nvPr/>
        </p:nvCxnSpPr>
        <p:spPr>
          <a:xfrm>
            <a:off x="2571750" y="2969514"/>
            <a:ext cx="171450" cy="0"/>
          </a:xfrm>
          <a:prstGeom prst="line">
            <a:avLst/>
          </a:prstGeom>
          <a:ln w="16510">
            <a:solidFill>
              <a:srgbClr val="A956D6"/>
            </a:solidFill>
          </a:ln>
        </p:spPr>
        <p:style>
          <a:lnRef idx="2">
            <a:schemeClr val="accent1"/>
          </a:lnRef>
          <a:fillRef idx="0">
            <a:schemeClr val="accent1"/>
          </a:fillRef>
          <a:effectRef idx="1">
            <a:schemeClr val="accent1"/>
          </a:effectRef>
          <a:fontRef idx="minor">
            <a:schemeClr val="tx1"/>
          </a:fontRef>
        </p:style>
      </p:cxnSp>
      <p:sp>
        <p:nvSpPr>
          <p:cNvPr id="87" name="Isosceles Triangle 86"/>
          <p:cNvSpPr/>
          <p:nvPr/>
        </p:nvSpPr>
        <p:spPr>
          <a:xfrm rot="5400000">
            <a:off x="2708910" y="2935224"/>
            <a:ext cx="68580" cy="68580"/>
          </a:xfrm>
          <a:prstGeom prst="triangle">
            <a:avLst/>
          </a:prstGeom>
          <a:solidFill>
            <a:srgbClr val="A9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88" name="Connector 87"/>
          <p:cNvCxnSpPr/>
          <p:nvPr/>
        </p:nvCxnSpPr>
        <p:spPr>
          <a:xfrm>
            <a:off x="2948940" y="2729484"/>
            <a:ext cx="0" cy="68580"/>
          </a:xfrm>
          <a:prstGeom prst="line">
            <a:avLst/>
          </a:prstGeom>
          <a:ln w="15240">
            <a:solidFill>
              <a:srgbClr val="F5A012"/>
            </a:solidFill>
          </a:ln>
        </p:spPr>
        <p:style>
          <a:lnRef idx="2">
            <a:schemeClr val="accent1"/>
          </a:lnRef>
          <a:fillRef idx="0">
            <a:schemeClr val="accent1"/>
          </a:fillRef>
          <a:effectRef idx="1">
            <a:schemeClr val="accent1"/>
          </a:effectRef>
          <a:fontRef idx="minor">
            <a:schemeClr val="tx1"/>
          </a:fontRef>
        </p:style>
      </p:cxnSp>
      <p:sp>
        <p:nvSpPr>
          <p:cNvPr id="89" name="Isosceles Triangle 88"/>
          <p:cNvSpPr/>
          <p:nvPr/>
        </p:nvSpPr>
        <p:spPr>
          <a:xfrm rot="10800000">
            <a:off x="2914650" y="2763774"/>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0" name="Rectangle 89"/>
          <p:cNvSpPr/>
          <p:nvPr/>
        </p:nvSpPr>
        <p:spPr>
          <a:xfrm>
            <a:off x="240030" y="3236976"/>
            <a:ext cx="8606790" cy="1337310"/>
          </a:xfrm>
          <a:prstGeom prst="rect">
            <a:avLst/>
          </a:prstGeom>
          <a:solidFill>
            <a:srgbClr val="18191B"/>
          </a:solidFill>
          <a:ln w="7620">
            <a:solidFill>
              <a:srgbClr val="363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1" name="TextBox 90"/>
          <p:cNvSpPr txBox="1"/>
          <p:nvPr/>
        </p:nvSpPr>
        <p:spPr>
          <a:xfrm>
            <a:off x="322326" y="3305555"/>
            <a:ext cx="8435340" cy="110800"/>
          </a:xfrm>
          <a:prstGeom prst="rect">
            <a:avLst/>
          </a:prstGeom>
          <a:noFill/>
        </p:spPr>
        <p:txBody>
          <a:bodyPr wrap="square" lIns="13716" tIns="13716" rIns="13716" bIns="13716" anchor="t">
            <a:spAutoFit/>
          </a:bodyPr>
          <a:lstStyle/>
          <a:p>
            <a:pPr algn="l"/>
            <a:r>
              <a:rPr sz="540" b="1">
                <a:solidFill>
                  <a:srgbClr val="6C7079"/>
                </a:solidFill>
                <a:latin typeface="Aptos"/>
              </a:rPr>
              <a:t>EXECUTION · VALIDATION · REPAIR LOOP</a:t>
            </a:r>
          </a:p>
        </p:txBody>
      </p:sp>
      <p:sp>
        <p:nvSpPr>
          <p:cNvPr id="92" name="Rectangle 91"/>
          <p:cNvSpPr/>
          <p:nvPr/>
        </p:nvSpPr>
        <p:spPr>
          <a:xfrm>
            <a:off x="377190" y="3497580"/>
            <a:ext cx="651510" cy="377190"/>
          </a:xfrm>
          <a:prstGeom prst="rect">
            <a:avLst/>
          </a:prstGeom>
          <a:solidFill>
            <a:srgbClr val="1C1E22"/>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3" name="TextBox 92"/>
          <p:cNvSpPr txBox="1"/>
          <p:nvPr/>
        </p:nvSpPr>
        <p:spPr>
          <a:xfrm>
            <a:off x="411480" y="3616725"/>
            <a:ext cx="582930" cy="180049"/>
          </a:xfrm>
          <a:prstGeom prst="rect">
            <a:avLst/>
          </a:prstGeom>
          <a:noFill/>
        </p:spPr>
        <p:txBody>
          <a:bodyPr wrap="square" lIns="13716" tIns="13716" rIns="13716" bIns="13716" anchor="ctr">
            <a:spAutoFit/>
          </a:bodyPr>
          <a:lstStyle/>
          <a:p>
            <a:pPr algn="ctr"/>
            <a:r>
              <a:rPr sz="495">
                <a:solidFill>
                  <a:srgbClr val="F6F4EF"/>
                </a:solidFill>
                <a:latin typeface="Aptos"/>
              </a:rPr>
              <a:t>Generation
context</a:t>
            </a:r>
          </a:p>
        </p:txBody>
      </p:sp>
      <p:sp>
        <p:nvSpPr>
          <p:cNvPr id="94" name="Rectangle 93"/>
          <p:cNvSpPr/>
          <p:nvPr/>
        </p:nvSpPr>
        <p:spPr>
          <a:xfrm>
            <a:off x="1200150" y="3497580"/>
            <a:ext cx="651510" cy="377190"/>
          </a:xfrm>
          <a:prstGeom prst="rect">
            <a:avLst/>
          </a:prstGeom>
          <a:solidFill>
            <a:srgbClr val="1C1E22"/>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5" name="TextBox 94"/>
          <p:cNvSpPr txBox="1"/>
          <p:nvPr/>
        </p:nvSpPr>
        <p:spPr>
          <a:xfrm>
            <a:off x="1234440" y="3616725"/>
            <a:ext cx="582930" cy="180049"/>
          </a:xfrm>
          <a:prstGeom prst="rect">
            <a:avLst/>
          </a:prstGeom>
          <a:noFill/>
        </p:spPr>
        <p:txBody>
          <a:bodyPr wrap="square" lIns="13716" tIns="13716" rIns="13716" bIns="13716" anchor="ctr">
            <a:spAutoFit/>
          </a:bodyPr>
          <a:lstStyle/>
          <a:p>
            <a:pPr algn="ctr"/>
            <a:r>
              <a:rPr sz="495">
                <a:solidFill>
                  <a:srgbClr val="F6F4EF"/>
                </a:solidFill>
                <a:latin typeface="Aptos"/>
              </a:rPr>
              <a:t>SQL
Draft</a:t>
            </a:r>
          </a:p>
        </p:txBody>
      </p:sp>
      <p:sp>
        <p:nvSpPr>
          <p:cNvPr id="96" name="Rectangle 95"/>
          <p:cNvSpPr/>
          <p:nvPr/>
        </p:nvSpPr>
        <p:spPr>
          <a:xfrm>
            <a:off x="2023110" y="3497580"/>
            <a:ext cx="651510" cy="377190"/>
          </a:xfrm>
          <a:prstGeom prst="rect">
            <a:avLst/>
          </a:prstGeom>
          <a:solidFill>
            <a:srgbClr val="1C1E22"/>
          </a:solidFill>
          <a:ln w="12700">
            <a:solidFill>
              <a:srgbClr val="FF4D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7" name="TextBox 96"/>
          <p:cNvSpPr txBox="1"/>
          <p:nvPr/>
        </p:nvSpPr>
        <p:spPr>
          <a:xfrm>
            <a:off x="2057400" y="3616725"/>
            <a:ext cx="582930" cy="180049"/>
          </a:xfrm>
          <a:prstGeom prst="rect">
            <a:avLst/>
          </a:prstGeom>
          <a:noFill/>
        </p:spPr>
        <p:txBody>
          <a:bodyPr wrap="square" lIns="13716" tIns="13716" rIns="13716" bIns="13716" anchor="ctr">
            <a:spAutoFit/>
          </a:bodyPr>
          <a:lstStyle/>
          <a:p>
            <a:pPr algn="ctr"/>
            <a:r>
              <a:rPr sz="495">
                <a:solidFill>
                  <a:srgbClr val="F6F4EF"/>
                </a:solidFill>
                <a:latin typeface="Aptos"/>
              </a:rPr>
              <a:t>SQL
Critic</a:t>
            </a:r>
          </a:p>
        </p:txBody>
      </p:sp>
      <p:sp>
        <p:nvSpPr>
          <p:cNvPr id="98" name="Rectangle 97"/>
          <p:cNvSpPr/>
          <p:nvPr/>
        </p:nvSpPr>
        <p:spPr>
          <a:xfrm>
            <a:off x="2846070" y="3497580"/>
            <a:ext cx="651510" cy="377190"/>
          </a:xfrm>
          <a:prstGeom prst="rect">
            <a:avLst/>
          </a:prstGeom>
          <a:solidFill>
            <a:srgbClr val="1C1E22"/>
          </a:solidFill>
          <a:ln w="12700">
            <a:solidFill>
              <a:srgbClr val="A95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9" name="TextBox 98"/>
          <p:cNvSpPr txBox="1"/>
          <p:nvPr/>
        </p:nvSpPr>
        <p:spPr>
          <a:xfrm>
            <a:off x="2880360" y="3616725"/>
            <a:ext cx="582930" cy="180049"/>
          </a:xfrm>
          <a:prstGeom prst="rect">
            <a:avLst/>
          </a:prstGeom>
          <a:noFill/>
        </p:spPr>
        <p:txBody>
          <a:bodyPr wrap="square" lIns="13716" tIns="13716" rIns="13716" bIns="13716" anchor="ctr">
            <a:spAutoFit/>
          </a:bodyPr>
          <a:lstStyle/>
          <a:p>
            <a:pPr algn="ctr"/>
            <a:r>
              <a:rPr sz="495">
                <a:solidFill>
                  <a:srgbClr val="F6F4EF"/>
                </a:solidFill>
                <a:latin typeface="Aptos"/>
              </a:rPr>
              <a:t>Pre-flight
schema check</a:t>
            </a:r>
          </a:p>
        </p:txBody>
      </p:sp>
      <p:sp>
        <p:nvSpPr>
          <p:cNvPr id="100" name="Rectangle 99"/>
          <p:cNvSpPr/>
          <p:nvPr/>
        </p:nvSpPr>
        <p:spPr>
          <a:xfrm>
            <a:off x="3737610" y="3497580"/>
            <a:ext cx="651510" cy="377190"/>
          </a:xfrm>
          <a:prstGeom prst="rect">
            <a:avLst/>
          </a:prstGeom>
          <a:solidFill>
            <a:srgbClr val="1C1E22"/>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1" name="TextBox 100"/>
          <p:cNvSpPr txBox="1"/>
          <p:nvPr/>
        </p:nvSpPr>
        <p:spPr>
          <a:xfrm>
            <a:off x="3771900" y="3616725"/>
            <a:ext cx="582930" cy="180049"/>
          </a:xfrm>
          <a:prstGeom prst="rect">
            <a:avLst/>
          </a:prstGeom>
          <a:noFill/>
        </p:spPr>
        <p:txBody>
          <a:bodyPr wrap="square" lIns="13716" tIns="13716" rIns="13716" bIns="13716" anchor="ctr">
            <a:spAutoFit/>
          </a:bodyPr>
          <a:lstStyle/>
          <a:p>
            <a:pPr algn="ctr"/>
            <a:r>
              <a:rPr sz="495">
                <a:solidFill>
                  <a:srgbClr val="F6F4EF"/>
                </a:solidFill>
                <a:latin typeface="Aptos"/>
              </a:rPr>
              <a:t>Retry memory
hash check</a:t>
            </a:r>
          </a:p>
        </p:txBody>
      </p:sp>
      <p:sp>
        <p:nvSpPr>
          <p:cNvPr id="102" name="Rectangle 101"/>
          <p:cNvSpPr/>
          <p:nvPr/>
        </p:nvSpPr>
        <p:spPr>
          <a:xfrm>
            <a:off x="4629150" y="3497580"/>
            <a:ext cx="651510" cy="377190"/>
          </a:xfrm>
          <a:prstGeom prst="rect">
            <a:avLst/>
          </a:prstGeom>
          <a:solidFill>
            <a:srgbClr val="1C1E22"/>
          </a:solidFill>
          <a:ln w="12700">
            <a:solidFill>
              <a:srgbClr val="4B9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3" name="TextBox 102"/>
          <p:cNvSpPr txBox="1"/>
          <p:nvPr/>
        </p:nvSpPr>
        <p:spPr>
          <a:xfrm>
            <a:off x="4663440" y="3616725"/>
            <a:ext cx="582930" cy="180049"/>
          </a:xfrm>
          <a:prstGeom prst="rect">
            <a:avLst/>
          </a:prstGeom>
          <a:noFill/>
        </p:spPr>
        <p:txBody>
          <a:bodyPr wrap="square" lIns="13716" tIns="13716" rIns="13716" bIns="13716" anchor="ctr">
            <a:spAutoFit/>
          </a:bodyPr>
          <a:lstStyle/>
          <a:p>
            <a:pPr algn="ctr"/>
            <a:r>
              <a:rPr sz="495">
                <a:solidFill>
                  <a:srgbClr val="F6F4EF"/>
                </a:solidFill>
                <a:latin typeface="Aptos"/>
              </a:rPr>
              <a:t>Execute
SQL</a:t>
            </a:r>
          </a:p>
        </p:txBody>
      </p:sp>
      <p:sp>
        <p:nvSpPr>
          <p:cNvPr id="104" name="Rectangle 103"/>
          <p:cNvSpPr/>
          <p:nvPr/>
        </p:nvSpPr>
        <p:spPr>
          <a:xfrm>
            <a:off x="5520690" y="3497580"/>
            <a:ext cx="651510" cy="377190"/>
          </a:xfrm>
          <a:prstGeom prst="rect">
            <a:avLst/>
          </a:prstGeom>
          <a:solidFill>
            <a:srgbClr val="1C1E22"/>
          </a:solidFill>
          <a:ln w="12700">
            <a:solidFill>
              <a:srgbClr val="00CC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5" name="TextBox 104"/>
          <p:cNvSpPr txBox="1"/>
          <p:nvPr/>
        </p:nvSpPr>
        <p:spPr>
          <a:xfrm>
            <a:off x="5554980" y="3616725"/>
            <a:ext cx="582930" cy="180049"/>
          </a:xfrm>
          <a:prstGeom prst="rect">
            <a:avLst/>
          </a:prstGeom>
          <a:noFill/>
        </p:spPr>
        <p:txBody>
          <a:bodyPr wrap="square" lIns="13716" tIns="13716" rIns="13716" bIns="13716" anchor="ctr">
            <a:spAutoFit/>
          </a:bodyPr>
          <a:lstStyle/>
          <a:p>
            <a:pPr algn="ctr"/>
            <a:r>
              <a:rPr sz="495">
                <a:solidFill>
                  <a:srgbClr val="F6F4EF"/>
                </a:solidFill>
                <a:latin typeface="Aptos"/>
              </a:rPr>
              <a:t>Result stats
+ diagnostics</a:t>
            </a:r>
          </a:p>
        </p:txBody>
      </p:sp>
      <p:sp>
        <p:nvSpPr>
          <p:cNvPr id="106" name="Rectangle 105"/>
          <p:cNvSpPr/>
          <p:nvPr/>
        </p:nvSpPr>
        <p:spPr>
          <a:xfrm>
            <a:off x="6480810" y="3497580"/>
            <a:ext cx="651510" cy="377190"/>
          </a:xfrm>
          <a:prstGeom prst="rect">
            <a:avLst/>
          </a:prstGeom>
          <a:solidFill>
            <a:srgbClr val="1C1E22"/>
          </a:solidFill>
          <a:ln w="12700">
            <a:solidFill>
              <a:srgbClr val="16C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7" name="TextBox 106"/>
          <p:cNvSpPr txBox="1"/>
          <p:nvPr/>
        </p:nvSpPr>
        <p:spPr>
          <a:xfrm>
            <a:off x="6515100" y="3616725"/>
            <a:ext cx="582930" cy="180049"/>
          </a:xfrm>
          <a:prstGeom prst="rect">
            <a:avLst/>
          </a:prstGeom>
          <a:noFill/>
        </p:spPr>
        <p:txBody>
          <a:bodyPr wrap="square" lIns="13716" tIns="13716" rIns="13716" bIns="13716" anchor="ctr">
            <a:spAutoFit/>
          </a:bodyPr>
          <a:lstStyle/>
          <a:p>
            <a:pPr algn="ctr"/>
            <a:r>
              <a:rPr sz="495">
                <a:solidFill>
                  <a:srgbClr val="F6F4EF"/>
                </a:solidFill>
                <a:latin typeface="Aptos"/>
              </a:rPr>
              <a:t>Data IQ
audit</a:t>
            </a:r>
          </a:p>
        </p:txBody>
      </p:sp>
      <p:sp>
        <p:nvSpPr>
          <p:cNvPr id="108" name="Rectangle 107"/>
          <p:cNvSpPr/>
          <p:nvPr/>
        </p:nvSpPr>
        <p:spPr>
          <a:xfrm>
            <a:off x="7440930" y="3497580"/>
            <a:ext cx="651510" cy="377190"/>
          </a:xfrm>
          <a:prstGeom prst="rect">
            <a:avLst/>
          </a:prstGeom>
          <a:solidFill>
            <a:srgbClr val="1C1E22"/>
          </a:solidFill>
          <a:ln w="12700">
            <a:solidFill>
              <a:srgbClr val="16C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9" name="TextBox 108"/>
          <p:cNvSpPr txBox="1"/>
          <p:nvPr/>
        </p:nvSpPr>
        <p:spPr>
          <a:xfrm>
            <a:off x="7475220" y="3616725"/>
            <a:ext cx="582930" cy="180049"/>
          </a:xfrm>
          <a:prstGeom prst="rect">
            <a:avLst/>
          </a:prstGeom>
          <a:noFill/>
        </p:spPr>
        <p:txBody>
          <a:bodyPr wrap="square" lIns="13716" tIns="13716" rIns="13716" bIns="13716" anchor="ctr">
            <a:spAutoFit/>
          </a:bodyPr>
          <a:lstStyle/>
          <a:p>
            <a:pPr algn="ctr"/>
            <a:r>
              <a:rPr sz="495">
                <a:solidFill>
                  <a:srgbClr val="F6F4EF"/>
                </a:solidFill>
                <a:latin typeface="Aptos"/>
              </a:rPr>
              <a:t>Cache
success</a:t>
            </a:r>
          </a:p>
        </p:txBody>
      </p:sp>
      <p:sp>
        <p:nvSpPr>
          <p:cNvPr id="110" name="Rectangle 109"/>
          <p:cNvSpPr/>
          <p:nvPr/>
        </p:nvSpPr>
        <p:spPr>
          <a:xfrm>
            <a:off x="8229600" y="3497580"/>
            <a:ext cx="493776" cy="377190"/>
          </a:xfrm>
          <a:prstGeom prst="rect">
            <a:avLst/>
          </a:prstGeom>
          <a:solidFill>
            <a:srgbClr val="1C1E22"/>
          </a:solidFill>
          <a:ln w="12700">
            <a:solidFill>
              <a:srgbClr val="00CC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1" name="TextBox 110"/>
          <p:cNvSpPr txBox="1"/>
          <p:nvPr/>
        </p:nvSpPr>
        <p:spPr>
          <a:xfrm>
            <a:off x="8263890" y="3616725"/>
            <a:ext cx="425196" cy="180049"/>
          </a:xfrm>
          <a:prstGeom prst="rect">
            <a:avLst/>
          </a:prstGeom>
          <a:noFill/>
        </p:spPr>
        <p:txBody>
          <a:bodyPr wrap="square" lIns="13716" tIns="13716" rIns="13716" bIns="13716" anchor="ctr">
            <a:spAutoFit/>
          </a:bodyPr>
          <a:lstStyle/>
          <a:p>
            <a:pPr algn="ctr"/>
            <a:r>
              <a:rPr sz="495">
                <a:solidFill>
                  <a:srgbClr val="F6F4EF"/>
                </a:solidFill>
                <a:latin typeface="Aptos"/>
              </a:rPr>
              <a:t>Final
SQL</a:t>
            </a:r>
          </a:p>
        </p:txBody>
      </p:sp>
      <p:cxnSp>
        <p:nvCxnSpPr>
          <p:cNvPr id="112" name="Connector 111"/>
          <p:cNvCxnSpPr/>
          <p:nvPr/>
        </p:nvCxnSpPr>
        <p:spPr>
          <a:xfrm>
            <a:off x="1028700" y="3689604"/>
            <a:ext cx="171450"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113" name="Isosceles Triangle 112"/>
          <p:cNvSpPr/>
          <p:nvPr/>
        </p:nvSpPr>
        <p:spPr>
          <a:xfrm rot="5400000">
            <a:off x="1165860" y="3655314"/>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114" name="Connector 113"/>
          <p:cNvCxnSpPr/>
          <p:nvPr/>
        </p:nvCxnSpPr>
        <p:spPr>
          <a:xfrm>
            <a:off x="1851660" y="3689604"/>
            <a:ext cx="171450"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115" name="Isosceles Triangle 114"/>
          <p:cNvSpPr/>
          <p:nvPr/>
        </p:nvSpPr>
        <p:spPr>
          <a:xfrm rot="5400000">
            <a:off x="1988820" y="3655314"/>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116" name="Connector 115"/>
          <p:cNvCxnSpPr/>
          <p:nvPr/>
        </p:nvCxnSpPr>
        <p:spPr>
          <a:xfrm>
            <a:off x="2674620" y="3689604"/>
            <a:ext cx="171450"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117" name="Isosceles Triangle 116"/>
          <p:cNvSpPr/>
          <p:nvPr/>
        </p:nvSpPr>
        <p:spPr>
          <a:xfrm rot="5400000">
            <a:off x="2811780" y="3655314"/>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118" name="Connector 117"/>
          <p:cNvCxnSpPr/>
          <p:nvPr/>
        </p:nvCxnSpPr>
        <p:spPr>
          <a:xfrm>
            <a:off x="3497580" y="3689604"/>
            <a:ext cx="240030"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119" name="Isosceles Triangle 118"/>
          <p:cNvSpPr/>
          <p:nvPr/>
        </p:nvSpPr>
        <p:spPr>
          <a:xfrm rot="5400000">
            <a:off x="3703320" y="3655314"/>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120" name="Connector 119"/>
          <p:cNvCxnSpPr/>
          <p:nvPr/>
        </p:nvCxnSpPr>
        <p:spPr>
          <a:xfrm>
            <a:off x="4389120" y="3689604"/>
            <a:ext cx="240030"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121" name="Isosceles Triangle 120"/>
          <p:cNvSpPr/>
          <p:nvPr/>
        </p:nvSpPr>
        <p:spPr>
          <a:xfrm rot="5400000">
            <a:off x="4594860" y="3655314"/>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122" name="Connector 121"/>
          <p:cNvCxnSpPr/>
          <p:nvPr/>
        </p:nvCxnSpPr>
        <p:spPr>
          <a:xfrm>
            <a:off x="5280660" y="3689604"/>
            <a:ext cx="240030"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123" name="Isosceles Triangle 122"/>
          <p:cNvSpPr/>
          <p:nvPr/>
        </p:nvSpPr>
        <p:spPr>
          <a:xfrm rot="5400000">
            <a:off x="5486400" y="3655314"/>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124" name="Connector 123"/>
          <p:cNvCxnSpPr/>
          <p:nvPr/>
        </p:nvCxnSpPr>
        <p:spPr>
          <a:xfrm>
            <a:off x="6172200" y="3689604"/>
            <a:ext cx="308610"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125" name="Isosceles Triangle 124"/>
          <p:cNvSpPr/>
          <p:nvPr/>
        </p:nvSpPr>
        <p:spPr>
          <a:xfrm rot="5400000">
            <a:off x="6446519" y="3655314"/>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126" name="Connector 125"/>
          <p:cNvCxnSpPr/>
          <p:nvPr/>
        </p:nvCxnSpPr>
        <p:spPr>
          <a:xfrm>
            <a:off x="7132320" y="3689604"/>
            <a:ext cx="308610"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127" name="Isosceles Triangle 126"/>
          <p:cNvSpPr/>
          <p:nvPr/>
        </p:nvSpPr>
        <p:spPr>
          <a:xfrm rot="5400000">
            <a:off x="7406639" y="3655314"/>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128" name="Connector 127"/>
          <p:cNvCxnSpPr/>
          <p:nvPr/>
        </p:nvCxnSpPr>
        <p:spPr>
          <a:xfrm>
            <a:off x="8092440" y="3689604"/>
            <a:ext cx="137160"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129" name="Isosceles Triangle 128"/>
          <p:cNvSpPr/>
          <p:nvPr/>
        </p:nvSpPr>
        <p:spPr>
          <a:xfrm rot="5400000">
            <a:off x="8195310" y="3655314"/>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130" name="Connector 129"/>
          <p:cNvCxnSpPr/>
          <p:nvPr/>
        </p:nvCxnSpPr>
        <p:spPr>
          <a:xfrm>
            <a:off x="3771900" y="2969514"/>
            <a:ext cx="0" cy="336042"/>
          </a:xfrm>
          <a:prstGeom prst="line">
            <a:avLst/>
          </a:prstGeom>
          <a:ln w="15240">
            <a:solidFill>
              <a:srgbClr val="F5A012"/>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H="1">
            <a:off x="651510" y="3305556"/>
            <a:ext cx="3120390" cy="0"/>
          </a:xfrm>
          <a:prstGeom prst="line">
            <a:avLst/>
          </a:prstGeom>
          <a:ln w="15240">
            <a:solidFill>
              <a:srgbClr val="F5A012"/>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651510" y="3305556"/>
            <a:ext cx="0" cy="192024"/>
          </a:xfrm>
          <a:prstGeom prst="line">
            <a:avLst/>
          </a:prstGeom>
          <a:ln w="15240">
            <a:solidFill>
              <a:srgbClr val="F5A012"/>
            </a:solidFill>
          </a:ln>
        </p:spPr>
        <p:style>
          <a:lnRef idx="2">
            <a:schemeClr val="accent1"/>
          </a:lnRef>
          <a:fillRef idx="0">
            <a:schemeClr val="accent1"/>
          </a:fillRef>
          <a:effectRef idx="1">
            <a:schemeClr val="accent1"/>
          </a:effectRef>
          <a:fontRef idx="minor">
            <a:schemeClr val="tx1"/>
          </a:fontRef>
        </p:style>
      </p:cxnSp>
      <p:sp>
        <p:nvSpPr>
          <p:cNvPr id="133" name="Isosceles Triangle 132"/>
          <p:cNvSpPr/>
          <p:nvPr/>
        </p:nvSpPr>
        <p:spPr>
          <a:xfrm rot="10800000">
            <a:off x="617219" y="3463290"/>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134" name="Connector 133"/>
          <p:cNvCxnSpPr/>
          <p:nvPr/>
        </p:nvCxnSpPr>
        <p:spPr>
          <a:xfrm>
            <a:off x="7447788" y="2434590"/>
            <a:ext cx="0" cy="445770"/>
          </a:xfrm>
          <a:prstGeom prst="line">
            <a:avLst/>
          </a:prstGeom>
          <a:ln w="12700">
            <a:solidFill>
              <a:srgbClr val="A956D6"/>
            </a:solidFill>
            <a:prstDash val="dash"/>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H="1">
            <a:off x="493776" y="2880360"/>
            <a:ext cx="6954012" cy="0"/>
          </a:xfrm>
          <a:prstGeom prst="line">
            <a:avLst/>
          </a:prstGeom>
          <a:ln w="12700">
            <a:solidFill>
              <a:srgbClr val="A956D6"/>
            </a:solidFill>
            <a:prstDash val="dash"/>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493776" y="2880360"/>
            <a:ext cx="0" cy="617220"/>
          </a:xfrm>
          <a:prstGeom prst="line">
            <a:avLst/>
          </a:prstGeom>
          <a:ln w="12700">
            <a:solidFill>
              <a:srgbClr val="A956D6"/>
            </a:solidFill>
            <a:prstDash val="dash"/>
          </a:ln>
        </p:spPr>
        <p:style>
          <a:lnRef idx="2">
            <a:schemeClr val="accent1"/>
          </a:lnRef>
          <a:fillRef idx="0">
            <a:schemeClr val="accent1"/>
          </a:fillRef>
          <a:effectRef idx="1">
            <a:schemeClr val="accent1"/>
          </a:effectRef>
          <a:fontRef idx="minor">
            <a:schemeClr val="tx1"/>
          </a:fontRef>
        </p:style>
      </p:cxnSp>
      <p:sp>
        <p:nvSpPr>
          <p:cNvPr id="137" name="Isosceles Triangle 136"/>
          <p:cNvSpPr/>
          <p:nvPr/>
        </p:nvSpPr>
        <p:spPr>
          <a:xfrm rot="10800000">
            <a:off x="459485" y="3463290"/>
            <a:ext cx="68580" cy="68580"/>
          </a:xfrm>
          <a:prstGeom prst="triangle">
            <a:avLst/>
          </a:prstGeom>
          <a:solidFill>
            <a:srgbClr val="A9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8" name="TextBox 137"/>
          <p:cNvSpPr txBox="1"/>
          <p:nvPr/>
        </p:nvSpPr>
        <p:spPr>
          <a:xfrm>
            <a:off x="4491990" y="2784348"/>
            <a:ext cx="1165860" cy="99258"/>
          </a:xfrm>
          <a:prstGeom prst="rect">
            <a:avLst/>
          </a:prstGeom>
          <a:noFill/>
        </p:spPr>
        <p:txBody>
          <a:bodyPr wrap="square" lIns="13716" tIns="13716" rIns="13716" bIns="13716" anchor="t">
            <a:spAutoFit/>
          </a:bodyPr>
          <a:lstStyle/>
          <a:p>
            <a:pPr algn="ctr"/>
            <a:r>
              <a:rPr sz="465" b="1">
                <a:solidFill>
                  <a:srgbClr val="A956D6"/>
                </a:solidFill>
                <a:latin typeface="Aptos"/>
              </a:rPr>
              <a:t>reference / best SQL context</a:t>
            </a:r>
          </a:p>
        </p:txBody>
      </p:sp>
      <p:sp>
        <p:nvSpPr>
          <p:cNvPr id="139" name="Rectangle 138"/>
          <p:cNvSpPr/>
          <p:nvPr/>
        </p:nvSpPr>
        <p:spPr>
          <a:xfrm>
            <a:off x="6480810" y="4128516"/>
            <a:ext cx="651510" cy="308610"/>
          </a:xfrm>
          <a:prstGeom prst="rect">
            <a:avLst/>
          </a:prstGeom>
          <a:solidFill>
            <a:srgbClr val="1C1E22"/>
          </a:solidFill>
          <a:ln w="12700">
            <a:solidFill>
              <a:srgbClr val="FF4D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0" name="TextBox 139"/>
          <p:cNvSpPr txBox="1"/>
          <p:nvPr/>
        </p:nvSpPr>
        <p:spPr>
          <a:xfrm>
            <a:off x="6515100" y="4214461"/>
            <a:ext cx="582930" cy="177869"/>
          </a:xfrm>
          <a:prstGeom prst="rect">
            <a:avLst/>
          </a:prstGeom>
          <a:noFill/>
        </p:spPr>
        <p:txBody>
          <a:bodyPr wrap="square" lIns="13716" tIns="13716" rIns="13716" bIns="13716" anchor="ctr">
            <a:spAutoFit/>
          </a:bodyPr>
          <a:lstStyle/>
          <a:p>
            <a:pPr algn="ctr"/>
            <a:r>
              <a:rPr sz="488">
                <a:solidFill>
                  <a:srgbClr val="F6F4EF"/>
                </a:solidFill>
                <a:latin typeface="Aptos"/>
              </a:rPr>
              <a:t>Self-
Corrector</a:t>
            </a:r>
          </a:p>
        </p:txBody>
      </p:sp>
      <p:sp>
        <p:nvSpPr>
          <p:cNvPr id="141" name="Rectangle 140"/>
          <p:cNvSpPr/>
          <p:nvPr/>
        </p:nvSpPr>
        <p:spPr>
          <a:xfrm>
            <a:off x="5246370" y="4128516"/>
            <a:ext cx="857250" cy="308610"/>
          </a:xfrm>
          <a:prstGeom prst="rect">
            <a:avLst/>
          </a:prstGeom>
          <a:solidFill>
            <a:srgbClr val="1C1E22"/>
          </a:solidFill>
          <a:ln w="12700">
            <a:solidFill>
              <a:srgbClr val="A95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2" name="TextBox 141"/>
          <p:cNvSpPr txBox="1"/>
          <p:nvPr/>
        </p:nvSpPr>
        <p:spPr>
          <a:xfrm>
            <a:off x="5280660" y="4220296"/>
            <a:ext cx="788670" cy="166199"/>
          </a:xfrm>
          <a:prstGeom prst="rect">
            <a:avLst/>
          </a:prstGeom>
          <a:noFill/>
        </p:spPr>
        <p:txBody>
          <a:bodyPr wrap="square" lIns="13716" tIns="13716" rIns="13716" bIns="13716" anchor="ctr">
            <a:spAutoFit/>
          </a:bodyPr>
          <a:lstStyle/>
          <a:p>
            <a:pPr algn="ctr"/>
            <a:r>
              <a:rPr sz="450">
                <a:solidFill>
                  <a:srgbClr val="F6F4EF"/>
                </a:solidFill>
                <a:latin typeface="Aptos"/>
              </a:rPr>
              <a:t>Schema
unprune / discovery</a:t>
            </a:r>
          </a:p>
        </p:txBody>
      </p:sp>
      <p:cxnSp>
        <p:nvCxnSpPr>
          <p:cNvPr id="143" name="Connector 142"/>
          <p:cNvCxnSpPr/>
          <p:nvPr/>
        </p:nvCxnSpPr>
        <p:spPr>
          <a:xfrm>
            <a:off x="6789420" y="3874770"/>
            <a:ext cx="0" cy="253746"/>
          </a:xfrm>
          <a:prstGeom prst="line">
            <a:avLst/>
          </a:prstGeom>
          <a:ln w="15240">
            <a:solidFill>
              <a:srgbClr val="FF4D56"/>
            </a:solidFill>
          </a:ln>
        </p:spPr>
        <p:style>
          <a:lnRef idx="2">
            <a:schemeClr val="accent1"/>
          </a:lnRef>
          <a:fillRef idx="0">
            <a:schemeClr val="accent1"/>
          </a:fillRef>
          <a:effectRef idx="1">
            <a:schemeClr val="accent1"/>
          </a:effectRef>
          <a:fontRef idx="minor">
            <a:schemeClr val="tx1"/>
          </a:fontRef>
        </p:style>
      </p:cxnSp>
      <p:sp>
        <p:nvSpPr>
          <p:cNvPr id="144" name="Isosceles Triangle 143"/>
          <p:cNvSpPr/>
          <p:nvPr/>
        </p:nvSpPr>
        <p:spPr>
          <a:xfrm rot="10800000">
            <a:off x="6755130" y="4094226"/>
            <a:ext cx="68580" cy="68580"/>
          </a:xfrm>
          <a:prstGeom prst="triangle">
            <a:avLst/>
          </a:prstGeom>
          <a:solidFill>
            <a:srgbClr val="FF4D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145" name="Connector 144"/>
          <p:cNvCxnSpPr/>
          <p:nvPr/>
        </p:nvCxnSpPr>
        <p:spPr>
          <a:xfrm flipH="1">
            <a:off x="6103620" y="4279392"/>
            <a:ext cx="377190" cy="0"/>
          </a:xfrm>
          <a:prstGeom prst="line">
            <a:avLst/>
          </a:prstGeom>
          <a:ln w="16510">
            <a:solidFill>
              <a:srgbClr val="FF4D56"/>
            </a:solidFill>
          </a:ln>
        </p:spPr>
        <p:style>
          <a:lnRef idx="2">
            <a:schemeClr val="accent1"/>
          </a:lnRef>
          <a:fillRef idx="0">
            <a:schemeClr val="accent1"/>
          </a:fillRef>
          <a:effectRef idx="1">
            <a:schemeClr val="accent1"/>
          </a:effectRef>
          <a:fontRef idx="minor">
            <a:schemeClr val="tx1"/>
          </a:fontRef>
        </p:style>
      </p:cxnSp>
      <p:sp>
        <p:nvSpPr>
          <p:cNvPr id="146" name="Isosceles Triangle 145"/>
          <p:cNvSpPr/>
          <p:nvPr/>
        </p:nvSpPr>
        <p:spPr>
          <a:xfrm rot="16200000">
            <a:off x="6069330" y="4245102"/>
            <a:ext cx="68580" cy="68580"/>
          </a:xfrm>
          <a:prstGeom prst="triangle">
            <a:avLst/>
          </a:prstGeom>
          <a:solidFill>
            <a:srgbClr val="FF4D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147" name="Connector 146"/>
          <p:cNvCxnSpPr/>
          <p:nvPr/>
        </p:nvCxnSpPr>
        <p:spPr>
          <a:xfrm flipH="1">
            <a:off x="4059936" y="4279392"/>
            <a:ext cx="1186434" cy="0"/>
          </a:xfrm>
          <a:prstGeom prst="line">
            <a:avLst/>
          </a:prstGeom>
          <a:ln w="16510">
            <a:solidFill>
              <a:srgbClr val="FF4D56"/>
            </a:solidFill>
          </a:ln>
        </p:spPr>
        <p:style>
          <a:lnRef idx="2">
            <a:schemeClr val="accent1"/>
          </a:lnRef>
          <a:fillRef idx="0">
            <a:schemeClr val="accent1"/>
          </a:fillRef>
          <a:effectRef idx="1">
            <a:schemeClr val="accent1"/>
          </a:effectRef>
          <a:fontRef idx="minor">
            <a:schemeClr val="tx1"/>
          </a:fontRef>
        </p:style>
      </p:cxnSp>
      <p:sp>
        <p:nvSpPr>
          <p:cNvPr id="148" name="Isosceles Triangle 147"/>
          <p:cNvSpPr/>
          <p:nvPr/>
        </p:nvSpPr>
        <p:spPr>
          <a:xfrm rot="16200000">
            <a:off x="4025646" y="4245102"/>
            <a:ext cx="68580" cy="68580"/>
          </a:xfrm>
          <a:prstGeom prst="triangle">
            <a:avLst/>
          </a:prstGeom>
          <a:solidFill>
            <a:srgbClr val="FF4D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149" name="Connector 148"/>
          <p:cNvCxnSpPr/>
          <p:nvPr/>
        </p:nvCxnSpPr>
        <p:spPr>
          <a:xfrm flipV="1">
            <a:off x="4059936" y="3874770"/>
            <a:ext cx="0" cy="404622"/>
          </a:xfrm>
          <a:prstGeom prst="line">
            <a:avLst/>
          </a:prstGeom>
          <a:ln w="15240">
            <a:solidFill>
              <a:srgbClr val="FF4D56"/>
            </a:solidFill>
          </a:ln>
        </p:spPr>
        <p:style>
          <a:lnRef idx="2">
            <a:schemeClr val="accent1"/>
          </a:lnRef>
          <a:fillRef idx="0">
            <a:schemeClr val="accent1"/>
          </a:fillRef>
          <a:effectRef idx="1">
            <a:schemeClr val="accent1"/>
          </a:effectRef>
          <a:fontRef idx="minor">
            <a:schemeClr val="tx1"/>
          </a:fontRef>
        </p:style>
      </p:cxnSp>
      <p:sp>
        <p:nvSpPr>
          <p:cNvPr id="150" name="Isosceles Triangle 149"/>
          <p:cNvSpPr/>
          <p:nvPr/>
        </p:nvSpPr>
        <p:spPr>
          <a:xfrm>
            <a:off x="4025646" y="3840480"/>
            <a:ext cx="68580" cy="68580"/>
          </a:xfrm>
          <a:prstGeom prst="triangle">
            <a:avLst/>
          </a:prstGeom>
          <a:solidFill>
            <a:srgbClr val="FF4D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1" name="TextBox 150"/>
          <p:cNvSpPr txBox="1"/>
          <p:nvPr/>
        </p:nvSpPr>
        <p:spPr>
          <a:xfrm>
            <a:off x="5417820" y="3963925"/>
            <a:ext cx="1748790" cy="99258"/>
          </a:xfrm>
          <a:prstGeom prst="rect">
            <a:avLst/>
          </a:prstGeom>
          <a:noFill/>
        </p:spPr>
        <p:txBody>
          <a:bodyPr wrap="square" lIns="13716" tIns="13716" rIns="13716" bIns="13716" anchor="t">
            <a:spAutoFit/>
          </a:bodyPr>
          <a:lstStyle/>
          <a:p>
            <a:pPr algn="ctr"/>
            <a:r>
              <a:rPr sz="465" b="1">
                <a:solidFill>
                  <a:srgbClr val="FF4D56"/>
                </a:solidFill>
                <a:latin typeface="Aptos"/>
              </a:rPr>
              <a:t>invalid result / execution error / schema issue</a:t>
            </a:r>
          </a:p>
        </p:txBody>
      </p:sp>
      <p:sp>
        <p:nvSpPr>
          <p:cNvPr id="152" name="Rectangle 151"/>
          <p:cNvSpPr/>
          <p:nvPr/>
        </p:nvSpPr>
        <p:spPr>
          <a:xfrm>
            <a:off x="7351776" y="4128516"/>
            <a:ext cx="651510" cy="308610"/>
          </a:xfrm>
          <a:prstGeom prst="rect">
            <a:avLst/>
          </a:prstGeom>
          <a:solidFill>
            <a:srgbClr val="1C1E22"/>
          </a:solidFill>
          <a:ln w="12700">
            <a:solidFill>
              <a:srgbClr val="4B9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3" name="TextBox 152"/>
          <p:cNvSpPr txBox="1"/>
          <p:nvPr/>
        </p:nvSpPr>
        <p:spPr>
          <a:xfrm>
            <a:off x="7386066" y="4216897"/>
            <a:ext cx="582930" cy="172996"/>
          </a:xfrm>
          <a:prstGeom prst="rect">
            <a:avLst/>
          </a:prstGeom>
          <a:noFill/>
        </p:spPr>
        <p:txBody>
          <a:bodyPr wrap="square" lIns="13716" tIns="13716" rIns="13716" bIns="13716" anchor="ctr">
            <a:spAutoFit/>
          </a:bodyPr>
          <a:lstStyle/>
          <a:p>
            <a:pPr algn="ctr"/>
            <a:r>
              <a:rPr sz="472">
                <a:solidFill>
                  <a:srgbClr val="F6F4EF"/>
                </a:solidFill>
                <a:latin typeface="Aptos"/>
              </a:rPr>
              <a:t>Exploration
probe</a:t>
            </a:r>
          </a:p>
        </p:txBody>
      </p:sp>
      <p:cxnSp>
        <p:nvCxnSpPr>
          <p:cNvPr id="154" name="Connector 153"/>
          <p:cNvCxnSpPr/>
          <p:nvPr/>
        </p:nvCxnSpPr>
        <p:spPr>
          <a:xfrm>
            <a:off x="6803136" y="3874770"/>
            <a:ext cx="0" cy="144018"/>
          </a:xfrm>
          <a:prstGeom prst="line">
            <a:avLst/>
          </a:prstGeom>
          <a:ln w="12700">
            <a:solidFill>
              <a:srgbClr val="4B92FF"/>
            </a:solidFill>
            <a:prstDash val="dash"/>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803136" y="4018788"/>
            <a:ext cx="877824" cy="0"/>
          </a:xfrm>
          <a:prstGeom prst="line">
            <a:avLst/>
          </a:prstGeom>
          <a:ln w="12700">
            <a:solidFill>
              <a:srgbClr val="4B92FF"/>
            </a:solidFill>
            <a:prstDash val="dash"/>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7680960" y="4018788"/>
            <a:ext cx="0" cy="109728"/>
          </a:xfrm>
          <a:prstGeom prst="line">
            <a:avLst/>
          </a:prstGeom>
          <a:ln w="12700">
            <a:solidFill>
              <a:srgbClr val="4B92FF"/>
            </a:solidFill>
            <a:prstDash val="dash"/>
          </a:ln>
        </p:spPr>
        <p:style>
          <a:lnRef idx="2">
            <a:schemeClr val="accent1"/>
          </a:lnRef>
          <a:fillRef idx="0">
            <a:schemeClr val="accent1"/>
          </a:fillRef>
          <a:effectRef idx="1">
            <a:schemeClr val="accent1"/>
          </a:effectRef>
          <a:fontRef idx="minor">
            <a:schemeClr val="tx1"/>
          </a:fontRef>
        </p:style>
      </p:cxnSp>
      <p:sp>
        <p:nvSpPr>
          <p:cNvPr id="157" name="Isosceles Triangle 156"/>
          <p:cNvSpPr/>
          <p:nvPr/>
        </p:nvSpPr>
        <p:spPr>
          <a:xfrm rot="10800000">
            <a:off x="7646669" y="4094226"/>
            <a:ext cx="68580" cy="68580"/>
          </a:xfrm>
          <a:prstGeom prst="triangle">
            <a:avLst/>
          </a:prstGeom>
          <a:solidFill>
            <a:srgbClr val="4B9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158" name="Connector 157"/>
          <p:cNvCxnSpPr/>
          <p:nvPr/>
        </p:nvCxnSpPr>
        <p:spPr>
          <a:xfrm>
            <a:off x="7680960" y="4437126"/>
            <a:ext cx="0" cy="171450"/>
          </a:xfrm>
          <a:prstGeom prst="line">
            <a:avLst/>
          </a:prstGeom>
          <a:ln w="12700">
            <a:solidFill>
              <a:srgbClr val="4B92FF"/>
            </a:solidFill>
            <a:prstDash val="dash"/>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H="1">
            <a:off x="6775704" y="4608576"/>
            <a:ext cx="905256" cy="0"/>
          </a:xfrm>
          <a:prstGeom prst="line">
            <a:avLst/>
          </a:prstGeom>
          <a:ln w="12700">
            <a:solidFill>
              <a:srgbClr val="4B92FF"/>
            </a:solidFill>
            <a:prstDash val="dash"/>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6775704" y="3874770"/>
            <a:ext cx="0" cy="733806"/>
          </a:xfrm>
          <a:prstGeom prst="line">
            <a:avLst/>
          </a:prstGeom>
          <a:ln w="12700">
            <a:solidFill>
              <a:srgbClr val="4B92FF"/>
            </a:solidFill>
            <a:prstDash val="dash"/>
          </a:ln>
        </p:spPr>
        <p:style>
          <a:lnRef idx="2">
            <a:schemeClr val="accent1"/>
          </a:lnRef>
          <a:fillRef idx="0">
            <a:schemeClr val="accent1"/>
          </a:fillRef>
          <a:effectRef idx="1">
            <a:schemeClr val="accent1"/>
          </a:effectRef>
          <a:fontRef idx="minor">
            <a:schemeClr val="tx1"/>
          </a:fontRef>
        </p:style>
      </p:cxnSp>
      <p:sp>
        <p:nvSpPr>
          <p:cNvPr id="161" name="Isosceles Triangle 160"/>
          <p:cNvSpPr/>
          <p:nvPr/>
        </p:nvSpPr>
        <p:spPr>
          <a:xfrm>
            <a:off x="6741414" y="3840480"/>
            <a:ext cx="68580" cy="68580"/>
          </a:xfrm>
          <a:prstGeom prst="triangle">
            <a:avLst/>
          </a:prstGeom>
          <a:solidFill>
            <a:srgbClr val="4B9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2" name="TextBox 161"/>
          <p:cNvSpPr txBox="1"/>
          <p:nvPr/>
        </p:nvSpPr>
        <p:spPr>
          <a:xfrm>
            <a:off x="7310628" y="3922777"/>
            <a:ext cx="754380" cy="96950"/>
          </a:xfrm>
          <a:prstGeom prst="rect">
            <a:avLst/>
          </a:prstGeom>
          <a:noFill/>
        </p:spPr>
        <p:txBody>
          <a:bodyPr wrap="square" lIns="13716" tIns="13716" rIns="13716" bIns="13716" anchor="t">
            <a:spAutoFit/>
          </a:bodyPr>
          <a:lstStyle/>
          <a:p>
            <a:pPr algn="ctr"/>
            <a:r>
              <a:rPr sz="450" b="1">
                <a:solidFill>
                  <a:srgbClr val="4B92FF"/>
                </a:solidFill>
                <a:latin typeface="Aptos"/>
              </a:rPr>
              <a:t>optional audit probe</a:t>
            </a:r>
          </a:p>
        </p:txBody>
      </p:sp>
      <p:sp>
        <p:nvSpPr>
          <p:cNvPr id="163" name="TextBox 162"/>
          <p:cNvSpPr txBox="1"/>
          <p:nvPr/>
        </p:nvSpPr>
        <p:spPr>
          <a:xfrm>
            <a:off x="397764" y="4882896"/>
            <a:ext cx="2194560" cy="108491"/>
          </a:xfrm>
          <a:prstGeom prst="rect">
            <a:avLst/>
          </a:prstGeom>
          <a:noFill/>
        </p:spPr>
        <p:txBody>
          <a:bodyPr wrap="square" lIns="13716" tIns="13716" rIns="13716" bIns="13716" anchor="t">
            <a:spAutoFit/>
          </a:bodyPr>
          <a:lstStyle/>
          <a:p>
            <a:pPr algn="l"/>
            <a:r>
              <a:rPr sz="525">
                <a:solidFill>
                  <a:srgbClr val="6C7079"/>
                </a:solidFill>
                <a:latin typeface="Aptos"/>
              </a:rPr>
              <a:t>SpiderDIN · Architecture Walkthrough</a:t>
            </a:r>
          </a:p>
        </p:txBody>
      </p:sp>
      <p:sp>
        <p:nvSpPr>
          <p:cNvPr id="164" name="TextBox 163"/>
          <p:cNvSpPr txBox="1"/>
          <p:nvPr/>
        </p:nvSpPr>
        <p:spPr>
          <a:xfrm>
            <a:off x="7612380" y="4882896"/>
            <a:ext cx="1234440" cy="108491"/>
          </a:xfrm>
          <a:prstGeom prst="rect">
            <a:avLst/>
          </a:prstGeom>
          <a:noFill/>
        </p:spPr>
        <p:txBody>
          <a:bodyPr wrap="square" lIns="13716" tIns="13716" rIns="13716" bIns="13716" anchor="t">
            <a:spAutoFit/>
          </a:bodyPr>
          <a:lstStyle/>
          <a:p>
            <a:pPr algn="r"/>
            <a:r>
              <a:rPr sz="525">
                <a:solidFill>
                  <a:srgbClr val="6C7079"/>
                </a:solidFill>
                <a:latin typeface="Aptos"/>
              </a:rPr>
              <a:t>current repository snapshot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0B0E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Rectangle 2"/>
          <p:cNvSpPr/>
          <p:nvPr/>
        </p:nvSpPr>
        <p:spPr>
          <a:xfrm>
            <a:off x="685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 name="Rectangle 3"/>
          <p:cNvSpPr/>
          <p:nvPr/>
        </p:nvSpPr>
        <p:spPr>
          <a:xfrm>
            <a:off x="1371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Rectangle 4"/>
          <p:cNvSpPr/>
          <p:nvPr/>
        </p:nvSpPr>
        <p:spPr>
          <a:xfrm>
            <a:off x="2057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2743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Rectangle 6"/>
          <p:cNvSpPr/>
          <p:nvPr/>
        </p:nvSpPr>
        <p:spPr>
          <a:xfrm>
            <a:off x="3429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114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Rectangle 8"/>
          <p:cNvSpPr/>
          <p:nvPr/>
        </p:nvSpPr>
        <p:spPr>
          <a:xfrm>
            <a:off x="4800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5486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61722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68580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Rectangle 12"/>
          <p:cNvSpPr/>
          <p:nvPr/>
        </p:nvSpPr>
        <p:spPr>
          <a:xfrm>
            <a:off x="75438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Rectangle 13"/>
          <p:cNvSpPr/>
          <p:nvPr/>
        </p:nvSpPr>
        <p:spPr>
          <a:xfrm>
            <a:off x="82296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Rectangle 14"/>
          <p:cNvSpPr/>
          <p:nvPr/>
        </p:nvSpPr>
        <p:spPr>
          <a:xfrm>
            <a:off x="8915400" y="0"/>
            <a:ext cx="2743" cy="5143500"/>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1" y="685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Rectangle 16"/>
          <p:cNvSpPr/>
          <p:nvPr/>
        </p:nvSpPr>
        <p:spPr>
          <a:xfrm>
            <a:off x="1" y="1371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Rectangle 17"/>
          <p:cNvSpPr/>
          <p:nvPr/>
        </p:nvSpPr>
        <p:spPr>
          <a:xfrm>
            <a:off x="1" y="20574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Rectangle 18"/>
          <p:cNvSpPr/>
          <p:nvPr/>
        </p:nvSpPr>
        <p:spPr>
          <a:xfrm>
            <a:off x="1" y="27432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Rectangle 19"/>
          <p:cNvSpPr/>
          <p:nvPr/>
        </p:nvSpPr>
        <p:spPr>
          <a:xfrm>
            <a:off x="1" y="34290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Rectangle 20"/>
          <p:cNvSpPr/>
          <p:nvPr/>
        </p:nvSpPr>
        <p:spPr>
          <a:xfrm>
            <a:off x="1" y="41148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Rectangle 21"/>
          <p:cNvSpPr/>
          <p:nvPr/>
        </p:nvSpPr>
        <p:spPr>
          <a:xfrm>
            <a:off x="1" y="4800600"/>
            <a:ext cx="9143771" cy="2743"/>
          </a:xfrm>
          <a:prstGeom prst="rect">
            <a:avLst/>
          </a:prstGeom>
          <a:solidFill>
            <a:srgbClr val="1F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Rectangle 22"/>
          <p:cNvSpPr/>
          <p:nvPr/>
        </p:nvSpPr>
        <p:spPr>
          <a:xfrm>
            <a:off x="315468" y="192024"/>
            <a:ext cx="2434590" cy="205740"/>
          </a:xfrm>
          <a:prstGeom prst="rect">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685800" y="246889"/>
            <a:ext cx="1680210" cy="96950"/>
          </a:xfrm>
          <a:prstGeom prst="rect">
            <a:avLst/>
          </a:prstGeom>
          <a:noFill/>
        </p:spPr>
        <p:txBody>
          <a:bodyPr wrap="square" lIns="13716" tIns="13716" rIns="13716" bIns="13716" anchor="t">
            <a:spAutoFit/>
          </a:bodyPr>
          <a:lstStyle/>
          <a:p>
            <a:pPr algn="ctr"/>
            <a:r>
              <a:rPr sz="450" b="1">
                <a:solidFill>
                  <a:srgbClr val="0B0E13"/>
                </a:solidFill>
                <a:latin typeface="Aptos"/>
              </a:rPr>
              <a:t>SPIDERDIN CURRENT ARCHITECTURE</a:t>
            </a:r>
          </a:p>
        </p:txBody>
      </p:sp>
      <p:sp>
        <p:nvSpPr>
          <p:cNvPr id="25" name="TextBox 24"/>
          <p:cNvSpPr txBox="1"/>
          <p:nvPr/>
        </p:nvSpPr>
        <p:spPr>
          <a:xfrm>
            <a:off x="8606790" y="246888"/>
            <a:ext cx="240030" cy="131574"/>
          </a:xfrm>
          <a:prstGeom prst="rect">
            <a:avLst/>
          </a:prstGeom>
          <a:noFill/>
        </p:spPr>
        <p:txBody>
          <a:bodyPr wrap="square" lIns="13716" tIns="13716" rIns="13716" bIns="13716" anchor="t">
            <a:spAutoFit/>
          </a:bodyPr>
          <a:lstStyle/>
          <a:p>
            <a:pPr algn="r"/>
            <a:r>
              <a:rPr sz="675">
                <a:solidFill>
                  <a:srgbClr val="6C7079"/>
                </a:solidFill>
                <a:latin typeface="Aptos"/>
              </a:rPr>
              <a:t>02</a:t>
            </a:r>
          </a:p>
        </p:txBody>
      </p:sp>
      <p:sp>
        <p:nvSpPr>
          <p:cNvPr id="26" name="TextBox 25"/>
          <p:cNvSpPr txBox="1"/>
          <p:nvPr/>
        </p:nvSpPr>
        <p:spPr>
          <a:xfrm>
            <a:off x="315468" y="576072"/>
            <a:ext cx="7955280" cy="362407"/>
          </a:xfrm>
          <a:prstGeom prst="rect">
            <a:avLst/>
          </a:prstGeom>
          <a:noFill/>
        </p:spPr>
        <p:txBody>
          <a:bodyPr wrap="square" lIns="13716" tIns="13716" rIns="13716" bIns="13716" anchor="t">
            <a:spAutoFit/>
          </a:bodyPr>
          <a:lstStyle/>
          <a:p>
            <a:pPr algn="l"/>
            <a:r>
              <a:rPr sz="2175" b="1">
                <a:solidFill>
                  <a:srgbClr val="F6F4EF"/>
                </a:solidFill>
                <a:latin typeface="Aptos Display"/>
              </a:rPr>
              <a:t>Execution, Data IQ, and Self-Correction Loop</a:t>
            </a:r>
          </a:p>
        </p:txBody>
      </p:sp>
      <p:sp>
        <p:nvSpPr>
          <p:cNvPr id="27" name="TextBox 26"/>
          <p:cNvSpPr txBox="1"/>
          <p:nvPr/>
        </p:nvSpPr>
        <p:spPr>
          <a:xfrm>
            <a:off x="329184" y="1062991"/>
            <a:ext cx="7543800" cy="154658"/>
          </a:xfrm>
          <a:prstGeom prst="rect">
            <a:avLst/>
          </a:prstGeom>
          <a:noFill/>
        </p:spPr>
        <p:txBody>
          <a:bodyPr wrap="square" lIns="13716" tIns="13716" rIns="13716" bIns="13716" anchor="t">
            <a:spAutoFit/>
          </a:bodyPr>
          <a:lstStyle/>
          <a:p>
            <a:pPr algn="l"/>
            <a:r>
              <a:rPr sz="825">
                <a:solidFill>
                  <a:srgbClr val="AEB0B5"/>
                </a:solidFill>
                <a:latin typeface="Aptos"/>
              </a:rPr>
              <a:t>This zoom-in shows the actual retry behavior: execute, inspect, validate, probe if needed, correct with evidence, then retry or cache.</a:t>
            </a:r>
          </a:p>
        </p:txBody>
      </p:sp>
      <p:sp>
        <p:nvSpPr>
          <p:cNvPr id="28" name="Rectangle 27"/>
          <p:cNvSpPr/>
          <p:nvPr/>
        </p:nvSpPr>
        <p:spPr>
          <a:xfrm>
            <a:off x="329184" y="1303020"/>
            <a:ext cx="8517636" cy="6858"/>
          </a:xfrm>
          <a:prstGeom prst="rect">
            <a:avLst/>
          </a:prstGeom>
          <a:solidFill>
            <a:srgbClr val="393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9" name="Rectangle 28"/>
          <p:cNvSpPr/>
          <p:nvPr/>
        </p:nvSpPr>
        <p:spPr>
          <a:xfrm>
            <a:off x="445770" y="2091690"/>
            <a:ext cx="720090" cy="425196"/>
          </a:xfrm>
          <a:prstGeom prst="rect">
            <a:avLst/>
          </a:prstGeom>
          <a:solidFill>
            <a:srgbClr val="1C1E22"/>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TextBox 29"/>
          <p:cNvSpPr txBox="1"/>
          <p:nvPr/>
        </p:nvSpPr>
        <p:spPr>
          <a:xfrm>
            <a:off x="480060" y="2230221"/>
            <a:ext cx="651510" cy="189283"/>
          </a:xfrm>
          <a:prstGeom prst="rect">
            <a:avLst/>
          </a:prstGeom>
          <a:noFill/>
        </p:spPr>
        <p:txBody>
          <a:bodyPr wrap="square" lIns="13716" tIns="13716" rIns="13716" bIns="13716" anchor="ctr">
            <a:spAutoFit/>
          </a:bodyPr>
          <a:lstStyle/>
          <a:p>
            <a:pPr algn="ctr"/>
            <a:r>
              <a:rPr sz="525">
                <a:solidFill>
                  <a:srgbClr val="F6F4EF"/>
                </a:solidFill>
                <a:latin typeface="Aptos"/>
              </a:rPr>
              <a:t>Candidate
SQL</a:t>
            </a:r>
          </a:p>
        </p:txBody>
      </p:sp>
      <p:sp>
        <p:nvSpPr>
          <p:cNvPr id="31" name="Rectangle 30"/>
          <p:cNvSpPr/>
          <p:nvPr/>
        </p:nvSpPr>
        <p:spPr>
          <a:xfrm>
            <a:off x="1371600" y="2091690"/>
            <a:ext cx="720090" cy="425196"/>
          </a:xfrm>
          <a:prstGeom prst="rect">
            <a:avLst/>
          </a:prstGeom>
          <a:solidFill>
            <a:srgbClr val="1C1E22"/>
          </a:solidFill>
          <a:ln w="12700">
            <a:solidFill>
              <a:srgbClr val="F5A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2" name="TextBox 31"/>
          <p:cNvSpPr txBox="1"/>
          <p:nvPr/>
        </p:nvSpPr>
        <p:spPr>
          <a:xfrm>
            <a:off x="1405889" y="2230221"/>
            <a:ext cx="651510" cy="189283"/>
          </a:xfrm>
          <a:prstGeom prst="rect">
            <a:avLst/>
          </a:prstGeom>
          <a:noFill/>
        </p:spPr>
        <p:txBody>
          <a:bodyPr wrap="square" lIns="13716" tIns="13716" rIns="13716" bIns="13716" anchor="ctr">
            <a:spAutoFit/>
          </a:bodyPr>
          <a:lstStyle/>
          <a:p>
            <a:pPr algn="ctr"/>
            <a:r>
              <a:rPr sz="525">
                <a:solidFill>
                  <a:srgbClr val="F6F4EF"/>
                </a:solidFill>
                <a:latin typeface="Aptos"/>
              </a:rPr>
              <a:t>Retry memory
SQL hash</a:t>
            </a:r>
          </a:p>
        </p:txBody>
      </p:sp>
      <p:sp>
        <p:nvSpPr>
          <p:cNvPr id="33" name="Rectangle 32"/>
          <p:cNvSpPr/>
          <p:nvPr/>
        </p:nvSpPr>
        <p:spPr>
          <a:xfrm>
            <a:off x="2434590" y="2091690"/>
            <a:ext cx="720090" cy="425196"/>
          </a:xfrm>
          <a:prstGeom prst="rect">
            <a:avLst/>
          </a:prstGeom>
          <a:solidFill>
            <a:srgbClr val="1C1E22"/>
          </a:solidFill>
          <a:ln w="12700">
            <a:solidFill>
              <a:srgbClr val="4B9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4" name="TextBox 33"/>
          <p:cNvSpPr txBox="1"/>
          <p:nvPr/>
        </p:nvSpPr>
        <p:spPr>
          <a:xfrm>
            <a:off x="2468879" y="2230221"/>
            <a:ext cx="651510" cy="189283"/>
          </a:xfrm>
          <a:prstGeom prst="rect">
            <a:avLst/>
          </a:prstGeom>
          <a:noFill/>
        </p:spPr>
        <p:txBody>
          <a:bodyPr wrap="square" lIns="13716" tIns="13716" rIns="13716" bIns="13716" anchor="ctr">
            <a:spAutoFit/>
          </a:bodyPr>
          <a:lstStyle/>
          <a:p>
            <a:pPr algn="ctr"/>
            <a:r>
              <a:rPr sz="525">
                <a:solidFill>
                  <a:srgbClr val="F6F4EF"/>
                </a:solidFill>
                <a:latin typeface="Aptos"/>
              </a:rPr>
              <a:t>Execute
DatabaseExecutor</a:t>
            </a:r>
          </a:p>
        </p:txBody>
      </p:sp>
      <p:sp>
        <p:nvSpPr>
          <p:cNvPr id="35" name="Rectangle 34"/>
          <p:cNvSpPr/>
          <p:nvPr/>
        </p:nvSpPr>
        <p:spPr>
          <a:xfrm>
            <a:off x="3497580" y="2091690"/>
            <a:ext cx="720090" cy="425196"/>
          </a:xfrm>
          <a:prstGeom prst="rect">
            <a:avLst/>
          </a:prstGeom>
          <a:solidFill>
            <a:srgbClr val="1C1E22"/>
          </a:solidFill>
          <a:ln w="12700">
            <a:solidFill>
              <a:srgbClr val="00CC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6" name="TextBox 35"/>
          <p:cNvSpPr txBox="1"/>
          <p:nvPr/>
        </p:nvSpPr>
        <p:spPr>
          <a:xfrm>
            <a:off x="3531869" y="2230221"/>
            <a:ext cx="651510" cy="189283"/>
          </a:xfrm>
          <a:prstGeom prst="rect">
            <a:avLst/>
          </a:prstGeom>
          <a:noFill/>
        </p:spPr>
        <p:txBody>
          <a:bodyPr wrap="square" lIns="13716" tIns="13716" rIns="13716" bIns="13716" anchor="ctr">
            <a:spAutoFit/>
          </a:bodyPr>
          <a:lstStyle/>
          <a:p>
            <a:pPr algn="ctr"/>
            <a:r>
              <a:rPr sz="525">
                <a:solidFill>
                  <a:srgbClr val="F6F4EF"/>
                </a:solidFill>
                <a:latin typeface="Aptos"/>
              </a:rPr>
              <a:t>CSV + row
count</a:t>
            </a:r>
          </a:p>
        </p:txBody>
      </p:sp>
      <p:sp>
        <p:nvSpPr>
          <p:cNvPr id="37" name="Rectangle 36"/>
          <p:cNvSpPr/>
          <p:nvPr/>
        </p:nvSpPr>
        <p:spPr>
          <a:xfrm>
            <a:off x="4471416" y="2091690"/>
            <a:ext cx="720090" cy="425196"/>
          </a:xfrm>
          <a:prstGeom prst="rect">
            <a:avLst/>
          </a:prstGeom>
          <a:solidFill>
            <a:srgbClr val="1C1E22"/>
          </a:solidFill>
          <a:ln w="12700">
            <a:solidFill>
              <a:srgbClr val="00CC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8" name="TextBox 37"/>
          <p:cNvSpPr txBox="1"/>
          <p:nvPr/>
        </p:nvSpPr>
        <p:spPr>
          <a:xfrm>
            <a:off x="4505705" y="2230221"/>
            <a:ext cx="651510" cy="189283"/>
          </a:xfrm>
          <a:prstGeom prst="rect">
            <a:avLst/>
          </a:prstGeom>
          <a:noFill/>
        </p:spPr>
        <p:txBody>
          <a:bodyPr wrap="square" lIns="13716" tIns="13716" rIns="13716" bIns="13716" anchor="ctr">
            <a:spAutoFit/>
          </a:bodyPr>
          <a:lstStyle/>
          <a:p>
            <a:pPr algn="ctr"/>
            <a:r>
              <a:rPr sz="525">
                <a:solidFill>
                  <a:srgbClr val="F6F4EF"/>
                </a:solidFill>
                <a:latin typeface="Aptos"/>
              </a:rPr>
              <a:t>Stats +
preview</a:t>
            </a:r>
          </a:p>
        </p:txBody>
      </p:sp>
      <p:sp>
        <p:nvSpPr>
          <p:cNvPr id="39" name="Rectangle 38"/>
          <p:cNvSpPr/>
          <p:nvPr/>
        </p:nvSpPr>
        <p:spPr>
          <a:xfrm>
            <a:off x="5452110" y="2091690"/>
            <a:ext cx="720090" cy="425196"/>
          </a:xfrm>
          <a:prstGeom prst="rect">
            <a:avLst/>
          </a:prstGeom>
          <a:solidFill>
            <a:srgbClr val="1C1E22"/>
          </a:solidFill>
          <a:ln w="12700">
            <a:solidFill>
              <a:srgbClr val="16C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0" name="TextBox 39"/>
          <p:cNvSpPr txBox="1"/>
          <p:nvPr/>
        </p:nvSpPr>
        <p:spPr>
          <a:xfrm>
            <a:off x="5486400" y="2230221"/>
            <a:ext cx="651510" cy="189283"/>
          </a:xfrm>
          <a:prstGeom prst="rect">
            <a:avLst/>
          </a:prstGeom>
          <a:noFill/>
        </p:spPr>
        <p:txBody>
          <a:bodyPr wrap="square" lIns="13716" tIns="13716" rIns="13716" bIns="13716" anchor="ctr">
            <a:spAutoFit/>
          </a:bodyPr>
          <a:lstStyle/>
          <a:p>
            <a:pPr algn="ctr"/>
            <a:r>
              <a:rPr sz="525">
                <a:solidFill>
                  <a:srgbClr val="F6F4EF"/>
                </a:solidFill>
                <a:latin typeface="Aptos"/>
              </a:rPr>
              <a:t>Data IQ
Validator</a:t>
            </a:r>
          </a:p>
        </p:txBody>
      </p:sp>
      <p:sp>
        <p:nvSpPr>
          <p:cNvPr id="41" name="Rectangle 40"/>
          <p:cNvSpPr/>
          <p:nvPr/>
        </p:nvSpPr>
        <p:spPr>
          <a:xfrm>
            <a:off x="6412230" y="2091690"/>
            <a:ext cx="720090" cy="425196"/>
          </a:xfrm>
          <a:prstGeom prst="rect">
            <a:avLst/>
          </a:prstGeom>
          <a:solidFill>
            <a:srgbClr val="1C1E22"/>
          </a:solidFill>
          <a:ln w="12700">
            <a:solidFill>
              <a:srgbClr val="16C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2" name="TextBox 41"/>
          <p:cNvSpPr txBox="1"/>
          <p:nvPr/>
        </p:nvSpPr>
        <p:spPr>
          <a:xfrm>
            <a:off x="6446520" y="2270617"/>
            <a:ext cx="651510" cy="108491"/>
          </a:xfrm>
          <a:prstGeom prst="rect">
            <a:avLst/>
          </a:prstGeom>
          <a:noFill/>
        </p:spPr>
        <p:txBody>
          <a:bodyPr wrap="square" lIns="13716" tIns="13716" rIns="13716" bIns="13716" anchor="ctr">
            <a:spAutoFit/>
          </a:bodyPr>
          <a:lstStyle/>
          <a:p>
            <a:pPr algn="ctr"/>
            <a:r>
              <a:rPr sz="525">
                <a:solidFill>
                  <a:srgbClr val="F6F4EF"/>
                </a:solidFill>
                <a:latin typeface="Aptos"/>
              </a:rPr>
              <a:t>Valid?</a:t>
            </a:r>
          </a:p>
        </p:txBody>
      </p:sp>
      <p:sp>
        <p:nvSpPr>
          <p:cNvPr id="43" name="Rectangle 42"/>
          <p:cNvSpPr/>
          <p:nvPr/>
        </p:nvSpPr>
        <p:spPr>
          <a:xfrm>
            <a:off x="7303770" y="1728216"/>
            <a:ext cx="720090" cy="425196"/>
          </a:xfrm>
          <a:prstGeom prst="rect">
            <a:avLst/>
          </a:prstGeom>
          <a:solidFill>
            <a:srgbClr val="1C1E22"/>
          </a:solidFill>
          <a:ln w="12700">
            <a:solidFill>
              <a:srgbClr val="16CE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4" name="TextBox 43"/>
          <p:cNvSpPr txBox="1"/>
          <p:nvPr/>
        </p:nvSpPr>
        <p:spPr>
          <a:xfrm>
            <a:off x="7338060" y="1866747"/>
            <a:ext cx="651510" cy="189283"/>
          </a:xfrm>
          <a:prstGeom prst="rect">
            <a:avLst/>
          </a:prstGeom>
          <a:noFill/>
        </p:spPr>
        <p:txBody>
          <a:bodyPr wrap="square" lIns="13716" tIns="13716" rIns="13716" bIns="13716" anchor="ctr">
            <a:spAutoFit/>
          </a:bodyPr>
          <a:lstStyle/>
          <a:p>
            <a:pPr algn="ctr"/>
            <a:r>
              <a:rPr sz="525">
                <a:solidFill>
                  <a:srgbClr val="F6F4EF"/>
                </a:solidFill>
                <a:latin typeface="Aptos"/>
              </a:rPr>
              <a:t>Cache
success</a:t>
            </a:r>
          </a:p>
        </p:txBody>
      </p:sp>
      <p:sp>
        <p:nvSpPr>
          <p:cNvPr id="45" name="Rectangle 44"/>
          <p:cNvSpPr/>
          <p:nvPr/>
        </p:nvSpPr>
        <p:spPr>
          <a:xfrm>
            <a:off x="8106156" y="1728216"/>
            <a:ext cx="720090" cy="425196"/>
          </a:xfrm>
          <a:prstGeom prst="rect">
            <a:avLst/>
          </a:prstGeom>
          <a:solidFill>
            <a:srgbClr val="1C1E22"/>
          </a:solidFill>
          <a:ln w="12700">
            <a:solidFill>
              <a:srgbClr val="00CC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6" name="TextBox 45"/>
          <p:cNvSpPr txBox="1"/>
          <p:nvPr/>
        </p:nvSpPr>
        <p:spPr>
          <a:xfrm>
            <a:off x="8140446" y="1866747"/>
            <a:ext cx="651510" cy="189283"/>
          </a:xfrm>
          <a:prstGeom prst="rect">
            <a:avLst/>
          </a:prstGeom>
          <a:noFill/>
        </p:spPr>
        <p:txBody>
          <a:bodyPr wrap="square" lIns="13716" tIns="13716" rIns="13716" bIns="13716" anchor="ctr">
            <a:spAutoFit/>
          </a:bodyPr>
          <a:lstStyle/>
          <a:p>
            <a:pPr algn="ctr"/>
            <a:r>
              <a:rPr sz="525">
                <a:solidFill>
                  <a:srgbClr val="F6F4EF"/>
                </a:solidFill>
                <a:latin typeface="Aptos"/>
              </a:rPr>
              <a:t>Final
SQL</a:t>
            </a:r>
          </a:p>
        </p:txBody>
      </p:sp>
      <p:sp>
        <p:nvSpPr>
          <p:cNvPr id="47" name="Rectangle 46"/>
          <p:cNvSpPr/>
          <p:nvPr/>
        </p:nvSpPr>
        <p:spPr>
          <a:xfrm>
            <a:off x="7303770" y="2846070"/>
            <a:ext cx="720090" cy="425196"/>
          </a:xfrm>
          <a:prstGeom prst="rect">
            <a:avLst/>
          </a:prstGeom>
          <a:solidFill>
            <a:srgbClr val="1C1E22"/>
          </a:solidFill>
          <a:ln w="12700">
            <a:solidFill>
              <a:srgbClr val="FF4D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8" name="TextBox 47"/>
          <p:cNvSpPr txBox="1"/>
          <p:nvPr/>
        </p:nvSpPr>
        <p:spPr>
          <a:xfrm>
            <a:off x="7338060" y="2984601"/>
            <a:ext cx="651510" cy="189283"/>
          </a:xfrm>
          <a:prstGeom prst="rect">
            <a:avLst/>
          </a:prstGeom>
          <a:noFill/>
        </p:spPr>
        <p:txBody>
          <a:bodyPr wrap="square" lIns="13716" tIns="13716" rIns="13716" bIns="13716" anchor="ctr">
            <a:spAutoFit/>
          </a:bodyPr>
          <a:lstStyle/>
          <a:p>
            <a:pPr algn="ctr"/>
            <a:r>
              <a:rPr sz="525">
                <a:solidFill>
                  <a:srgbClr val="F6F4EF"/>
                </a:solidFill>
                <a:latin typeface="Aptos"/>
              </a:rPr>
              <a:t>Self-
Corrector</a:t>
            </a:r>
          </a:p>
        </p:txBody>
      </p:sp>
      <p:sp>
        <p:nvSpPr>
          <p:cNvPr id="49" name="Rectangle 48"/>
          <p:cNvSpPr/>
          <p:nvPr/>
        </p:nvSpPr>
        <p:spPr>
          <a:xfrm>
            <a:off x="6137909" y="3360420"/>
            <a:ext cx="720090" cy="425196"/>
          </a:xfrm>
          <a:prstGeom prst="rect">
            <a:avLst/>
          </a:prstGeom>
          <a:solidFill>
            <a:srgbClr val="1C1E22"/>
          </a:solidFill>
          <a:ln w="12700">
            <a:solidFill>
              <a:srgbClr val="FF4D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0" name="TextBox 49"/>
          <p:cNvSpPr txBox="1"/>
          <p:nvPr/>
        </p:nvSpPr>
        <p:spPr>
          <a:xfrm>
            <a:off x="6172200" y="3498951"/>
            <a:ext cx="651510" cy="189283"/>
          </a:xfrm>
          <a:prstGeom prst="rect">
            <a:avLst/>
          </a:prstGeom>
          <a:noFill/>
        </p:spPr>
        <p:txBody>
          <a:bodyPr wrap="square" lIns="13716" tIns="13716" rIns="13716" bIns="13716" anchor="ctr">
            <a:spAutoFit/>
          </a:bodyPr>
          <a:lstStyle/>
          <a:p>
            <a:pPr algn="ctr"/>
            <a:r>
              <a:rPr sz="525">
                <a:solidFill>
                  <a:srgbClr val="F6F4EF"/>
                </a:solidFill>
                <a:latin typeface="Aptos"/>
              </a:rPr>
              <a:t>Corrected
SQL</a:t>
            </a:r>
          </a:p>
        </p:txBody>
      </p:sp>
      <p:sp>
        <p:nvSpPr>
          <p:cNvPr id="51" name="Rectangle 50"/>
          <p:cNvSpPr/>
          <p:nvPr/>
        </p:nvSpPr>
        <p:spPr>
          <a:xfrm>
            <a:off x="4766310" y="3360420"/>
            <a:ext cx="925830" cy="425196"/>
          </a:xfrm>
          <a:prstGeom prst="rect">
            <a:avLst/>
          </a:prstGeom>
          <a:solidFill>
            <a:srgbClr val="1C1E22"/>
          </a:solidFill>
          <a:ln w="12700">
            <a:solidFill>
              <a:srgbClr val="A95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2" name="TextBox 51"/>
          <p:cNvSpPr txBox="1"/>
          <p:nvPr/>
        </p:nvSpPr>
        <p:spPr>
          <a:xfrm>
            <a:off x="4800600" y="3498951"/>
            <a:ext cx="857250" cy="189283"/>
          </a:xfrm>
          <a:prstGeom prst="rect">
            <a:avLst/>
          </a:prstGeom>
          <a:noFill/>
        </p:spPr>
        <p:txBody>
          <a:bodyPr wrap="square" lIns="13716" tIns="13716" rIns="13716" bIns="13716" anchor="ctr">
            <a:spAutoFit/>
          </a:bodyPr>
          <a:lstStyle/>
          <a:p>
            <a:pPr algn="ctr"/>
            <a:r>
              <a:rPr sz="525">
                <a:solidFill>
                  <a:srgbClr val="F6F4EF"/>
                </a:solidFill>
                <a:latin typeface="Aptos"/>
              </a:rPr>
              <a:t>Schema unprune
or discovery</a:t>
            </a:r>
          </a:p>
        </p:txBody>
      </p:sp>
      <p:sp>
        <p:nvSpPr>
          <p:cNvPr id="53" name="Rectangle 52"/>
          <p:cNvSpPr/>
          <p:nvPr/>
        </p:nvSpPr>
        <p:spPr>
          <a:xfrm>
            <a:off x="4766310" y="1385316"/>
            <a:ext cx="720090" cy="425196"/>
          </a:xfrm>
          <a:prstGeom prst="rect">
            <a:avLst/>
          </a:prstGeom>
          <a:solidFill>
            <a:srgbClr val="1C1E22"/>
          </a:solidFill>
          <a:ln w="12700">
            <a:solidFill>
              <a:srgbClr val="4B9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4" name="TextBox 53"/>
          <p:cNvSpPr txBox="1"/>
          <p:nvPr/>
        </p:nvSpPr>
        <p:spPr>
          <a:xfrm>
            <a:off x="4800600" y="1523847"/>
            <a:ext cx="651510" cy="189283"/>
          </a:xfrm>
          <a:prstGeom prst="rect">
            <a:avLst/>
          </a:prstGeom>
          <a:noFill/>
        </p:spPr>
        <p:txBody>
          <a:bodyPr wrap="square" lIns="13716" tIns="13716" rIns="13716" bIns="13716" anchor="ctr">
            <a:spAutoFit/>
          </a:bodyPr>
          <a:lstStyle/>
          <a:p>
            <a:pPr algn="ctr"/>
            <a:r>
              <a:rPr sz="525">
                <a:solidFill>
                  <a:srgbClr val="F6F4EF"/>
                </a:solidFill>
                <a:latin typeface="Aptos"/>
              </a:rPr>
              <a:t>Exploration
probe</a:t>
            </a:r>
          </a:p>
        </p:txBody>
      </p:sp>
      <p:cxnSp>
        <p:nvCxnSpPr>
          <p:cNvPr id="55" name="Connector 54"/>
          <p:cNvCxnSpPr/>
          <p:nvPr/>
        </p:nvCxnSpPr>
        <p:spPr>
          <a:xfrm>
            <a:off x="1165860" y="2304288"/>
            <a:ext cx="205740"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56" name="Isosceles Triangle 55"/>
          <p:cNvSpPr/>
          <p:nvPr/>
        </p:nvSpPr>
        <p:spPr>
          <a:xfrm rot="5400000">
            <a:off x="1337310" y="2269998"/>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57" name="Connector 56"/>
          <p:cNvCxnSpPr/>
          <p:nvPr/>
        </p:nvCxnSpPr>
        <p:spPr>
          <a:xfrm>
            <a:off x="2091690" y="2304288"/>
            <a:ext cx="342900"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58" name="Isosceles Triangle 57"/>
          <p:cNvSpPr/>
          <p:nvPr/>
        </p:nvSpPr>
        <p:spPr>
          <a:xfrm rot="5400000">
            <a:off x="2400300" y="2269998"/>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59" name="Connector 58"/>
          <p:cNvCxnSpPr/>
          <p:nvPr/>
        </p:nvCxnSpPr>
        <p:spPr>
          <a:xfrm>
            <a:off x="3154680" y="2304288"/>
            <a:ext cx="342900"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60" name="Isosceles Triangle 59"/>
          <p:cNvSpPr/>
          <p:nvPr/>
        </p:nvSpPr>
        <p:spPr>
          <a:xfrm rot="5400000">
            <a:off x="3463290" y="2269998"/>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61" name="Connector 60"/>
          <p:cNvCxnSpPr/>
          <p:nvPr/>
        </p:nvCxnSpPr>
        <p:spPr>
          <a:xfrm>
            <a:off x="4217670" y="2304288"/>
            <a:ext cx="253746"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62" name="Isosceles Triangle 61"/>
          <p:cNvSpPr/>
          <p:nvPr/>
        </p:nvSpPr>
        <p:spPr>
          <a:xfrm rot="5400000">
            <a:off x="4437126" y="2269998"/>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63" name="Connector 62"/>
          <p:cNvCxnSpPr/>
          <p:nvPr/>
        </p:nvCxnSpPr>
        <p:spPr>
          <a:xfrm>
            <a:off x="5191506" y="2304288"/>
            <a:ext cx="260604"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64" name="Isosceles Triangle 63"/>
          <p:cNvSpPr/>
          <p:nvPr/>
        </p:nvSpPr>
        <p:spPr>
          <a:xfrm rot="5400000">
            <a:off x="5417820" y="2269998"/>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65" name="Connector 64"/>
          <p:cNvCxnSpPr/>
          <p:nvPr/>
        </p:nvCxnSpPr>
        <p:spPr>
          <a:xfrm>
            <a:off x="6172200" y="2304288"/>
            <a:ext cx="240030" cy="0"/>
          </a:xfrm>
          <a:prstGeom prst="line">
            <a:avLst/>
          </a:prstGeom>
          <a:ln w="16510">
            <a:solidFill>
              <a:srgbClr val="F5A012"/>
            </a:solidFill>
          </a:ln>
        </p:spPr>
        <p:style>
          <a:lnRef idx="2">
            <a:schemeClr val="accent1"/>
          </a:lnRef>
          <a:fillRef idx="0">
            <a:schemeClr val="accent1"/>
          </a:fillRef>
          <a:effectRef idx="1">
            <a:schemeClr val="accent1"/>
          </a:effectRef>
          <a:fontRef idx="minor">
            <a:schemeClr val="tx1"/>
          </a:fontRef>
        </p:style>
      </p:cxnSp>
      <p:sp>
        <p:nvSpPr>
          <p:cNvPr id="66" name="Isosceles Triangle 65"/>
          <p:cNvSpPr/>
          <p:nvPr/>
        </p:nvSpPr>
        <p:spPr>
          <a:xfrm rot="5400000">
            <a:off x="6377939" y="2269998"/>
            <a:ext cx="68580" cy="68580"/>
          </a:xfrm>
          <a:prstGeom prst="triangle">
            <a:avLst/>
          </a:prstGeom>
          <a:solidFill>
            <a:srgbClr val="F5A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67" name="Connector 66"/>
          <p:cNvCxnSpPr/>
          <p:nvPr/>
        </p:nvCxnSpPr>
        <p:spPr>
          <a:xfrm flipV="1">
            <a:off x="7132320" y="1940814"/>
            <a:ext cx="171450" cy="253746"/>
          </a:xfrm>
          <a:prstGeom prst="line">
            <a:avLst/>
          </a:prstGeom>
          <a:ln w="16510">
            <a:solidFill>
              <a:srgbClr val="16CE87"/>
            </a:solidFill>
          </a:ln>
        </p:spPr>
        <p:style>
          <a:lnRef idx="2">
            <a:schemeClr val="accent1"/>
          </a:lnRef>
          <a:fillRef idx="0">
            <a:schemeClr val="accent1"/>
          </a:fillRef>
          <a:effectRef idx="1">
            <a:schemeClr val="accent1"/>
          </a:effectRef>
          <a:fontRef idx="minor">
            <a:schemeClr val="tx1"/>
          </a:fontRef>
        </p:style>
      </p:cxnSp>
      <p:sp>
        <p:nvSpPr>
          <p:cNvPr id="68" name="Isosceles Triangle 67"/>
          <p:cNvSpPr/>
          <p:nvPr/>
        </p:nvSpPr>
        <p:spPr>
          <a:xfrm>
            <a:off x="7269480" y="1906524"/>
            <a:ext cx="68580" cy="68580"/>
          </a:xfrm>
          <a:prstGeom prst="triangle">
            <a:avLst/>
          </a:prstGeom>
          <a:solidFill>
            <a:srgbClr val="16C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69" name="Connector 68"/>
          <p:cNvCxnSpPr/>
          <p:nvPr/>
        </p:nvCxnSpPr>
        <p:spPr>
          <a:xfrm>
            <a:off x="8023860" y="1940814"/>
            <a:ext cx="82296" cy="0"/>
          </a:xfrm>
          <a:prstGeom prst="line">
            <a:avLst/>
          </a:prstGeom>
          <a:ln w="16510">
            <a:solidFill>
              <a:srgbClr val="16CE87"/>
            </a:solidFill>
          </a:ln>
        </p:spPr>
        <p:style>
          <a:lnRef idx="2">
            <a:schemeClr val="accent1"/>
          </a:lnRef>
          <a:fillRef idx="0">
            <a:schemeClr val="accent1"/>
          </a:fillRef>
          <a:effectRef idx="1">
            <a:schemeClr val="accent1"/>
          </a:effectRef>
          <a:fontRef idx="minor">
            <a:schemeClr val="tx1"/>
          </a:fontRef>
        </p:style>
      </p:cxnSp>
      <p:sp>
        <p:nvSpPr>
          <p:cNvPr id="70" name="Isosceles Triangle 69"/>
          <p:cNvSpPr/>
          <p:nvPr/>
        </p:nvSpPr>
        <p:spPr>
          <a:xfrm rot="5400000">
            <a:off x="8071866" y="1906524"/>
            <a:ext cx="68580" cy="68580"/>
          </a:xfrm>
          <a:prstGeom prst="triangle">
            <a:avLst/>
          </a:prstGeom>
          <a:solidFill>
            <a:srgbClr val="16C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1" name="TextBox 70"/>
          <p:cNvSpPr txBox="1"/>
          <p:nvPr/>
        </p:nvSpPr>
        <p:spPr>
          <a:xfrm>
            <a:off x="6981444" y="1961388"/>
            <a:ext cx="150876" cy="102785"/>
          </a:xfrm>
          <a:prstGeom prst="rect">
            <a:avLst/>
          </a:prstGeom>
          <a:noFill/>
        </p:spPr>
        <p:txBody>
          <a:bodyPr wrap="square" lIns="13716" tIns="13716" rIns="13716" bIns="13716" anchor="t">
            <a:spAutoFit/>
          </a:bodyPr>
          <a:lstStyle/>
          <a:p>
            <a:pPr algn="l"/>
            <a:r>
              <a:rPr sz="488" b="1">
                <a:solidFill>
                  <a:srgbClr val="16CE87"/>
                </a:solidFill>
                <a:latin typeface="Aptos"/>
              </a:rPr>
              <a:t>yes</a:t>
            </a:r>
          </a:p>
        </p:txBody>
      </p:sp>
      <p:cxnSp>
        <p:nvCxnSpPr>
          <p:cNvPr id="72" name="Connector 71"/>
          <p:cNvCxnSpPr/>
          <p:nvPr/>
        </p:nvCxnSpPr>
        <p:spPr>
          <a:xfrm>
            <a:off x="6775704" y="2516886"/>
            <a:ext cx="528066" cy="541782"/>
          </a:xfrm>
          <a:prstGeom prst="line">
            <a:avLst/>
          </a:prstGeom>
          <a:ln w="16510">
            <a:solidFill>
              <a:srgbClr val="FF4D56"/>
            </a:solidFill>
          </a:ln>
        </p:spPr>
        <p:style>
          <a:lnRef idx="2">
            <a:schemeClr val="accent1"/>
          </a:lnRef>
          <a:fillRef idx="0">
            <a:schemeClr val="accent1"/>
          </a:fillRef>
          <a:effectRef idx="1">
            <a:schemeClr val="accent1"/>
          </a:effectRef>
          <a:fontRef idx="minor">
            <a:schemeClr val="tx1"/>
          </a:fontRef>
        </p:style>
      </p:cxnSp>
      <p:sp>
        <p:nvSpPr>
          <p:cNvPr id="73" name="Isosceles Triangle 72"/>
          <p:cNvSpPr/>
          <p:nvPr/>
        </p:nvSpPr>
        <p:spPr>
          <a:xfrm rot="10800000">
            <a:off x="7269480" y="3024378"/>
            <a:ext cx="68580" cy="68580"/>
          </a:xfrm>
          <a:prstGeom prst="triangle">
            <a:avLst/>
          </a:prstGeom>
          <a:solidFill>
            <a:srgbClr val="FF4D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4" name="TextBox 73"/>
          <p:cNvSpPr txBox="1"/>
          <p:nvPr/>
        </p:nvSpPr>
        <p:spPr>
          <a:xfrm>
            <a:off x="6995160" y="2743200"/>
            <a:ext cx="171450" cy="102785"/>
          </a:xfrm>
          <a:prstGeom prst="rect">
            <a:avLst/>
          </a:prstGeom>
          <a:noFill/>
        </p:spPr>
        <p:txBody>
          <a:bodyPr wrap="square" lIns="13716" tIns="13716" rIns="13716" bIns="13716" anchor="t">
            <a:spAutoFit/>
          </a:bodyPr>
          <a:lstStyle/>
          <a:p>
            <a:pPr algn="l"/>
            <a:r>
              <a:rPr sz="488" b="1">
                <a:solidFill>
                  <a:srgbClr val="FF4D56"/>
                </a:solidFill>
                <a:latin typeface="Aptos"/>
              </a:rPr>
              <a:t>no</a:t>
            </a:r>
          </a:p>
        </p:txBody>
      </p:sp>
      <p:cxnSp>
        <p:nvCxnSpPr>
          <p:cNvPr id="75" name="Connector 74"/>
          <p:cNvCxnSpPr/>
          <p:nvPr/>
        </p:nvCxnSpPr>
        <p:spPr>
          <a:xfrm flipH="1">
            <a:off x="6858000" y="3058668"/>
            <a:ext cx="445770" cy="507492"/>
          </a:xfrm>
          <a:prstGeom prst="line">
            <a:avLst/>
          </a:prstGeom>
          <a:ln w="16510">
            <a:solidFill>
              <a:srgbClr val="FF4D56"/>
            </a:solidFill>
          </a:ln>
        </p:spPr>
        <p:style>
          <a:lnRef idx="2">
            <a:schemeClr val="accent1"/>
          </a:lnRef>
          <a:fillRef idx="0">
            <a:schemeClr val="accent1"/>
          </a:fillRef>
          <a:effectRef idx="1">
            <a:schemeClr val="accent1"/>
          </a:effectRef>
          <a:fontRef idx="minor">
            <a:schemeClr val="tx1"/>
          </a:fontRef>
        </p:style>
      </p:cxnSp>
      <p:sp>
        <p:nvSpPr>
          <p:cNvPr id="76" name="Isosceles Triangle 75"/>
          <p:cNvSpPr/>
          <p:nvPr/>
        </p:nvSpPr>
        <p:spPr>
          <a:xfrm rot="10800000">
            <a:off x="6823710" y="3531870"/>
            <a:ext cx="68580" cy="68580"/>
          </a:xfrm>
          <a:prstGeom prst="triangle">
            <a:avLst/>
          </a:prstGeom>
          <a:solidFill>
            <a:srgbClr val="FF4D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77" name="Connector 76"/>
          <p:cNvCxnSpPr/>
          <p:nvPr/>
        </p:nvCxnSpPr>
        <p:spPr>
          <a:xfrm flipH="1">
            <a:off x="5692141" y="3566160"/>
            <a:ext cx="445769" cy="0"/>
          </a:xfrm>
          <a:prstGeom prst="line">
            <a:avLst/>
          </a:prstGeom>
          <a:ln w="16510">
            <a:solidFill>
              <a:srgbClr val="FF4D56"/>
            </a:solidFill>
          </a:ln>
        </p:spPr>
        <p:style>
          <a:lnRef idx="2">
            <a:schemeClr val="accent1"/>
          </a:lnRef>
          <a:fillRef idx="0">
            <a:schemeClr val="accent1"/>
          </a:fillRef>
          <a:effectRef idx="1">
            <a:schemeClr val="accent1"/>
          </a:effectRef>
          <a:fontRef idx="minor">
            <a:schemeClr val="tx1"/>
          </a:fontRef>
        </p:style>
      </p:cxnSp>
      <p:sp>
        <p:nvSpPr>
          <p:cNvPr id="78" name="Isosceles Triangle 77"/>
          <p:cNvSpPr/>
          <p:nvPr/>
        </p:nvSpPr>
        <p:spPr>
          <a:xfrm rot="16200000">
            <a:off x="5657850" y="3531870"/>
            <a:ext cx="68580" cy="68580"/>
          </a:xfrm>
          <a:prstGeom prst="triangle">
            <a:avLst/>
          </a:prstGeom>
          <a:solidFill>
            <a:srgbClr val="FF4D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79" name="Connector 78"/>
          <p:cNvCxnSpPr/>
          <p:nvPr/>
        </p:nvCxnSpPr>
        <p:spPr>
          <a:xfrm flipH="1">
            <a:off x="1728216" y="3566160"/>
            <a:ext cx="3038094" cy="0"/>
          </a:xfrm>
          <a:prstGeom prst="line">
            <a:avLst/>
          </a:prstGeom>
          <a:ln w="16510">
            <a:solidFill>
              <a:srgbClr val="FF4D56"/>
            </a:solidFill>
          </a:ln>
        </p:spPr>
        <p:style>
          <a:lnRef idx="2">
            <a:schemeClr val="accent1"/>
          </a:lnRef>
          <a:fillRef idx="0">
            <a:schemeClr val="accent1"/>
          </a:fillRef>
          <a:effectRef idx="1">
            <a:schemeClr val="accent1"/>
          </a:effectRef>
          <a:fontRef idx="minor">
            <a:schemeClr val="tx1"/>
          </a:fontRef>
        </p:style>
      </p:cxnSp>
      <p:sp>
        <p:nvSpPr>
          <p:cNvPr id="80" name="Isosceles Triangle 79"/>
          <p:cNvSpPr/>
          <p:nvPr/>
        </p:nvSpPr>
        <p:spPr>
          <a:xfrm rot="16200000">
            <a:off x="1693926" y="3531870"/>
            <a:ext cx="68580" cy="68580"/>
          </a:xfrm>
          <a:prstGeom prst="triangle">
            <a:avLst/>
          </a:prstGeom>
          <a:solidFill>
            <a:srgbClr val="FF4D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81" name="Connector 80"/>
          <p:cNvCxnSpPr/>
          <p:nvPr/>
        </p:nvCxnSpPr>
        <p:spPr>
          <a:xfrm flipV="1">
            <a:off x="1728216" y="2516886"/>
            <a:ext cx="0" cy="1049274"/>
          </a:xfrm>
          <a:prstGeom prst="line">
            <a:avLst/>
          </a:prstGeom>
          <a:ln w="15240">
            <a:solidFill>
              <a:srgbClr val="FF4D56"/>
            </a:solidFill>
          </a:ln>
        </p:spPr>
        <p:style>
          <a:lnRef idx="2">
            <a:schemeClr val="accent1"/>
          </a:lnRef>
          <a:fillRef idx="0">
            <a:schemeClr val="accent1"/>
          </a:fillRef>
          <a:effectRef idx="1">
            <a:schemeClr val="accent1"/>
          </a:effectRef>
          <a:fontRef idx="minor">
            <a:schemeClr val="tx1"/>
          </a:fontRef>
        </p:style>
      </p:cxnSp>
      <p:sp>
        <p:nvSpPr>
          <p:cNvPr id="82" name="Isosceles Triangle 81"/>
          <p:cNvSpPr/>
          <p:nvPr/>
        </p:nvSpPr>
        <p:spPr>
          <a:xfrm>
            <a:off x="1693926" y="2482596"/>
            <a:ext cx="68580" cy="68580"/>
          </a:xfrm>
          <a:prstGeom prst="triangle">
            <a:avLst/>
          </a:prstGeom>
          <a:solidFill>
            <a:srgbClr val="FF4D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3" name="TextBox 82"/>
          <p:cNvSpPr txBox="1"/>
          <p:nvPr/>
        </p:nvSpPr>
        <p:spPr>
          <a:xfrm>
            <a:off x="2571750" y="3675888"/>
            <a:ext cx="1371600" cy="108491"/>
          </a:xfrm>
          <a:prstGeom prst="rect">
            <a:avLst/>
          </a:prstGeom>
          <a:noFill/>
        </p:spPr>
        <p:txBody>
          <a:bodyPr wrap="square" lIns="13716" tIns="13716" rIns="13716" bIns="13716" anchor="t">
            <a:spAutoFit/>
          </a:bodyPr>
          <a:lstStyle/>
          <a:p>
            <a:pPr algn="ctr"/>
            <a:r>
              <a:rPr sz="525" b="1">
                <a:solidFill>
                  <a:srgbClr val="FF4D56"/>
                </a:solidFill>
                <a:latin typeface="Aptos"/>
              </a:rPr>
              <a:t>retry with new evidence</a:t>
            </a:r>
          </a:p>
        </p:txBody>
      </p:sp>
      <p:cxnSp>
        <p:nvCxnSpPr>
          <p:cNvPr id="84" name="Connector 83"/>
          <p:cNvCxnSpPr/>
          <p:nvPr/>
        </p:nvCxnSpPr>
        <p:spPr>
          <a:xfrm flipH="1">
            <a:off x="5692140" y="3058668"/>
            <a:ext cx="1611630" cy="507492"/>
          </a:xfrm>
          <a:prstGeom prst="line">
            <a:avLst/>
          </a:prstGeom>
          <a:ln w="16510">
            <a:solidFill>
              <a:srgbClr val="FF4D56"/>
            </a:solidFill>
          </a:ln>
        </p:spPr>
        <p:style>
          <a:lnRef idx="2">
            <a:schemeClr val="accent1"/>
          </a:lnRef>
          <a:fillRef idx="0">
            <a:schemeClr val="accent1"/>
          </a:fillRef>
          <a:effectRef idx="1">
            <a:schemeClr val="accent1"/>
          </a:effectRef>
          <a:fontRef idx="minor">
            <a:schemeClr val="tx1"/>
          </a:fontRef>
        </p:style>
      </p:cxnSp>
      <p:sp>
        <p:nvSpPr>
          <p:cNvPr id="85" name="Isosceles Triangle 84"/>
          <p:cNvSpPr/>
          <p:nvPr/>
        </p:nvSpPr>
        <p:spPr>
          <a:xfrm rot="16200000">
            <a:off x="5657850" y="3531870"/>
            <a:ext cx="68580" cy="68580"/>
          </a:xfrm>
          <a:prstGeom prst="triangle">
            <a:avLst/>
          </a:prstGeom>
          <a:solidFill>
            <a:srgbClr val="FF4D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6" name="TextBox 85"/>
          <p:cNvSpPr txBox="1"/>
          <p:nvPr/>
        </p:nvSpPr>
        <p:spPr>
          <a:xfrm>
            <a:off x="5692140" y="2983229"/>
            <a:ext cx="1508760" cy="100348"/>
          </a:xfrm>
          <a:prstGeom prst="rect">
            <a:avLst/>
          </a:prstGeom>
          <a:noFill/>
        </p:spPr>
        <p:txBody>
          <a:bodyPr wrap="square" lIns="13716" tIns="13716" rIns="13716" bIns="13716" anchor="t">
            <a:spAutoFit/>
          </a:bodyPr>
          <a:lstStyle/>
          <a:p>
            <a:pPr algn="ctr"/>
            <a:r>
              <a:rPr sz="472" b="1">
                <a:solidFill>
                  <a:srgbClr val="FF4D56"/>
                </a:solidFill>
                <a:latin typeface="Aptos"/>
              </a:rPr>
              <a:t>execution error / data quality fail</a:t>
            </a:r>
          </a:p>
        </p:txBody>
      </p:sp>
      <p:cxnSp>
        <p:nvCxnSpPr>
          <p:cNvPr id="87" name="Connector 86"/>
          <p:cNvCxnSpPr/>
          <p:nvPr/>
        </p:nvCxnSpPr>
        <p:spPr>
          <a:xfrm flipV="1">
            <a:off x="5815584" y="1597914"/>
            <a:ext cx="0" cy="493776"/>
          </a:xfrm>
          <a:prstGeom prst="line">
            <a:avLst/>
          </a:prstGeom>
          <a:ln w="12700">
            <a:solidFill>
              <a:srgbClr val="4B92FF"/>
            </a:solidFill>
            <a:prstDash val="dash"/>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5486400" y="1597914"/>
            <a:ext cx="329184" cy="0"/>
          </a:xfrm>
          <a:prstGeom prst="line">
            <a:avLst/>
          </a:prstGeom>
          <a:ln w="12700">
            <a:solidFill>
              <a:srgbClr val="4B92FF"/>
            </a:solidFill>
            <a:prstDash val="dash"/>
          </a:ln>
        </p:spPr>
        <p:style>
          <a:lnRef idx="2">
            <a:schemeClr val="accent1"/>
          </a:lnRef>
          <a:fillRef idx="0">
            <a:schemeClr val="accent1"/>
          </a:fillRef>
          <a:effectRef idx="1">
            <a:schemeClr val="accent1"/>
          </a:effectRef>
          <a:fontRef idx="minor">
            <a:schemeClr val="tx1"/>
          </a:fontRef>
        </p:style>
      </p:cxnSp>
      <p:sp>
        <p:nvSpPr>
          <p:cNvPr id="89" name="Isosceles Triangle 88"/>
          <p:cNvSpPr/>
          <p:nvPr/>
        </p:nvSpPr>
        <p:spPr>
          <a:xfrm rot="16200000">
            <a:off x="5452110" y="1563624"/>
            <a:ext cx="68580" cy="68580"/>
          </a:xfrm>
          <a:prstGeom prst="triangle">
            <a:avLst/>
          </a:prstGeom>
          <a:solidFill>
            <a:srgbClr val="4B9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90" name="Connector 89"/>
          <p:cNvCxnSpPr/>
          <p:nvPr/>
        </p:nvCxnSpPr>
        <p:spPr>
          <a:xfrm flipH="1">
            <a:off x="4354830" y="1597914"/>
            <a:ext cx="411480" cy="0"/>
          </a:xfrm>
          <a:prstGeom prst="line">
            <a:avLst/>
          </a:prstGeom>
          <a:ln w="12700">
            <a:solidFill>
              <a:srgbClr val="4B92FF"/>
            </a:solidFill>
            <a:prstDash val="dash"/>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4354830" y="1597914"/>
            <a:ext cx="0" cy="493776"/>
          </a:xfrm>
          <a:prstGeom prst="line">
            <a:avLst/>
          </a:prstGeom>
          <a:ln w="12700">
            <a:solidFill>
              <a:srgbClr val="4B92FF"/>
            </a:solidFill>
            <a:prstDash val="dash"/>
          </a:ln>
        </p:spPr>
        <p:style>
          <a:lnRef idx="2">
            <a:schemeClr val="accent1"/>
          </a:lnRef>
          <a:fillRef idx="0">
            <a:schemeClr val="accent1"/>
          </a:fillRef>
          <a:effectRef idx="1">
            <a:schemeClr val="accent1"/>
          </a:effectRef>
          <a:fontRef idx="minor">
            <a:schemeClr val="tx1"/>
          </a:fontRef>
        </p:style>
      </p:cxnSp>
      <p:sp>
        <p:nvSpPr>
          <p:cNvPr id="92" name="Isosceles Triangle 91"/>
          <p:cNvSpPr/>
          <p:nvPr/>
        </p:nvSpPr>
        <p:spPr>
          <a:xfrm rot="10800000">
            <a:off x="4320540" y="2057400"/>
            <a:ext cx="68580" cy="68580"/>
          </a:xfrm>
          <a:prstGeom prst="triangle">
            <a:avLst/>
          </a:prstGeom>
          <a:solidFill>
            <a:srgbClr val="4B9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3" name="TextBox 92"/>
          <p:cNvSpPr txBox="1"/>
          <p:nvPr/>
        </p:nvSpPr>
        <p:spPr>
          <a:xfrm>
            <a:off x="4594860" y="1248156"/>
            <a:ext cx="1165860" cy="101566"/>
          </a:xfrm>
          <a:prstGeom prst="rect">
            <a:avLst/>
          </a:prstGeom>
          <a:noFill/>
        </p:spPr>
        <p:txBody>
          <a:bodyPr wrap="square" lIns="13716" tIns="13716" rIns="13716" bIns="13716" anchor="t">
            <a:spAutoFit/>
          </a:bodyPr>
          <a:lstStyle/>
          <a:p>
            <a:pPr algn="ctr"/>
            <a:r>
              <a:rPr sz="480" b="1">
                <a:solidFill>
                  <a:srgbClr val="4B92FF"/>
                </a:solidFill>
                <a:latin typeface="Aptos"/>
              </a:rPr>
              <a:t>if auditor requests probe</a:t>
            </a:r>
          </a:p>
        </p:txBody>
      </p:sp>
      <p:sp>
        <p:nvSpPr>
          <p:cNvPr id="94" name="Rectangle 93"/>
          <p:cNvSpPr/>
          <p:nvPr/>
        </p:nvSpPr>
        <p:spPr>
          <a:xfrm>
            <a:off x="3497580" y="2846070"/>
            <a:ext cx="857250" cy="425196"/>
          </a:xfrm>
          <a:prstGeom prst="rect">
            <a:avLst/>
          </a:prstGeom>
          <a:solidFill>
            <a:srgbClr val="1C1E22"/>
          </a:solidFill>
          <a:ln w="12700">
            <a:solidFill>
              <a:srgbClr val="FF4D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5" name="TextBox 94"/>
          <p:cNvSpPr txBox="1"/>
          <p:nvPr/>
        </p:nvSpPr>
        <p:spPr>
          <a:xfrm>
            <a:off x="3531869" y="2990308"/>
            <a:ext cx="788670" cy="177869"/>
          </a:xfrm>
          <a:prstGeom prst="rect">
            <a:avLst/>
          </a:prstGeom>
          <a:noFill/>
        </p:spPr>
        <p:txBody>
          <a:bodyPr wrap="square" lIns="13716" tIns="13716" rIns="13716" bIns="13716" anchor="ctr">
            <a:spAutoFit/>
          </a:bodyPr>
          <a:lstStyle/>
          <a:p>
            <a:pPr algn="ctr"/>
            <a:r>
              <a:rPr sz="488">
                <a:solidFill>
                  <a:srgbClr val="F6F4EF"/>
                </a:solidFill>
                <a:latin typeface="Aptos"/>
              </a:rPr>
              <a:t>0-row filter
collapse diagnostics</a:t>
            </a:r>
          </a:p>
        </p:txBody>
      </p:sp>
      <p:cxnSp>
        <p:nvCxnSpPr>
          <p:cNvPr id="96" name="Connector 95"/>
          <p:cNvCxnSpPr/>
          <p:nvPr/>
        </p:nvCxnSpPr>
        <p:spPr>
          <a:xfrm>
            <a:off x="3854196" y="2516886"/>
            <a:ext cx="0" cy="329184"/>
          </a:xfrm>
          <a:prstGeom prst="line">
            <a:avLst/>
          </a:prstGeom>
          <a:ln w="12700">
            <a:solidFill>
              <a:srgbClr val="FF4D56"/>
            </a:solidFill>
            <a:prstDash val="dash"/>
          </a:ln>
        </p:spPr>
        <p:style>
          <a:lnRef idx="2">
            <a:schemeClr val="accent1"/>
          </a:lnRef>
          <a:fillRef idx="0">
            <a:schemeClr val="accent1"/>
          </a:fillRef>
          <a:effectRef idx="1">
            <a:schemeClr val="accent1"/>
          </a:effectRef>
          <a:fontRef idx="minor">
            <a:schemeClr val="tx1"/>
          </a:fontRef>
        </p:style>
      </p:cxnSp>
      <p:sp>
        <p:nvSpPr>
          <p:cNvPr id="97" name="Isosceles Triangle 96"/>
          <p:cNvSpPr/>
          <p:nvPr/>
        </p:nvSpPr>
        <p:spPr>
          <a:xfrm rot="10800000">
            <a:off x="3819906" y="2811780"/>
            <a:ext cx="68580" cy="68580"/>
          </a:xfrm>
          <a:prstGeom prst="triangle">
            <a:avLst/>
          </a:prstGeom>
          <a:solidFill>
            <a:srgbClr val="FF4D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cxnSp>
        <p:nvCxnSpPr>
          <p:cNvPr id="98" name="Connector 97"/>
          <p:cNvCxnSpPr/>
          <p:nvPr/>
        </p:nvCxnSpPr>
        <p:spPr>
          <a:xfrm flipV="1">
            <a:off x="4354830" y="2516886"/>
            <a:ext cx="116586" cy="541782"/>
          </a:xfrm>
          <a:prstGeom prst="line">
            <a:avLst/>
          </a:prstGeom>
          <a:ln w="12700">
            <a:solidFill>
              <a:srgbClr val="FF4D56"/>
            </a:solidFill>
            <a:prstDash val="dash"/>
          </a:ln>
        </p:spPr>
        <p:style>
          <a:lnRef idx="2">
            <a:schemeClr val="accent1"/>
          </a:lnRef>
          <a:fillRef idx="0">
            <a:schemeClr val="accent1"/>
          </a:fillRef>
          <a:effectRef idx="1">
            <a:schemeClr val="accent1"/>
          </a:effectRef>
          <a:fontRef idx="minor">
            <a:schemeClr val="tx1"/>
          </a:fontRef>
        </p:style>
      </p:cxnSp>
      <p:sp>
        <p:nvSpPr>
          <p:cNvPr id="99" name="Isosceles Triangle 98"/>
          <p:cNvSpPr/>
          <p:nvPr/>
        </p:nvSpPr>
        <p:spPr>
          <a:xfrm>
            <a:off x="4437126" y="2482596"/>
            <a:ext cx="68580" cy="68580"/>
          </a:xfrm>
          <a:prstGeom prst="triangle">
            <a:avLst/>
          </a:prstGeom>
          <a:solidFill>
            <a:srgbClr val="FF4D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0" name="TextBox 99"/>
          <p:cNvSpPr txBox="1"/>
          <p:nvPr/>
        </p:nvSpPr>
        <p:spPr>
          <a:xfrm>
            <a:off x="3051810" y="3387853"/>
            <a:ext cx="1817370" cy="99258"/>
          </a:xfrm>
          <a:prstGeom prst="rect">
            <a:avLst/>
          </a:prstGeom>
          <a:noFill/>
        </p:spPr>
        <p:txBody>
          <a:bodyPr wrap="square" lIns="13716" tIns="13716" rIns="13716" bIns="13716" anchor="t">
            <a:spAutoFit/>
          </a:bodyPr>
          <a:lstStyle/>
          <a:p>
            <a:pPr algn="ctr"/>
            <a:r>
              <a:rPr sz="465" b="1">
                <a:solidFill>
                  <a:srgbClr val="FF4D56"/>
                </a:solidFill>
                <a:latin typeface="Aptos"/>
              </a:rPr>
              <a:t>0 rows is treated as suspicious, not automatically success</a:t>
            </a:r>
          </a:p>
        </p:txBody>
      </p:sp>
      <p:sp>
        <p:nvSpPr>
          <p:cNvPr id="101" name="TextBox 100"/>
          <p:cNvSpPr txBox="1"/>
          <p:nvPr/>
        </p:nvSpPr>
        <p:spPr>
          <a:xfrm>
            <a:off x="397764" y="4882896"/>
            <a:ext cx="2194560" cy="108491"/>
          </a:xfrm>
          <a:prstGeom prst="rect">
            <a:avLst/>
          </a:prstGeom>
          <a:noFill/>
        </p:spPr>
        <p:txBody>
          <a:bodyPr wrap="square" lIns="13716" tIns="13716" rIns="13716" bIns="13716" anchor="t">
            <a:spAutoFit/>
          </a:bodyPr>
          <a:lstStyle/>
          <a:p>
            <a:pPr algn="l"/>
            <a:r>
              <a:rPr sz="525">
                <a:solidFill>
                  <a:srgbClr val="6C7079"/>
                </a:solidFill>
                <a:latin typeface="Aptos"/>
              </a:rPr>
              <a:t>SpiderDIN · Architecture Walkthrough</a:t>
            </a:r>
          </a:p>
        </p:txBody>
      </p:sp>
      <p:sp>
        <p:nvSpPr>
          <p:cNvPr id="102" name="TextBox 101"/>
          <p:cNvSpPr txBox="1"/>
          <p:nvPr/>
        </p:nvSpPr>
        <p:spPr>
          <a:xfrm>
            <a:off x="7612380" y="4882896"/>
            <a:ext cx="1234440" cy="108491"/>
          </a:xfrm>
          <a:prstGeom prst="rect">
            <a:avLst/>
          </a:prstGeom>
          <a:noFill/>
        </p:spPr>
        <p:txBody>
          <a:bodyPr wrap="square" lIns="13716" tIns="13716" rIns="13716" bIns="13716" anchor="t">
            <a:spAutoFit/>
          </a:bodyPr>
          <a:lstStyle/>
          <a:p>
            <a:pPr algn="r"/>
            <a:r>
              <a:rPr sz="525">
                <a:solidFill>
                  <a:srgbClr val="6C7079"/>
                </a:solidFill>
                <a:latin typeface="Aptos"/>
              </a:rPr>
              <a:t>current repository snapshot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457200" y="274320"/>
            <a:ext cx="347472" cy="347472"/>
          </a:xfrm>
          <a:prstGeom prst="ellipse">
            <a:avLst/>
          </a:prstGeom>
          <a:solidFill>
            <a:srgbClr val="00C9A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274320"/>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anose="020F0502020204030204"/>
                <a:ea typeface="+mn-ea"/>
                <a:cs typeface="+mn-cs"/>
              </a:rPr>
              <a:t>01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914400" y="274320"/>
            <a:ext cx="72237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Semantic Context Agent</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914400" y="676656"/>
            <a:ext cx="7406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00C9A7"/>
                </a:solidFill>
                <a:effectLst/>
                <a:uLnTx/>
                <a:uFillTx/>
                <a:latin typeface="Calibri" panose="020F0502020204030204"/>
                <a:ea typeface="+mn-ea"/>
                <a:cs typeface="+mn-cs"/>
              </a:rPr>
              <a:t>Understand the question, not just the words.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05840"/>
            <a:ext cx="8412480" cy="0"/>
          </a:xfrm>
          <a:prstGeom prst="line">
            <a:avLst/>
          </a:prstGeom>
          <a:noFill/>
          <a:ln w="8890">
            <a:solidFill>
              <a:srgbClr val="2A2A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411480" y="1115568"/>
            <a:ext cx="3931920" cy="3566160"/>
          </a:xfrm>
          <a:prstGeom prst="rect">
            <a:avLst/>
          </a:prstGeom>
          <a:solidFill>
            <a:srgbClr val="222222"/>
          </a:solidFill>
          <a:ln w="7620">
            <a:solidFill>
              <a:srgbClr val="2D2D2D"/>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11480" y="1115568"/>
            <a:ext cx="45720" cy="3566160"/>
          </a:xfrm>
          <a:prstGeom prst="rect">
            <a:avLst/>
          </a:prstGeom>
          <a:solidFill>
            <a:srgbClr val="00C9A7"/>
          </a:solidFill>
          <a:ln w="12700">
            <a:solidFill>
              <a:srgbClr val="00C9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94360" y="1207008"/>
            <a:ext cx="3657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C9A7"/>
                </a:solidFill>
                <a:effectLst/>
                <a:uLnTx/>
                <a:uFillTx/>
                <a:latin typeface="Calibri" panose="020F0502020204030204"/>
                <a:ea typeface="+mn-ea"/>
                <a:cs typeface="+mn-cs"/>
              </a:rPr>
              <a:t>What it does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94360" y="1554480"/>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Converts natural language -&gt; structured intent representation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94360" y="2029968"/>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Detects entities, metrics, timeframes, filters &amp; comparisons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94360" y="2505456"/>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Expands abbreviations, synonyms &amp; business jargon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94360" y="2980944"/>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Governs a semantic context object used by every downstream agent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94360" y="3456432"/>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Powered by HierarchicalRetriever + DialectRuleRetriever</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526280" y="1115568"/>
            <a:ext cx="4297680" cy="1444752"/>
          </a:xfrm>
          <a:prstGeom prst="rect">
            <a:avLst/>
          </a:prstGeom>
          <a:solidFill>
            <a:srgbClr val="222222"/>
          </a:solidFill>
          <a:ln w="7620">
            <a:solidFill>
              <a:srgbClr val="2D2D2D"/>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526280" y="1115568"/>
            <a:ext cx="45720" cy="1444752"/>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709160" y="1207008"/>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5A623"/>
                </a:solidFill>
                <a:effectLst/>
                <a:uLnTx/>
                <a:uFillTx/>
                <a:latin typeface="Calibri" panose="020F0502020204030204"/>
                <a:ea typeface="+mn-ea"/>
                <a:cs typeface="+mn-cs"/>
              </a:rPr>
              <a:t>The Analogy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709160" y="1499616"/>
            <a:ext cx="3931920" cy="9875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Like a translator who speaks both English AND your company's weird internal slang. 'Active customers' -&gt; STATUS='ACTIVE'. Garbage in, garbage SQL out. This agent fixes the input before anyone else touches 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26280" y="2724912"/>
            <a:ext cx="4297680" cy="1993392"/>
          </a:xfrm>
          <a:prstGeom prst="rect">
            <a:avLst/>
          </a:prstGeom>
          <a:solidFill>
            <a:srgbClr val="111111"/>
          </a:solidFill>
          <a:ln w="7620">
            <a:solidFill>
              <a:srgbClr val="2A2A2A"/>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681728" y="2779776"/>
            <a:ext cx="39319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0C9A7"/>
                </a:solidFill>
                <a:effectLst/>
                <a:uLnTx/>
                <a:uFillTx/>
                <a:latin typeface="Calibri" panose="020F0502020204030204"/>
                <a:ea typeface="+mn-ea"/>
                <a:cs typeface="+mn-cs"/>
              </a:rPr>
              <a:t>Semantic Frame Output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681728" y="305409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User: "Show active customers in the last 30 days"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681728" y="332841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681728" y="360273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C9A7"/>
                </a:solidFill>
                <a:effectLst/>
                <a:uLnTx/>
                <a:uFillTx/>
                <a:latin typeface="Consolas" pitchFamily="34" charset="0"/>
                <a:ea typeface="Consolas" pitchFamily="34" charset="-122"/>
                <a:cs typeface="Consolas" pitchFamily="34" charset="-120"/>
              </a:rPr>
              <a:t>entities: ["customer"]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681728" y="387705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C9A7"/>
                </a:solidFill>
                <a:effectLst/>
                <a:uLnTx/>
                <a:uFillTx/>
                <a:latin typeface="Consolas" pitchFamily="34" charset="0"/>
                <a:ea typeface="Consolas" pitchFamily="34" charset="-122"/>
                <a:cs typeface="Consolas" pitchFamily="34" charset="-120"/>
              </a:rPr>
              <a:t>filters: [{status:"ACTIVE"}]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4681728" y="415137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C9A7"/>
                </a:solidFill>
                <a:effectLst/>
                <a:uLnTx/>
                <a:uFillTx/>
                <a:latin typeface="Consolas" pitchFamily="34" charset="0"/>
                <a:ea typeface="Consolas" pitchFamily="34" charset="-122"/>
                <a:cs typeface="Consolas" pitchFamily="34" charset="-120"/>
              </a:rPr>
              <a:t>time_range: {last:"30 days"}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4681728" y="442569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C9A7"/>
                </a:solidFill>
                <a:effectLst/>
                <a:uLnTx/>
                <a:uFillTx/>
                <a:latin typeface="Consolas" pitchFamily="34" charset="0"/>
                <a:ea typeface="Consolas" pitchFamily="34" charset="-122"/>
                <a:cs typeface="Consolas" pitchFamily="34" charset="-120"/>
              </a:rPr>
              <a:t>intent: "list"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7" name="Image 0" descr="preencoded.png"/>
          <p:cNvPicPr>
            <a:picLocks noChangeAspect="1"/>
          </p:cNvPicPr>
          <p:nvPr/>
        </p:nvPicPr>
        <p:blipFill>
          <a:blip r:embed="rId3"/>
          <a:stretch>
            <a:fillRect/>
          </a:stretch>
        </p:blipFill>
        <p:spPr>
          <a:xfrm>
            <a:off x="8255800" y="438912"/>
            <a:ext cx="530352" cy="530352"/>
          </a:xfrm>
          <a:prstGeom prst="rect">
            <a:avLst/>
          </a:prstGeom>
        </p:spPr>
      </p:pic>
      <p:sp>
        <p:nvSpPr>
          <p:cNvPr id="28" name="Shape 25"/>
          <p:cNvSpPr/>
          <p:nvPr/>
        </p:nvSpPr>
        <p:spPr>
          <a:xfrm>
            <a:off x="411480" y="4709160"/>
            <a:ext cx="4373575" cy="192024"/>
          </a:xfrm>
          <a:prstGeom prst="rect">
            <a:avLst/>
          </a:prstGeom>
          <a:solidFill>
            <a:srgbClr val="00C9A7"/>
          </a:solidFill>
          <a:ln w="12700">
            <a:solidFill>
              <a:srgbClr val="00C9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p:nvPr/>
        </p:nvSpPr>
        <p:spPr>
          <a:xfrm>
            <a:off x="411480" y="4709160"/>
            <a:ext cx="4373575" cy="1920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80" b="1" i="0" u="none" strike="noStrike" kern="1200" cap="none" spc="0" normalizeH="0" baseline="0" noProof="0" dirty="0">
                <a:ln>
                  <a:noFill/>
                </a:ln>
                <a:solidFill>
                  <a:srgbClr val="000000"/>
                </a:solidFill>
                <a:effectLst/>
                <a:uLnTx/>
                <a:uFillTx/>
                <a:latin typeface="Calibri" panose="020F0502020204030204"/>
                <a:ea typeface="+mn-ea"/>
                <a:cs typeface="+mn-cs"/>
              </a:rPr>
              <a:t>GARBAGE IN = GARBAGE SQL OUT. THIS AGENT FIXES THE INPUT.</a:t>
            </a:r>
            <a:endParaRPr kumimoji="0" lang="en-US" sz="6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411480" y="4901184"/>
            <a:ext cx="6400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SpiderDIN  ·  Architecture Walkthrough</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8"/>
          <p:cNvSpPr/>
          <p:nvPr/>
        </p:nvSpPr>
        <p:spPr>
          <a:xfrm>
            <a:off x="7132320" y="4901184"/>
            <a:ext cx="192024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current repository snapshot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2" name="Picture 31">
            <a:extLst>
              <a:ext uri="{FF2B5EF4-FFF2-40B4-BE49-F238E27FC236}">
                <a16:creationId xmlns:a16="http://schemas.microsoft.com/office/drawing/2014/main" id="{8DD78353-167F-9147-5D78-8BFAB04275CB}"/>
              </a:ext>
            </a:extLst>
          </p:cNvPr>
          <p:cNvPicPr>
            <a:picLocks noChangeAspect="1"/>
          </p:cNvPicPr>
          <p:nvPr/>
        </p:nvPicPr>
        <p:blipFill>
          <a:blip r:embed="rId4"/>
          <a:srcRect l="-928" t="29746" r="928" b="36645"/>
          <a:stretch>
            <a:fillRect/>
          </a:stretch>
        </p:blipFill>
        <p:spPr>
          <a:xfrm>
            <a:off x="8218575" y="45720"/>
            <a:ext cx="861058" cy="28939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457200" y="274320"/>
            <a:ext cx="347472" cy="347472"/>
          </a:xfrm>
          <a:prstGeom prst="ellipse">
            <a:avLst/>
          </a:prstGeom>
          <a:solidFill>
            <a:srgbClr val="4A9E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274320"/>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anose="020F0502020204030204"/>
                <a:ea typeface="+mn-ea"/>
                <a:cs typeface="+mn-cs"/>
              </a:rPr>
              <a:t>02</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914400" y="274320"/>
            <a:ext cx="72237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Schema Linker Agent</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914400" y="676656"/>
            <a:ext cx="7406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4A9EFF"/>
                </a:solidFill>
                <a:effectLst/>
                <a:uLnTx/>
                <a:uFillTx/>
                <a:latin typeface="Calibri" panose="020F0502020204030204"/>
                <a:ea typeface="+mn-ea"/>
                <a:cs typeface="+mn-cs"/>
              </a:rPr>
              <a:t>Connect intent to the right tables, columns &amp; values.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05840"/>
            <a:ext cx="8412480" cy="0"/>
          </a:xfrm>
          <a:prstGeom prst="line">
            <a:avLst/>
          </a:prstGeom>
          <a:noFill/>
          <a:ln w="8890">
            <a:solidFill>
              <a:srgbClr val="2A2A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411480" y="1115568"/>
            <a:ext cx="3931920" cy="3566160"/>
          </a:xfrm>
          <a:prstGeom prst="rect">
            <a:avLst/>
          </a:prstGeom>
          <a:solidFill>
            <a:srgbClr val="222222"/>
          </a:solidFill>
          <a:ln w="7620">
            <a:solidFill>
              <a:srgbClr val="2D2D2D"/>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11480" y="1115568"/>
            <a:ext cx="45720" cy="3566160"/>
          </a:xfrm>
          <a:prstGeom prst="rect">
            <a:avLst/>
          </a:prstGeom>
          <a:solidFill>
            <a:srgbClr val="4A9EFF"/>
          </a:solidFill>
          <a:ln w="12700">
            <a:solidFill>
              <a:srgbClr val="4A9E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94360" y="1207008"/>
            <a:ext cx="3657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4A9EFF"/>
                </a:solidFill>
                <a:effectLst/>
                <a:uLnTx/>
                <a:uFillTx/>
                <a:latin typeface="Calibri" panose="020F0502020204030204"/>
                <a:ea typeface="+mn-ea"/>
                <a:cs typeface="+mn-cs"/>
              </a:rPr>
              <a:t>What it does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94360" y="1554480"/>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Retrieves relevant tables &amp; columns via embedding + heuristics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94360" y="2029968"/>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Probes distinct values to ground vocabulary (value grounding)</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94360" y="2505456"/>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Resolves synonyms, naming variations &amp; multi-table ambiguity</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94360" y="2980944"/>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Discovers join paths across FK/bridge tables automatically</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94360" y="3456432"/>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Returns a pruned, high-signal schema bundle — not 800 tables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526280" y="1115568"/>
            <a:ext cx="4297680" cy="1444752"/>
          </a:xfrm>
          <a:prstGeom prst="rect">
            <a:avLst/>
          </a:prstGeom>
          <a:solidFill>
            <a:srgbClr val="222222"/>
          </a:solidFill>
          <a:ln w="7620">
            <a:solidFill>
              <a:srgbClr val="2D2D2D"/>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526280" y="1115568"/>
            <a:ext cx="45720" cy="1444752"/>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709160" y="1207008"/>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5A623"/>
                </a:solidFill>
                <a:effectLst/>
                <a:uLnTx/>
                <a:uFillTx/>
                <a:latin typeface="Calibri" panose="020F0502020204030204"/>
                <a:ea typeface="+mn-ea"/>
                <a:cs typeface="+mn-cs"/>
              </a:rPr>
              <a:t>The Analogy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709160" y="1499616"/>
            <a:ext cx="3931920" cy="9875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Like a detective in a city of 800 people all named 'Customer'. It checks CUSTOMER, CUSTOMERS, CUST_DIM, ACCOUNT, BUYER — then picks the one that actually holds billing data. Enterprise DBs name things like they're hiding evidence.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26280" y="2724912"/>
            <a:ext cx="4297680" cy="1993392"/>
          </a:xfrm>
          <a:prstGeom prst="rect">
            <a:avLst/>
          </a:prstGeom>
          <a:solidFill>
            <a:srgbClr val="111111"/>
          </a:solidFill>
          <a:ln w="7620">
            <a:solidFill>
              <a:srgbClr val="2A2A2A"/>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681728" y="2779776"/>
            <a:ext cx="39319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4A9EFF"/>
                </a:solidFill>
                <a:effectLst/>
                <a:uLnTx/>
                <a:uFillTx/>
                <a:latin typeface="Calibri" panose="020F0502020204030204"/>
                <a:ea typeface="+mn-ea"/>
                <a:cs typeface="+mn-cs"/>
              </a:rPr>
              <a:t>Schema Resolution Example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681728" y="305409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User says "customer" -&gt; DB has: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681728" y="332841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88888"/>
                </a:solidFill>
                <a:effectLst/>
                <a:uLnTx/>
                <a:uFillTx/>
                <a:latin typeface="Calibri" pitchFamily="34" charset="0"/>
                <a:ea typeface="Calibri" pitchFamily="34" charset="-122"/>
                <a:cs typeface="Calibri" pitchFamily="34" charset="-120"/>
              </a:rPr>
              <a:t>CUSTOMER · CUSTOMERS · CUST_DIM · ACCOUNT · BUYER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681728" y="360273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681728" y="387705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C9A7"/>
                </a:solidFill>
                <a:effectLst/>
                <a:uLnTx/>
                <a:uFillTx/>
                <a:latin typeface="Consolas" pitchFamily="34" charset="0"/>
                <a:ea typeface="Consolas" pitchFamily="34" charset="-122"/>
                <a:cs typeface="Consolas" pitchFamily="34" charset="-120"/>
              </a:rPr>
              <a:t>Chose: CUSTOMER (score: 0.92)</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4681728" y="415137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88888"/>
                </a:solidFill>
                <a:effectLst/>
                <a:uLnTx/>
                <a:uFillTx/>
                <a:latin typeface="Calibri" pitchFamily="34" charset="0"/>
                <a:ea typeface="Calibri" pitchFamily="34" charset="-122"/>
                <a:cs typeface="Calibri" pitchFamily="34" charset="-120"/>
              </a:rPr>
              <a:t>Join path found: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4681728" y="442569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C9A7"/>
                </a:solidFill>
                <a:effectLst/>
                <a:uLnTx/>
                <a:uFillTx/>
                <a:latin typeface="Consolas" pitchFamily="34" charset="0"/>
                <a:ea typeface="Consolas" pitchFamily="34" charset="-122"/>
                <a:cs typeface="Consolas" pitchFamily="34" charset="-120"/>
              </a:rPr>
              <a:t>CUSTOMER -&gt; ORDER -&gt; ORDER_ITEM</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7" name="Image 0" descr="preencoded.png"/>
          <p:cNvPicPr>
            <a:picLocks noChangeAspect="1"/>
          </p:cNvPicPr>
          <p:nvPr/>
        </p:nvPicPr>
        <p:blipFill>
          <a:blip r:embed="rId3"/>
          <a:stretch>
            <a:fillRect/>
          </a:stretch>
        </p:blipFill>
        <p:spPr>
          <a:xfrm>
            <a:off x="8302752" y="457200"/>
            <a:ext cx="530352" cy="530352"/>
          </a:xfrm>
          <a:prstGeom prst="rect">
            <a:avLst/>
          </a:prstGeom>
        </p:spPr>
      </p:pic>
      <p:sp>
        <p:nvSpPr>
          <p:cNvPr id="28" name="Shape 25"/>
          <p:cNvSpPr/>
          <p:nvPr/>
        </p:nvSpPr>
        <p:spPr>
          <a:xfrm>
            <a:off x="411480" y="4709160"/>
            <a:ext cx="6107278" cy="192024"/>
          </a:xfrm>
          <a:prstGeom prst="rect">
            <a:avLst/>
          </a:prstGeom>
          <a:solidFill>
            <a:srgbClr val="4A9EFF"/>
          </a:solidFill>
          <a:ln w="12700">
            <a:solidFill>
              <a:srgbClr val="4A9E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p:nvPr/>
        </p:nvSpPr>
        <p:spPr>
          <a:xfrm>
            <a:off x="411480" y="4709160"/>
            <a:ext cx="6107278" cy="1920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80" b="1" i="0" u="none" strike="noStrike" kern="1200" cap="none" spc="0" normalizeH="0" baseline="0" noProof="0" dirty="0">
                <a:ln>
                  <a:noFill/>
                </a:ln>
                <a:solidFill>
                  <a:srgbClr val="000000"/>
                </a:solidFill>
                <a:effectLst/>
                <a:uLnTx/>
                <a:uFillTx/>
                <a:latin typeface="Calibri" panose="020F0502020204030204"/>
                <a:ea typeface="+mn-ea"/>
                <a:cs typeface="+mn-cs"/>
              </a:rPr>
              <a:t>WRONG TABLE = WRONG SQL. THE SCHEMA LINKER MAKES SURE WE KNOCK ON THE RIGHT DOOR.</a:t>
            </a:r>
            <a:endParaRPr kumimoji="0" lang="en-US" sz="6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411480" y="4901184"/>
            <a:ext cx="6400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SpiderDIN  ·  Architecture Walkthrough</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8"/>
          <p:cNvSpPr/>
          <p:nvPr/>
        </p:nvSpPr>
        <p:spPr>
          <a:xfrm>
            <a:off x="7132320" y="4901184"/>
            <a:ext cx="192024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current repository snapshot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2" name="Picture 31">
            <a:extLst>
              <a:ext uri="{FF2B5EF4-FFF2-40B4-BE49-F238E27FC236}">
                <a16:creationId xmlns:a16="http://schemas.microsoft.com/office/drawing/2014/main" id="{91058F88-F5C4-326F-5F9C-C68FCBD6DB15}"/>
              </a:ext>
            </a:extLst>
          </p:cNvPr>
          <p:cNvPicPr>
            <a:picLocks noChangeAspect="1"/>
          </p:cNvPicPr>
          <p:nvPr/>
        </p:nvPicPr>
        <p:blipFill>
          <a:blip r:embed="rId4"/>
          <a:srcRect l="-928" t="29746" r="928" b="36645"/>
          <a:stretch>
            <a:fillRect/>
          </a:stretch>
        </p:blipFill>
        <p:spPr>
          <a:xfrm>
            <a:off x="8218575" y="45720"/>
            <a:ext cx="861058" cy="28939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457200" y="274320"/>
            <a:ext cx="347472" cy="347472"/>
          </a:xfrm>
          <a:prstGeom prst="ellipse">
            <a:avLst/>
          </a:prstGeom>
          <a:solidFill>
            <a:srgbClr val="F5A62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274320"/>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anose="020F0502020204030204"/>
                <a:ea typeface="+mn-ea"/>
                <a:cs typeface="+mn-cs"/>
              </a:rPr>
              <a:t>03</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914400" y="274320"/>
            <a:ext cx="72237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SQL Generator Agent</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914400" y="676656"/>
            <a:ext cx="7406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F5A623"/>
                </a:solidFill>
                <a:effectLst/>
                <a:uLnTx/>
                <a:uFillTx/>
                <a:latin typeface="Calibri" panose="020F0502020204030204"/>
                <a:ea typeface="+mn-ea"/>
                <a:cs typeface="+mn-cs"/>
              </a:rPr>
              <a:t>Draft the best SQL given the schema and intent.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05840"/>
            <a:ext cx="8412480" cy="0"/>
          </a:xfrm>
          <a:prstGeom prst="line">
            <a:avLst/>
          </a:prstGeom>
          <a:noFill/>
          <a:ln w="8890">
            <a:solidFill>
              <a:srgbClr val="2A2A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411480" y="1115568"/>
            <a:ext cx="3931920" cy="3566160"/>
          </a:xfrm>
          <a:prstGeom prst="rect">
            <a:avLst/>
          </a:prstGeom>
          <a:solidFill>
            <a:srgbClr val="222222"/>
          </a:solidFill>
          <a:ln w="7620">
            <a:solidFill>
              <a:srgbClr val="2D2D2D"/>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11480" y="1115568"/>
            <a:ext cx="45720" cy="3566160"/>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94360" y="1207008"/>
            <a:ext cx="3657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5A623"/>
                </a:solidFill>
                <a:effectLst/>
                <a:uLnTx/>
                <a:uFillTx/>
                <a:latin typeface="Calibri" panose="020F0502020204030204"/>
                <a:ea typeface="+mn-ea"/>
                <a:cs typeface="+mn-cs"/>
              </a:rPr>
              <a:t>What it does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94360" y="1554480"/>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Plans joins, filters, aggregations &amp; groupings from intent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94360" y="2029968"/>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Generates Snowflake-compliant SQL (FQN, casing, VARIANT, FLATTEN)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94360" y="2505456"/>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Uses live profiling probes + reference SQL cache for context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94360" y="2980944"/>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Applies dialect rules pulled by DialectRuleRetriever</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94360" y="3456432"/>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Unclear value terms? -&gt; WebKnowledgeService lookup before drafting</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526280" y="1115568"/>
            <a:ext cx="4297680" cy="1444752"/>
          </a:xfrm>
          <a:prstGeom prst="rect">
            <a:avLst/>
          </a:prstGeom>
          <a:solidFill>
            <a:srgbClr val="222222"/>
          </a:solidFill>
          <a:ln w="7620">
            <a:solidFill>
              <a:srgbClr val="2D2D2D"/>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526280" y="1115568"/>
            <a:ext cx="45720" cy="1444752"/>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709160" y="1207008"/>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5A623"/>
                </a:solidFill>
                <a:effectLst/>
                <a:uLnTx/>
                <a:uFillTx/>
                <a:latin typeface="Calibri" panose="020F0502020204030204"/>
                <a:ea typeface="+mn-ea"/>
                <a:cs typeface="+mn-cs"/>
              </a:rPr>
              <a:t>The Analogy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709160" y="1499616"/>
            <a:ext cx="3931920" cy="9875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Like a first-draft writer who reads every past article, knows the house style guide cold, AND fact-checks ambiguous words before typing. Drafts happen. Mistakes happen. That's why the next four agents exist.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26280" y="2724912"/>
            <a:ext cx="4297680" cy="1993392"/>
          </a:xfrm>
          <a:prstGeom prst="rect">
            <a:avLst/>
          </a:prstGeom>
          <a:solidFill>
            <a:srgbClr val="111111"/>
          </a:solidFill>
          <a:ln w="7620">
            <a:solidFill>
              <a:srgbClr val="2A2A2A"/>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681728" y="2779776"/>
            <a:ext cx="39319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5A623"/>
                </a:solidFill>
                <a:effectLst/>
                <a:uLnTx/>
                <a:uFillTx/>
                <a:latin typeface="Calibri" panose="020F0502020204030204"/>
                <a:ea typeface="+mn-ea"/>
                <a:cs typeface="+mn-cs"/>
              </a:rPr>
              <a:t>Example Draft SQL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681728" y="305409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C9A7"/>
                </a:solidFill>
                <a:effectLst/>
                <a:uLnTx/>
                <a:uFillTx/>
                <a:latin typeface="Consolas" pitchFamily="34" charset="0"/>
                <a:ea typeface="Consolas" pitchFamily="34" charset="-122"/>
                <a:cs typeface="Consolas" pitchFamily="34" charset="-120"/>
              </a:rPr>
              <a:t>SELECT c.customer_id, c.customer_name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681728" y="332841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C9A7"/>
                </a:solidFill>
                <a:effectLst/>
                <a:uLnTx/>
                <a:uFillTx/>
                <a:latin typeface="Consolas" pitchFamily="34" charset="0"/>
                <a:ea typeface="Consolas" pitchFamily="34" charset="-122"/>
                <a:cs typeface="Consolas" pitchFamily="34" charset="-120"/>
              </a:rPr>
              <a:t>FROM analytics_db.public.customer c</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681728" y="360273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C9A7"/>
                </a:solidFill>
                <a:effectLst/>
                <a:uLnTx/>
                <a:uFillTx/>
                <a:latin typeface="Consolas" pitchFamily="34" charset="0"/>
                <a:ea typeface="Consolas" pitchFamily="34" charset="-122"/>
                <a:cs typeface="Consolas" pitchFamily="34" charset="-120"/>
              </a:rPr>
              <a:t>WHERE c.status = 'ACTIVE'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681728" y="387705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C9A7"/>
                </a:solidFill>
                <a:effectLst/>
                <a:uLnTx/>
                <a:uFillTx/>
                <a:latin typeface="Consolas" pitchFamily="34" charset="0"/>
                <a:ea typeface="Consolas" pitchFamily="34" charset="-122"/>
                <a:cs typeface="Consolas" pitchFamily="34" charset="-120"/>
              </a:rPr>
              <a:t>  AND c.created_at &gt;= DATEADD(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4681728" y="415137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C9A7"/>
                </a:solidFill>
                <a:effectLst/>
                <a:uLnTx/>
                <a:uFillTx/>
                <a:latin typeface="Consolas" pitchFamily="34" charset="0"/>
                <a:ea typeface="Consolas" pitchFamily="34" charset="-122"/>
                <a:cs typeface="Consolas" pitchFamily="34" charset="-120"/>
              </a:rPr>
              <a:t>        day,-30,CURRENT_DATE())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4681728" y="442569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C9A7"/>
                </a:solidFill>
                <a:effectLst/>
                <a:uLnTx/>
                <a:uFillTx/>
                <a:latin typeface="Consolas" pitchFamily="34" charset="0"/>
                <a:ea typeface="Consolas" pitchFamily="34" charset="-122"/>
                <a:cs typeface="Consolas" pitchFamily="34" charset="-120"/>
              </a:rPr>
              <a:t>ORDER BY c.created_at DESC;</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7" name="Image 0" descr="preencoded.png"/>
          <p:cNvPicPr>
            <a:picLocks noChangeAspect="1"/>
          </p:cNvPicPr>
          <p:nvPr/>
        </p:nvPicPr>
        <p:blipFill>
          <a:blip r:embed="rId3"/>
          <a:stretch>
            <a:fillRect/>
          </a:stretch>
        </p:blipFill>
        <p:spPr>
          <a:xfrm>
            <a:off x="8302752" y="438912"/>
            <a:ext cx="530352" cy="530352"/>
          </a:xfrm>
          <a:prstGeom prst="rect">
            <a:avLst/>
          </a:prstGeom>
        </p:spPr>
      </p:pic>
      <p:sp>
        <p:nvSpPr>
          <p:cNvPr id="28" name="Shape 25"/>
          <p:cNvSpPr/>
          <p:nvPr/>
        </p:nvSpPr>
        <p:spPr>
          <a:xfrm>
            <a:off x="411480" y="4709160"/>
            <a:ext cx="4734763" cy="192024"/>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p:nvPr/>
        </p:nvSpPr>
        <p:spPr>
          <a:xfrm>
            <a:off x="411480" y="4709160"/>
            <a:ext cx="4734763" cy="1920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80" b="1" i="0" u="none" strike="noStrike" kern="1200" cap="none" spc="0" normalizeH="0" baseline="0" noProof="0" dirty="0">
                <a:ln>
                  <a:noFill/>
                </a:ln>
                <a:solidFill>
                  <a:srgbClr val="000000"/>
                </a:solidFill>
                <a:effectLst/>
                <a:uLnTx/>
                <a:uFillTx/>
                <a:latin typeface="Calibri" panose="020F0502020204030204"/>
                <a:ea typeface="+mn-ea"/>
                <a:cs typeface="+mn-cs"/>
              </a:rPr>
              <a:t>GOOD SQL. NOT PERFECT SQL. THAT'S WHY THE REVIEW BOARD EXISTS.</a:t>
            </a:r>
            <a:endParaRPr kumimoji="0" lang="en-US" sz="6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411480" y="4901184"/>
            <a:ext cx="6400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SpiderDIN  ·  Architecture Walkthrough</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8"/>
          <p:cNvSpPr/>
          <p:nvPr/>
        </p:nvSpPr>
        <p:spPr>
          <a:xfrm>
            <a:off x="7132320" y="4901184"/>
            <a:ext cx="192024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current repository snapshot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2" name="Picture 31">
            <a:extLst>
              <a:ext uri="{FF2B5EF4-FFF2-40B4-BE49-F238E27FC236}">
                <a16:creationId xmlns:a16="http://schemas.microsoft.com/office/drawing/2014/main" id="{0FEFC3B4-6145-6BEA-D869-09F73B4CA137}"/>
              </a:ext>
            </a:extLst>
          </p:cNvPr>
          <p:cNvPicPr>
            <a:picLocks noChangeAspect="1"/>
          </p:cNvPicPr>
          <p:nvPr/>
        </p:nvPicPr>
        <p:blipFill>
          <a:blip r:embed="rId4"/>
          <a:srcRect l="-928" t="29746" r="928" b="36645"/>
          <a:stretch>
            <a:fillRect/>
          </a:stretch>
        </p:blipFill>
        <p:spPr>
          <a:xfrm>
            <a:off x="8218575" y="45720"/>
            <a:ext cx="861058" cy="28939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457200" y="274320"/>
            <a:ext cx="347472" cy="347472"/>
          </a:xfrm>
          <a:prstGeom prst="ellipse">
            <a:avLst/>
          </a:prstGeom>
          <a:solidFill>
            <a:srgbClr val="E840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274320"/>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anose="020F0502020204030204"/>
                <a:ea typeface="+mn-ea"/>
                <a:cs typeface="+mn-cs"/>
              </a:rPr>
              <a:t>03b</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914400" y="274320"/>
            <a:ext cx="72237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SQLCritic  (The Review Board)</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914400" y="676656"/>
            <a:ext cx="7406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84040"/>
                </a:solidFill>
                <a:effectLst/>
                <a:uLnTx/>
                <a:uFillTx/>
                <a:latin typeface="Calibri" panose="020F0502020204030204"/>
                <a:ea typeface="+mn-ea"/>
                <a:cs typeface="+mn-cs"/>
              </a:rPr>
              <a:t>Adversarially challenge every SQL draft before a byte hits the database.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05840"/>
            <a:ext cx="8412480" cy="0"/>
          </a:xfrm>
          <a:prstGeom prst="line">
            <a:avLst/>
          </a:prstGeom>
          <a:noFill/>
          <a:ln w="8890">
            <a:solidFill>
              <a:srgbClr val="2A2A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411480" y="1115568"/>
            <a:ext cx="3931920" cy="3566160"/>
          </a:xfrm>
          <a:prstGeom prst="rect">
            <a:avLst/>
          </a:prstGeom>
          <a:solidFill>
            <a:srgbClr val="222222"/>
          </a:solidFill>
          <a:ln w="7620">
            <a:solidFill>
              <a:srgbClr val="2D2D2D"/>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11480" y="1115568"/>
            <a:ext cx="45720" cy="3566160"/>
          </a:xfrm>
          <a:prstGeom prst="rect">
            <a:avLst/>
          </a:prstGeom>
          <a:solidFill>
            <a:srgbClr val="E84040"/>
          </a:solidFill>
          <a:ln w="12700">
            <a:solidFill>
              <a:srgbClr val="E840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94360" y="1207008"/>
            <a:ext cx="3657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84040"/>
                </a:solidFill>
                <a:effectLst/>
                <a:uLnTx/>
                <a:uFillTx/>
                <a:latin typeface="Calibri" panose="020F0502020204030204"/>
                <a:ea typeface="+mn-ea"/>
                <a:cs typeface="+mn-cs"/>
              </a:rPr>
              <a:t>What it does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94360" y="1554480"/>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Reads the draft SQL and hunts for flaws like a grumpy senior dev</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94360" y="2029968"/>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Checks for wrong joins, bad filters, missing GROUP BY clauses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94360" y="2505456"/>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Verifies column types, casing &amp; Snowflake dialect correctness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94360" y="2980944"/>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Returns a pass/fail verdict with specific, actionable feedback</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94360" y="3456432"/>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On fail -&gt; SQL Generator regenerates with critic notes attached</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526280" y="1115568"/>
            <a:ext cx="4297680" cy="1444752"/>
          </a:xfrm>
          <a:prstGeom prst="rect">
            <a:avLst/>
          </a:prstGeom>
          <a:solidFill>
            <a:srgbClr val="222222"/>
          </a:solidFill>
          <a:ln w="7620">
            <a:solidFill>
              <a:srgbClr val="2D2D2D"/>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526280" y="1115568"/>
            <a:ext cx="45720" cy="1444752"/>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709160" y="1207008"/>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5A623"/>
                </a:solidFill>
                <a:effectLst/>
                <a:uLnTx/>
                <a:uFillTx/>
                <a:latin typeface="Calibri" panose="020F0502020204030204"/>
                <a:ea typeface="+mn-ea"/>
                <a:cs typeface="+mn-cs"/>
              </a:rPr>
              <a:t>The Analogy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709160" y="1499616"/>
            <a:ext cx="3931920" cy="9875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Imagine a senior engineer who has been burned by bad SQL in prod — twice. Now their entire job is to find the bug before it costs the company money. We hired one. In software. No coffee breaks needed.</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26280" y="2724912"/>
            <a:ext cx="4297680" cy="1993392"/>
          </a:xfrm>
          <a:prstGeom prst="rect">
            <a:avLst/>
          </a:prstGeom>
          <a:solidFill>
            <a:srgbClr val="111111"/>
          </a:solidFill>
          <a:ln w="7620">
            <a:solidFill>
              <a:srgbClr val="2A2A2A"/>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681728" y="2779776"/>
            <a:ext cx="39319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E84040"/>
                </a:solidFill>
                <a:effectLst/>
                <a:uLnTx/>
                <a:uFillTx/>
                <a:latin typeface="Calibri" panose="020F0502020204030204"/>
                <a:ea typeface="+mn-ea"/>
                <a:cs typeface="+mn-cs"/>
              </a:rPr>
              <a:t>Critic Loop</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681728" y="305409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Draft SQL  ──►  SQLCritic  ──►  Verdict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681728" y="332841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681728" y="360273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[OK] PASS  -&gt;  Pre-flight + Execution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681728" y="387705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[X] FAIL  -&gt;  Back to Generator with notes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4681728" y="415137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4681728" y="442569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888888"/>
                </a:solidFill>
                <a:effectLst/>
                <a:uLnTx/>
                <a:uFillTx/>
                <a:latin typeface="Calibri" pitchFamily="34" charset="0"/>
                <a:ea typeface="Calibri" pitchFamily="34" charset="-122"/>
                <a:cs typeface="Calibri" pitchFamily="34" charset="-120"/>
              </a:rPr>
              <a:t>Cap: max retries -&gt; fallback to cached best SQL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7" name="Image 0" descr="preencoded.png"/>
          <p:cNvPicPr>
            <a:picLocks noChangeAspect="1"/>
          </p:cNvPicPr>
          <p:nvPr/>
        </p:nvPicPr>
        <p:blipFill>
          <a:blip r:embed="rId3"/>
          <a:stretch>
            <a:fillRect/>
          </a:stretch>
        </p:blipFill>
        <p:spPr>
          <a:xfrm>
            <a:off x="8293608" y="438912"/>
            <a:ext cx="530352" cy="530352"/>
          </a:xfrm>
          <a:prstGeom prst="rect">
            <a:avLst/>
          </a:prstGeom>
        </p:spPr>
      </p:pic>
      <p:sp>
        <p:nvSpPr>
          <p:cNvPr id="28" name="Shape 25"/>
          <p:cNvSpPr/>
          <p:nvPr/>
        </p:nvSpPr>
        <p:spPr>
          <a:xfrm>
            <a:off x="411480" y="4709160"/>
            <a:ext cx="5023714" cy="192024"/>
          </a:xfrm>
          <a:prstGeom prst="rect">
            <a:avLst/>
          </a:prstGeom>
          <a:solidFill>
            <a:srgbClr val="E84040"/>
          </a:solidFill>
          <a:ln w="12700">
            <a:solidFill>
              <a:srgbClr val="E840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p:nvPr/>
        </p:nvSpPr>
        <p:spPr>
          <a:xfrm>
            <a:off x="411480" y="4709160"/>
            <a:ext cx="5023714" cy="1920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80" b="1" i="0" u="none" strike="noStrike" kern="1200" cap="none" spc="0" normalizeH="0" baseline="0" noProof="0" dirty="0">
                <a:ln>
                  <a:noFill/>
                </a:ln>
                <a:solidFill>
                  <a:srgbClr val="000000"/>
                </a:solidFill>
                <a:effectLst/>
                <a:uLnTx/>
                <a:uFillTx/>
                <a:latin typeface="Calibri" panose="020F0502020204030204"/>
                <a:ea typeface="+mn-ea"/>
                <a:cs typeface="+mn-cs"/>
              </a:rPr>
              <a:t>DRAFTS HAPPEN. MISTAKES HAPPEN. THAT'S WHY WE HAVE A REVIEW BOARD.</a:t>
            </a:r>
            <a:endParaRPr kumimoji="0" lang="en-US" sz="6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411480" y="4901184"/>
            <a:ext cx="6400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SpiderDIN  ·  Architecture Walkthrough</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8"/>
          <p:cNvSpPr/>
          <p:nvPr/>
        </p:nvSpPr>
        <p:spPr>
          <a:xfrm>
            <a:off x="7132320" y="4901184"/>
            <a:ext cx="192024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current repository snapshot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2" name="Picture 31">
            <a:extLst>
              <a:ext uri="{FF2B5EF4-FFF2-40B4-BE49-F238E27FC236}">
                <a16:creationId xmlns:a16="http://schemas.microsoft.com/office/drawing/2014/main" id="{BFD4DAEE-5E1B-9601-9D09-8CE6A4C3D884}"/>
              </a:ext>
            </a:extLst>
          </p:cNvPr>
          <p:cNvPicPr>
            <a:picLocks noChangeAspect="1"/>
          </p:cNvPicPr>
          <p:nvPr/>
        </p:nvPicPr>
        <p:blipFill>
          <a:blip r:embed="rId4"/>
          <a:srcRect l="-928" t="29746" r="928" b="36645"/>
          <a:stretch>
            <a:fillRect/>
          </a:stretch>
        </p:blipFill>
        <p:spPr>
          <a:xfrm>
            <a:off x="8218575" y="45720"/>
            <a:ext cx="861058" cy="28939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457200" y="274320"/>
            <a:ext cx="347472" cy="347472"/>
          </a:xfrm>
          <a:prstGeom prst="ellipse">
            <a:avLst/>
          </a:prstGeom>
          <a:solidFill>
            <a:srgbClr val="9B59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274320"/>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anose="020F0502020204030204"/>
                <a:ea typeface="+mn-ea"/>
                <a:cs typeface="+mn-cs"/>
              </a:rPr>
              <a:t>04</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914400" y="274320"/>
            <a:ext cx="72237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Executor Agent</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914400" y="676656"/>
            <a:ext cx="7406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9B59B6"/>
                </a:solidFill>
                <a:effectLst/>
                <a:uLnTx/>
                <a:uFillTx/>
                <a:latin typeface="Calibri" panose="020F0502020204030204"/>
                <a:ea typeface="+mn-ea"/>
                <a:cs typeface="+mn-cs"/>
              </a:rPr>
              <a:t>Run the SQL safely. Capture the truth.</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05840"/>
            <a:ext cx="8412480" cy="0"/>
          </a:xfrm>
          <a:prstGeom prst="line">
            <a:avLst/>
          </a:prstGeom>
          <a:noFill/>
          <a:ln w="8890">
            <a:solidFill>
              <a:srgbClr val="2A2A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411480" y="1115568"/>
            <a:ext cx="3931920" cy="3566160"/>
          </a:xfrm>
          <a:prstGeom prst="rect">
            <a:avLst/>
          </a:prstGeom>
          <a:solidFill>
            <a:srgbClr val="222222"/>
          </a:solidFill>
          <a:ln w="7620">
            <a:solidFill>
              <a:srgbClr val="2D2D2D"/>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11480" y="1115568"/>
            <a:ext cx="45720" cy="3566160"/>
          </a:xfrm>
          <a:prstGeom prst="rect">
            <a:avLst/>
          </a:prstGeom>
          <a:solidFill>
            <a:srgbClr val="9B59B6"/>
          </a:solidFill>
          <a:ln w="12700">
            <a:solidFill>
              <a:srgbClr val="9B5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94360" y="1207008"/>
            <a:ext cx="3657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9B59B6"/>
                </a:solidFill>
                <a:effectLst/>
                <a:uLnTx/>
                <a:uFillTx/>
                <a:latin typeface="Calibri" panose="020F0502020204030204"/>
                <a:ea typeface="+mn-ea"/>
                <a:cs typeface="+mn-cs"/>
              </a:rPr>
              <a:t>What it does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94360" y="1554480"/>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Executes SQL on Snowflake with retry-memory &amp; SQL hash checks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94360" y="2029968"/>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ExecutionStabilizer handles pre-flight schema verification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94360" y="2505456"/>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Manages retries, timeouts &amp; transient connection failures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94360" y="2980944"/>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Captures row count, runtime, bytes scanned &amp; execution metadata</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94360" y="3456432"/>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On error -&gt; feeds structured diagnosis to Self-Corrector</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526280" y="1115568"/>
            <a:ext cx="4297680" cy="1444752"/>
          </a:xfrm>
          <a:prstGeom prst="rect">
            <a:avLst/>
          </a:prstGeom>
          <a:solidFill>
            <a:srgbClr val="222222"/>
          </a:solidFill>
          <a:ln w="7620">
            <a:solidFill>
              <a:srgbClr val="2D2D2D"/>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526280" y="1115568"/>
            <a:ext cx="45720" cy="1444752"/>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709160" y="1207008"/>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5A623"/>
                </a:solidFill>
                <a:effectLst/>
                <a:uLnTx/>
                <a:uFillTx/>
                <a:latin typeface="Calibri" panose="020F0502020204030204"/>
                <a:ea typeface="+mn-ea"/>
                <a:cs typeface="+mn-cs"/>
              </a:rPr>
              <a:t>The Analogy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709160" y="1499616"/>
            <a:ext cx="3931920" cy="9875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Like a test pilot. The generator designed the plane, the critic checked the blueprint — but execution is the ONE moment where we find out if it actually flies. Instruments on. Eyes open. No faking 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26280" y="2724912"/>
            <a:ext cx="4297680" cy="1993392"/>
          </a:xfrm>
          <a:prstGeom prst="rect">
            <a:avLst/>
          </a:prstGeom>
          <a:solidFill>
            <a:srgbClr val="111111"/>
          </a:solidFill>
          <a:ln w="7620">
            <a:solidFill>
              <a:srgbClr val="2A2A2A"/>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681728" y="2779776"/>
            <a:ext cx="39319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9B59B6"/>
                </a:solidFill>
                <a:effectLst/>
                <a:uLnTx/>
                <a:uFillTx/>
                <a:latin typeface="Calibri" panose="020F0502020204030204"/>
                <a:ea typeface="+mn-ea"/>
                <a:cs typeface="+mn-cs"/>
              </a:rPr>
              <a:t>Execution Snapshot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681728" y="305409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Status:     [OK]  Success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681728" y="332841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Rows:       12,845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681728" y="360273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Bytes:      1.23 GB</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681728" y="387705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Runtime:    3.2 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4681728" y="415137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Warehouse:  &lt;auto&gt;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6" name="Image 0" descr="preencoded.png"/>
          <p:cNvPicPr>
            <a:picLocks noChangeAspect="1"/>
          </p:cNvPicPr>
          <p:nvPr/>
        </p:nvPicPr>
        <p:blipFill>
          <a:blip r:embed="rId3"/>
          <a:stretch>
            <a:fillRect/>
          </a:stretch>
        </p:blipFill>
        <p:spPr>
          <a:xfrm>
            <a:off x="8249315" y="393192"/>
            <a:ext cx="530352" cy="530352"/>
          </a:xfrm>
          <a:prstGeom prst="rect">
            <a:avLst/>
          </a:prstGeom>
        </p:spPr>
      </p:pic>
      <p:sp>
        <p:nvSpPr>
          <p:cNvPr id="27" name="Shape 24"/>
          <p:cNvSpPr/>
          <p:nvPr/>
        </p:nvSpPr>
        <p:spPr>
          <a:xfrm>
            <a:off x="411480" y="4709160"/>
            <a:ext cx="5240426" cy="192024"/>
          </a:xfrm>
          <a:prstGeom prst="rect">
            <a:avLst/>
          </a:prstGeom>
          <a:solidFill>
            <a:srgbClr val="9B59B6"/>
          </a:solidFill>
          <a:ln w="12700">
            <a:solidFill>
              <a:srgbClr val="9B5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411480" y="4709160"/>
            <a:ext cx="5240426" cy="1920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80" b="1" i="0" u="none" strike="noStrike" kern="1200" cap="none" spc="0" normalizeH="0" baseline="0" noProof="0" dirty="0">
                <a:ln>
                  <a:noFill/>
                </a:ln>
                <a:solidFill>
                  <a:srgbClr val="000000"/>
                </a:solidFill>
                <a:effectLst/>
                <a:uLnTx/>
                <a:uFillTx/>
                <a:latin typeface="Calibri" panose="020F0502020204030204"/>
                <a:ea typeface="+mn-ea"/>
                <a:cs typeface="+mn-cs"/>
              </a:rPr>
              <a:t>EXECUTION IS THE ONLY MOMENT WE TOUCH REAL DATA. NO SIMULATIONS HERE.</a:t>
            </a:r>
            <a:endParaRPr kumimoji="0" lang="en-US" sz="6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411480" y="4901184"/>
            <a:ext cx="6400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SpiderDIN  ·  Architecture Walkthrough</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7132320" y="4901184"/>
            <a:ext cx="192024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current repository snapshot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1" name="Picture 30">
            <a:extLst>
              <a:ext uri="{FF2B5EF4-FFF2-40B4-BE49-F238E27FC236}">
                <a16:creationId xmlns:a16="http://schemas.microsoft.com/office/drawing/2014/main" id="{5F5A4586-8422-C0C9-AD23-338FC511CAFA}"/>
              </a:ext>
            </a:extLst>
          </p:cNvPr>
          <p:cNvPicPr>
            <a:picLocks noChangeAspect="1"/>
          </p:cNvPicPr>
          <p:nvPr/>
        </p:nvPicPr>
        <p:blipFill>
          <a:blip r:embed="rId4"/>
          <a:srcRect l="-928" t="29746" r="928" b="36645"/>
          <a:stretch>
            <a:fillRect/>
          </a:stretch>
        </p:blipFill>
        <p:spPr>
          <a:xfrm>
            <a:off x="8218575" y="45720"/>
            <a:ext cx="861058" cy="28939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457200" y="274320"/>
            <a:ext cx="347472" cy="347472"/>
          </a:xfrm>
          <a:prstGeom prst="ellipse">
            <a:avLst/>
          </a:prstGeom>
          <a:solidFill>
            <a:srgbClr val="27AE6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274320"/>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anose="020F0502020204030204"/>
                <a:ea typeface="+mn-ea"/>
                <a:cs typeface="+mn-cs"/>
              </a:rPr>
              <a:t>05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914400" y="274320"/>
            <a:ext cx="72237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Data IQ Auditor Agent</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914400" y="676656"/>
            <a:ext cx="7406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27AE60"/>
                </a:solidFill>
                <a:effectLst/>
                <a:uLnTx/>
                <a:uFillTx/>
                <a:latin typeface="Calibri" panose="020F0502020204030204"/>
                <a:ea typeface="+mn-ea"/>
                <a:cs typeface="+mn-cs"/>
              </a:rPr>
              <a:t>Validate results beyond just 'did it run?'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05840"/>
            <a:ext cx="8412480" cy="0"/>
          </a:xfrm>
          <a:prstGeom prst="line">
            <a:avLst/>
          </a:prstGeom>
          <a:noFill/>
          <a:ln w="8890">
            <a:solidFill>
              <a:srgbClr val="2A2A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411480" y="1115568"/>
            <a:ext cx="3931920" cy="3566160"/>
          </a:xfrm>
          <a:prstGeom prst="rect">
            <a:avLst/>
          </a:prstGeom>
          <a:solidFill>
            <a:srgbClr val="222222"/>
          </a:solidFill>
          <a:ln w="7620">
            <a:solidFill>
              <a:srgbClr val="2D2D2D"/>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11480" y="1115568"/>
            <a:ext cx="45720" cy="3566160"/>
          </a:xfrm>
          <a:prstGeom prst="rect">
            <a:avLst/>
          </a:prstGeom>
          <a:solidFill>
            <a:srgbClr val="27AE60"/>
          </a:solidFill>
          <a:ln w="12700">
            <a:solidFill>
              <a:srgbClr val="27AE6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94360" y="1207008"/>
            <a:ext cx="3657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7AE60"/>
                </a:solidFill>
                <a:effectLst/>
                <a:uLnTx/>
                <a:uFillTx/>
                <a:latin typeface="Calibri" panose="020F0502020204030204"/>
                <a:ea typeface="+mn-ea"/>
                <a:cs typeface="+mn-cs"/>
              </a:rPr>
              <a:t>What it does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94360" y="1554480"/>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Checks row count vs expectations — 0 rows is immediately suspicious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94360" y="2029968"/>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Validates null ratio in key columns (threshold: &lt; 5%)</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94360" y="2505456"/>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Validates distribution, uniqueness, date ranges &amp; cardinality</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94360" y="2980944"/>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Detects anomalies, empty traps &amp; aggregation explosions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94360" y="3456432"/>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Assigns a 0–100 confidence score; can request exploration probes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526280" y="1115568"/>
            <a:ext cx="4297680" cy="1444752"/>
          </a:xfrm>
          <a:prstGeom prst="rect">
            <a:avLst/>
          </a:prstGeom>
          <a:solidFill>
            <a:srgbClr val="222222"/>
          </a:solidFill>
          <a:ln w="7620">
            <a:solidFill>
              <a:srgbClr val="2D2D2D"/>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526280" y="1115568"/>
            <a:ext cx="45720" cy="1444752"/>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709160" y="1207008"/>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5A623"/>
                </a:solidFill>
                <a:effectLst/>
                <a:uLnTx/>
                <a:uFillTx/>
                <a:latin typeface="Calibri" panose="020F0502020204030204"/>
                <a:ea typeface="+mn-ea"/>
                <a:cs typeface="+mn-cs"/>
              </a:rPr>
              <a:t>The Analogy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709160" y="1499616"/>
            <a:ext cx="3931920" cy="9875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Like a data scientist who reviews the answer before the CEO sees it. SQL can be syntactically perfect and business-wrong. This agent asks: 'Does this number make any sense?' — not just 'did it compile without errors?'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26280" y="2724912"/>
            <a:ext cx="4297680" cy="1993392"/>
          </a:xfrm>
          <a:prstGeom prst="rect">
            <a:avLst/>
          </a:prstGeom>
          <a:solidFill>
            <a:srgbClr val="111111"/>
          </a:solidFill>
          <a:ln w="7620">
            <a:solidFill>
              <a:srgbClr val="2A2A2A"/>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681728" y="2779776"/>
            <a:ext cx="39319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7AE60"/>
                </a:solidFill>
                <a:effectLst/>
                <a:uLnTx/>
                <a:uFillTx/>
                <a:latin typeface="Calibri" panose="020F0502020204030204"/>
                <a:ea typeface="+mn-ea"/>
                <a:cs typeface="+mn-cs"/>
              </a:rPr>
              <a:t>Data IQ Check Results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681728" y="305409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[OK]  Row count &gt; 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681728" y="332841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[OK]  Null ratio in key cols &lt; 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681728" y="360273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[OK]  Date range valid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681728" y="387705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  Distribution drift detected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4681728" y="415137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4681728" y="442569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Confidence score:  82 / 100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7" name="Image 0" descr="preencoded.png"/>
          <p:cNvPicPr>
            <a:picLocks noChangeAspect="1"/>
          </p:cNvPicPr>
          <p:nvPr/>
        </p:nvPicPr>
        <p:blipFill>
          <a:blip r:embed="rId3"/>
          <a:stretch>
            <a:fillRect/>
          </a:stretch>
        </p:blipFill>
        <p:spPr>
          <a:xfrm>
            <a:off x="8229600" y="457200"/>
            <a:ext cx="530352" cy="530352"/>
          </a:xfrm>
          <a:prstGeom prst="rect">
            <a:avLst/>
          </a:prstGeom>
        </p:spPr>
      </p:pic>
      <p:sp>
        <p:nvSpPr>
          <p:cNvPr id="28" name="Shape 25"/>
          <p:cNvSpPr/>
          <p:nvPr/>
        </p:nvSpPr>
        <p:spPr>
          <a:xfrm>
            <a:off x="411480" y="4709160"/>
            <a:ext cx="4951476" cy="192024"/>
          </a:xfrm>
          <a:prstGeom prst="rect">
            <a:avLst/>
          </a:prstGeom>
          <a:solidFill>
            <a:srgbClr val="27AE60"/>
          </a:solidFill>
          <a:ln w="12700">
            <a:solidFill>
              <a:srgbClr val="27AE6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p:nvPr/>
        </p:nvSpPr>
        <p:spPr>
          <a:xfrm>
            <a:off x="411480" y="4709160"/>
            <a:ext cx="4951476" cy="1920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80" b="1" i="0" u="none" strike="noStrike" kern="1200" cap="none" spc="0" normalizeH="0" baseline="0" noProof="0" dirty="0">
                <a:ln>
                  <a:noFill/>
                </a:ln>
                <a:solidFill>
                  <a:srgbClr val="000000"/>
                </a:solidFill>
                <a:effectLst/>
                <a:uLnTx/>
                <a:uFillTx/>
                <a:latin typeface="Calibri" panose="020F0502020204030204"/>
                <a:ea typeface="+mn-ea"/>
                <a:cs typeface="+mn-cs"/>
              </a:rPr>
              <a:t>A SYNTACTICALLY CORRECT SQL CAN STILL BE A BUSINESS-WRONG ANSWER.</a:t>
            </a:r>
            <a:endParaRPr kumimoji="0" lang="en-US" sz="6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411480" y="4901184"/>
            <a:ext cx="6400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SpiderDIN  ·  Architecture Walkthrough</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8"/>
          <p:cNvSpPr/>
          <p:nvPr/>
        </p:nvSpPr>
        <p:spPr>
          <a:xfrm>
            <a:off x="7132320" y="4901184"/>
            <a:ext cx="192024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current repository snapshot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2" name="Picture 31">
            <a:extLst>
              <a:ext uri="{FF2B5EF4-FFF2-40B4-BE49-F238E27FC236}">
                <a16:creationId xmlns:a16="http://schemas.microsoft.com/office/drawing/2014/main" id="{B736ADFF-25EE-299D-273C-BA69A7628567}"/>
              </a:ext>
            </a:extLst>
          </p:cNvPr>
          <p:cNvPicPr>
            <a:picLocks noChangeAspect="1"/>
          </p:cNvPicPr>
          <p:nvPr/>
        </p:nvPicPr>
        <p:blipFill>
          <a:blip r:embed="rId4"/>
          <a:srcRect l="-928" t="29746" r="928" b="36645"/>
          <a:stretch>
            <a:fillRect/>
          </a:stretch>
        </p:blipFill>
        <p:spPr>
          <a:xfrm>
            <a:off x="8218575" y="45720"/>
            <a:ext cx="861058" cy="28939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457200" y="274320"/>
            <a:ext cx="347472" cy="347472"/>
          </a:xfrm>
          <a:prstGeom prst="ellipse">
            <a:avLst/>
          </a:prstGeom>
          <a:solidFill>
            <a:srgbClr val="E8404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274320"/>
            <a:ext cx="347472"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anose="020F0502020204030204"/>
                <a:ea typeface="+mn-ea"/>
                <a:cs typeface="+mn-cs"/>
              </a:rPr>
              <a:t>06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914400" y="274320"/>
            <a:ext cx="72237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Self-Corrector Agent</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914400" y="676656"/>
            <a:ext cx="7406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84040"/>
                </a:solidFill>
                <a:effectLst/>
                <a:uLnTx/>
                <a:uFillTx/>
                <a:latin typeface="Calibri" panose="020F0502020204030204"/>
                <a:ea typeface="+mn-ea"/>
                <a:cs typeface="+mn-cs"/>
              </a:rPr>
              <a:t>Critique, fix, and try again. Until it's right.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05840"/>
            <a:ext cx="8412480" cy="0"/>
          </a:xfrm>
          <a:prstGeom prst="line">
            <a:avLst/>
          </a:prstGeom>
          <a:noFill/>
          <a:ln w="8890">
            <a:solidFill>
              <a:srgbClr val="2A2A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411480" y="1115568"/>
            <a:ext cx="3931920" cy="3566160"/>
          </a:xfrm>
          <a:prstGeom prst="rect">
            <a:avLst/>
          </a:prstGeom>
          <a:solidFill>
            <a:srgbClr val="222222"/>
          </a:solidFill>
          <a:ln w="7620">
            <a:solidFill>
              <a:srgbClr val="2D2D2D"/>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411480" y="1115568"/>
            <a:ext cx="45720" cy="3566160"/>
          </a:xfrm>
          <a:prstGeom prst="rect">
            <a:avLst/>
          </a:prstGeom>
          <a:solidFill>
            <a:srgbClr val="E84040"/>
          </a:solidFill>
          <a:ln w="12700">
            <a:solidFill>
              <a:srgbClr val="E840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94360" y="1207008"/>
            <a:ext cx="3657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84040"/>
                </a:solidFill>
                <a:effectLst/>
                <a:uLnTx/>
                <a:uFillTx/>
                <a:latin typeface="Calibri" panose="020F0502020204030204"/>
                <a:ea typeface="+mn-ea"/>
                <a:cs typeface="+mn-cs"/>
              </a:rPr>
              <a:t>What it does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94360" y="1554480"/>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Reads error logs, execution results &amp; Data IQ feedback</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94360" y="2029968"/>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Identifies root cause: join error, filter, aggregation mismatch</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94360" y="2505456"/>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Applies fix recipes — prompted strategies or rule-based patches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94360" y="2980944"/>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Missing object? -&gt; cross-DB discovery + schema unpruning</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94360" y="3456432"/>
            <a:ext cx="356616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&gt;  Retries exhausted? -&gt; fallback to SQLManager's best cached SQL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4526280" y="1115568"/>
            <a:ext cx="4297680" cy="1444752"/>
          </a:xfrm>
          <a:prstGeom prst="rect">
            <a:avLst/>
          </a:prstGeom>
          <a:solidFill>
            <a:srgbClr val="222222"/>
          </a:solidFill>
          <a:ln w="7620">
            <a:solidFill>
              <a:srgbClr val="2D2D2D"/>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4526280" y="1115568"/>
            <a:ext cx="45720" cy="1444752"/>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4709160" y="1207008"/>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5A623"/>
                </a:solidFill>
                <a:effectLst/>
                <a:uLnTx/>
                <a:uFillTx/>
                <a:latin typeface="Calibri" panose="020F0502020204030204"/>
                <a:ea typeface="+mn-ea"/>
                <a:cs typeface="+mn-cs"/>
              </a:rPr>
              <a:t>The Analogy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4709160" y="1499616"/>
            <a:ext cx="3931920" cy="9875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BBBBBB"/>
                </a:solidFill>
                <a:effectLst/>
                <a:uLnTx/>
                <a:uFillTx/>
                <a:latin typeface="Calibri" panose="020F0502020204030204"/>
                <a:ea typeface="+mn-ea"/>
                <a:cs typeface="+mn-cs"/>
              </a:rPr>
              <a:t>Like an editor who keeps rewriting until it's publication-ready — armed with the original draft, the critic's red pen, the runtime error, AND a photographic memory of every failed attempt. Self-healing turns a pipeline into a product.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26280" y="2724912"/>
            <a:ext cx="4297680" cy="1993392"/>
          </a:xfrm>
          <a:prstGeom prst="rect">
            <a:avLst/>
          </a:prstGeom>
          <a:solidFill>
            <a:srgbClr val="111111"/>
          </a:solidFill>
          <a:ln w="7620">
            <a:solidFill>
              <a:srgbClr val="2A2A2A"/>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681728" y="2779776"/>
            <a:ext cx="39319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E84040"/>
                </a:solidFill>
                <a:effectLst/>
                <a:uLnTx/>
                <a:uFillTx/>
                <a:latin typeface="Calibri" panose="020F0502020204030204"/>
                <a:ea typeface="+mn-ea"/>
                <a:cs typeface="+mn-cs"/>
              </a:rPr>
              <a:t>Feedback Loop in Action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681728" y="305409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Trigger: Empty result / execution error / low IQ score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681728" y="332841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681728" y="360273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-&gt; Diagnose root cause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681728" y="387705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-&gt; Patch SQL + re-enter execution loop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4681728" y="4151376"/>
            <a:ext cx="3931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BBBBB"/>
                </a:solidFill>
                <a:effectLst/>
                <a:uLnTx/>
                <a:uFillTx/>
                <a:latin typeface="Calibri" pitchFamily="34" charset="0"/>
                <a:ea typeface="Calibri" pitchFamily="34" charset="-122"/>
                <a:cs typeface="Calibri" pitchFamily="34" charset="-120"/>
              </a:rPr>
              <a:t>-&gt; Final Result  (or best cached SQL fallback)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6" name="Image 0" descr="preencoded.png"/>
          <p:cNvPicPr>
            <a:picLocks noChangeAspect="1"/>
          </p:cNvPicPr>
          <p:nvPr/>
        </p:nvPicPr>
        <p:blipFill>
          <a:blip r:embed="rId3"/>
          <a:stretch>
            <a:fillRect/>
          </a:stretch>
        </p:blipFill>
        <p:spPr>
          <a:xfrm>
            <a:off x="8139587" y="466344"/>
            <a:ext cx="530352" cy="530352"/>
          </a:xfrm>
          <a:prstGeom prst="rect">
            <a:avLst/>
          </a:prstGeom>
        </p:spPr>
      </p:pic>
      <p:sp>
        <p:nvSpPr>
          <p:cNvPr id="27" name="Shape 24"/>
          <p:cNvSpPr/>
          <p:nvPr/>
        </p:nvSpPr>
        <p:spPr>
          <a:xfrm>
            <a:off x="411480" y="4709160"/>
            <a:ext cx="5095951" cy="192024"/>
          </a:xfrm>
          <a:prstGeom prst="rect">
            <a:avLst/>
          </a:prstGeom>
          <a:solidFill>
            <a:srgbClr val="E84040"/>
          </a:solidFill>
          <a:ln w="12700">
            <a:solidFill>
              <a:srgbClr val="E840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411480" y="4709160"/>
            <a:ext cx="5095951" cy="1920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80" b="1" i="0" u="none" strike="noStrike" kern="1200" cap="none" spc="0" normalizeH="0" baseline="0" noProof="0" dirty="0">
                <a:ln>
                  <a:noFill/>
                </a:ln>
                <a:solidFill>
                  <a:srgbClr val="000000"/>
                </a:solidFill>
                <a:effectLst/>
                <a:uLnTx/>
                <a:uFillTx/>
                <a:latin typeface="Calibri" panose="020F0502020204030204"/>
                <a:ea typeface="+mn-ea"/>
                <a:cs typeface="+mn-cs"/>
              </a:rPr>
              <a:t>WE DON'T GIVE UP ON THE FIRST TRY. WE REVIEW, IMPROVE, AND DELIVER.</a:t>
            </a:r>
            <a:endParaRPr kumimoji="0" lang="en-US" sz="6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411480" y="4901184"/>
            <a:ext cx="6400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SpiderDIN  ·  Architecture Walkthrough</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7132320" y="4901184"/>
            <a:ext cx="192024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current repository snapshot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1" name="Picture 30">
            <a:extLst>
              <a:ext uri="{FF2B5EF4-FFF2-40B4-BE49-F238E27FC236}">
                <a16:creationId xmlns:a16="http://schemas.microsoft.com/office/drawing/2014/main" id="{291F4037-ADED-A505-560B-41955C021175}"/>
              </a:ext>
            </a:extLst>
          </p:cNvPr>
          <p:cNvPicPr>
            <a:picLocks noChangeAspect="1"/>
          </p:cNvPicPr>
          <p:nvPr/>
        </p:nvPicPr>
        <p:blipFill>
          <a:blip r:embed="rId4"/>
          <a:srcRect l="-928" t="29746" r="928" b="36645"/>
          <a:stretch>
            <a:fillRect/>
          </a:stretch>
        </p:blipFill>
        <p:spPr>
          <a:xfrm>
            <a:off x="8218575" y="45720"/>
            <a:ext cx="861058" cy="28939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320040" y="201168"/>
            <a:ext cx="2134210" cy="192024"/>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320040" y="201168"/>
            <a:ext cx="2134210" cy="1920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80" b="1" i="0" u="none" strike="noStrike" kern="1200" cap="none" spc="0" normalizeH="0" baseline="0" noProof="0" dirty="0">
                <a:ln>
                  <a:noFill/>
                </a:ln>
                <a:solidFill>
                  <a:srgbClr val="000000"/>
                </a:solidFill>
                <a:effectLst/>
                <a:uLnTx/>
                <a:uFillTx/>
                <a:latin typeface="Calibri" panose="020F0502020204030204"/>
                <a:ea typeface="+mn-ea"/>
                <a:cs typeface="+mn-cs"/>
              </a:rPr>
              <a:t>PIPELINE RESILIENCE MATRIX</a:t>
            </a:r>
            <a:endParaRPr kumimoji="0" lang="en-US" sz="6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20040" y="502920"/>
            <a:ext cx="85039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Potential Problems  ·  Who Solves It  ·  Tools Used</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320040" y="932688"/>
            <a:ext cx="8503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BBBBBB"/>
                </a:solidFill>
                <a:effectLst/>
                <a:uLnTx/>
                <a:uFillTx/>
                <a:latin typeface="Calibri" panose="020F0502020204030204"/>
                <a:ea typeface="+mn-ea"/>
                <a:cs typeface="+mn-cs"/>
              </a:rPr>
              <a:t>Every failure mode in the pipeline has an owner. No problem goes unmanaged.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320040" y="1243584"/>
            <a:ext cx="8503920" cy="0"/>
          </a:xfrm>
          <a:prstGeom prst="line">
            <a:avLst/>
          </a:prstGeom>
          <a:noFill/>
          <a:ln w="8890">
            <a:solidFill>
              <a:srgbClr val="2A2A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274320" y="1335024"/>
            <a:ext cx="2926080" cy="347472"/>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365760" y="1335024"/>
            <a:ext cx="278892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00000"/>
                </a:solidFill>
                <a:effectLst/>
                <a:uLnTx/>
                <a:uFillTx/>
                <a:latin typeface="Calibri" panose="020F0502020204030204"/>
                <a:ea typeface="+mn-ea"/>
                <a:cs typeface="+mn-cs"/>
              </a:rPr>
              <a:t>Potential Problem</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291840" y="1335024"/>
            <a:ext cx="2377440" cy="347472"/>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3383280" y="1335024"/>
            <a:ext cx="224028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00000"/>
                </a:solidFill>
                <a:effectLst/>
                <a:uLnTx/>
                <a:uFillTx/>
                <a:latin typeface="Calibri" panose="020F0502020204030204"/>
                <a:ea typeface="+mn-ea"/>
                <a:cs typeface="+mn-cs"/>
              </a:rPr>
              <a:t>Problem-Solver Agent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760720" y="1335024"/>
            <a:ext cx="3108960" cy="347472"/>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5852160" y="1335024"/>
            <a:ext cx="29718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00000"/>
                </a:solidFill>
                <a:effectLst/>
                <a:uLnTx/>
                <a:uFillTx/>
                <a:latin typeface="Calibri" panose="020F0502020204030204"/>
                <a:ea typeface="+mn-ea"/>
                <a:cs typeface="+mn-cs"/>
              </a:rPr>
              <a:t>Tools / Techniques Used</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274320" y="1682496"/>
            <a:ext cx="2926080" cy="420624"/>
          </a:xfrm>
          <a:prstGeom prst="rect">
            <a:avLst/>
          </a:prstGeom>
          <a:solidFill>
            <a:srgbClr val="1A1A1A"/>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3291840" y="1682496"/>
            <a:ext cx="2377440" cy="420624"/>
          </a:xfrm>
          <a:prstGeom prst="rect">
            <a:avLst/>
          </a:prstGeom>
          <a:solidFill>
            <a:srgbClr val="1A1A1A"/>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5760720" y="1682496"/>
            <a:ext cx="3108960" cy="420624"/>
          </a:xfrm>
          <a:prstGeom prst="rect">
            <a:avLst/>
          </a:prstGeom>
          <a:solidFill>
            <a:srgbClr val="1A1A1A"/>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274320" y="1682496"/>
            <a:ext cx="45720" cy="420624"/>
          </a:xfrm>
          <a:prstGeom prst="rect">
            <a:avLst/>
          </a:prstGeom>
          <a:solidFill>
            <a:srgbClr val="00C9A7"/>
          </a:solidFill>
          <a:ln w="12700">
            <a:solidFill>
              <a:srgbClr val="00C9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384048" y="1719072"/>
            <a:ext cx="283464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Calibri" panose="020F0502020204030204"/>
                <a:ea typeface="+mn-ea"/>
                <a:cs typeface="+mn-cs"/>
              </a:rPr>
              <a:t>Ambiguous natural language — 'revenue' maps to 4 tables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3291840" y="1764792"/>
            <a:ext cx="2304288" cy="256032"/>
          </a:xfrm>
          <a:prstGeom prst="rect">
            <a:avLst/>
          </a:prstGeom>
          <a:solidFill>
            <a:srgbClr val="00C9A7"/>
          </a:solidFill>
          <a:ln w="12700">
            <a:solidFill>
              <a:srgbClr val="00C9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3337560" y="1764792"/>
            <a:ext cx="2240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Calibri" panose="020F0502020204030204"/>
                <a:ea typeface="+mn-ea"/>
                <a:cs typeface="+mn-cs"/>
              </a:rPr>
              <a:t>01 Semantic Context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5806440" y="1719072"/>
            <a:ext cx="29718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BBBBBB"/>
                </a:solidFill>
                <a:effectLst/>
                <a:uLnTx/>
                <a:uFillTx/>
                <a:latin typeface="Calibri" panose="020F0502020204030204"/>
                <a:ea typeface="+mn-ea"/>
                <a:cs typeface="+mn-cs"/>
              </a:rPr>
              <a:t>HierarchicalRetriever, intent framing, DialectRuleRetriever</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274320" y="2103120"/>
            <a:ext cx="2926080" cy="420624"/>
          </a:xfrm>
          <a:prstGeom prst="rect">
            <a:avLst/>
          </a:prstGeom>
          <a:solidFill>
            <a:srgbClr val="222222"/>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3291840" y="2103120"/>
            <a:ext cx="2377440" cy="420624"/>
          </a:xfrm>
          <a:prstGeom prst="rect">
            <a:avLst/>
          </a:prstGeom>
          <a:solidFill>
            <a:srgbClr val="222222"/>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5760720" y="2103120"/>
            <a:ext cx="3108960" cy="420624"/>
          </a:xfrm>
          <a:prstGeom prst="rect">
            <a:avLst/>
          </a:prstGeom>
          <a:solidFill>
            <a:srgbClr val="222222"/>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274320" y="2103120"/>
            <a:ext cx="45720" cy="420624"/>
          </a:xfrm>
          <a:prstGeom prst="rect">
            <a:avLst/>
          </a:prstGeom>
          <a:solidFill>
            <a:srgbClr val="4A9EFF"/>
          </a:solidFill>
          <a:ln w="12700">
            <a:solidFill>
              <a:srgbClr val="4A9E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384048" y="2139696"/>
            <a:ext cx="283464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Calibri" panose="020F0502020204030204"/>
                <a:ea typeface="+mn-ea"/>
                <a:cs typeface="+mn-cs"/>
              </a:rPr>
              <a:t>Wrong table/column selected from 800+ schema objects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3291840" y="2185416"/>
            <a:ext cx="2304288" cy="256032"/>
          </a:xfrm>
          <a:prstGeom prst="rect">
            <a:avLst/>
          </a:prstGeom>
          <a:solidFill>
            <a:srgbClr val="4A9EFF"/>
          </a:solidFill>
          <a:ln w="12700">
            <a:solidFill>
              <a:srgbClr val="4A9E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3337560" y="2185416"/>
            <a:ext cx="2240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Calibri" panose="020F0502020204030204"/>
                <a:ea typeface="+mn-ea"/>
                <a:cs typeface="+mn-cs"/>
              </a:rPr>
              <a:t>02 Schema Linker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5806440" y="2139696"/>
            <a:ext cx="29718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BBBBBB"/>
                </a:solidFill>
                <a:effectLst/>
                <a:uLnTx/>
                <a:uFillTx/>
                <a:latin typeface="Calibri" panose="020F0502020204030204"/>
                <a:ea typeface="+mn-ea"/>
                <a:cs typeface="+mn-cs"/>
              </a:rPr>
              <a:t>Hybrid embedding search, Value Prober, Disambiguator, schema pruning</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274320" y="2523744"/>
            <a:ext cx="2926080" cy="420624"/>
          </a:xfrm>
          <a:prstGeom prst="rect">
            <a:avLst/>
          </a:prstGeom>
          <a:solidFill>
            <a:srgbClr val="1A1A1A"/>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3291840" y="2523744"/>
            <a:ext cx="2377440" cy="420624"/>
          </a:xfrm>
          <a:prstGeom prst="rect">
            <a:avLst/>
          </a:prstGeom>
          <a:solidFill>
            <a:srgbClr val="1A1A1A"/>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5760720" y="2523744"/>
            <a:ext cx="3108960" cy="420624"/>
          </a:xfrm>
          <a:prstGeom prst="rect">
            <a:avLst/>
          </a:prstGeom>
          <a:solidFill>
            <a:srgbClr val="1A1A1A"/>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p:cNvSpPr/>
          <p:nvPr/>
        </p:nvSpPr>
        <p:spPr>
          <a:xfrm>
            <a:off x="274320" y="2523744"/>
            <a:ext cx="45720" cy="420624"/>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384048" y="2560320"/>
            <a:ext cx="283464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Calibri" panose="020F0502020204030204"/>
                <a:ea typeface="+mn-ea"/>
                <a:cs typeface="+mn-cs"/>
              </a:rPr>
              <a:t>SQL dialect errors — bad FQN, wrong FLATTEN/VARIANT usage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3291840" y="2606040"/>
            <a:ext cx="2304288" cy="256032"/>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3337560" y="2606040"/>
            <a:ext cx="2240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Calibri" panose="020F0502020204030204"/>
                <a:ea typeface="+mn-ea"/>
                <a:cs typeface="+mn-cs"/>
              </a:rPr>
              <a:t>03 SQL Generator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5806440" y="2560320"/>
            <a:ext cx="29718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BBBBBB"/>
                </a:solidFill>
                <a:effectLst/>
                <a:uLnTx/>
                <a:uFillTx/>
                <a:latin typeface="Calibri" panose="020F0502020204030204"/>
                <a:ea typeface="+mn-ea"/>
                <a:cs typeface="+mn-cs"/>
              </a:rPr>
              <a:t>Snowflake dialect rules, AdaptiveSQLGenerator, WebKnowledgeService</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274320" y="2944368"/>
            <a:ext cx="2926080" cy="420624"/>
          </a:xfrm>
          <a:prstGeom prst="rect">
            <a:avLst/>
          </a:prstGeom>
          <a:solidFill>
            <a:srgbClr val="222222"/>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p:cNvSpPr/>
          <p:nvPr/>
        </p:nvSpPr>
        <p:spPr>
          <a:xfrm>
            <a:off x="3291840" y="2944368"/>
            <a:ext cx="2377440" cy="420624"/>
          </a:xfrm>
          <a:prstGeom prst="rect">
            <a:avLst/>
          </a:prstGeom>
          <a:solidFill>
            <a:srgbClr val="222222"/>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p:cNvSpPr/>
          <p:nvPr/>
        </p:nvSpPr>
        <p:spPr>
          <a:xfrm>
            <a:off x="5760720" y="2944368"/>
            <a:ext cx="3108960" cy="420624"/>
          </a:xfrm>
          <a:prstGeom prst="rect">
            <a:avLst/>
          </a:prstGeom>
          <a:solidFill>
            <a:srgbClr val="222222"/>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p:cNvSpPr/>
          <p:nvPr/>
        </p:nvSpPr>
        <p:spPr>
          <a:xfrm>
            <a:off x="274320" y="2944368"/>
            <a:ext cx="45720" cy="420624"/>
          </a:xfrm>
          <a:prstGeom prst="rect">
            <a:avLst/>
          </a:prstGeom>
          <a:solidFill>
            <a:srgbClr val="E84040"/>
          </a:solidFill>
          <a:ln w="12700">
            <a:solidFill>
              <a:srgbClr val="E840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p:nvPr/>
        </p:nvSpPr>
        <p:spPr>
          <a:xfrm>
            <a:off x="384048" y="2980944"/>
            <a:ext cx="283464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Calibri" panose="020F0502020204030204"/>
                <a:ea typeface="+mn-ea"/>
                <a:cs typeface="+mn-cs"/>
              </a:rPr>
              <a:t>Draft SQL has logical flaws before it even runs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3291840" y="3026664"/>
            <a:ext cx="2304288" cy="256032"/>
          </a:xfrm>
          <a:prstGeom prst="rect">
            <a:avLst/>
          </a:prstGeom>
          <a:solidFill>
            <a:srgbClr val="E84040"/>
          </a:solidFill>
          <a:ln w="12700">
            <a:solidFill>
              <a:srgbClr val="E840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1"/>
          <p:cNvSpPr/>
          <p:nvPr/>
        </p:nvSpPr>
        <p:spPr>
          <a:xfrm>
            <a:off x="3337560" y="3026664"/>
            <a:ext cx="2240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Calibri" panose="020F0502020204030204"/>
                <a:ea typeface="+mn-ea"/>
                <a:cs typeface="+mn-cs"/>
              </a:rPr>
              <a:t>03b SQLCritic</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p:nvPr/>
        </p:nvSpPr>
        <p:spPr>
          <a:xfrm>
            <a:off x="5806440" y="2980944"/>
            <a:ext cx="29718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BBBBBB"/>
                </a:solidFill>
                <a:effectLst/>
                <a:uLnTx/>
                <a:uFillTx/>
                <a:latin typeface="Calibri" panose="020F0502020204030204"/>
                <a:ea typeface="+mn-ea"/>
                <a:cs typeface="+mn-cs"/>
              </a:rPr>
              <a:t>Adversarial LLM critique, rule-based checks, structured feedback</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3"/>
          <p:cNvSpPr/>
          <p:nvPr/>
        </p:nvSpPr>
        <p:spPr>
          <a:xfrm>
            <a:off x="274320" y="3364992"/>
            <a:ext cx="2926080" cy="420624"/>
          </a:xfrm>
          <a:prstGeom prst="rect">
            <a:avLst/>
          </a:prstGeom>
          <a:solidFill>
            <a:srgbClr val="1A1A1A"/>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p:cNvSpPr/>
          <p:nvPr/>
        </p:nvSpPr>
        <p:spPr>
          <a:xfrm>
            <a:off x="3291840" y="3364992"/>
            <a:ext cx="2377440" cy="420624"/>
          </a:xfrm>
          <a:prstGeom prst="rect">
            <a:avLst/>
          </a:prstGeom>
          <a:solidFill>
            <a:srgbClr val="1A1A1A"/>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p:cNvSpPr/>
          <p:nvPr/>
        </p:nvSpPr>
        <p:spPr>
          <a:xfrm>
            <a:off x="5760720" y="3364992"/>
            <a:ext cx="3108960" cy="420624"/>
          </a:xfrm>
          <a:prstGeom prst="rect">
            <a:avLst/>
          </a:prstGeom>
          <a:solidFill>
            <a:srgbClr val="1A1A1A"/>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p:cNvSpPr/>
          <p:nvPr/>
        </p:nvSpPr>
        <p:spPr>
          <a:xfrm>
            <a:off x="274320" y="3364992"/>
            <a:ext cx="45720" cy="420624"/>
          </a:xfrm>
          <a:prstGeom prst="rect">
            <a:avLst/>
          </a:prstGeom>
          <a:solidFill>
            <a:srgbClr val="9B59B6"/>
          </a:solidFill>
          <a:ln w="12700">
            <a:solidFill>
              <a:srgbClr val="9B5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7"/>
          <p:cNvSpPr/>
          <p:nvPr/>
        </p:nvSpPr>
        <p:spPr>
          <a:xfrm>
            <a:off x="384048" y="3401568"/>
            <a:ext cx="283464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Calibri" panose="020F0502020204030204"/>
                <a:ea typeface="+mn-ea"/>
                <a:cs typeface="+mn-cs"/>
              </a:rPr>
              <a:t>Query fails at runtime — timeout, missing object, syntax error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Shape 48"/>
          <p:cNvSpPr/>
          <p:nvPr/>
        </p:nvSpPr>
        <p:spPr>
          <a:xfrm>
            <a:off x="3291840" y="3447288"/>
            <a:ext cx="2304288" cy="256032"/>
          </a:xfrm>
          <a:prstGeom prst="rect">
            <a:avLst/>
          </a:prstGeom>
          <a:solidFill>
            <a:srgbClr val="9B59B6"/>
          </a:solidFill>
          <a:ln w="12700">
            <a:solidFill>
              <a:srgbClr val="9B5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p:cNvSpPr/>
          <p:nvPr/>
        </p:nvSpPr>
        <p:spPr>
          <a:xfrm>
            <a:off x="3337560" y="3447288"/>
            <a:ext cx="2240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Calibri" panose="020F0502020204030204"/>
                <a:ea typeface="+mn-ea"/>
                <a:cs typeface="+mn-cs"/>
              </a:rPr>
              <a:t>04 Executor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50"/>
          <p:cNvSpPr/>
          <p:nvPr/>
        </p:nvSpPr>
        <p:spPr>
          <a:xfrm>
            <a:off x="5806440" y="3401568"/>
            <a:ext cx="29718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BBBBBB"/>
                </a:solidFill>
                <a:effectLst/>
                <a:uLnTx/>
                <a:uFillTx/>
                <a:latin typeface="Calibri" panose="020F0502020204030204"/>
                <a:ea typeface="+mn-ea"/>
                <a:cs typeface="+mn-cs"/>
              </a:rPr>
              <a:t>ExecutionStabilizer, retry memory, SQL hash dedup, pre-flight verify</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1"/>
          <p:cNvSpPr/>
          <p:nvPr/>
        </p:nvSpPr>
        <p:spPr>
          <a:xfrm>
            <a:off x="274320" y="3785616"/>
            <a:ext cx="2926080" cy="420624"/>
          </a:xfrm>
          <a:prstGeom prst="rect">
            <a:avLst/>
          </a:prstGeom>
          <a:solidFill>
            <a:srgbClr val="222222"/>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p:cNvSpPr/>
          <p:nvPr/>
        </p:nvSpPr>
        <p:spPr>
          <a:xfrm>
            <a:off x="3291840" y="3785616"/>
            <a:ext cx="2377440" cy="420624"/>
          </a:xfrm>
          <a:prstGeom prst="rect">
            <a:avLst/>
          </a:prstGeom>
          <a:solidFill>
            <a:srgbClr val="222222"/>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p:cNvSpPr/>
          <p:nvPr/>
        </p:nvSpPr>
        <p:spPr>
          <a:xfrm>
            <a:off x="5760720" y="3785616"/>
            <a:ext cx="3108960" cy="420624"/>
          </a:xfrm>
          <a:prstGeom prst="rect">
            <a:avLst/>
          </a:prstGeom>
          <a:solidFill>
            <a:srgbClr val="222222"/>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p:cNvSpPr/>
          <p:nvPr/>
        </p:nvSpPr>
        <p:spPr>
          <a:xfrm>
            <a:off x="274320" y="3785616"/>
            <a:ext cx="45720" cy="420624"/>
          </a:xfrm>
          <a:prstGeom prst="rect">
            <a:avLst/>
          </a:prstGeom>
          <a:solidFill>
            <a:srgbClr val="27AE60"/>
          </a:solidFill>
          <a:ln w="12700">
            <a:solidFill>
              <a:srgbClr val="27AE6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Text 55"/>
          <p:cNvSpPr/>
          <p:nvPr/>
        </p:nvSpPr>
        <p:spPr>
          <a:xfrm>
            <a:off x="384048" y="3822192"/>
            <a:ext cx="283464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Calibri" panose="020F0502020204030204"/>
                <a:ea typeface="+mn-ea"/>
                <a:cs typeface="+mn-cs"/>
              </a:rPr>
              <a:t>Result is empty (0 rows) or contains suspicious distribution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6"/>
          <p:cNvSpPr/>
          <p:nvPr/>
        </p:nvSpPr>
        <p:spPr>
          <a:xfrm>
            <a:off x="3291840" y="3867912"/>
            <a:ext cx="2304288" cy="256032"/>
          </a:xfrm>
          <a:prstGeom prst="rect">
            <a:avLst/>
          </a:prstGeom>
          <a:solidFill>
            <a:srgbClr val="27AE60"/>
          </a:solidFill>
          <a:ln w="12700">
            <a:solidFill>
              <a:srgbClr val="27AE6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p:cNvSpPr/>
          <p:nvPr/>
        </p:nvSpPr>
        <p:spPr>
          <a:xfrm>
            <a:off x="3337560" y="3867912"/>
            <a:ext cx="2240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Calibri" panose="020F0502020204030204"/>
                <a:ea typeface="+mn-ea"/>
                <a:cs typeface="+mn-cs"/>
              </a:rPr>
              <a:t>05 Data IQ Auditor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Text 58"/>
          <p:cNvSpPr/>
          <p:nvPr/>
        </p:nvSpPr>
        <p:spPr>
          <a:xfrm>
            <a:off x="5806440" y="3822192"/>
            <a:ext cx="29718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BBBBBB"/>
                </a:solidFill>
                <a:effectLst/>
                <a:uLnTx/>
                <a:uFillTx/>
                <a:latin typeface="Calibri" panose="020F0502020204030204"/>
                <a:ea typeface="+mn-ea"/>
                <a:cs typeface="+mn-cs"/>
              </a:rPr>
              <a:t>ResultValidator, null/cardinality checks, exploration SQL probes</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Shape 59"/>
          <p:cNvSpPr/>
          <p:nvPr/>
        </p:nvSpPr>
        <p:spPr>
          <a:xfrm>
            <a:off x="274320" y="4206240"/>
            <a:ext cx="2926080" cy="420624"/>
          </a:xfrm>
          <a:prstGeom prst="rect">
            <a:avLst/>
          </a:prstGeom>
          <a:solidFill>
            <a:srgbClr val="1A1A1A"/>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p:cNvSpPr/>
          <p:nvPr/>
        </p:nvSpPr>
        <p:spPr>
          <a:xfrm>
            <a:off x="3291840" y="4206240"/>
            <a:ext cx="2377440" cy="420624"/>
          </a:xfrm>
          <a:prstGeom prst="rect">
            <a:avLst/>
          </a:prstGeom>
          <a:solidFill>
            <a:srgbClr val="1A1A1A"/>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Shape 61"/>
          <p:cNvSpPr/>
          <p:nvPr/>
        </p:nvSpPr>
        <p:spPr>
          <a:xfrm>
            <a:off x="5760720" y="4206240"/>
            <a:ext cx="3108960" cy="420624"/>
          </a:xfrm>
          <a:prstGeom prst="rect">
            <a:avLst/>
          </a:prstGeom>
          <a:solidFill>
            <a:srgbClr val="1A1A1A"/>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p:cNvSpPr/>
          <p:nvPr/>
        </p:nvSpPr>
        <p:spPr>
          <a:xfrm>
            <a:off x="274320" y="4206240"/>
            <a:ext cx="45720" cy="420624"/>
          </a:xfrm>
          <a:prstGeom prst="rect">
            <a:avLst/>
          </a:prstGeom>
          <a:solidFill>
            <a:srgbClr val="E84040"/>
          </a:solidFill>
          <a:ln w="12700">
            <a:solidFill>
              <a:srgbClr val="E840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63"/>
          <p:cNvSpPr/>
          <p:nvPr/>
        </p:nvSpPr>
        <p:spPr>
          <a:xfrm>
            <a:off x="384048" y="4242816"/>
            <a:ext cx="283464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Calibri" panose="020F0502020204030204"/>
                <a:ea typeface="+mn-ea"/>
                <a:cs typeface="+mn-cs"/>
              </a:rPr>
              <a:t>Repeated failure — wrong joins, bad filters, aggregation mismatch</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Shape 64"/>
          <p:cNvSpPr/>
          <p:nvPr/>
        </p:nvSpPr>
        <p:spPr>
          <a:xfrm>
            <a:off x="3291840" y="4288536"/>
            <a:ext cx="2304288" cy="256032"/>
          </a:xfrm>
          <a:prstGeom prst="rect">
            <a:avLst/>
          </a:prstGeom>
          <a:solidFill>
            <a:srgbClr val="E84040"/>
          </a:solidFill>
          <a:ln w="12700">
            <a:solidFill>
              <a:srgbClr val="E840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Text 65"/>
          <p:cNvSpPr/>
          <p:nvPr/>
        </p:nvSpPr>
        <p:spPr>
          <a:xfrm>
            <a:off x="3337560" y="4288536"/>
            <a:ext cx="2240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Calibri" panose="020F0502020204030204"/>
                <a:ea typeface="+mn-ea"/>
                <a:cs typeface="+mn-cs"/>
              </a:rPr>
              <a:t>06 Self-Corrector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Text 66"/>
          <p:cNvSpPr/>
          <p:nvPr/>
        </p:nvSpPr>
        <p:spPr>
          <a:xfrm>
            <a:off x="5806440" y="4242816"/>
            <a:ext cx="29718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BBBBBB"/>
                </a:solidFill>
                <a:effectLst/>
                <a:uLnTx/>
                <a:uFillTx/>
                <a:latin typeface="Calibri" panose="020F0502020204030204"/>
                <a:ea typeface="+mn-ea"/>
                <a:cs typeface="+mn-cs"/>
              </a:rPr>
              <a:t>ExecutionCorrector, cross-DB discovery, schema unpruning, SQLManager cache</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Shape 67"/>
          <p:cNvSpPr/>
          <p:nvPr/>
        </p:nvSpPr>
        <p:spPr>
          <a:xfrm>
            <a:off x="274320" y="4626864"/>
            <a:ext cx="2926080" cy="420624"/>
          </a:xfrm>
          <a:prstGeom prst="rect">
            <a:avLst/>
          </a:prstGeom>
          <a:solidFill>
            <a:srgbClr val="222222"/>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8"/>
          <p:cNvSpPr/>
          <p:nvPr/>
        </p:nvSpPr>
        <p:spPr>
          <a:xfrm>
            <a:off x="3291840" y="4626864"/>
            <a:ext cx="2377440" cy="420624"/>
          </a:xfrm>
          <a:prstGeom prst="rect">
            <a:avLst/>
          </a:prstGeom>
          <a:solidFill>
            <a:srgbClr val="222222"/>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69"/>
          <p:cNvSpPr/>
          <p:nvPr/>
        </p:nvSpPr>
        <p:spPr>
          <a:xfrm>
            <a:off x="5760720" y="4626864"/>
            <a:ext cx="3108960" cy="420624"/>
          </a:xfrm>
          <a:prstGeom prst="rect">
            <a:avLst/>
          </a:prstGeom>
          <a:solidFill>
            <a:srgbClr val="222222"/>
          </a:solidFill>
          <a:ln w="5080">
            <a:solidFill>
              <a:srgbClr val="2D2D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p:cNvSpPr/>
          <p:nvPr/>
        </p:nvSpPr>
        <p:spPr>
          <a:xfrm>
            <a:off x="274320" y="4626864"/>
            <a:ext cx="45720" cy="420624"/>
          </a:xfrm>
          <a:prstGeom prst="rect">
            <a:avLst/>
          </a:prstGeom>
          <a:solidFill>
            <a:srgbClr val="888888"/>
          </a:solidFill>
          <a:ln w="12700">
            <a:solidFill>
              <a:srgbClr val="8888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Text 71"/>
          <p:cNvSpPr/>
          <p:nvPr/>
        </p:nvSpPr>
        <p:spPr>
          <a:xfrm>
            <a:off x="384048" y="4663440"/>
            <a:ext cx="283464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FFFFFF"/>
                </a:solidFill>
                <a:effectLst/>
                <a:uLnTx/>
                <a:uFillTx/>
                <a:latin typeface="Calibri" panose="020F0502020204030204"/>
                <a:ea typeface="+mn-ea"/>
                <a:cs typeface="+mn-cs"/>
              </a:rPr>
              <a:t>All retries exhausted — pipeline must still return something</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Shape 72"/>
          <p:cNvSpPr/>
          <p:nvPr/>
        </p:nvSpPr>
        <p:spPr>
          <a:xfrm>
            <a:off x="3291840" y="4709160"/>
            <a:ext cx="2304288" cy="256032"/>
          </a:xfrm>
          <a:prstGeom prst="rect">
            <a:avLst/>
          </a:prstGeom>
          <a:solidFill>
            <a:srgbClr val="888888"/>
          </a:solidFill>
          <a:ln w="12700">
            <a:solidFill>
              <a:srgbClr val="8888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Text 73"/>
          <p:cNvSpPr/>
          <p:nvPr/>
        </p:nvSpPr>
        <p:spPr>
          <a:xfrm>
            <a:off x="3337560" y="4709160"/>
            <a:ext cx="2240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0000"/>
                </a:solidFill>
                <a:effectLst/>
                <a:uLnTx/>
                <a:uFillTx/>
                <a:latin typeface="Calibri" panose="020F0502020204030204"/>
                <a:ea typeface="+mn-ea"/>
                <a:cs typeface="+mn-cs"/>
              </a:rPr>
              <a:t>SQLManager Cache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6" name="Text 74"/>
          <p:cNvSpPr/>
          <p:nvPr/>
        </p:nvSpPr>
        <p:spPr>
          <a:xfrm>
            <a:off x="5806440" y="4663440"/>
            <a:ext cx="29718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BBBBBB"/>
                </a:solidFill>
                <a:effectLst/>
                <a:uLnTx/>
                <a:uFillTx/>
                <a:latin typeface="Calibri" panose="020F0502020204030204"/>
                <a:ea typeface="+mn-ea"/>
                <a:cs typeface="+mn-cs"/>
              </a:rPr>
              <a:t>Cached best SQL fallback, telemetry logging, gold-result evaluation</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7" name="Text 75"/>
          <p:cNvSpPr/>
          <p:nvPr/>
        </p:nvSpPr>
        <p:spPr>
          <a:xfrm>
            <a:off x="411480" y="4901184"/>
            <a:ext cx="6400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SpiderDIN  ·  Architecture Walkthrough</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8" name="Text 76"/>
          <p:cNvSpPr/>
          <p:nvPr/>
        </p:nvSpPr>
        <p:spPr>
          <a:xfrm>
            <a:off x="7132320" y="4901184"/>
            <a:ext cx="192024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current repository snapshot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9" name="Picture 78">
            <a:extLst>
              <a:ext uri="{FF2B5EF4-FFF2-40B4-BE49-F238E27FC236}">
                <a16:creationId xmlns:a16="http://schemas.microsoft.com/office/drawing/2014/main" id="{E2760BC3-0187-122B-B979-2FF052842CB8}"/>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4389120" y="91440"/>
            <a:ext cx="4572000" cy="4572000"/>
          </a:xfrm>
          <a:prstGeom prst="ellipse">
            <a:avLst/>
          </a:prstGeom>
          <a:solidFill>
            <a:srgbClr val="F5A623">
              <a:alpha val="8000"/>
            </a:srgbClr>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201168"/>
            <a:ext cx="1773022" cy="192024"/>
          </a:xfrm>
          <a:prstGeom prst="rect">
            <a:avLst/>
          </a:prstGeom>
          <a:solidFill>
            <a:srgbClr val="00C9A7"/>
          </a:solidFill>
          <a:ln w="12700">
            <a:solidFill>
              <a:srgbClr val="00C9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201168"/>
            <a:ext cx="1773022" cy="1920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80" b="1" i="0" u="none" strike="noStrike" kern="1200" cap="none" spc="0" normalizeH="0" baseline="0" noProof="0" dirty="0">
                <a:ln>
                  <a:noFill/>
                </a:ln>
                <a:solidFill>
                  <a:srgbClr val="000000"/>
                </a:solidFill>
                <a:effectLst/>
                <a:uLnTx/>
                <a:uFillTx/>
                <a:latin typeface="Calibri" panose="020F0502020204030204"/>
                <a:ea typeface="+mn-ea"/>
                <a:cs typeface="+mn-cs"/>
              </a:rPr>
              <a:t>ARCHITECTURE PATTERNS</a:t>
            </a:r>
            <a:endParaRPr kumimoji="0" lang="en-US" sz="6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320040" y="502920"/>
            <a:ext cx="54864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High-End Architectures for</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20040" y="932688"/>
            <a:ext cx="82296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5A623"/>
                </a:solidFill>
                <a:effectLst/>
                <a:uLnTx/>
                <a:uFillTx/>
                <a:latin typeface="Arial Black" pitchFamily="34" charset="0"/>
                <a:ea typeface="Arial Black" pitchFamily="34" charset="-122"/>
                <a:cs typeface="Arial Black" pitchFamily="34" charset="-120"/>
              </a:rPr>
              <a:t>Different Purposes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20040" y="1371600"/>
            <a:ext cx="85039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BBBBBB"/>
                </a:solidFill>
                <a:effectLst/>
                <a:uLnTx/>
                <a:uFillTx/>
                <a:latin typeface="Calibri" panose="020F0502020204030204"/>
                <a:ea typeface="+mn-ea"/>
                <a:cs typeface="+mn-cs"/>
              </a:rPr>
              <a:t>One pipeline architecture doesn't rule them all. Here's what elite Text2SQL systems look like at scale.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20040" y="1719072"/>
            <a:ext cx="8503920" cy="0"/>
          </a:xfrm>
          <a:prstGeom prst="line">
            <a:avLst/>
          </a:prstGeom>
          <a:noFill/>
          <a:ln w="8890">
            <a:solidFill>
              <a:srgbClr val="2A2A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274320" y="1847088"/>
            <a:ext cx="2697480" cy="1627632"/>
          </a:xfrm>
          <a:prstGeom prst="rect">
            <a:avLst/>
          </a:prstGeom>
          <a:solidFill>
            <a:srgbClr val="222222"/>
          </a:solidFill>
          <a:ln w="7620">
            <a:solidFill>
              <a:srgbClr val="00C9A7"/>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274320" y="1847088"/>
            <a:ext cx="2697480" cy="45720"/>
          </a:xfrm>
          <a:prstGeom prst="rect">
            <a:avLst/>
          </a:prstGeom>
          <a:solidFill>
            <a:srgbClr val="00C9A7"/>
          </a:solidFill>
          <a:ln w="12700">
            <a:solidFill>
              <a:srgbClr val="00C9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411480" y="1920240"/>
            <a:ext cx="24688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RAG-Augmented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Pipeline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411480" y="2423160"/>
            <a:ext cx="246888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anose="020F0502020204030204"/>
                <a:ea typeface="+mn-ea"/>
                <a:cs typeface="+mn-cs"/>
              </a:rPr>
              <a:t>Schema docs, past queries &amp; business rules stored in vector DB. Retrieved at runtime for richer context.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11480" y="3127248"/>
            <a:ext cx="24688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00C9A7"/>
                </a:solidFill>
                <a:effectLst/>
                <a:uLnTx/>
                <a:uFillTx/>
                <a:latin typeface="Calibri" panose="020F0502020204030204"/>
                <a:ea typeface="+mn-ea"/>
                <a:cs typeface="+mn-cs"/>
              </a:rPr>
              <a:t>Vector DB · Hybrid Search · FAISS / Pinecone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154680" y="1847088"/>
            <a:ext cx="2697480" cy="1627632"/>
          </a:xfrm>
          <a:prstGeom prst="rect">
            <a:avLst/>
          </a:prstGeom>
          <a:solidFill>
            <a:srgbClr val="222222"/>
          </a:solidFill>
          <a:ln w="7620">
            <a:solidFill>
              <a:srgbClr val="4A9EFF"/>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3154680" y="1847088"/>
            <a:ext cx="2697480" cy="45720"/>
          </a:xfrm>
          <a:prstGeom prst="rect">
            <a:avLst/>
          </a:prstGeom>
          <a:solidFill>
            <a:srgbClr val="4A9EFF"/>
          </a:solidFill>
          <a:ln w="12700">
            <a:solidFill>
              <a:srgbClr val="4A9E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3291840" y="1920240"/>
            <a:ext cx="24688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Agentic</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Orchestration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3291840" y="2423160"/>
            <a:ext cx="246888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anose="020F0502020204030204"/>
                <a:ea typeface="+mn-ea"/>
                <a:cs typeface="+mn-cs"/>
              </a:rPr>
              <a:t>Multiple specialised agents co-ordinated by a meta-orchestrator. Each owns exactly one decision.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291840" y="3127248"/>
            <a:ext cx="24688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4A9EFF"/>
                </a:solidFill>
                <a:effectLst/>
                <a:uLnTx/>
                <a:uFillTx/>
                <a:latin typeface="Calibri" panose="020F0502020204030204"/>
                <a:ea typeface="+mn-ea"/>
                <a:cs typeface="+mn-cs"/>
              </a:rPr>
              <a:t>LangGraph · Tool Use · Memory State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035040" y="1847088"/>
            <a:ext cx="2697480" cy="1627632"/>
          </a:xfrm>
          <a:prstGeom prst="rect">
            <a:avLst/>
          </a:prstGeom>
          <a:solidFill>
            <a:srgbClr val="222222"/>
          </a:solidFill>
          <a:ln w="7620">
            <a:solidFill>
              <a:srgbClr val="F5A623"/>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6035040" y="1847088"/>
            <a:ext cx="2697480" cy="45720"/>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6172200" y="1920240"/>
            <a:ext cx="24688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Multi-Model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Ensemble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6172200" y="2423160"/>
            <a:ext cx="246888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anose="020F0502020204030204"/>
                <a:ea typeface="+mn-ea"/>
                <a:cs typeface="+mn-cs"/>
              </a:rPr>
              <a:t>Different LLMs for different tasks — small/fast for schema linking, large for complex SQL generation.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6172200" y="3127248"/>
            <a:ext cx="24688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F5A623"/>
                </a:solidFill>
                <a:effectLst/>
                <a:uLnTx/>
                <a:uFillTx/>
                <a:latin typeface="Calibri" panose="020F0502020204030204"/>
                <a:ea typeface="+mn-ea"/>
                <a:cs typeface="+mn-cs"/>
              </a:rPr>
              <a:t>Model Router · Cost-Aware · Latency SLA</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274320" y="3547872"/>
            <a:ext cx="2697480" cy="1389888"/>
          </a:xfrm>
          <a:prstGeom prst="rect">
            <a:avLst/>
          </a:prstGeom>
          <a:solidFill>
            <a:srgbClr val="222222"/>
          </a:solidFill>
          <a:ln w="7620">
            <a:solidFill>
              <a:srgbClr val="9B59B6"/>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274320" y="3547872"/>
            <a:ext cx="2697480" cy="45720"/>
          </a:xfrm>
          <a:prstGeom prst="rect">
            <a:avLst/>
          </a:prstGeom>
          <a:solidFill>
            <a:srgbClr val="9B59B6"/>
          </a:solidFill>
          <a:ln w="12700">
            <a:solidFill>
              <a:srgbClr val="9B5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411480" y="3611880"/>
            <a:ext cx="246888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Streaming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Execution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411480" y="4041648"/>
            <a:ext cx="246888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anose="020F0502020204030204"/>
                <a:ea typeface="+mn-ea"/>
                <a:cs typeface="+mn-cs"/>
              </a:rPr>
              <a:t>Partial results streamed to the client while SQL is still running. UX wins big.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411480" y="4645152"/>
            <a:ext cx="24688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9B59B6"/>
                </a:solidFill>
                <a:effectLst/>
                <a:uLnTx/>
                <a:uFillTx/>
                <a:latin typeface="Calibri" panose="020F0502020204030204"/>
                <a:ea typeface="+mn-ea"/>
                <a:cs typeface="+mn-cs"/>
              </a:rPr>
              <a:t>WebSocket · Async Execution · Progress Events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3154680" y="3547872"/>
            <a:ext cx="2697480" cy="1389888"/>
          </a:xfrm>
          <a:prstGeom prst="rect">
            <a:avLst/>
          </a:prstGeom>
          <a:solidFill>
            <a:srgbClr val="222222"/>
          </a:solidFill>
          <a:ln w="7620">
            <a:solidFill>
              <a:srgbClr val="27AE60"/>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3154680" y="3547872"/>
            <a:ext cx="2697480" cy="45720"/>
          </a:xfrm>
          <a:prstGeom prst="rect">
            <a:avLst/>
          </a:prstGeom>
          <a:solidFill>
            <a:srgbClr val="27AE60"/>
          </a:solidFill>
          <a:ln w="12700">
            <a:solidFill>
              <a:srgbClr val="27AE6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3291840" y="3611880"/>
            <a:ext cx="246888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Federated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Query Engine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3291840" y="4041648"/>
            <a:ext cx="246888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anose="020F0502020204030204"/>
                <a:ea typeface="+mn-ea"/>
                <a:cs typeface="+mn-cs"/>
              </a:rPr>
              <a:t>Query spans multiple databases, warehouses &amp; catalogs in a single plan.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3291840" y="4645152"/>
            <a:ext cx="24688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27AE60"/>
                </a:solidFill>
                <a:effectLst/>
                <a:uLnTx/>
                <a:uFillTx/>
                <a:latin typeface="Calibri" panose="020F0502020204030204"/>
                <a:ea typeface="+mn-ea"/>
                <a:cs typeface="+mn-cs"/>
              </a:rPr>
              <a:t>Cross-DB Discovery · Schema Registry · Query Federation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6035040" y="3547872"/>
            <a:ext cx="2697480" cy="1389888"/>
          </a:xfrm>
          <a:prstGeom prst="rect">
            <a:avLst/>
          </a:prstGeom>
          <a:solidFill>
            <a:srgbClr val="222222"/>
          </a:solidFill>
          <a:ln w="7620">
            <a:solidFill>
              <a:srgbClr val="E84040"/>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p:cNvSpPr/>
          <p:nvPr/>
        </p:nvSpPr>
        <p:spPr>
          <a:xfrm>
            <a:off x="6035040" y="3547872"/>
            <a:ext cx="2697480" cy="45720"/>
          </a:xfrm>
          <a:prstGeom prst="rect">
            <a:avLst/>
          </a:prstGeom>
          <a:solidFill>
            <a:srgbClr val="E84040"/>
          </a:solidFill>
          <a:ln w="12700">
            <a:solidFill>
              <a:srgbClr val="E840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6172200" y="3611880"/>
            <a:ext cx="246888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Self-Learning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Feedback Loop</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6172200" y="4041648"/>
            <a:ext cx="246888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anose="020F0502020204030204"/>
                <a:ea typeface="+mn-ea"/>
                <a:cs typeface="+mn-cs"/>
              </a:rPr>
              <a:t>Correct SQL pairs are promoted to reference cache. The system gets smarter every run.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6172200" y="4645152"/>
            <a:ext cx="24688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E84040"/>
                </a:solidFill>
                <a:effectLst/>
                <a:uLnTx/>
                <a:uFillTx/>
                <a:latin typeface="Calibri" panose="020F0502020204030204"/>
                <a:ea typeface="+mn-ea"/>
                <a:cs typeface="+mn-cs"/>
              </a:rPr>
              <a:t>Few-Shot Cache · RLHF Signal · Gold Evaluation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411480" y="4901184"/>
            <a:ext cx="6400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SpiderDIN  ·  Architecture Walkthrough</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7132320" y="4901184"/>
            <a:ext cx="192024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current repository snapshot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1" name="Picture 40">
            <a:extLst>
              <a:ext uri="{FF2B5EF4-FFF2-40B4-BE49-F238E27FC236}">
                <a16:creationId xmlns:a16="http://schemas.microsoft.com/office/drawing/2014/main" id="{CF34E6BA-20F3-B9BB-79D5-7C266D088161}"/>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479253" y="2999232"/>
            <a:ext cx="1788459" cy="2144268"/>
          </a:xfrm>
          <a:prstGeom prst="ellipse">
            <a:avLst/>
          </a:prstGeom>
          <a:solidFill>
            <a:srgbClr val="00C9A7">
              <a:alpha val="6000"/>
            </a:srgbClr>
          </a:solidFill>
          <a:ln w="12700">
            <a:solidFill>
              <a:srgbClr val="00C9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7010465" y="3150109"/>
            <a:ext cx="2014663" cy="1928281"/>
          </a:xfrm>
          <a:prstGeom prst="ellipse">
            <a:avLst/>
          </a:prstGeom>
          <a:solidFill>
            <a:srgbClr val="9B59B6">
              <a:alpha val="8000"/>
            </a:srgbClr>
          </a:solidFill>
          <a:ln w="12700">
            <a:solidFill>
              <a:srgbClr val="9B5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t>
            </a:r>
          </a:p>
        </p:txBody>
      </p:sp>
      <p:sp>
        <p:nvSpPr>
          <p:cNvPr id="4" name="Shape 2"/>
          <p:cNvSpPr/>
          <p:nvPr/>
        </p:nvSpPr>
        <p:spPr>
          <a:xfrm>
            <a:off x="320040" y="201168"/>
            <a:ext cx="1195121" cy="192024"/>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320040" y="201168"/>
            <a:ext cx="1195121" cy="1920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80" b="1" i="0" u="none" strike="noStrike" kern="1200" cap="none" spc="0" normalizeH="0" baseline="0" noProof="0" dirty="0">
                <a:ln>
                  <a:noFill/>
                </a:ln>
                <a:solidFill>
                  <a:srgbClr val="000000"/>
                </a:solidFill>
                <a:effectLst/>
                <a:uLnTx/>
                <a:uFillTx/>
                <a:latin typeface="Calibri" panose="020F0502020204030204"/>
                <a:ea typeface="+mn-ea"/>
                <a:cs typeface="+mn-cs"/>
              </a:rPr>
              <a:t>FUTURE VISION</a:t>
            </a:r>
            <a:endParaRPr kumimoji="0" lang="en-US" sz="6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320040" y="502920"/>
            <a:ext cx="85039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Multi-Pipeline Text2SQL</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20040" y="1005840"/>
            <a:ext cx="85039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F5A623"/>
                </a:solidFill>
                <a:effectLst/>
                <a:uLnTx/>
                <a:uFillTx/>
                <a:latin typeface="Calibri" panose="020F0502020204030204"/>
                <a:ea typeface="+mn-ea"/>
                <a:cs typeface="+mn-cs"/>
              </a:rPr>
              <a:t>Robust by design — because different queries need different architectures.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20040" y="1371600"/>
            <a:ext cx="8503920" cy="0"/>
          </a:xfrm>
          <a:prstGeom prst="line">
            <a:avLst/>
          </a:prstGeom>
          <a:noFill/>
          <a:ln w="8890">
            <a:solidFill>
              <a:srgbClr val="2A2A2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320040" y="1444752"/>
            <a:ext cx="850392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BBBBB"/>
                </a:solidFill>
                <a:effectLst/>
                <a:uLnTx/>
                <a:uFillTx/>
                <a:latin typeface="Calibri" panose="020F0502020204030204"/>
                <a:ea typeface="+mn-ea"/>
                <a:cs typeface="+mn-cs"/>
              </a:rPr>
              <a:t>No single pipeline wins every query. A futuristic Text2SQL system routes each request to the architecture best suited for its complexity, client requirements &amp; latency budget.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3520440" y="2103120"/>
            <a:ext cx="2194560" cy="640080"/>
          </a:xfrm>
          <a:prstGeom prst="rect">
            <a:avLst/>
          </a:prstGeom>
          <a:solidFill>
            <a:srgbClr val="F5A623"/>
          </a:solidFill>
          <a:ln w="7620">
            <a:solidFill>
              <a:srgbClr val="F5A623"/>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3520440" y="2103120"/>
            <a:ext cx="219456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anose="020F0502020204030204"/>
                <a:ea typeface="+mn-ea"/>
                <a:cs typeface="+mn-cs"/>
              </a:rPr>
              <a:t>Query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anose="020F0502020204030204"/>
                <a:ea typeface="+mn-ea"/>
                <a:cs typeface="+mn-cs"/>
              </a:rPr>
              <a:t>Router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2377440" y="2377440"/>
            <a:ext cx="1097280" cy="54864"/>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822960" y="2286000"/>
            <a:ext cx="14630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5A623"/>
                </a:solidFill>
                <a:effectLst/>
                <a:uLnTx/>
                <a:uFillTx/>
                <a:latin typeface="Calibri" panose="020F0502020204030204"/>
                <a:ea typeface="+mn-ea"/>
                <a:cs typeface="+mn-cs"/>
              </a:rPr>
              <a:t>User Query &gt;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617720" y="2743200"/>
            <a:ext cx="3337560" cy="256032"/>
          </a:xfrm>
          <a:prstGeom prst="line">
            <a:avLst/>
          </a:prstGeom>
          <a:noFill/>
          <a:ln w="12700">
            <a:solidFill>
              <a:srgbClr val="00C9A7"/>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228925" y="3246120"/>
            <a:ext cx="2103120" cy="1389888"/>
          </a:xfrm>
          <a:prstGeom prst="rect">
            <a:avLst/>
          </a:prstGeom>
          <a:solidFill>
            <a:srgbClr val="222222"/>
          </a:solidFill>
          <a:ln w="7620">
            <a:solidFill>
              <a:srgbClr val="00C9A7"/>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230092" y="3246120"/>
            <a:ext cx="2103120" cy="45720"/>
          </a:xfrm>
          <a:prstGeom prst="rect">
            <a:avLst/>
          </a:prstGeom>
          <a:solidFill>
            <a:srgbClr val="00C9A7"/>
          </a:solidFill>
          <a:ln w="12700">
            <a:solidFill>
              <a:srgbClr val="00C9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365760" y="3310128"/>
            <a:ext cx="192024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Fast Lane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(simple lookups)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65760" y="3822192"/>
            <a:ext cx="19202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anose="020F0502020204030204"/>
                <a:ea typeface="+mn-ea"/>
                <a:cs typeface="+mn-cs"/>
              </a:rPr>
              <a:t>Single-agent, 1-shot SQL.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anose="020F0502020204030204"/>
                <a:ea typeface="+mn-ea"/>
                <a:cs typeface="+mn-cs"/>
              </a:rPr>
              <a:t>Sub-second latency.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365760" y="4370832"/>
            <a:ext cx="19202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00C9A7"/>
                </a:solidFill>
                <a:effectLst/>
                <a:uLnTx/>
                <a:uFillTx/>
                <a:latin typeface="Calibri" panose="020F0502020204030204"/>
                <a:ea typeface="+mn-ea"/>
                <a:cs typeface="+mn-cs"/>
              </a:rPr>
              <a:t>-&gt; Trusted SQL</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4617720" y="2743200"/>
            <a:ext cx="1051560" cy="256032"/>
          </a:xfrm>
          <a:prstGeom prst="line">
            <a:avLst/>
          </a:prstGeom>
          <a:noFill/>
          <a:ln w="12700">
            <a:solidFill>
              <a:srgbClr val="4A9E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2490152" y="3246120"/>
            <a:ext cx="2103120" cy="1389888"/>
          </a:xfrm>
          <a:prstGeom prst="rect">
            <a:avLst/>
          </a:prstGeom>
          <a:solidFill>
            <a:srgbClr val="222222"/>
          </a:solidFill>
          <a:ln w="7620">
            <a:solidFill>
              <a:srgbClr val="4A9EFF"/>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2496637" y="3246120"/>
            <a:ext cx="2103120" cy="45720"/>
          </a:xfrm>
          <a:prstGeom prst="rect">
            <a:avLst/>
          </a:prstGeom>
          <a:solidFill>
            <a:srgbClr val="4A9EFF"/>
          </a:solidFill>
          <a:ln w="12700">
            <a:solidFill>
              <a:srgbClr val="4A9E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2651760" y="3310128"/>
            <a:ext cx="192024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Standard Pipeline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(current SpiderDIN)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2651760" y="3822192"/>
            <a:ext cx="19202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anose="020F0502020204030204"/>
                <a:ea typeface="+mn-ea"/>
                <a:cs typeface="+mn-cs"/>
              </a:rPr>
              <a:t>Full 6-agent review board.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anose="020F0502020204030204"/>
                <a:ea typeface="+mn-ea"/>
                <a:cs typeface="+mn-cs"/>
              </a:rPr>
              <a:t>Balanced accuracy/speed.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2651760" y="4370832"/>
            <a:ext cx="19202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4A9EFF"/>
                </a:solidFill>
                <a:effectLst/>
                <a:uLnTx/>
                <a:uFillTx/>
                <a:latin typeface="Calibri" panose="020F0502020204030204"/>
                <a:ea typeface="+mn-ea"/>
                <a:cs typeface="+mn-cs"/>
              </a:rPr>
              <a:t>-&gt; Trusted SQL</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4617720" y="2743200"/>
            <a:ext cx="1234440" cy="256032"/>
          </a:xfrm>
          <a:prstGeom prst="line">
            <a:avLst/>
          </a:prstGeom>
          <a:noFill/>
          <a:ln w="12700">
            <a:solidFill>
              <a:srgbClr val="F5A623"/>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p:cNvSpPr/>
          <p:nvPr/>
        </p:nvSpPr>
        <p:spPr>
          <a:xfrm>
            <a:off x="4776152" y="3246120"/>
            <a:ext cx="2103120" cy="1389888"/>
          </a:xfrm>
          <a:prstGeom prst="rect">
            <a:avLst/>
          </a:prstGeom>
          <a:solidFill>
            <a:srgbClr val="222222"/>
          </a:solidFill>
          <a:ln w="7620">
            <a:solidFill>
              <a:srgbClr val="F5A623"/>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p:cNvSpPr/>
          <p:nvPr/>
        </p:nvSpPr>
        <p:spPr>
          <a:xfrm>
            <a:off x="4782637" y="3246120"/>
            <a:ext cx="2103120" cy="45720"/>
          </a:xfrm>
          <a:prstGeom prst="rect">
            <a:avLst/>
          </a:prstGeom>
          <a:solidFill>
            <a:srgbClr val="F5A623"/>
          </a:solidFill>
          <a:ln w="12700">
            <a:solidFill>
              <a:srgbClr val="F5A62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4937760" y="3310128"/>
            <a:ext cx="192024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Deep Reasoning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(complex analytics)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4937760" y="3822192"/>
            <a:ext cx="19202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anose="020F0502020204030204"/>
                <a:ea typeface="+mn-ea"/>
                <a:cs typeface="+mn-cs"/>
              </a:rPr>
              <a:t>Multi-model ensemble +</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anose="020F0502020204030204"/>
                <a:ea typeface="+mn-ea"/>
                <a:cs typeface="+mn-cs"/>
              </a:rPr>
              <a:t>RAG + critique chains.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4937760" y="4370832"/>
            <a:ext cx="19202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5A623"/>
                </a:solidFill>
                <a:effectLst/>
                <a:uLnTx/>
                <a:uFillTx/>
                <a:latin typeface="Calibri" panose="020F0502020204030204"/>
                <a:ea typeface="+mn-ea"/>
                <a:cs typeface="+mn-cs"/>
              </a:rPr>
              <a:t>-&gt; Trusted SQL</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4617720" y="2743200"/>
            <a:ext cx="3520440" cy="256032"/>
          </a:xfrm>
          <a:prstGeom prst="line">
            <a:avLst/>
          </a:prstGeom>
          <a:noFill/>
          <a:ln w="12700">
            <a:solidFill>
              <a:srgbClr val="9B59B6"/>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p:cNvSpPr/>
          <p:nvPr/>
        </p:nvSpPr>
        <p:spPr>
          <a:xfrm>
            <a:off x="7042697" y="3246120"/>
            <a:ext cx="2103120" cy="1389888"/>
          </a:xfrm>
          <a:prstGeom prst="rect">
            <a:avLst/>
          </a:prstGeom>
          <a:solidFill>
            <a:srgbClr val="222222"/>
          </a:solidFill>
          <a:ln w="7620">
            <a:solidFill>
              <a:srgbClr val="9B59B6"/>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p:cNvSpPr/>
          <p:nvPr/>
        </p:nvSpPr>
        <p:spPr>
          <a:xfrm>
            <a:off x="7042697" y="3246120"/>
            <a:ext cx="2103120" cy="45720"/>
          </a:xfrm>
          <a:prstGeom prst="rect">
            <a:avLst/>
          </a:prstGeom>
          <a:solidFill>
            <a:srgbClr val="9B59B6"/>
          </a:solidFill>
          <a:ln w="12700">
            <a:solidFill>
              <a:srgbClr val="9B59B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7223760" y="3310128"/>
            <a:ext cx="1920240" cy="47548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Federated Query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Black" pitchFamily="34" charset="0"/>
                <a:ea typeface="Arial Black" pitchFamily="34" charset="-122"/>
                <a:cs typeface="Arial Black" pitchFamily="34" charset="-120"/>
              </a:rPr>
              <a:t>(multi-DB)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7223760" y="3822192"/>
            <a:ext cx="19202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anose="020F0502020204030204"/>
                <a:ea typeface="+mn-ea"/>
                <a:cs typeface="+mn-cs"/>
              </a:rPr>
              <a:t>Cross-DB discovery,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BBBBBB"/>
                </a:solidFill>
                <a:effectLst/>
                <a:uLnTx/>
                <a:uFillTx/>
                <a:latin typeface="Calibri" panose="020F0502020204030204"/>
                <a:ea typeface="+mn-ea"/>
                <a:cs typeface="+mn-cs"/>
              </a:rPr>
              <a:t>schema registry, federation.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7223760" y="4370832"/>
            <a:ext cx="19202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9B59B6"/>
                </a:solidFill>
                <a:effectLst/>
                <a:uLnTx/>
                <a:uFillTx/>
                <a:latin typeface="Calibri" panose="020F0502020204030204"/>
                <a:ea typeface="+mn-ea"/>
                <a:cs typeface="+mn-cs"/>
              </a:rPr>
              <a:t>-&gt; Trusted SQL</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274320" y="4590288"/>
            <a:ext cx="8613648" cy="384048"/>
          </a:xfrm>
          <a:prstGeom prst="rect">
            <a:avLst/>
          </a:prstGeom>
          <a:solidFill>
            <a:srgbClr val="222222"/>
          </a:solidFill>
          <a:ln w="7620">
            <a:solidFill>
              <a:srgbClr val="333333"/>
            </a:solidFill>
            <a:prstDash val="solid"/>
          </a:ln>
          <a:effectLst>
            <a:outerShdw blurRad="1270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411480" y="4599432"/>
            <a:ext cx="841248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anose="020F0502020204030204"/>
                <a:ea typeface="+mn-ea"/>
                <a:cs typeface="+mn-cs"/>
              </a:rPr>
              <a:t>[&gt;]  Why robust?  Each pipeline is optimised for its workload. Simple queries don't pay the cost of a 6-agent loop. Complex analytics get deeper reasoning. Client SLAs drive the routing decision — not a one-size-fits-all prompt.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411480" y="4901184"/>
            <a:ext cx="640080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SpiderDIN  ·  Architecture Walkthrough</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7132320" y="4901184"/>
            <a:ext cx="192024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444444"/>
                </a:solidFill>
                <a:effectLst/>
                <a:uLnTx/>
                <a:uFillTx/>
                <a:latin typeface="Calibri" panose="020F0502020204030204"/>
                <a:ea typeface="+mn-ea"/>
                <a:cs typeface="+mn-cs"/>
              </a:rPr>
              <a:t>current repository snapshot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2" name="Picture 41">
            <a:extLst>
              <a:ext uri="{FF2B5EF4-FFF2-40B4-BE49-F238E27FC236}">
                <a16:creationId xmlns:a16="http://schemas.microsoft.com/office/drawing/2014/main" id="{FA676BA0-F5DA-5034-8C01-0D8E19A609CB}"/>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7">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oundRect">
            <a:avLst>
              <a:gd name="adj" fmla="val 25000"/>
            </a:avLst>
          </a:prstGeom>
          <a:solidFill>
            <a:srgbClr val="00D4FF">
              <a:alpha val="80000"/>
            </a:srgbClr>
          </a:solidFill>
          <a:ln w="12700">
            <a:solidFill>
              <a:srgbClr val="00D4FF"/>
            </a:solidFill>
            <a:prstDash val="solid"/>
          </a:ln>
        </p:spPr>
        <p:txBody>
          <a:bodyPr/>
          <a:lstStyle/>
          <a:p>
            <a:endParaRPr lang="en-US"/>
          </a:p>
        </p:txBody>
      </p:sp>
      <p:sp>
        <p:nvSpPr>
          <p:cNvPr id="3" name="Text 1"/>
          <p:cNvSpPr/>
          <p:nvPr/>
        </p:nvSpPr>
        <p:spPr>
          <a:xfrm>
            <a:off x="365760" y="201168"/>
            <a:ext cx="2011680" cy="292608"/>
          </a:xfrm>
          <a:prstGeom prst="rect">
            <a:avLst/>
          </a:prstGeom>
          <a:noFill/>
          <a:ln/>
        </p:spPr>
        <p:txBody>
          <a:bodyPr wrap="square" lIns="0" tIns="0" rIns="0" bIns="0" rtlCol="0" anchor="ctr"/>
          <a:lstStyle/>
          <a:p>
            <a:pPr marL="0" indent="0" algn="ctr">
              <a:buNone/>
            </a:pPr>
            <a:r>
              <a:rPr lang="en-US" sz="800" b="1" kern="0" spc="200" dirty="0">
                <a:solidFill>
                  <a:srgbClr val="F9FAFB"/>
                </a:solidFill>
              </a:rPr>
              <a:t>SECTION 9 - CURRENT REPO ARCHITECTURE</a:t>
            </a:r>
            <a:endParaRPr lang="en-US" sz="800" dirty="0"/>
          </a:p>
        </p:txBody>
      </p:sp>
      <p:sp>
        <p:nvSpPr>
          <p:cNvPr id="4" name="Text 2"/>
          <p:cNvSpPr/>
          <p:nvPr/>
        </p:nvSpPr>
        <p:spPr>
          <a:xfrm>
            <a:off x="365760" y="594360"/>
            <a:ext cx="8412480" cy="594360"/>
          </a:xfrm>
          <a:prstGeom prst="rect">
            <a:avLst/>
          </a:prstGeom>
          <a:noFill/>
          <a:ln/>
        </p:spPr>
        <p:txBody>
          <a:bodyPr wrap="square" lIns="0" tIns="0" rIns="0" bIns="0" rtlCol="0" anchor="ctr"/>
          <a:lstStyle/>
          <a:p>
            <a:pPr marL="0" indent="0" algn="l">
              <a:buNone/>
            </a:pPr>
            <a:r>
              <a:rPr lang="en-US" sz="3000" b="1" dirty="0">
                <a:solidFill>
                  <a:srgbClr val="F9FAFB"/>
                </a:solidFill>
                <a:latin typeface="Calibri" pitchFamily="34" charset="0"/>
                <a:ea typeface="Calibri" pitchFamily="34" charset="-122"/>
                <a:cs typeface="Calibri" pitchFamily="34" charset="-120"/>
              </a:rPr>
              <a:t>SpiderDIN: Actual Pipeline in This Repo</a:t>
            </a:r>
            <a:endParaRPr lang="en-US" sz="3000" dirty="0"/>
          </a:p>
        </p:txBody>
      </p:sp>
      <p:sp>
        <p:nvSpPr>
          <p:cNvPr id="5" name="Text 3"/>
          <p:cNvSpPr/>
          <p:nvPr/>
        </p:nvSpPr>
        <p:spPr>
          <a:xfrm>
            <a:off x="365760" y="1143000"/>
            <a:ext cx="8412480" cy="32004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SemanticDINOrchestrator wires every agent, tool, and feedback loop</a:t>
            </a:r>
            <a:endParaRPr lang="en-US" sz="1300" dirty="0"/>
          </a:p>
        </p:txBody>
      </p:sp>
      <p:sp>
        <p:nvSpPr>
          <p:cNvPr id="6" name="Shape 4"/>
          <p:cNvSpPr/>
          <p:nvPr/>
        </p:nvSpPr>
        <p:spPr>
          <a:xfrm>
            <a:off x="365760" y="1417320"/>
            <a:ext cx="8412480" cy="36576"/>
          </a:xfrm>
          <a:prstGeom prst="rect">
            <a:avLst/>
          </a:prstGeom>
          <a:solidFill>
            <a:srgbClr val="00D4FF"/>
          </a:solidFill>
          <a:ln w="12700">
            <a:solidFill>
              <a:srgbClr val="00D4FF"/>
            </a:solidFill>
            <a:prstDash val="solid"/>
          </a:ln>
        </p:spPr>
        <p:txBody>
          <a:bodyPr/>
          <a:lstStyle/>
          <a:p>
            <a:endParaRPr lang="en-US"/>
          </a:p>
        </p:txBody>
      </p:sp>
      <p:sp>
        <p:nvSpPr>
          <p:cNvPr id="7" name="Shape 5"/>
          <p:cNvSpPr/>
          <p:nvPr/>
        </p:nvSpPr>
        <p:spPr>
          <a:xfrm>
            <a:off x="365760" y="1554480"/>
            <a:ext cx="5943600" cy="411480"/>
          </a:xfrm>
          <a:prstGeom prst="roundRect">
            <a:avLst>
              <a:gd name="adj" fmla="val 17778"/>
            </a:avLst>
          </a:prstGeom>
          <a:solidFill>
            <a:srgbClr val="7C3AED">
              <a:alpha val="70000"/>
            </a:srgbClr>
          </a:solidFill>
          <a:ln w="12700">
            <a:solidFill>
              <a:srgbClr val="7C3AED"/>
            </a:solidFill>
            <a:prstDash val="solid"/>
          </a:ln>
        </p:spPr>
        <p:txBody>
          <a:bodyPr/>
          <a:lstStyle/>
          <a:p>
            <a:endParaRPr lang="en-US"/>
          </a:p>
        </p:txBody>
      </p:sp>
      <p:sp>
        <p:nvSpPr>
          <p:cNvPr id="8" name="Text 6"/>
          <p:cNvSpPr/>
          <p:nvPr/>
        </p:nvSpPr>
        <p:spPr>
          <a:xfrm>
            <a:off x="502920" y="1554480"/>
            <a:ext cx="5760720" cy="411480"/>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1. API / Batch Entrypoints</a:t>
            </a:r>
            <a:endParaRPr lang="en-US" sz="1100" dirty="0"/>
          </a:p>
        </p:txBody>
      </p:sp>
      <p:sp>
        <p:nvSpPr>
          <p:cNvPr id="9" name="Shape 7"/>
          <p:cNvSpPr/>
          <p:nvPr/>
        </p:nvSpPr>
        <p:spPr>
          <a:xfrm>
            <a:off x="3337560" y="1965960"/>
            <a:ext cx="0" cy="73152"/>
          </a:xfrm>
          <a:prstGeom prst="line">
            <a:avLst/>
          </a:prstGeom>
          <a:noFill/>
          <a:ln w="25400">
            <a:solidFill>
              <a:srgbClr val="7C3AED"/>
            </a:solidFill>
            <a:prstDash val="solid"/>
          </a:ln>
        </p:spPr>
        <p:txBody>
          <a:bodyPr/>
          <a:lstStyle/>
          <a:p>
            <a:endParaRPr lang="en-US"/>
          </a:p>
        </p:txBody>
      </p:sp>
      <p:sp>
        <p:nvSpPr>
          <p:cNvPr id="10" name="Shape 8"/>
          <p:cNvSpPr/>
          <p:nvPr/>
        </p:nvSpPr>
        <p:spPr>
          <a:xfrm>
            <a:off x="365760" y="2039112"/>
            <a:ext cx="5943600" cy="411480"/>
          </a:xfrm>
          <a:prstGeom prst="roundRect">
            <a:avLst>
              <a:gd name="adj" fmla="val 17778"/>
            </a:avLst>
          </a:prstGeom>
          <a:solidFill>
            <a:srgbClr val="00D4FF">
              <a:alpha val="70000"/>
            </a:srgbClr>
          </a:solidFill>
          <a:ln w="12700">
            <a:solidFill>
              <a:srgbClr val="00D4FF"/>
            </a:solidFill>
            <a:prstDash val="solid"/>
          </a:ln>
        </p:spPr>
        <p:txBody>
          <a:bodyPr/>
          <a:lstStyle/>
          <a:p>
            <a:endParaRPr lang="en-US"/>
          </a:p>
        </p:txBody>
      </p:sp>
      <p:sp>
        <p:nvSpPr>
          <p:cNvPr id="11" name="Text 9"/>
          <p:cNvSpPr/>
          <p:nvPr/>
        </p:nvSpPr>
        <p:spPr>
          <a:xfrm>
            <a:off x="502920" y="2039112"/>
            <a:ext cx="5760720" cy="411480"/>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2. SemanticContextEngine</a:t>
            </a:r>
            <a:endParaRPr lang="en-US" sz="1100" dirty="0"/>
          </a:p>
        </p:txBody>
      </p:sp>
      <p:sp>
        <p:nvSpPr>
          <p:cNvPr id="12" name="Shape 10"/>
          <p:cNvSpPr/>
          <p:nvPr/>
        </p:nvSpPr>
        <p:spPr>
          <a:xfrm>
            <a:off x="3337560" y="2450592"/>
            <a:ext cx="0" cy="73152"/>
          </a:xfrm>
          <a:prstGeom prst="line">
            <a:avLst/>
          </a:prstGeom>
          <a:noFill/>
          <a:ln w="25400">
            <a:solidFill>
              <a:srgbClr val="00D4FF"/>
            </a:solidFill>
            <a:prstDash val="solid"/>
          </a:ln>
        </p:spPr>
        <p:txBody>
          <a:bodyPr/>
          <a:lstStyle/>
          <a:p>
            <a:endParaRPr lang="en-US"/>
          </a:p>
        </p:txBody>
      </p:sp>
      <p:sp>
        <p:nvSpPr>
          <p:cNvPr id="13" name="Shape 11"/>
          <p:cNvSpPr/>
          <p:nvPr/>
        </p:nvSpPr>
        <p:spPr>
          <a:xfrm>
            <a:off x="365760" y="2523744"/>
            <a:ext cx="5943600" cy="411480"/>
          </a:xfrm>
          <a:prstGeom prst="roundRect">
            <a:avLst>
              <a:gd name="adj" fmla="val 17778"/>
            </a:avLst>
          </a:prstGeom>
          <a:solidFill>
            <a:srgbClr val="10B981">
              <a:alpha val="70000"/>
            </a:srgbClr>
          </a:solidFill>
          <a:ln w="12700">
            <a:solidFill>
              <a:srgbClr val="10B981"/>
            </a:solidFill>
            <a:prstDash val="solid"/>
          </a:ln>
        </p:spPr>
        <p:txBody>
          <a:bodyPr/>
          <a:lstStyle/>
          <a:p>
            <a:endParaRPr lang="en-US"/>
          </a:p>
        </p:txBody>
      </p:sp>
      <p:sp>
        <p:nvSpPr>
          <p:cNvPr id="14" name="Text 12"/>
          <p:cNvSpPr/>
          <p:nvPr/>
        </p:nvSpPr>
        <p:spPr>
          <a:xfrm>
            <a:off x="502920" y="2523744"/>
            <a:ext cx="5760720" cy="411480"/>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3. HierarchicalRetriever + Pruners</a:t>
            </a:r>
            <a:endParaRPr lang="en-US" sz="1100" dirty="0"/>
          </a:p>
        </p:txBody>
      </p:sp>
      <p:sp>
        <p:nvSpPr>
          <p:cNvPr id="15" name="Shape 13"/>
          <p:cNvSpPr/>
          <p:nvPr/>
        </p:nvSpPr>
        <p:spPr>
          <a:xfrm>
            <a:off x="3337560" y="2935224"/>
            <a:ext cx="0" cy="73152"/>
          </a:xfrm>
          <a:prstGeom prst="line">
            <a:avLst/>
          </a:prstGeom>
          <a:noFill/>
          <a:ln w="25400">
            <a:solidFill>
              <a:srgbClr val="10B981"/>
            </a:solidFill>
            <a:prstDash val="solid"/>
          </a:ln>
        </p:spPr>
        <p:txBody>
          <a:bodyPr/>
          <a:lstStyle/>
          <a:p>
            <a:endParaRPr lang="en-US"/>
          </a:p>
        </p:txBody>
      </p:sp>
      <p:sp>
        <p:nvSpPr>
          <p:cNvPr id="16" name="Shape 14"/>
          <p:cNvSpPr/>
          <p:nvPr/>
        </p:nvSpPr>
        <p:spPr>
          <a:xfrm>
            <a:off x="365760" y="3008376"/>
            <a:ext cx="5943600" cy="411480"/>
          </a:xfrm>
          <a:prstGeom prst="roundRect">
            <a:avLst>
              <a:gd name="adj" fmla="val 17778"/>
            </a:avLst>
          </a:prstGeom>
          <a:solidFill>
            <a:srgbClr val="F59E0B">
              <a:alpha val="70000"/>
            </a:srgbClr>
          </a:solidFill>
          <a:ln w="12700">
            <a:solidFill>
              <a:srgbClr val="F59E0B"/>
            </a:solidFill>
            <a:prstDash val="solid"/>
          </a:ln>
        </p:spPr>
        <p:txBody>
          <a:bodyPr/>
          <a:lstStyle/>
          <a:p>
            <a:endParaRPr lang="en-US"/>
          </a:p>
        </p:txBody>
      </p:sp>
      <p:sp>
        <p:nvSpPr>
          <p:cNvPr id="17" name="Text 15"/>
          <p:cNvSpPr/>
          <p:nvPr/>
        </p:nvSpPr>
        <p:spPr>
          <a:xfrm>
            <a:off x="502920" y="3008376"/>
            <a:ext cx="5760720" cy="411480"/>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4. SchemaLinker + Value Grounder</a:t>
            </a:r>
            <a:endParaRPr lang="en-US" sz="1100" dirty="0"/>
          </a:p>
        </p:txBody>
      </p:sp>
      <p:sp>
        <p:nvSpPr>
          <p:cNvPr id="18" name="Shape 16"/>
          <p:cNvSpPr/>
          <p:nvPr/>
        </p:nvSpPr>
        <p:spPr>
          <a:xfrm>
            <a:off x="3337560" y="3419856"/>
            <a:ext cx="0" cy="73152"/>
          </a:xfrm>
          <a:prstGeom prst="line">
            <a:avLst/>
          </a:prstGeom>
          <a:noFill/>
          <a:ln w="25400">
            <a:solidFill>
              <a:srgbClr val="F59E0B"/>
            </a:solidFill>
            <a:prstDash val="solid"/>
          </a:ln>
        </p:spPr>
        <p:txBody>
          <a:bodyPr/>
          <a:lstStyle/>
          <a:p>
            <a:endParaRPr lang="en-US"/>
          </a:p>
        </p:txBody>
      </p:sp>
      <p:sp>
        <p:nvSpPr>
          <p:cNvPr id="19" name="Shape 17"/>
          <p:cNvSpPr/>
          <p:nvPr/>
        </p:nvSpPr>
        <p:spPr>
          <a:xfrm>
            <a:off x="365760" y="3493008"/>
            <a:ext cx="5943600" cy="411480"/>
          </a:xfrm>
          <a:prstGeom prst="roundRect">
            <a:avLst>
              <a:gd name="adj" fmla="val 17778"/>
            </a:avLst>
          </a:prstGeom>
          <a:solidFill>
            <a:srgbClr val="EF4444">
              <a:alpha val="70000"/>
            </a:srgbClr>
          </a:solidFill>
          <a:ln w="12700">
            <a:solidFill>
              <a:srgbClr val="EF4444"/>
            </a:solidFill>
            <a:prstDash val="solid"/>
          </a:ln>
        </p:spPr>
        <p:txBody>
          <a:bodyPr/>
          <a:lstStyle/>
          <a:p>
            <a:endParaRPr lang="en-US"/>
          </a:p>
        </p:txBody>
      </p:sp>
      <p:sp>
        <p:nvSpPr>
          <p:cNvPr id="20" name="Text 18"/>
          <p:cNvSpPr/>
          <p:nvPr/>
        </p:nvSpPr>
        <p:spPr>
          <a:xfrm>
            <a:off x="502920" y="3493008"/>
            <a:ext cx="5760720" cy="411480"/>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5. Profiler + SQL Generator</a:t>
            </a:r>
            <a:endParaRPr lang="en-US" sz="1100" dirty="0"/>
          </a:p>
        </p:txBody>
      </p:sp>
      <p:sp>
        <p:nvSpPr>
          <p:cNvPr id="21" name="Shape 19"/>
          <p:cNvSpPr/>
          <p:nvPr/>
        </p:nvSpPr>
        <p:spPr>
          <a:xfrm>
            <a:off x="3337560" y="3904488"/>
            <a:ext cx="0" cy="73152"/>
          </a:xfrm>
          <a:prstGeom prst="line">
            <a:avLst/>
          </a:prstGeom>
          <a:noFill/>
          <a:ln w="25400">
            <a:solidFill>
              <a:srgbClr val="EF4444"/>
            </a:solidFill>
            <a:prstDash val="solid"/>
          </a:ln>
        </p:spPr>
        <p:txBody>
          <a:bodyPr/>
          <a:lstStyle/>
          <a:p>
            <a:endParaRPr lang="en-US"/>
          </a:p>
        </p:txBody>
      </p:sp>
      <p:sp>
        <p:nvSpPr>
          <p:cNvPr id="22" name="Shape 20"/>
          <p:cNvSpPr/>
          <p:nvPr/>
        </p:nvSpPr>
        <p:spPr>
          <a:xfrm>
            <a:off x="365760" y="3977640"/>
            <a:ext cx="5943600" cy="411480"/>
          </a:xfrm>
          <a:prstGeom prst="roundRect">
            <a:avLst>
              <a:gd name="adj" fmla="val 17778"/>
            </a:avLst>
          </a:prstGeom>
          <a:solidFill>
            <a:srgbClr val="F59E0B">
              <a:alpha val="70000"/>
            </a:srgbClr>
          </a:solidFill>
          <a:ln w="12700">
            <a:solidFill>
              <a:srgbClr val="F59E0B"/>
            </a:solidFill>
            <a:prstDash val="solid"/>
          </a:ln>
        </p:spPr>
        <p:txBody>
          <a:bodyPr/>
          <a:lstStyle/>
          <a:p>
            <a:endParaRPr lang="en-US"/>
          </a:p>
        </p:txBody>
      </p:sp>
      <p:sp>
        <p:nvSpPr>
          <p:cNvPr id="23" name="Text 21"/>
          <p:cNvSpPr/>
          <p:nvPr/>
        </p:nvSpPr>
        <p:spPr>
          <a:xfrm>
            <a:off x="502920" y="3977640"/>
            <a:ext cx="5760720" cy="411480"/>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6. Critic + Stabilizer Preflight</a:t>
            </a:r>
            <a:endParaRPr lang="en-US" sz="1100" dirty="0"/>
          </a:p>
        </p:txBody>
      </p:sp>
      <p:sp>
        <p:nvSpPr>
          <p:cNvPr id="24" name="Shape 22"/>
          <p:cNvSpPr/>
          <p:nvPr/>
        </p:nvSpPr>
        <p:spPr>
          <a:xfrm>
            <a:off x="3337560" y="4389120"/>
            <a:ext cx="0" cy="73152"/>
          </a:xfrm>
          <a:prstGeom prst="line">
            <a:avLst/>
          </a:prstGeom>
          <a:noFill/>
          <a:ln w="25400">
            <a:solidFill>
              <a:srgbClr val="F59E0B"/>
            </a:solidFill>
            <a:prstDash val="solid"/>
          </a:ln>
        </p:spPr>
        <p:txBody>
          <a:bodyPr/>
          <a:lstStyle/>
          <a:p>
            <a:endParaRPr lang="en-US"/>
          </a:p>
        </p:txBody>
      </p:sp>
      <p:sp>
        <p:nvSpPr>
          <p:cNvPr id="25" name="Shape 23"/>
          <p:cNvSpPr/>
          <p:nvPr/>
        </p:nvSpPr>
        <p:spPr>
          <a:xfrm>
            <a:off x="365760" y="4462272"/>
            <a:ext cx="5943600" cy="411480"/>
          </a:xfrm>
          <a:prstGeom prst="roundRect">
            <a:avLst>
              <a:gd name="adj" fmla="val 17778"/>
            </a:avLst>
          </a:prstGeom>
          <a:solidFill>
            <a:srgbClr val="10B981">
              <a:alpha val="70000"/>
            </a:srgbClr>
          </a:solidFill>
          <a:ln w="12700">
            <a:solidFill>
              <a:srgbClr val="10B981"/>
            </a:solidFill>
            <a:prstDash val="solid"/>
          </a:ln>
        </p:spPr>
        <p:txBody>
          <a:bodyPr/>
          <a:lstStyle/>
          <a:p>
            <a:endParaRPr lang="en-US"/>
          </a:p>
        </p:txBody>
      </p:sp>
      <p:sp>
        <p:nvSpPr>
          <p:cNvPr id="26" name="Text 24"/>
          <p:cNvSpPr/>
          <p:nvPr/>
        </p:nvSpPr>
        <p:spPr>
          <a:xfrm>
            <a:off x="502920" y="4462272"/>
            <a:ext cx="5760720" cy="411480"/>
          </a:xfrm>
          <a:prstGeom prst="rect">
            <a:avLst/>
          </a:prstGeom>
          <a:noFill/>
          <a:ln/>
        </p:spPr>
        <p:txBody>
          <a:bodyPr wrap="square" lIns="0" tIns="0" rIns="0" bIns="0" rtlCol="0" anchor="ctr"/>
          <a:lstStyle/>
          <a:p>
            <a:pPr marL="0" indent="0" algn="l">
              <a:buNone/>
            </a:pPr>
            <a:r>
              <a:rPr lang="en-US" sz="1100" b="1" dirty="0">
                <a:solidFill>
                  <a:srgbClr val="F9FAFB"/>
                </a:solidFill>
                <a:latin typeface="Calibri" pitchFamily="34" charset="0"/>
                <a:ea typeface="Calibri" pitchFamily="34" charset="-122"/>
                <a:cs typeface="Calibri" pitchFamily="34" charset="-120"/>
              </a:rPr>
              <a:t>7. Executor + Data IQ + Corrector</a:t>
            </a:r>
            <a:endParaRPr lang="en-US" sz="1100" dirty="0"/>
          </a:p>
        </p:txBody>
      </p:sp>
      <p:sp>
        <p:nvSpPr>
          <p:cNvPr id="27" name="Shape 25"/>
          <p:cNvSpPr/>
          <p:nvPr/>
        </p:nvSpPr>
        <p:spPr>
          <a:xfrm>
            <a:off x="6583680" y="1554480"/>
            <a:ext cx="2194560" cy="3337560"/>
          </a:xfrm>
          <a:prstGeom prst="roundRect">
            <a:avLst>
              <a:gd name="adj" fmla="val 5000"/>
            </a:avLst>
          </a:prstGeom>
          <a:solidFill>
            <a:srgbClr val="0D1520"/>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8" name="Text 26"/>
          <p:cNvSpPr/>
          <p:nvPr/>
        </p:nvSpPr>
        <p:spPr>
          <a:xfrm>
            <a:off x="6629400" y="1572768"/>
            <a:ext cx="2103120" cy="320040"/>
          </a:xfrm>
          <a:prstGeom prst="rect">
            <a:avLst/>
          </a:prstGeom>
          <a:noFill/>
          <a:ln/>
        </p:spPr>
        <p:txBody>
          <a:bodyPr wrap="square" lIns="0" tIns="0" rIns="0" bIns="0" rtlCol="0" anchor="ctr"/>
          <a:lstStyle/>
          <a:p>
            <a:pPr marL="0" indent="0" algn="ctr">
              <a:buNone/>
            </a:pPr>
            <a:r>
              <a:rPr lang="en-US" sz="1100" b="1" dirty="0">
                <a:solidFill>
                  <a:srgbClr val="00D4FF"/>
                </a:solidFill>
                <a:latin typeface="Calibri" pitchFamily="34" charset="0"/>
                <a:ea typeface="Calibri" pitchFamily="34" charset="-122"/>
                <a:cs typeface="Calibri" pitchFamily="34" charset="-120"/>
              </a:rPr>
              <a:t>Concrete Data Flow</a:t>
            </a:r>
            <a:endParaRPr lang="en-US" sz="1100" dirty="0"/>
          </a:p>
        </p:txBody>
      </p:sp>
      <p:sp>
        <p:nvSpPr>
          <p:cNvPr id="29" name="Text 27"/>
          <p:cNvSpPr/>
          <p:nvPr/>
        </p:nvSpPr>
        <p:spPr>
          <a:xfrm>
            <a:off x="6656832" y="1965960"/>
            <a:ext cx="2057400" cy="347472"/>
          </a:xfrm>
          <a:prstGeom prst="rect">
            <a:avLst/>
          </a:prstGeom>
          <a:noFill/>
          <a:ln/>
        </p:spPr>
        <p:txBody>
          <a:bodyPr wrap="square" lIns="0" tIns="0" rIns="0" bIns="0" rtlCol="0" anchor="ctr"/>
          <a:lstStyle/>
          <a:p>
            <a:pPr marL="0" indent="0" algn="l">
              <a:buNone/>
            </a:pPr>
            <a:r>
              <a:rPr lang="en-US" sz="900" b="1" dirty="0">
                <a:solidFill>
                  <a:srgbClr val="00D4FF"/>
                </a:solidFill>
                <a:latin typeface="Calibri" pitchFamily="34" charset="0"/>
                <a:ea typeface="Calibri" pitchFamily="34" charset="-122"/>
                <a:cs typeface="Calibri" pitchFamily="34" charset="-120"/>
              </a:rPr>
              <a:t>IN:  </a:t>
            </a:r>
            <a:r>
              <a:rPr lang="en-US" sz="900" dirty="0">
                <a:solidFill>
                  <a:srgbClr val="9CA3AF"/>
                </a:solidFill>
                <a:latin typeface="Calibri" pitchFamily="34" charset="0"/>
                <a:ea typeface="Calibri" pitchFamily="34" charset="-122"/>
                <a:cs typeface="Calibri" pitchFamily="34" charset="-120"/>
              </a:rPr>
              <a:t>FastAPI / run_batch question + instance_id</a:t>
            </a:r>
            <a:endParaRPr lang="en-US" sz="900" dirty="0"/>
          </a:p>
        </p:txBody>
      </p:sp>
      <p:sp>
        <p:nvSpPr>
          <p:cNvPr id="30" name="Text 28"/>
          <p:cNvSpPr/>
          <p:nvPr/>
        </p:nvSpPr>
        <p:spPr>
          <a:xfrm>
            <a:off x="6656832" y="2404872"/>
            <a:ext cx="2057400" cy="347472"/>
          </a:xfrm>
          <a:prstGeom prst="rect">
            <a:avLst/>
          </a:prstGeom>
          <a:noFill/>
          <a:ln/>
        </p:spPr>
        <p:txBody>
          <a:bodyPr wrap="square" lIns="0" tIns="0" rIns="0" bIns="0" rtlCol="0" anchor="ctr"/>
          <a:lstStyle/>
          <a:p>
            <a:pPr marL="0" indent="0" algn="l">
              <a:buNone/>
            </a:pPr>
            <a:r>
              <a:rPr lang="en-US" sz="900" b="1" dirty="0">
                <a:solidFill>
                  <a:srgbClr val="00D4FF"/>
                </a:solidFill>
                <a:latin typeface="Calibri" pitchFamily="34" charset="0"/>
                <a:ea typeface="Calibri" pitchFamily="34" charset="-122"/>
                <a:cs typeface="Calibri" pitchFamily="34" charset="-120"/>
              </a:rPr>
              <a:t>LOAD:</a:t>
            </a:r>
            <a:r>
              <a:rPr lang="en-US" sz="900" dirty="0">
                <a:solidFill>
                  <a:srgbClr val="9CA3AF"/>
                </a:solidFill>
                <a:latin typeface="Calibri" pitchFamily="34" charset="0"/>
                <a:ea typeface="Calibri" pitchFamily="34" charset="-122"/>
                <a:cs typeface="Calibri" pitchFamily="34" charset="-120"/>
              </a:rPr>
              <a:t>JSON metadata -&gt; SemanticContext tables/columns/samples</a:t>
            </a:r>
            <a:endParaRPr lang="en-US" sz="900" dirty="0"/>
          </a:p>
        </p:txBody>
      </p:sp>
      <p:sp>
        <p:nvSpPr>
          <p:cNvPr id="31" name="Text 29"/>
          <p:cNvSpPr/>
          <p:nvPr/>
        </p:nvSpPr>
        <p:spPr>
          <a:xfrm>
            <a:off x="6656832" y="2843784"/>
            <a:ext cx="2057400" cy="347472"/>
          </a:xfrm>
          <a:prstGeom prst="rect">
            <a:avLst/>
          </a:prstGeom>
          <a:noFill/>
          <a:ln/>
        </p:spPr>
        <p:txBody>
          <a:bodyPr wrap="square" lIns="0" tIns="0" rIns="0" bIns="0" rtlCol="0" anchor="ctr"/>
          <a:lstStyle/>
          <a:p>
            <a:pPr marL="0" indent="0" algn="l">
              <a:buNone/>
            </a:pPr>
            <a:r>
              <a:rPr lang="en-US" sz="900" b="1" dirty="0">
                <a:solidFill>
                  <a:srgbClr val="00D4FF"/>
                </a:solidFill>
                <a:latin typeface="Calibri" pitchFamily="34" charset="0"/>
                <a:ea typeface="Calibri" pitchFamily="34" charset="-122"/>
                <a:cs typeface="Calibri" pitchFamily="34" charset="-120"/>
              </a:rPr>
              <a:t>-&gt;  </a:t>
            </a:r>
            <a:r>
              <a:rPr lang="en-US" sz="900" dirty="0">
                <a:solidFill>
                  <a:srgbClr val="9CA3AF"/>
                </a:solidFill>
                <a:latin typeface="Calibri" pitchFamily="34" charset="0"/>
                <a:ea typeface="Calibri" pitchFamily="34" charset="-122"/>
                <a:cs typeface="Calibri" pitchFamily="34" charset="-120"/>
              </a:rPr>
              <a:t>Intent flags + dialect rules + compressed prompt budget</a:t>
            </a:r>
            <a:endParaRPr lang="en-US" sz="900" dirty="0"/>
          </a:p>
        </p:txBody>
      </p:sp>
      <p:sp>
        <p:nvSpPr>
          <p:cNvPr id="32" name="Text 30"/>
          <p:cNvSpPr/>
          <p:nvPr/>
        </p:nvSpPr>
        <p:spPr>
          <a:xfrm>
            <a:off x="6656832" y="3282696"/>
            <a:ext cx="2057400" cy="347472"/>
          </a:xfrm>
          <a:prstGeom prst="rect">
            <a:avLst/>
          </a:prstGeom>
          <a:noFill/>
          <a:ln/>
        </p:spPr>
        <p:txBody>
          <a:bodyPr wrap="square" lIns="0" tIns="0" rIns="0" bIns="0" rtlCol="0" anchor="ctr"/>
          <a:lstStyle/>
          <a:p>
            <a:pPr marL="0" indent="0" algn="l">
              <a:buNone/>
            </a:pPr>
            <a:r>
              <a:rPr lang="en-US" sz="900" b="1" dirty="0">
                <a:solidFill>
                  <a:srgbClr val="00D4FF"/>
                </a:solidFill>
                <a:latin typeface="Calibri" pitchFamily="34" charset="0"/>
                <a:ea typeface="Calibri" pitchFamily="34" charset="-122"/>
                <a:cs typeface="Calibri" pitchFamily="34" charset="-120"/>
              </a:rPr>
              <a:t>-&gt;  </a:t>
            </a:r>
            <a:r>
              <a:rPr lang="en-US" sz="900" dirty="0">
                <a:solidFill>
                  <a:srgbClr val="9CA3AF"/>
                </a:solidFill>
                <a:latin typeface="Calibri" pitchFamily="34" charset="0"/>
                <a:ea typeface="Calibri" pitchFamily="34" charset="-122"/>
                <a:cs typeface="Calibri" pitchFamily="34" charset="-120"/>
              </a:rPr>
              <a:t>Linked tables, columns, joins, value_mappings</a:t>
            </a:r>
            <a:endParaRPr lang="en-US" sz="900" dirty="0"/>
          </a:p>
        </p:txBody>
      </p:sp>
      <p:sp>
        <p:nvSpPr>
          <p:cNvPr id="33" name="Text 31"/>
          <p:cNvSpPr/>
          <p:nvPr/>
        </p:nvSpPr>
        <p:spPr>
          <a:xfrm>
            <a:off x="6656832" y="3721608"/>
            <a:ext cx="2057400" cy="347472"/>
          </a:xfrm>
          <a:prstGeom prst="rect">
            <a:avLst/>
          </a:prstGeom>
          <a:noFill/>
          <a:ln/>
        </p:spPr>
        <p:txBody>
          <a:bodyPr wrap="square" lIns="0" tIns="0" rIns="0" bIns="0" rtlCol="0" anchor="ctr"/>
          <a:lstStyle/>
          <a:p>
            <a:pPr marL="0" indent="0" algn="l">
              <a:buNone/>
            </a:pPr>
            <a:r>
              <a:rPr lang="en-US" sz="900" b="1" dirty="0">
                <a:solidFill>
                  <a:srgbClr val="00D4FF"/>
                </a:solidFill>
                <a:latin typeface="Calibri" pitchFamily="34" charset="0"/>
                <a:ea typeface="Calibri" pitchFamily="34" charset="-122"/>
                <a:cs typeface="Calibri" pitchFamily="34" charset="-120"/>
              </a:rPr>
              <a:t>-&gt;  </a:t>
            </a:r>
            <a:r>
              <a:rPr lang="en-US" sz="900" dirty="0">
                <a:solidFill>
                  <a:srgbClr val="9CA3AF"/>
                </a:solidFill>
                <a:latin typeface="Calibri" pitchFamily="34" charset="0"/>
                <a:ea typeface="Calibri" pitchFamily="34" charset="-122"/>
                <a:cs typeface="Calibri" pitchFamily="34" charset="-120"/>
              </a:rPr>
              <a:t>Generated SQL + sqlglot syntax check + dialect sanitizers</a:t>
            </a:r>
            <a:endParaRPr lang="en-US" sz="900" dirty="0"/>
          </a:p>
        </p:txBody>
      </p:sp>
      <p:sp>
        <p:nvSpPr>
          <p:cNvPr id="34" name="Text 32"/>
          <p:cNvSpPr/>
          <p:nvPr/>
        </p:nvSpPr>
        <p:spPr>
          <a:xfrm>
            <a:off x="6656832" y="4160520"/>
            <a:ext cx="2057400" cy="347472"/>
          </a:xfrm>
          <a:prstGeom prst="rect">
            <a:avLst/>
          </a:prstGeom>
          <a:noFill/>
          <a:ln/>
        </p:spPr>
        <p:txBody>
          <a:bodyPr wrap="square" lIns="0" tIns="0" rIns="0" bIns="0" rtlCol="0" anchor="ctr"/>
          <a:lstStyle/>
          <a:p>
            <a:pPr marL="0" indent="0" algn="l">
              <a:buNone/>
            </a:pPr>
            <a:r>
              <a:rPr lang="en-US" sz="900" b="1" dirty="0">
                <a:solidFill>
                  <a:srgbClr val="00D4FF"/>
                </a:solidFill>
                <a:latin typeface="Calibri" pitchFamily="34" charset="0"/>
                <a:ea typeface="Calibri" pitchFamily="34" charset="-122"/>
                <a:cs typeface="Calibri" pitchFamily="34" charset="-120"/>
              </a:rPr>
              <a:t>-&gt;  </a:t>
            </a:r>
            <a:r>
              <a:rPr lang="en-US" sz="900" dirty="0">
                <a:solidFill>
                  <a:srgbClr val="9CA3AF"/>
                </a:solidFill>
                <a:latin typeface="Calibri" pitchFamily="34" charset="0"/>
                <a:ea typeface="Calibri" pitchFamily="34" charset="-122"/>
                <a:cs typeface="Calibri" pitchFamily="34" charset="-120"/>
              </a:rPr>
              <a:t>Critic review, schema preflight, execution, EDA audit</a:t>
            </a:r>
            <a:endParaRPr lang="en-US" sz="900" dirty="0"/>
          </a:p>
        </p:txBody>
      </p:sp>
      <p:sp>
        <p:nvSpPr>
          <p:cNvPr id="35" name="Text 33"/>
          <p:cNvSpPr/>
          <p:nvPr/>
        </p:nvSpPr>
        <p:spPr>
          <a:xfrm>
            <a:off x="6656832" y="4599432"/>
            <a:ext cx="2057400" cy="347472"/>
          </a:xfrm>
          <a:prstGeom prst="rect">
            <a:avLst/>
          </a:prstGeom>
          <a:noFill/>
          <a:ln/>
        </p:spPr>
        <p:txBody>
          <a:bodyPr wrap="square" lIns="0" tIns="0" rIns="0" bIns="0" rtlCol="0" anchor="ctr"/>
          <a:lstStyle/>
          <a:p>
            <a:pPr marL="0" indent="0" algn="l">
              <a:buNone/>
            </a:pPr>
            <a:r>
              <a:rPr lang="en-US" sz="900" b="1" dirty="0">
                <a:solidFill>
                  <a:srgbClr val="00D4FF"/>
                </a:solidFill>
                <a:latin typeface="Calibri" pitchFamily="34" charset="0"/>
                <a:ea typeface="Calibri" pitchFamily="34" charset="-122"/>
                <a:cs typeface="Calibri" pitchFamily="34" charset="-120"/>
              </a:rPr>
              <a:t>OUT:</a:t>
            </a:r>
            <a:r>
              <a:rPr lang="en-US" sz="900" dirty="0">
                <a:solidFill>
                  <a:srgbClr val="9CA3AF"/>
                </a:solidFill>
                <a:latin typeface="Calibri" pitchFamily="34" charset="0"/>
                <a:ea typeface="Calibri" pitchFamily="34" charset="-122"/>
                <a:cs typeface="Calibri" pitchFamily="34" charset="-120"/>
              </a:rPr>
              <a:t>Cached validated SQL, CSV, logs, telemetry, dashboard diagnostics</a:t>
            </a:r>
            <a:endParaRPr lang="en-US" sz="900" dirty="0"/>
          </a:p>
        </p:txBody>
      </p:sp>
      <p:pic>
        <p:nvPicPr>
          <p:cNvPr id="36" name="Picture 35">
            <a:extLst>
              <a:ext uri="{FF2B5EF4-FFF2-40B4-BE49-F238E27FC236}">
                <a16:creationId xmlns:a16="http://schemas.microsoft.com/office/drawing/2014/main" id="{948CF47E-27D4-EA63-7D48-09918FB0E8F7}"/>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9">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oundRect">
            <a:avLst>
              <a:gd name="adj" fmla="val 25000"/>
            </a:avLst>
          </a:prstGeom>
          <a:solidFill>
            <a:srgbClr val="7C3AED">
              <a:alpha val="80000"/>
            </a:srgbClr>
          </a:solidFill>
          <a:ln w="12700">
            <a:solidFill>
              <a:srgbClr val="7C3AED"/>
            </a:solidFill>
            <a:prstDash val="solid"/>
          </a:ln>
        </p:spPr>
        <p:txBody>
          <a:bodyPr/>
          <a:lstStyle/>
          <a:p>
            <a:endParaRPr lang="en-US"/>
          </a:p>
        </p:txBody>
      </p:sp>
      <p:sp>
        <p:nvSpPr>
          <p:cNvPr id="3" name="Text 1"/>
          <p:cNvSpPr/>
          <p:nvPr/>
        </p:nvSpPr>
        <p:spPr>
          <a:xfrm>
            <a:off x="365760" y="201168"/>
            <a:ext cx="2011680" cy="292608"/>
          </a:xfrm>
          <a:prstGeom prst="rect">
            <a:avLst/>
          </a:prstGeom>
          <a:noFill/>
          <a:ln/>
        </p:spPr>
        <p:txBody>
          <a:bodyPr wrap="square" lIns="0" tIns="0" rIns="0" bIns="0" rtlCol="0" anchor="ctr"/>
          <a:lstStyle/>
          <a:p>
            <a:pPr marL="0" indent="0" algn="ctr">
              <a:buNone/>
            </a:pPr>
            <a:r>
              <a:rPr lang="en-US" sz="800" b="1" kern="0" spc="200" dirty="0">
                <a:solidFill>
                  <a:srgbClr val="F9FAFB"/>
                </a:solidFill>
              </a:rPr>
              <a:t>SECTION 22 - FUTURE</a:t>
            </a:r>
            <a:endParaRPr lang="en-US" sz="800" dirty="0"/>
          </a:p>
        </p:txBody>
      </p:sp>
      <p:sp>
        <p:nvSpPr>
          <p:cNvPr id="4" name="Text 2"/>
          <p:cNvSpPr/>
          <p:nvPr/>
        </p:nvSpPr>
        <p:spPr>
          <a:xfrm>
            <a:off x="365760" y="594360"/>
            <a:ext cx="8412480" cy="594360"/>
          </a:xfrm>
          <a:prstGeom prst="rect">
            <a:avLst/>
          </a:prstGeom>
          <a:noFill/>
          <a:ln/>
        </p:spPr>
        <p:txBody>
          <a:bodyPr wrap="square" lIns="0" tIns="0" rIns="0" bIns="0" rtlCol="0" anchor="ctr"/>
          <a:lstStyle/>
          <a:p>
            <a:pPr marL="0" indent="0" algn="l">
              <a:buNone/>
            </a:pPr>
            <a:r>
              <a:rPr lang="en-US" sz="3000" b="1" dirty="0">
                <a:solidFill>
                  <a:srgbClr val="F9FAFB"/>
                </a:solidFill>
                <a:latin typeface="Calibri" pitchFamily="34" charset="0"/>
                <a:ea typeface="Calibri" pitchFamily="34" charset="-122"/>
                <a:cs typeface="Calibri" pitchFamily="34" charset="-120"/>
              </a:rPr>
              <a:t>Where SpiderDIN Goes Next</a:t>
            </a:r>
            <a:endParaRPr lang="en-US" sz="3000" dirty="0"/>
          </a:p>
        </p:txBody>
      </p:sp>
      <p:sp>
        <p:nvSpPr>
          <p:cNvPr id="5" name="Text 3"/>
          <p:cNvSpPr/>
          <p:nvPr/>
        </p:nvSpPr>
        <p:spPr>
          <a:xfrm>
            <a:off x="365760" y="1143000"/>
            <a:ext cx="8412480" cy="32004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The next version is less about more agents and more about better orchestration</a:t>
            </a:r>
            <a:endParaRPr lang="en-US" sz="1300" dirty="0"/>
          </a:p>
        </p:txBody>
      </p:sp>
      <p:sp>
        <p:nvSpPr>
          <p:cNvPr id="6" name="Shape 4"/>
          <p:cNvSpPr/>
          <p:nvPr/>
        </p:nvSpPr>
        <p:spPr>
          <a:xfrm>
            <a:off x="365760" y="1417320"/>
            <a:ext cx="8412480" cy="36576"/>
          </a:xfrm>
          <a:prstGeom prst="rect">
            <a:avLst/>
          </a:prstGeom>
          <a:solidFill>
            <a:srgbClr val="7C3AED"/>
          </a:solidFill>
          <a:ln w="12700">
            <a:solidFill>
              <a:srgbClr val="7C3AED"/>
            </a:solidFill>
            <a:prstDash val="solid"/>
          </a:ln>
        </p:spPr>
        <p:txBody>
          <a:bodyPr/>
          <a:lstStyle/>
          <a:p>
            <a:endParaRPr lang="en-US"/>
          </a:p>
        </p:txBody>
      </p:sp>
      <p:sp>
        <p:nvSpPr>
          <p:cNvPr id="7" name="Shape 5"/>
          <p:cNvSpPr/>
          <p:nvPr/>
        </p:nvSpPr>
        <p:spPr>
          <a:xfrm>
            <a:off x="365760" y="1600200"/>
            <a:ext cx="2606040" cy="1417320"/>
          </a:xfrm>
          <a:prstGeom prst="roundRect">
            <a:avLst>
              <a:gd name="adj" fmla="val 774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8" name="Shape 6"/>
          <p:cNvSpPr/>
          <p:nvPr/>
        </p:nvSpPr>
        <p:spPr>
          <a:xfrm>
            <a:off x="475488" y="1709928"/>
            <a:ext cx="594360" cy="548640"/>
          </a:xfrm>
          <a:prstGeom prst="roundRect">
            <a:avLst>
              <a:gd name="adj" fmla="val 16667"/>
            </a:avLst>
          </a:prstGeom>
          <a:solidFill>
            <a:srgbClr val="00D4FF">
              <a:alpha val="70000"/>
            </a:srgbClr>
          </a:solidFill>
          <a:ln w="12700">
            <a:solidFill>
              <a:srgbClr val="00D4FF"/>
            </a:solidFill>
            <a:prstDash val="solid"/>
          </a:ln>
        </p:spPr>
        <p:txBody>
          <a:bodyPr/>
          <a:lstStyle/>
          <a:p>
            <a:endParaRPr lang="en-US"/>
          </a:p>
        </p:txBody>
      </p:sp>
      <p:sp>
        <p:nvSpPr>
          <p:cNvPr id="9" name="Text 7"/>
          <p:cNvSpPr/>
          <p:nvPr/>
        </p:nvSpPr>
        <p:spPr>
          <a:xfrm>
            <a:off x="475488" y="1709928"/>
            <a:ext cx="594360" cy="548640"/>
          </a:xfrm>
          <a:prstGeom prst="rect">
            <a:avLst/>
          </a:prstGeom>
          <a:noFill/>
          <a:ln/>
        </p:spPr>
        <p:txBody>
          <a:bodyPr wrap="square" lIns="0" tIns="0" rIns="0" bIns="0" rtlCol="0" anchor="ctr"/>
          <a:lstStyle/>
          <a:p>
            <a:pPr marL="0" indent="0" algn="ctr">
              <a:buNone/>
            </a:pPr>
            <a:r>
              <a:rPr lang="en-US" sz="1800" dirty="0">
                <a:solidFill>
                  <a:srgbClr val="000000"/>
                </a:solidFill>
              </a:rPr>
              <a:t>01</a:t>
            </a:r>
            <a:endParaRPr lang="en-US" sz="1800" dirty="0"/>
          </a:p>
        </p:txBody>
      </p:sp>
      <p:sp>
        <p:nvSpPr>
          <p:cNvPr id="10" name="Text 8"/>
          <p:cNvSpPr/>
          <p:nvPr/>
        </p:nvSpPr>
        <p:spPr>
          <a:xfrm>
            <a:off x="1143000" y="1728216"/>
            <a:ext cx="1737360" cy="320040"/>
          </a:xfrm>
          <a:prstGeom prst="rect">
            <a:avLst/>
          </a:prstGeom>
          <a:noFill/>
          <a:ln/>
        </p:spPr>
        <p:txBody>
          <a:bodyPr wrap="square" lIns="0" tIns="0" rIns="0" bIns="0" rtlCol="0" anchor="ctr"/>
          <a:lstStyle/>
          <a:p>
            <a:pPr marL="0" indent="0" algn="l">
              <a:buNone/>
            </a:pPr>
            <a:r>
              <a:rPr lang="en-US" sz="1100" b="1" dirty="0">
                <a:solidFill>
                  <a:srgbClr val="00D4FF"/>
                </a:solidFill>
                <a:latin typeface="Calibri" pitchFamily="34" charset="0"/>
                <a:ea typeface="Calibri" pitchFamily="34" charset="-122"/>
                <a:cs typeface="Calibri" pitchFamily="34" charset="-120"/>
              </a:rPr>
              <a:t>MCP Tool Layer</a:t>
            </a:r>
            <a:endParaRPr lang="en-US" sz="1100" dirty="0"/>
          </a:p>
        </p:txBody>
      </p:sp>
      <p:sp>
        <p:nvSpPr>
          <p:cNvPr id="11" name="Text 9"/>
          <p:cNvSpPr/>
          <p:nvPr/>
        </p:nvSpPr>
        <p:spPr>
          <a:xfrm>
            <a:off x="475488" y="2350008"/>
            <a:ext cx="2377440" cy="56692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Standardize external tools: warehouses, docs, vector stores, lineage, governance APIs.</a:t>
            </a:r>
            <a:endParaRPr lang="en-US" sz="900" dirty="0"/>
          </a:p>
        </p:txBody>
      </p:sp>
      <p:sp>
        <p:nvSpPr>
          <p:cNvPr id="12" name="Shape 10"/>
          <p:cNvSpPr/>
          <p:nvPr/>
        </p:nvSpPr>
        <p:spPr>
          <a:xfrm>
            <a:off x="3200400" y="1600200"/>
            <a:ext cx="2606040" cy="1417320"/>
          </a:xfrm>
          <a:prstGeom prst="roundRect">
            <a:avLst>
              <a:gd name="adj" fmla="val 774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3" name="Shape 11"/>
          <p:cNvSpPr/>
          <p:nvPr/>
        </p:nvSpPr>
        <p:spPr>
          <a:xfrm>
            <a:off x="3310128" y="1709928"/>
            <a:ext cx="594360" cy="548640"/>
          </a:xfrm>
          <a:prstGeom prst="roundRect">
            <a:avLst>
              <a:gd name="adj" fmla="val 16667"/>
            </a:avLst>
          </a:prstGeom>
          <a:solidFill>
            <a:srgbClr val="7C3AED">
              <a:alpha val="70000"/>
            </a:srgbClr>
          </a:solidFill>
          <a:ln w="12700">
            <a:solidFill>
              <a:srgbClr val="7C3AED"/>
            </a:solidFill>
            <a:prstDash val="solid"/>
          </a:ln>
        </p:spPr>
        <p:txBody>
          <a:bodyPr/>
          <a:lstStyle/>
          <a:p>
            <a:endParaRPr lang="en-US"/>
          </a:p>
        </p:txBody>
      </p:sp>
      <p:sp>
        <p:nvSpPr>
          <p:cNvPr id="14" name="Text 12"/>
          <p:cNvSpPr/>
          <p:nvPr/>
        </p:nvSpPr>
        <p:spPr>
          <a:xfrm>
            <a:off x="3310128" y="1709928"/>
            <a:ext cx="594360" cy="548640"/>
          </a:xfrm>
          <a:prstGeom prst="rect">
            <a:avLst/>
          </a:prstGeom>
          <a:noFill/>
          <a:ln/>
        </p:spPr>
        <p:txBody>
          <a:bodyPr wrap="square" lIns="0" tIns="0" rIns="0" bIns="0" rtlCol="0" anchor="ctr"/>
          <a:lstStyle/>
          <a:p>
            <a:pPr marL="0" indent="0" algn="ctr">
              <a:buNone/>
            </a:pPr>
            <a:r>
              <a:rPr lang="en-US" sz="1800" dirty="0">
                <a:solidFill>
                  <a:srgbClr val="000000"/>
                </a:solidFill>
              </a:rPr>
              <a:t>02</a:t>
            </a:r>
            <a:endParaRPr lang="en-US" sz="1800" dirty="0"/>
          </a:p>
        </p:txBody>
      </p:sp>
      <p:sp>
        <p:nvSpPr>
          <p:cNvPr id="15" name="Text 13"/>
          <p:cNvSpPr/>
          <p:nvPr/>
        </p:nvSpPr>
        <p:spPr>
          <a:xfrm>
            <a:off x="3977640" y="1728216"/>
            <a:ext cx="1737360" cy="320040"/>
          </a:xfrm>
          <a:prstGeom prst="rect">
            <a:avLst/>
          </a:prstGeom>
          <a:noFill/>
          <a:ln/>
        </p:spPr>
        <p:txBody>
          <a:bodyPr wrap="square" lIns="0" tIns="0" rIns="0" bIns="0" rtlCol="0" anchor="ctr"/>
          <a:lstStyle/>
          <a:p>
            <a:pPr marL="0" indent="0" algn="l">
              <a:buNone/>
            </a:pPr>
            <a:r>
              <a:rPr lang="en-US" sz="1100" b="1" dirty="0">
                <a:solidFill>
                  <a:srgbClr val="7C3AED"/>
                </a:solidFill>
                <a:latin typeface="Calibri" pitchFamily="34" charset="0"/>
                <a:ea typeface="Calibri" pitchFamily="34" charset="-122"/>
                <a:cs typeface="Calibri" pitchFamily="34" charset="-120"/>
              </a:rPr>
              <a:t>DSPy Optimization</a:t>
            </a:r>
            <a:endParaRPr lang="en-US" sz="1100" dirty="0"/>
          </a:p>
        </p:txBody>
      </p:sp>
      <p:sp>
        <p:nvSpPr>
          <p:cNvPr id="16" name="Text 14"/>
          <p:cNvSpPr/>
          <p:nvPr/>
        </p:nvSpPr>
        <p:spPr>
          <a:xfrm>
            <a:off x="3310128" y="2350008"/>
            <a:ext cx="2377440" cy="56692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Compile prompts from eval traces instead of hand-tuning every agent instruction.</a:t>
            </a:r>
            <a:endParaRPr lang="en-US" sz="900" dirty="0"/>
          </a:p>
        </p:txBody>
      </p:sp>
      <p:sp>
        <p:nvSpPr>
          <p:cNvPr id="17" name="Shape 15"/>
          <p:cNvSpPr/>
          <p:nvPr/>
        </p:nvSpPr>
        <p:spPr>
          <a:xfrm>
            <a:off x="6035040" y="1600200"/>
            <a:ext cx="2606040" cy="1417320"/>
          </a:xfrm>
          <a:prstGeom prst="roundRect">
            <a:avLst>
              <a:gd name="adj" fmla="val 774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8" name="Shape 16"/>
          <p:cNvSpPr/>
          <p:nvPr/>
        </p:nvSpPr>
        <p:spPr>
          <a:xfrm>
            <a:off x="6144768" y="1709928"/>
            <a:ext cx="594360" cy="548640"/>
          </a:xfrm>
          <a:prstGeom prst="roundRect">
            <a:avLst>
              <a:gd name="adj" fmla="val 16667"/>
            </a:avLst>
          </a:prstGeom>
          <a:solidFill>
            <a:srgbClr val="10B981">
              <a:alpha val="70000"/>
            </a:srgbClr>
          </a:solidFill>
          <a:ln w="12700">
            <a:solidFill>
              <a:srgbClr val="10B981"/>
            </a:solidFill>
            <a:prstDash val="solid"/>
          </a:ln>
        </p:spPr>
        <p:txBody>
          <a:bodyPr/>
          <a:lstStyle/>
          <a:p>
            <a:endParaRPr lang="en-US"/>
          </a:p>
        </p:txBody>
      </p:sp>
      <p:sp>
        <p:nvSpPr>
          <p:cNvPr id="19" name="Text 17"/>
          <p:cNvSpPr/>
          <p:nvPr/>
        </p:nvSpPr>
        <p:spPr>
          <a:xfrm>
            <a:off x="6144768" y="1709928"/>
            <a:ext cx="594360" cy="548640"/>
          </a:xfrm>
          <a:prstGeom prst="rect">
            <a:avLst/>
          </a:prstGeom>
          <a:noFill/>
          <a:ln/>
        </p:spPr>
        <p:txBody>
          <a:bodyPr wrap="square" lIns="0" tIns="0" rIns="0" bIns="0" rtlCol="0" anchor="ctr"/>
          <a:lstStyle/>
          <a:p>
            <a:pPr marL="0" indent="0" algn="ctr">
              <a:buNone/>
            </a:pPr>
            <a:r>
              <a:rPr lang="en-US" sz="1800" dirty="0">
                <a:solidFill>
                  <a:srgbClr val="000000"/>
                </a:solidFill>
              </a:rPr>
              <a:t>03</a:t>
            </a:r>
            <a:endParaRPr lang="en-US" sz="1800" dirty="0"/>
          </a:p>
        </p:txBody>
      </p:sp>
      <p:sp>
        <p:nvSpPr>
          <p:cNvPr id="20" name="Text 18"/>
          <p:cNvSpPr/>
          <p:nvPr/>
        </p:nvSpPr>
        <p:spPr>
          <a:xfrm>
            <a:off x="6812280" y="1728216"/>
            <a:ext cx="1737360" cy="320040"/>
          </a:xfrm>
          <a:prstGeom prst="rect">
            <a:avLst/>
          </a:prstGeom>
          <a:noFill/>
          <a:ln/>
        </p:spPr>
        <p:txBody>
          <a:bodyPr wrap="square" lIns="0" tIns="0" rIns="0" bIns="0" rtlCol="0" anchor="ctr"/>
          <a:lstStyle/>
          <a:p>
            <a:pPr marL="0" indent="0" algn="l">
              <a:buNone/>
            </a:pPr>
            <a:r>
              <a:rPr lang="en-US" sz="1100" b="1" dirty="0">
                <a:solidFill>
                  <a:srgbClr val="10B981"/>
                </a:solidFill>
                <a:latin typeface="Calibri" pitchFamily="34" charset="0"/>
                <a:ea typeface="Calibri" pitchFamily="34" charset="-122"/>
                <a:cs typeface="Calibri" pitchFamily="34" charset="-120"/>
              </a:rPr>
              <a:t>Semantic Cache</a:t>
            </a:r>
            <a:endParaRPr lang="en-US" sz="1100" dirty="0"/>
          </a:p>
        </p:txBody>
      </p:sp>
      <p:sp>
        <p:nvSpPr>
          <p:cNvPr id="21" name="Text 19"/>
          <p:cNvSpPr/>
          <p:nvPr/>
        </p:nvSpPr>
        <p:spPr>
          <a:xfrm>
            <a:off x="6144768" y="2350008"/>
            <a:ext cx="2377440" cy="56692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Reuse schema decisions, value mappings, and SQL plans for similar questions.</a:t>
            </a:r>
            <a:endParaRPr lang="en-US" sz="900" dirty="0"/>
          </a:p>
        </p:txBody>
      </p:sp>
      <p:sp>
        <p:nvSpPr>
          <p:cNvPr id="22" name="Shape 20"/>
          <p:cNvSpPr/>
          <p:nvPr/>
        </p:nvSpPr>
        <p:spPr>
          <a:xfrm>
            <a:off x="365760" y="3200400"/>
            <a:ext cx="2606040" cy="1417320"/>
          </a:xfrm>
          <a:prstGeom prst="roundRect">
            <a:avLst>
              <a:gd name="adj" fmla="val 774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3" name="Shape 21"/>
          <p:cNvSpPr/>
          <p:nvPr/>
        </p:nvSpPr>
        <p:spPr>
          <a:xfrm>
            <a:off x="475488" y="3310128"/>
            <a:ext cx="594360" cy="548640"/>
          </a:xfrm>
          <a:prstGeom prst="roundRect">
            <a:avLst>
              <a:gd name="adj" fmla="val 16667"/>
            </a:avLst>
          </a:prstGeom>
          <a:solidFill>
            <a:srgbClr val="F59E0B">
              <a:alpha val="70000"/>
            </a:srgbClr>
          </a:solidFill>
          <a:ln w="12700">
            <a:solidFill>
              <a:srgbClr val="F59E0B"/>
            </a:solidFill>
            <a:prstDash val="solid"/>
          </a:ln>
        </p:spPr>
        <p:txBody>
          <a:bodyPr/>
          <a:lstStyle/>
          <a:p>
            <a:endParaRPr lang="en-US"/>
          </a:p>
        </p:txBody>
      </p:sp>
      <p:sp>
        <p:nvSpPr>
          <p:cNvPr id="24" name="Text 22"/>
          <p:cNvSpPr/>
          <p:nvPr/>
        </p:nvSpPr>
        <p:spPr>
          <a:xfrm>
            <a:off x="475488" y="3310128"/>
            <a:ext cx="594360" cy="548640"/>
          </a:xfrm>
          <a:prstGeom prst="rect">
            <a:avLst/>
          </a:prstGeom>
          <a:noFill/>
          <a:ln/>
        </p:spPr>
        <p:txBody>
          <a:bodyPr wrap="square" lIns="0" tIns="0" rIns="0" bIns="0" rtlCol="0" anchor="ctr"/>
          <a:lstStyle/>
          <a:p>
            <a:pPr marL="0" indent="0" algn="ctr">
              <a:buNone/>
            </a:pPr>
            <a:r>
              <a:rPr lang="en-US" sz="1800" dirty="0">
                <a:solidFill>
                  <a:srgbClr val="000000"/>
                </a:solidFill>
              </a:rPr>
              <a:t>04</a:t>
            </a:r>
            <a:endParaRPr lang="en-US" sz="1800" dirty="0"/>
          </a:p>
        </p:txBody>
      </p:sp>
      <p:sp>
        <p:nvSpPr>
          <p:cNvPr id="25" name="Text 23"/>
          <p:cNvSpPr/>
          <p:nvPr/>
        </p:nvSpPr>
        <p:spPr>
          <a:xfrm>
            <a:off x="1143000" y="3328416"/>
            <a:ext cx="1737360" cy="320040"/>
          </a:xfrm>
          <a:prstGeom prst="rect">
            <a:avLst/>
          </a:prstGeom>
          <a:noFill/>
          <a:ln/>
        </p:spPr>
        <p:txBody>
          <a:bodyPr wrap="square" lIns="0" tIns="0" rIns="0" bIns="0" rtlCol="0" anchor="ctr"/>
          <a:lstStyle/>
          <a:p>
            <a:pPr marL="0" indent="0" algn="l">
              <a:buNone/>
            </a:pPr>
            <a:r>
              <a:rPr lang="en-US" sz="1100" b="1" dirty="0">
                <a:solidFill>
                  <a:srgbClr val="F59E0B"/>
                </a:solidFill>
                <a:latin typeface="Calibri" pitchFamily="34" charset="0"/>
                <a:ea typeface="Calibri" pitchFamily="34" charset="-122"/>
                <a:cs typeface="Calibri" pitchFamily="34" charset="-120"/>
              </a:rPr>
              <a:t>Speculative Execution</a:t>
            </a:r>
            <a:endParaRPr lang="en-US" sz="1100" dirty="0"/>
          </a:p>
        </p:txBody>
      </p:sp>
      <p:sp>
        <p:nvSpPr>
          <p:cNvPr id="26" name="Text 24"/>
          <p:cNvSpPr/>
          <p:nvPr/>
        </p:nvSpPr>
        <p:spPr>
          <a:xfrm>
            <a:off x="475488" y="3950208"/>
            <a:ext cx="2377440" cy="56692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Generate multiple candidates, execute cheap probes, pick the best by evidence and cost.</a:t>
            </a:r>
            <a:endParaRPr lang="en-US" sz="900" dirty="0"/>
          </a:p>
        </p:txBody>
      </p:sp>
      <p:sp>
        <p:nvSpPr>
          <p:cNvPr id="27" name="Shape 25"/>
          <p:cNvSpPr/>
          <p:nvPr/>
        </p:nvSpPr>
        <p:spPr>
          <a:xfrm>
            <a:off x="3200400" y="3200400"/>
            <a:ext cx="2606040" cy="1417320"/>
          </a:xfrm>
          <a:prstGeom prst="roundRect">
            <a:avLst>
              <a:gd name="adj" fmla="val 774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8" name="Shape 26"/>
          <p:cNvSpPr/>
          <p:nvPr/>
        </p:nvSpPr>
        <p:spPr>
          <a:xfrm>
            <a:off x="3310128" y="3310128"/>
            <a:ext cx="594360" cy="548640"/>
          </a:xfrm>
          <a:prstGeom prst="roundRect">
            <a:avLst>
              <a:gd name="adj" fmla="val 16667"/>
            </a:avLst>
          </a:prstGeom>
          <a:solidFill>
            <a:srgbClr val="EF4444">
              <a:alpha val="70000"/>
            </a:srgbClr>
          </a:solidFill>
          <a:ln w="12700">
            <a:solidFill>
              <a:srgbClr val="EF4444"/>
            </a:solidFill>
            <a:prstDash val="solid"/>
          </a:ln>
        </p:spPr>
        <p:txBody>
          <a:bodyPr/>
          <a:lstStyle/>
          <a:p>
            <a:endParaRPr lang="en-US"/>
          </a:p>
        </p:txBody>
      </p:sp>
      <p:sp>
        <p:nvSpPr>
          <p:cNvPr id="29" name="Text 27"/>
          <p:cNvSpPr/>
          <p:nvPr/>
        </p:nvSpPr>
        <p:spPr>
          <a:xfrm>
            <a:off x="3310128" y="3310128"/>
            <a:ext cx="594360" cy="548640"/>
          </a:xfrm>
          <a:prstGeom prst="rect">
            <a:avLst/>
          </a:prstGeom>
          <a:noFill/>
          <a:ln/>
        </p:spPr>
        <p:txBody>
          <a:bodyPr wrap="square" lIns="0" tIns="0" rIns="0" bIns="0" rtlCol="0" anchor="ctr"/>
          <a:lstStyle/>
          <a:p>
            <a:pPr marL="0" indent="0" algn="ctr">
              <a:buNone/>
            </a:pPr>
            <a:r>
              <a:rPr lang="en-US" sz="1800" dirty="0">
                <a:solidFill>
                  <a:srgbClr val="000000"/>
                </a:solidFill>
              </a:rPr>
              <a:t>05</a:t>
            </a:r>
            <a:endParaRPr lang="en-US" sz="1800" dirty="0"/>
          </a:p>
        </p:txBody>
      </p:sp>
      <p:sp>
        <p:nvSpPr>
          <p:cNvPr id="30" name="Text 28"/>
          <p:cNvSpPr/>
          <p:nvPr/>
        </p:nvSpPr>
        <p:spPr>
          <a:xfrm>
            <a:off x="3977640" y="3328416"/>
            <a:ext cx="1737360" cy="320040"/>
          </a:xfrm>
          <a:prstGeom prst="rect">
            <a:avLst/>
          </a:prstGeom>
          <a:noFill/>
          <a:ln/>
        </p:spPr>
        <p:txBody>
          <a:bodyPr wrap="square" lIns="0" tIns="0" rIns="0" bIns="0" rtlCol="0" anchor="ctr"/>
          <a:lstStyle/>
          <a:p>
            <a:pPr marL="0" indent="0" algn="l">
              <a:buNone/>
            </a:pPr>
            <a:r>
              <a:rPr lang="en-US" sz="1100" b="1" dirty="0">
                <a:solidFill>
                  <a:srgbClr val="EF4444"/>
                </a:solidFill>
                <a:latin typeface="Calibri" pitchFamily="34" charset="0"/>
                <a:ea typeface="Calibri" pitchFamily="34" charset="-122"/>
                <a:cs typeface="Calibri" pitchFamily="34" charset="-120"/>
              </a:rPr>
              <a:t>Adaptive Memory</a:t>
            </a:r>
            <a:endParaRPr lang="en-US" sz="1100" dirty="0"/>
          </a:p>
        </p:txBody>
      </p:sp>
      <p:sp>
        <p:nvSpPr>
          <p:cNvPr id="31" name="Text 29"/>
          <p:cNvSpPr/>
          <p:nvPr/>
        </p:nvSpPr>
        <p:spPr>
          <a:xfrm>
            <a:off x="3310128" y="3950208"/>
            <a:ext cx="2377440" cy="56692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Turn failures, accepted repairs, and gold-eval deltas into reusable lessons.</a:t>
            </a:r>
            <a:endParaRPr lang="en-US" sz="900" dirty="0"/>
          </a:p>
        </p:txBody>
      </p:sp>
      <p:sp>
        <p:nvSpPr>
          <p:cNvPr id="32" name="Shape 30"/>
          <p:cNvSpPr/>
          <p:nvPr/>
        </p:nvSpPr>
        <p:spPr>
          <a:xfrm>
            <a:off x="6035040" y="3200400"/>
            <a:ext cx="2606040" cy="1417320"/>
          </a:xfrm>
          <a:prstGeom prst="roundRect">
            <a:avLst>
              <a:gd name="adj" fmla="val 774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33" name="Shape 31"/>
          <p:cNvSpPr/>
          <p:nvPr/>
        </p:nvSpPr>
        <p:spPr>
          <a:xfrm>
            <a:off x="6144768" y="3310128"/>
            <a:ext cx="594360" cy="548640"/>
          </a:xfrm>
          <a:prstGeom prst="roundRect">
            <a:avLst>
              <a:gd name="adj" fmla="val 16667"/>
            </a:avLst>
          </a:prstGeom>
          <a:solidFill>
            <a:srgbClr val="00D4FF">
              <a:alpha val="70000"/>
            </a:srgbClr>
          </a:solidFill>
          <a:ln w="12700">
            <a:solidFill>
              <a:srgbClr val="00D4FF"/>
            </a:solidFill>
            <a:prstDash val="solid"/>
          </a:ln>
        </p:spPr>
        <p:txBody>
          <a:bodyPr/>
          <a:lstStyle/>
          <a:p>
            <a:endParaRPr lang="en-US"/>
          </a:p>
        </p:txBody>
      </p:sp>
      <p:sp>
        <p:nvSpPr>
          <p:cNvPr id="34" name="Text 32"/>
          <p:cNvSpPr/>
          <p:nvPr/>
        </p:nvSpPr>
        <p:spPr>
          <a:xfrm>
            <a:off x="6144768" y="3310128"/>
            <a:ext cx="594360" cy="548640"/>
          </a:xfrm>
          <a:prstGeom prst="rect">
            <a:avLst/>
          </a:prstGeom>
          <a:noFill/>
          <a:ln/>
        </p:spPr>
        <p:txBody>
          <a:bodyPr wrap="square" lIns="0" tIns="0" rIns="0" bIns="0" rtlCol="0" anchor="ctr"/>
          <a:lstStyle/>
          <a:p>
            <a:pPr marL="0" indent="0" algn="ctr">
              <a:buNone/>
            </a:pPr>
            <a:r>
              <a:rPr lang="en-US" sz="1800" dirty="0">
                <a:solidFill>
                  <a:srgbClr val="000000"/>
                </a:solidFill>
              </a:rPr>
              <a:t>06</a:t>
            </a:r>
            <a:endParaRPr lang="en-US" sz="1800" dirty="0"/>
          </a:p>
        </p:txBody>
      </p:sp>
      <p:sp>
        <p:nvSpPr>
          <p:cNvPr id="35" name="Text 33"/>
          <p:cNvSpPr/>
          <p:nvPr/>
        </p:nvSpPr>
        <p:spPr>
          <a:xfrm>
            <a:off x="6812280" y="3328416"/>
            <a:ext cx="1737360" cy="320040"/>
          </a:xfrm>
          <a:prstGeom prst="rect">
            <a:avLst/>
          </a:prstGeom>
          <a:noFill/>
          <a:ln/>
        </p:spPr>
        <p:txBody>
          <a:bodyPr wrap="square" lIns="0" tIns="0" rIns="0" bIns="0" rtlCol="0" anchor="ctr"/>
          <a:lstStyle/>
          <a:p>
            <a:pPr marL="0" indent="0" algn="l">
              <a:buNone/>
            </a:pPr>
            <a:r>
              <a:rPr lang="en-US" sz="1100" b="1" dirty="0">
                <a:solidFill>
                  <a:srgbClr val="00D4FF"/>
                </a:solidFill>
                <a:latin typeface="Calibri" pitchFamily="34" charset="0"/>
                <a:ea typeface="Calibri" pitchFamily="34" charset="-122"/>
                <a:cs typeface="Calibri" pitchFamily="34" charset="-120"/>
              </a:rPr>
              <a:t>Multi-LLM Routing</a:t>
            </a:r>
            <a:endParaRPr lang="en-US" sz="1100" dirty="0"/>
          </a:p>
        </p:txBody>
      </p:sp>
      <p:sp>
        <p:nvSpPr>
          <p:cNvPr id="36" name="Text 34"/>
          <p:cNvSpPr/>
          <p:nvPr/>
        </p:nvSpPr>
        <p:spPr>
          <a:xfrm>
            <a:off x="6144768" y="3950208"/>
            <a:ext cx="2377440" cy="56692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Cheap models scan; stronger models reason; validators specialize. Route by query risk.</a:t>
            </a:r>
            <a:endParaRPr lang="en-US" sz="900" dirty="0"/>
          </a:p>
        </p:txBody>
      </p:sp>
      <p:pic>
        <p:nvPicPr>
          <p:cNvPr id="37" name="Picture 36">
            <a:extLst>
              <a:ext uri="{FF2B5EF4-FFF2-40B4-BE49-F238E27FC236}">
                <a16:creationId xmlns:a16="http://schemas.microsoft.com/office/drawing/2014/main" id="{8A314672-B32A-CDF7-D3EF-C7C9728FFE36}"/>
              </a:ext>
            </a:extLst>
          </p:cNvPr>
          <p:cNvPicPr>
            <a:picLocks noChangeAspect="1"/>
          </p:cNvPicPr>
          <p:nvPr/>
        </p:nvPicPr>
        <p:blipFill>
          <a:blip r:embed="rId2"/>
          <a:srcRect l="-928" t="29746" r="928" b="36645"/>
          <a:stretch>
            <a:fillRect/>
          </a:stretch>
        </p:blipFill>
        <p:spPr>
          <a:xfrm>
            <a:off x="8218575" y="45720"/>
            <a:ext cx="861058" cy="28939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0">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oundRect">
            <a:avLst>
              <a:gd name="adj" fmla="val 25000"/>
            </a:avLst>
          </a:prstGeom>
          <a:solidFill>
            <a:srgbClr val="00D4FF">
              <a:alpha val="80000"/>
            </a:srgbClr>
          </a:solidFill>
          <a:ln w="12700">
            <a:solidFill>
              <a:srgbClr val="00D4FF"/>
            </a:solidFill>
            <a:prstDash val="solid"/>
          </a:ln>
        </p:spPr>
        <p:txBody>
          <a:bodyPr/>
          <a:lstStyle/>
          <a:p>
            <a:endParaRPr lang="en-US"/>
          </a:p>
        </p:txBody>
      </p:sp>
      <p:sp>
        <p:nvSpPr>
          <p:cNvPr id="3" name="Text 1"/>
          <p:cNvSpPr/>
          <p:nvPr/>
        </p:nvSpPr>
        <p:spPr>
          <a:xfrm>
            <a:off x="365760" y="201168"/>
            <a:ext cx="2011680" cy="292608"/>
          </a:xfrm>
          <a:prstGeom prst="rect">
            <a:avLst/>
          </a:prstGeom>
          <a:noFill/>
          <a:ln/>
        </p:spPr>
        <p:txBody>
          <a:bodyPr wrap="square" lIns="0" tIns="0" rIns="0" bIns="0" rtlCol="0" anchor="ctr"/>
          <a:lstStyle/>
          <a:p>
            <a:pPr marL="0" indent="0" algn="ctr">
              <a:buNone/>
            </a:pPr>
            <a:r>
              <a:rPr lang="en-US" sz="800" b="1" kern="0" spc="200" dirty="0">
                <a:solidFill>
                  <a:srgbClr val="F9FAFB"/>
                </a:solidFill>
              </a:rPr>
              <a:t>SECTION 23 - ORCHESTRATION STUDIO</a:t>
            </a:r>
            <a:endParaRPr lang="en-US" sz="800" dirty="0"/>
          </a:p>
        </p:txBody>
      </p:sp>
      <p:sp>
        <p:nvSpPr>
          <p:cNvPr id="4" name="Text 2"/>
          <p:cNvSpPr/>
          <p:nvPr/>
        </p:nvSpPr>
        <p:spPr>
          <a:xfrm>
            <a:off x="365760" y="594360"/>
            <a:ext cx="8412480" cy="594360"/>
          </a:xfrm>
          <a:prstGeom prst="rect">
            <a:avLst/>
          </a:prstGeom>
          <a:noFill/>
          <a:ln/>
        </p:spPr>
        <p:txBody>
          <a:bodyPr wrap="square" lIns="0" tIns="0" rIns="0" bIns="0" rtlCol="0" anchor="ctr"/>
          <a:lstStyle/>
          <a:p>
            <a:pPr marL="0" indent="0" algn="l">
              <a:buNone/>
            </a:pPr>
            <a:r>
              <a:rPr lang="en-US" sz="3000" b="1" dirty="0">
                <a:solidFill>
                  <a:srgbClr val="F9FAFB"/>
                </a:solidFill>
                <a:latin typeface="Calibri" pitchFamily="34" charset="0"/>
                <a:ea typeface="Calibri" pitchFamily="34" charset="-122"/>
                <a:cs typeface="Calibri" pitchFamily="34" charset="-120"/>
              </a:rPr>
              <a:t>What a Node Graph Would Control</a:t>
            </a:r>
            <a:endParaRPr lang="en-US" sz="3000" dirty="0"/>
          </a:p>
        </p:txBody>
      </p:sp>
      <p:sp>
        <p:nvSpPr>
          <p:cNvPr id="5" name="Text 3"/>
          <p:cNvSpPr/>
          <p:nvPr/>
        </p:nvSpPr>
        <p:spPr>
          <a:xfrm>
            <a:off x="365760" y="1143000"/>
            <a:ext cx="8412480" cy="32004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A serious agent studio needs runtime knobs, not just pretty boxes</a:t>
            </a:r>
            <a:endParaRPr lang="en-US" sz="1300" dirty="0"/>
          </a:p>
        </p:txBody>
      </p:sp>
      <p:sp>
        <p:nvSpPr>
          <p:cNvPr id="6" name="Shape 4"/>
          <p:cNvSpPr/>
          <p:nvPr/>
        </p:nvSpPr>
        <p:spPr>
          <a:xfrm>
            <a:off x="365760" y="1417320"/>
            <a:ext cx="8412480" cy="36576"/>
          </a:xfrm>
          <a:prstGeom prst="rect">
            <a:avLst/>
          </a:prstGeom>
          <a:solidFill>
            <a:srgbClr val="00D4FF"/>
          </a:solidFill>
          <a:ln w="12700">
            <a:solidFill>
              <a:srgbClr val="00D4FF"/>
            </a:solidFill>
            <a:prstDash val="solid"/>
          </a:ln>
        </p:spPr>
        <p:txBody>
          <a:bodyPr/>
          <a:lstStyle/>
          <a:p>
            <a:endParaRPr lang="en-US"/>
          </a:p>
        </p:txBody>
      </p:sp>
      <p:sp>
        <p:nvSpPr>
          <p:cNvPr id="7" name="Shape 5"/>
          <p:cNvSpPr/>
          <p:nvPr/>
        </p:nvSpPr>
        <p:spPr>
          <a:xfrm>
            <a:off x="365760" y="1554480"/>
            <a:ext cx="1828800" cy="3383280"/>
          </a:xfrm>
          <a:prstGeom prst="roundRect">
            <a:avLst>
              <a:gd name="adj" fmla="val 6000"/>
            </a:avLst>
          </a:prstGeom>
          <a:solidFill>
            <a:srgbClr val="0A0E1A"/>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8" name="Text 6"/>
          <p:cNvSpPr/>
          <p:nvPr/>
        </p:nvSpPr>
        <p:spPr>
          <a:xfrm>
            <a:off x="365760" y="1554480"/>
            <a:ext cx="1828800" cy="320040"/>
          </a:xfrm>
          <a:prstGeom prst="rect">
            <a:avLst/>
          </a:prstGeom>
          <a:noFill/>
          <a:ln/>
        </p:spPr>
        <p:txBody>
          <a:bodyPr wrap="square" lIns="0" tIns="0" rIns="0" bIns="0" rtlCol="0" anchor="ctr"/>
          <a:lstStyle/>
          <a:p>
            <a:pPr marL="0" indent="0" algn="ctr">
              <a:buNone/>
            </a:pPr>
            <a:r>
              <a:rPr lang="en-US" sz="900" b="1" kern="0" spc="200" dirty="0">
                <a:solidFill>
                  <a:srgbClr val="00D4FF"/>
                </a:solidFill>
                <a:latin typeface="Calibri" pitchFamily="34" charset="0"/>
                <a:ea typeface="Calibri" pitchFamily="34" charset="-122"/>
                <a:cs typeface="Calibri" pitchFamily="34" charset="-120"/>
              </a:rPr>
              <a:t>NODE TYPES</a:t>
            </a:r>
            <a:endParaRPr lang="en-US" sz="900" dirty="0"/>
          </a:p>
        </p:txBody>
      </p:sp>
      <p:sp>
        <p:nvSpPr>
          <p:cNvPr id="9" name="Shape 7"/>
          <p:cNvSpPr/>
          <p:nvPr/>
        </p:nvSpPr>
        <p:spPr>
          <a:xfrm>
            <a:off x="457200" y="1965960"/>
            <a:ext cx="1645920" cy="320040"/>
          </a:xfrm>
          <a:prstGeom prst="roundRect">
            <a:avLst>
              <a:gd name="adj" fmla="val 22857"/>
            </a:avLst>
          </a:prstGeom>
          <a:solidFill>
            <a:srgbClr val="7C3AED">
              <a:alpha val="50000"/>
            </a:srgbClr>
          </a:solidFill>
          <a:ln w="12700">
            <a:solidFill>
              <a:srgbClr val="7C3AED"/>
            </a:solidFill>
            <a:prstDash val="solid"/>
          </a:ln>
        </p:spPr>
        <p:txBody>
          <a:bodyPr/>
          <a:lstStyle/>
          <a:p>
            <a:endParaRPr lang="en-US"/>
          </a:p>
        </p:txBody>
      </p:sp>
      <p:sp>
        <p:nvSpPr>
          <p:cNvPr id="10" name="Text 8"/>
          <p:cNvSpPr/>
          <p:nvPr/>
        </p:nvSpPr>
        <p:spPr>
          <a:xfrm>
            <a:off x="457200" y="1965960"/>
            <a:ext cx="1645920" cy="320040"/>
          </a:xfrm>
          <a:prstGeom prst="rect">
            <a:avLst/>
          </a:prstGeom>
          <a:noFill/>
          <a:ln/>
        </p:spPr>
        <p:txBody>
          <a:bodyPr wrap="square" lIns="0" tIns="0" rIns="0" bIns="0" rtlCol="0" anchor="ctr"/>
          <a:lstStyle/>
          <a:p>
            <a:pPr marL="0" indent="0" algn="ctr">
              <a:buNone/>
            </a:pPr>
            <a:r>
              <a:rPr lang="en-US" sz="900" dirty="0">
                <a:solidFill>
                  <a:srgbClr val="F9FAFB"/>
                </a:solidFill>
                <a:latin typeface="Calibri" pitchFamily="34" charset="0"/>
                <a:ea typeface="Calibri" pitchFamily="34" charset="-122"/>
                <a:cs typeface="Calibri" pitchFamily="34" charset="-120"/>
              </a:rPr>
              <a:t>LLM Agent</a:t>
            </a:r>
            <a:endParaRPr lang="en-US" sz="900" dirty="0"/>
          </a:p>
        </p:txBody>
      </p:sp>
      <p:sp>
        <p:nvSpPr>
          <p:cNvPr id="11" name="Shape 9"/>
          <p:cNvSpPr/>
          <p:nvPr/>
        </p:nvSpPr>
        <p:spPr>
          <a:xfrm>
            <a:off x="457200" y="2368296"/>
            <a:ext cx="1645920" cy="320040"/>
          </a:xfrm>
          <a:prstGeom prst="roundRect">
            <a:avLst>
              <a:gd name="adj" fmla="val 22857"/>
            </a:avLst>
          </a:prstGeom>
          <a:solidFill>
            <a:srgbClr val="7C3AED">
              <a:alpha val="50000"/>
            </a:srgbClr>
          </a:solidFill>
          <a:ln w="12700">
            <a:solidFill>
              <a:srgbClr val="7C3AED"/>
            </a:solidFill>
            <a:prstDash val="solid"/>
          </a:ln>
        </p:spPr>
        <p:txBody>
          <a:bodyPr/>
          <a:lstStyle/>
          <a:p>
            <a:endParaRPr lang="en-US"/>
          </a:p>
        </p:txBody>
      </p:sp>
      <p:sp>
        <p:nvSpPr>
          <p:cNvPr id="12" name="Text 10"/>
          <p:cNvSpPr/>
          <p:nvPr/>
        </p:nvSpPr>
        <p:spPr>
          <a:xfrm>
            <a:off x="457200" y="2368296"/>
            <a:ext cx="1645920" cy="320040"/>
          </a:xfrm>
          <a:prstGeom prst="rect">
            <a:avLst/>
          </a:prstGeom>
          <a:noFill/>
          <a:ln/>
        </p:spPr>
        <p:txBody>
          <a:bodyPr wrap="square" lIns="0" tIns="0" rIns="0" bIns="0" rtlCol="0" anchor="ctr"/>
          <a:lstStyle/>
          <a:p>
            <a:pPr marL="0" indent="0" algn="ctr">
              <a:buNone/>
            </a:pPr>
            <a:r>
              <a:rPr lang="en-US" sz="900" dirty="0">
                <a:solidFill>
                  <a:srgbClr val="F9FAFB"/>
                </a:solidFill>
                <a:latin typeface="Calibri" pitchFamily="34" charset="0"/>
                <a:ea typeface="Calibri" pitchFamily="34" charset="-122"/>
                <a:cs typeface="Calibri" pitchFamily="34" charset="-120"/>
              </a:rPr>
              <a:t>MCP Tool</a:t>
            </a:r>
            <a:endParaRPr lang="en-US" sz="900" dirty="0"/>
          </a:p>
        </p:txBody>
      </p:sp>
      <p:sp>
        <p:nvSpPr>
          <p:cNvPr id="13" name="Shape 11"/>
          <p:cNvSpPr/>
          <p:nvPr/>
        </p:nvSpPr>
        <p:spPr>
          <a:xfrm>
            <a:off x="457200" y="2770632"/>
            <a:ext cx="1645920" cy="320040"/>
          </a:xfrm>
          <a:prstGeom prst="roundRect">
            <a:avLst>
              <a:gd name="adj" fmla="val 22857"/>
            </a:avLst>
          </a:prstGeom>
          <a:solidFill>
            <a:srgbClr val="7C3AED">
              <a:alpha val="50000"/>
            </a:srgbClr>
          </a:solidFill>
          <a:ln w="12700">
            <a:solidFill>
              <a:srgbClr val="7C3AED"/>
            </a:solidFill>
            <a:prstDash val="solid"/>
          </a:ln>
        </p:spPr>
        <p:txBody>
          <a:bodyPr/>
          <a:lstStyle/>
          <a:p>
            <a:endParaRPr lang="en-US"/>
          </a:p>
        </p:txBody>
      </p:sp>
      <p:sp>
        <p:nvSpPr>
          <p:cNvPr id="14" name="Text 12"/>
          <p:cNvSpPr/>
          <p:nvPr/>
        </p:nvSpPr>
        <p:spPr>
          <a:xfrm>
            <a:off x="457200" y="2770632"/>
            <a:ext cx="1645920" cy="320040"/>
          </a:xfrm>
          <a:prstGeom prst="rect">
            <a:avLst/>
          </a:prstGeom>
          <a:noFill/>
          <a:ln/>
        </p:spPr>
        <p:txBody>
          <a:bodyPr wrap="square" lIns="0" tIns="0" rIns="0" bIns="0" rtlCol="0" anchor="ctr"/>
          <a:lstStyle/>
          <a:p>
            <a:pPr marL="0" indent="0" algn="ctr">
              <a:buNone/>
            </a:pPr>
            <a:r>
              <a:rPr lang="en-US" sz="900" dirty="0">
                <a:solidFill>
                  <a:srgbClr val="F9FAFB"/>
                </a:solidFill>
                <a:latin typeface="Calibri" pitchFamily="34" charset="0"/>
                <a:ea typeface="Calibri" pitchFamily="34" charset="-122"/>
                <a:cs typeface="Calibri" pitchFamily="34" charset="-120"/>
              </a:rPr>
              <a:t>Executor</a:t>
            </a:r>
            <a:endParaRPr lang="en-US" sz="900" dirty="0"/>
          </a:p>
        </p:txBody>
      </p:sp>
      <p:sp>
        <p:nvSpPr>
          <p:cNvPr id="15" name="Shape 13"/>
          <p:cNvSpPr/>
          <p:nvPr/>
        </p:nvSpPr>
        <p:spPr>
          <a:xfrm>
            <a:off x="457200" y="3172968"/>
            <a:ext cx="1645920" cy="320040"/>
          </a:xfrm>
          <a:prstGeom prst="roundRect">
            <a:avLst>
              <a:gd name="adj" fmla="val 22857"/>
            </a:avLst>
          </a:prstGeom>
          <a:solidFill>
            <a:srgbClr val="7C3AED">
              <a:alpha val="50000"/>
            </a:srgbClr>
          </a:solidFill>
          <a:ln w="12700">
            <a:solidFill>
              <a:srgbClr val="7C3AED"/>
            </a:solidFill>
            <a:prstDash val="solid"/>
          </a:ln>
        </p:spPr>
        <p:txBody>
          <a:bodyPr/>
          <a:lstStyle/>
          <a:p>
            <a:endParaRPr lang="en-US"/>
          </a:p>
        </p:txBody>
      </p:sp>
      <p:sp>
        <p:nvSpPr>
          <p:cNvPr id="16" name="Text 14"/>
          <p:cNvSpPr/>
          <p:nvPr/>
        </p:nvSpPr>
        <p:spPr>
          <a:xfrm>
            <a:off x="457200" y="3172968"/>
            <a:ext cx="1645920" cy="320040"/>
          </a:xfrm>
          <a:prstGeom prst="rect">
            <a:avLst/>
          </a:prstGeom>
          <a:noFill/>
          <a:ln/>
        </p:spPr>
        <p:txBody>
          <a:bodyPr wrap="square" lIns="0" tIns="0" rIns="0" bIns="0" rtlCol="0" anchor="ctr"/>
          <a:lstStyle/>
          <a:p>
            <a:pPr marL="0" indent="0" algn="ctr">
              <a:buNone/>
            </a:pPr>
            <a:r>
              <a:rPr lang="en-US" sz="900" dirty="0">
                <a:solidFill>
                  <a:srgbClr val="F9FAFB"/>
                </a:solidFill>
                <a:latin typeface="Calibri" pitchFamily="34" charset="0"/>
                <a:ea typeface="Calibri" pitchFamily="34" charset="-122"/>
                <a:cs typeface="Calibri" pitchFamily="34" charset="-120"/>
              </a:rPr>
              <a:t>Validator</a:t>
            </a:r>
            <a:endParaRPr lang="en-US" sz="900" dirty="0"/>
          </a:p>
        </p:txBody>
      </p:sp>
      <p:sp>
        <p:nvSpPr>
          <p:cNvPr id="17" name="Shape 15"/>
          <p:cNvSpPr/>
          <p:nvPr/>
        </p:nvSpPr>
        <p:spPr>
          <a:xfrm>
            <a:off x="457200" y="3575304"/>
            <a:ext cx="1645920" cy="320040"/>
          </a:xfrm>
          <a:prstGeom prst="roundRect">
            <a:avLst>
              <a:gd name="adj" fmla="val 22857"/>
            </a:avLst>
          </a:prstGeom>
          <a:solidFill>
            <a:srgbClr val="7C3AED">
              <a:alpha val="50000"/>
            </a:srgbClr>
          </a:solidFill>
          <a:ln w="12700">
            <a:solidFill>
              <a:srgbClr val="7C3AED"/>
            </a:solidFill>
            <a:prstDash val="solid"/>
          </a:ln>
        </p:spPr>
        <p:txBody>
          <a:bodyPr/>
          <a:lstStyle/>
          <a:p>
            <a:endParaRPr lang="en-US"/>
          </a:p>
        </p:txBody>
      </p:sp>
      <p:sp>
        <p:nvSpPr>
          <p:cNvPr id="18" name="Text 16"/>
          <p:cNvSpPr/>
          <p:nvPr/>
        </p:nvSpPr>
        <p:spPr>
          <a:xfrm>
            <a:off x="457200" y="3575304"/>
            <a:ext cx="1645920" cy="320040"/>
          </a:xfrm>
          <a:prstGeom prst="rect">
            <a:avLst/>
          </a:prstGeom>
          <a:noFill/>
          <a:ln/>
        </p:spPr>
        <p:txBody>
          <a:bodyPr wrap="square" lIns="0" tIns="0" rIns="0" bIns="0" rtlCol="0" anchor="ctr"/>
          <a:lstStyle/>
          <a:p>
            <a:pPr marL="0" indent="0" algn="ctr">
              <a:buNone/>
            </a:pPr>
            <a:r>
              <a:rPr lang="en-US" sz="900" dirty="0">
                <a:solidFill>
                  <a:srgbClr val="F9FAFB"/>
                </a:solidFill>
                <a:latin typeface="Calibri" pitchFamily="34" charset="0"/>
                <a:ea typeface="Calibri" pitchFamily="34" charset="-122"/>
                <a:cs typeface="Calibri" pitchFamily="34" charset="-120"/>
              </a:rPr>
              <a:t>Memory</a:t>
            </a:r>
            <a:endParaRPr lang="en-US" sz="900" dirty="0"/>
          </a:p>
        </p:txBody>
      </p:sp>
      <p:sp>
        <p:nvSpPr>
          <p:cNvPr id="19" name="Shape 17"/>
          <p:cNvSpPr/>
          <p:nvPr/>
        </p:nvSpPr>
        <p:spPr>
          <a:xfrm>
            <a:off x="457200" y="3977640"/>
            <a:ext cx="1645920" cy="320040"/>
          </a:xfrm>
          <a:prstGeom prst="roundRect">
            <a:avLst>
              <a:gd name="adj" fmla="val 22857"/>
            </a:avLst>
          </a:prstGeom>
          <a:solidFill>
            <a:srgbClr val="7C3AED">
              <a:alpha val="50000"/>
            </a:srgbClr>
          </a:solidFill>
          <a:ln w="12700">
            <a:solidFill>
              <a:srgbClr val="7C3AED"/>
            </a:solidFill>
            <a:prstDash val="solid"/>
          </a:ln>
        </p:spPr>
        <p:txBody>
          <a:bodyPr/>
          <a:lstStyle/>
          <a:p>
            <a:endParaRPr lang="en-US"/>
          </a:p>
        </p:txBody>
      </p:sp>
      <p:sp>
        <p:nvSpPr>
          <p:cNvPr id="20" name="Text 18"/>
          <p:cNvSpPr/>
          <p:nvPr/>
        </p:nvSpPr>
        <p:spPr>
          <a:xfrm>
            <a:off x="457200" y="3977640"/>
            <a:ext cx="1645920" cy="320040"/>
          </a:xfrm>
          <a:prstGeom prst="rect">
            <a:avLst/>
          </a:prstGeom>
          <a:noFill/>
          <a:ln/>
        </p:spPr>
        <p:txBody>
          <a:bodyPr wrap="square" lIns="0" tIns="0" rIns="0" bIns="0" rtlCol="0" anchor="ctr"/>
          <a:lstStyle/>
          <a:p>
            <a:pPr marL="0" indent="0" algn="ctr">
              <a:buNone/>
            </a:pPr>
            <a:r>
              <a:rPr lang="en-US" sz="900" dirty="0">
                <a:solidFill>
                  <a:srgbClr val="F9FAFB"/>
                </a:solidFill>
                <a:latin typeface="Calibri" pitchFamily="34" charset="0"/>
                <a:ea typeface="Calibri" pitchFamily="34" charset="-122"/>
                <a:cs typeface="Calibri" pitchFamily="34" charset="-120"/>
              </a:rPr>
              <a:t>Cache</a:t>
            </a:r>
            <a:endParaRPr lang="en-US" sz="900" dirty="0"/>
          </a:p>
        </p:txBody>
      </p:sp>
      <p:sp>
        <p:nvSpPr>
          <p:cNvPr id="21" name="Shape 19"/>
          <p:cNvSpPr/>
          <p:nvPr/>
        </p:nvSpPr>
        <p:spPr>
          <a:xfrm>
            <a:off x="457200" y="4379976"/>
            <a:ext cx="1645920" cy="320040"/>
          </a:xfrm>
          <a:prstGeom prst="roundRect">
            <a:avLst>
              <a:gd name="adj" fmla="val 22857"/>
            </a:avLst>
          </a:prstGeom>
          <a:solidFill>
            <a:srgbClr val="7C3AED">
              <a:alpha val="50000"/>
            </a:srgbClr>
          </a:solidFill>
          <a:ln w="12700">
            <a:solidFill>
              <a:srgbClr val="7C3AED"/>
            </a:solidFill>
            <a:prstDash val="solid"/>
          </a:ln>
        </p:spPr>
        <p:txBody>
          <a:bodyPr/>
          <a:lstStyle/>
          <a:p>
            <a:endParaRPr lang="en-US"/>
          </a:p>
        </p:txBody>
      </p:sp>
      <p:sp>
        <p:nvSpPr>
          <p:cNvPr id="22" name="Text 20"/>
          <p:cNvSpPr/>
          <p:nvPr/>
        </p:nvSpPr>
        <p:spPr>
          <a:xfrm>
            <a:off x="457200" y="4379976"/>
            <a:ext cx="1645920" cy="320040"/>
          </a:xfrm>
          <a:prstGeom prst="rect">
            <a:avLst/>
          </a:prstGeom>
          <a:noFill/>
          <a:ln/>
        </p:spPr>
        <p:txBody>
          <a:bodyPr wrap="square" lIns="0" tIns="0" rIns="0" bIns="0" rtlCol="0" anchor="ctr"/>
          <a:lstStyle/>
          <a:p>
            <a:pPr marL="0" indent="0" algn="ctr">
              <a:buNone/>
            </a:pPr>
            <a:r>
              <a:rPr lang="en-US" sz="900" dirty="0">
                <a:solidFill>
                  <a:srgbClr val="F9FAFB"/>
                </a:solidFill>
                <a:latin typeface="Calibri" pitchFamily="34" charset="0"/>
                <a:ea typeface="Calibri" pitchFamily="34" charset="-122"/>
                <a:cs typeface="Calibri" pitchFamily="34" charset="-120"/>
              </a:rPr>
              <a:t>Human Review</a:t>
            </a:r>
            <a:endParaRPr lang="en-US" sz="900" dirty="0"/>
          </a:p>
        </p:txBody>
      </p:sp>
      <p:sp>
        <p:nvSpPr>
          <p:cNvPr id="23" name="Shape 21"/>
          <p:cNvSpPr/>
          <p:nvPr/>
        </p:nvSpPr>
        <p:spPr>
          <a:xfrm>
            <a:off x="2377440" y="1554480"/>
            <a:ext cx="4572000" cy="3383280"/>
          </a:xfrm>
          <a:prstGeom prst="roundRect">
            <a:avLst>
              <a:gd name="adj" fmla="val 3243"/>
            </a:avLst>
          </a:prstGeom>
          <a:solidFill>
            <a:srgbClr val="080C14"/>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4" name="Text 22"/>
          <p:cNvSpPr/>
          <p:nvPr/>
        </p:nvSpPr>
        <p:spPr>
          <a:xfrm>
            <a:off x="2377440" y="1554480"/>
            <a:ext cx="4572000" cy="320040"/>
          </a:xfrm>
          <a:prstGeom prst="rect">
            <a:avLst/>
          </a:prstGeom>
          <a:noFill/>
          <a:ln/>
        </p:spPr>
        <p:txBody>
          <a:bodyPr wrap="square" lIns="0" tIns="0" rIns="0" bIns="0" rtlCol="0" anchor="ctr"/>
          <a:lstStyle/>
          <a:p>
            <a:pPr marL="0" indent="0" algn="ctr">
              <a:buNone/>
            </a:pPr>
            <a:r>
              <a:rPr lang="en-US" sz="900" b="1" kern="0" spc="200" dirty="0">
                <a:solidFill>
                  <a:srgbClr val="9CA3AF"/>
                </a:solidFill>
                <a:latin typeface="Calibri" pitchFamily="34" charset="0"/>
                <a:ea typeface="Calibri" pitchFamily="34" charset="-122"/>
                <a:cs typeface="Calibri" pitchFamily="34" charset="-120"/>
              </a:rPr>
              <a:t>RUNTIME</a:t>
            </a:r>
            <a:endParaRPr lang="en-US" sz="900" dirty="0"/>
          </a:p>
        </p:txBody>
      </p:sp>
      <p:sp>
        <p:nvSpPr>
          <p:cNvPr id="25" name="Shape 23"/>
          <p:cNvSpPr/>
          <p:nvPr/>
        </p:nvSpPr>
        <p:spPr>
          <a:xfrm>
            <a:off x="2560320" y="1965960"/>
            <a:ext cx="960120" cy="502920"/>
          </a:xfrm>
          <a:prstGeom prst="roundRect">
            <a:avLst>
              <a:gd name="adj" fmla="val 18182"/>
            </a:avLst>
          </a:prstGeom>
          <a:solidFill>
            <a:srgbClr val="00D4FF">
              <a:alpha val="70000"/>
            </a:srgbClr>
          </a:solidFill>
          <a:ln w="19050">
            <a:solidFill>
              <a:srgbClr val="00D4FF"/>
            </a:solidFill>
            <a:prstDash val="solid"/>
          </a:ln>
        </p:spPr>
        <p:txBody>
          <a:bodyPr/>
          <a:lstStyle/>
          <a:p>
            <a:endParaRPr lang="en-US"/>
          </a:p>
        </p:txBody>
      </p:sp>
      <p:sp>
        <p:nvSpPr>
          <p:cNvPr id="26" name="Text 24"/>
          <p:cNvSpPr/>
          <p:nvPr/>
        </p:nvSpPr>
        <p:spPr>
          <a:xfrm>
            <a:off x="2560320" y="1965960"/>
            <a:ext cx="960120" cy="502920"/>
          </a:xfrm>
          <a:prstGeom prst="rect">
            <a:avLst/>
          </a:prstGeom>
          <a:noFill/>
          <a:ln/>
        </p:spPr>
        <p:txBody>
          <a:bodyPr wrap="square" lIns="0" tIns="0" rIns="0" bIns="0" rtlCol="0" anchor="ctr"/>
          <a:lstStyle/>
          <a:p>
            <a:pPr marL="0" indent="0" algn="ctr">
              <a:buNone/>
            </a:pPr>
            <a:r>
              <a:rPr lang="en-US" sz="900" b="1" dirty="0">
                <a:solidFill>
                  <a:srgbClr val="F9FAFB"/>
                </a:solidFill>
                <a:latin typeface="Calibri" pitchFamily="34" charset="0"/>
                <a:ea typeface="Calibri" pitchFamily="34" charset="-122"/>
                <a:cs typeface="Calibri" pitchFamily="34" charset="-120"/>
              </a:rPr>
              <a:t>Inputs/outputs</a:t>
            </a:r>
            <a:endParaRPr lang="en-US" sz="900" dirty="0"/>
          </a:p>
        </p:txBody>
      </p:sp>
      <p:sp>
        <p:nvSpPr>
          <p:cNvPr id="27" name="Shape 25"/>
          <p:cNvSpPr/>
          <p:nvPr/>
        </p:nvSpPr>
        <p:spPr>
          <a:xfrm>
            <a:off x="3520440" y="2331720"/>
            <a:ext cx="960120" cy="502920"/>
          </a:xfrm>
          <a:prstGeom prst="roundRect">
            <a:avLst>
              <a:gd name="adj" fmla="val 18182"/>
            </a:avLst>
          </a:prstGeom>
          <a:solidFill>
            <a:srgbClr val="10B981">
              <a:alpha val="70000"/>
            </a:srgbClr>
          </a:solidFill>
          <a:ln w="19050">
            <a:solidFill>
              <a:srgbClr val="10B981"/>
            </a:solidFill>
            <a:prstDash val="solid"/>
          </a:ln>
        </p:spPr>
        <p:txBody>
          <a:bodyPr/>
          <a:lstStyle/>
          <a:p>
            <a:endParaRPr lang="en-US"/>
          </a:p>
        </p:txBody>
      </p:sp>
      <p:sp>
        <p:nvSpPr>
          <p:cNvPr id="28" name="Text 26"/>
          <p:cNvSpPr/>
          <p:nvPr/>
        </p:nvSpPr>
        <p:spPr>
          <a:xfrm>
            <a:off x="3520440" y="2331720"/>
            <a:ext cx="960120" cy="502920"/>
          </a:xfrm>
          <a:prstGeom prst="rect">
            <a:avLst/>
          </a:prstGeom>
          <a:noFill/>
          <a:ln/>
        </p:spPr>
        <p:txBody>
          <a:bodyPr wrap="square" lIns="0" tIns="0" rIns="0" bIns="0" rtlCol="0" anchor="ctr"/>
          <a:lstStyle/>
          <a:p>
            <a:pPr marL="0" indent="0" algn="ctr">
              <a:buNone/>
            </a:pPr>
            <a:r>
              <a:rPr lang="en-US" sz="900" b="1" dirty="0">
                <a:solidFill>
                  <a:srgbClr val="F9FAFB"/>
                </a:solidFill>
                <a:latin typeface="Calibri" pitchFamily="34" charset="0"/>
                <a:ea typeface="Calibri" pitchFamily="34" charset="-122"/>
                <a:cs typeface="Calibri" pitchFamily="34" charset="-120"/>
              </a:rPr>
              <a:t>Typed schemas</a:t>
            </a:r>
            <a:endParaRPr lang="en-US" sz="900" dirty="0"/>
          </a:p>
        </p:txBody>
      </p:sp>
      <p:sp>
        <p:nvSpPr>
          <p:cNvPr id="29" name="Shape 27"/>
          <p:cNvSpPr/>
          <p:nvPr/>
        </p:nvSpPr>
        <p:spPr>
          <a:xfrm>
            <a:off x="4663440" y="1965960"/>
            <a:ext cx="960120" cy="502920"/>
          </a:xfrm>
          <a:prstGeom prst="roundRect">
            <a:avLst>
              <a:gd name="adj" fmla="val 18182"/>
            </a:avLst>
          </a:prstGeom>
          <a:solidFill>
            <a:srgbClr val="F59E0B">
              <a:alpha val="70000"/>
            </a:srgbClr>
          </a:solidFill>
          <a:ln w="19050">
            <a:solidFill>
              <a:srgbClr val="F59E0B"/>
            </a:solidFill>
            <a:prstDash val="solid"/>
          </a:ln>
        </p:spPr>
        <p:txBody>
          <a:bodyPr/>
          <a:lstStyle/>
          <a:p>
            <a:endParaRPr lang="en-US"/>
          </a:p>
        </p:txBody>
      </p:sp>
      <p:sp>
        <p:nvSpPr>
          <p:cNvPr id="30" name="Text 28"/>
          <p:cNvSpPr/>
          <p:nvPr/>
        </p:nvSpPr>
        <p:spPr>
          <a:xfrm>
            <a:off x="4663440" y="1965960"/>
            <a:ext cx="960120" cy="502920"/>
          </a:xfrm>
          <a:prstGeom prst="rect">
            <a:avLst/>
          </a:prstGeom>
          <a:noFill/>
          <a:ln/>
        </p:spPr>
        <p:txBody>
          <a:bodyPr wrap="square" lIns="0" tIns="0" rIns="0" bIns="0" rtlCol="0" anchor="ctr"/>
          <a:lstStyle/>
          <a:p>
            <a:pPr marL="0" indent="0" algn="ctr">
              <a:buNone/>
            </a:pPr>
            <a:r>
              <a:rPr lang="en-US" sz="900" b="1" dirty="0">
                <a:solidFill>
                  <a:srgbClr val="F9FAFB"/>
                </a:solidFill>
                <a:latin typeface="Calibri" pitchFamily="34" charset="0"/>
                <a:ea typeface="Calibri" pitchFamily="34" charset="-122"/>
                <a:cs typeface="Calibri" pitchFamily="34" charset="-120"/>
              </a:rPr>
              <a:t>Retry policy</a:t>
            </a:r>
            <a:endParaRPr lang="en-US" sz="900" dirty="0"/>
          </a:p>
        </p:txBody>
      </p:sp>
      <p:sp>
        <p:nvSpPr>
          <p:cNvPr id="31" name="Shape 29"/>
          <p:cNvSpPr/>
          <p:nvPr/>
        </p:nvSpPr>
        <p:spPr>
          <a:xfrm>
            <a:off x="4663440" y="3017520"/>
            <a:ext cx="960120" cy="502920"/>
          </a:xfrm>
          <a:prstGeom prst="roundRect">
            <a:avLst>
              <a:gd name="adj" fmla="val 18182"/>
            </a:avLst>
          </a:prstGeom>
          <a:solidFill>
            <a:srgbClr val="EF4444">
              <a:alpha val="70000"/>
            </a:srgbClr>
          </a:solidFill>
          <a:ln w="19050">
            <a:solidFill>
              <a:srgbClr val="EF4444"/>
            </a:solidFill>
            <a:prstDash val="solid"/>
          </a:ln>
        </p:spPr>
        <p:txBody>
          <a:bodyPr/>
          <a:lstStyle/>
          <a:p>
            <a:endParaRPr lang="en-US"/>
          </a:p>
        </p:txBody>
      </p:sp>
      <p:sp>
        <p:nvSpPr>
          <p:cNvPr id="32" name="Text 30"/>
          <p:cNvSpPr/>
          <p:nvPr/>
        </p:nvSpPr>
        <p:spPr>
          <a:xfrm>
            <a:off x="4663440" y="3017520"/>
            <a:ext cx="960120" cy="502920"/>
          </a:xfrm>
          <a:prstGeom prst="rect">
            <a:avLst/>
          </a:prstGeom>
          <a:noFill/>
          <a:ln/>
        </p:spPr>
        <p:txBody>
          <a:bodyPr wrap="square" lIns="0" tIns="0" rIns="0" bIns="0" rtlCol="0" anchor="ctr"/>
          <a:lstStyle/>
          <a:p>
            <a:pPr marL="0" indent="0" algn="ctr">
              <a:buNone/>
            </a:pPr>
            <a:r>
              <a:rPr lang="en-US" sz="900" b="1" dirty="0">
                <a:solidFill>
                  <a:srgbClr val="F9FAFB"/>
                </a:solidFill>
                <a:latin typeface="Calibri" pitchFamily="34" charset="0"/>
                <a:ea typeface="Calibri" pitchFamily="34" charset="-122"/>
                <a:cs typeface="Calibri" pitchFamily="34" charset="-120"/>
              </a:rPr>
              <a:t>Fallback edge</a:t>
            </a:r>
            <a:endParaRPr lang="en-US" sz="900" dirty="0"/>
          </a:p>
        </p:txBody>
      </p:sp>
      <p:sp>
        <p:nvSpPr>
          <p:cNvPr id="33" name="Shape 31"/>
          <p:cNvSpPr/>
          <p:nvPr/>
        </p:nvSpPr>
        <p:spPr>
          <a:xfrm>
            <a:off x="5852160" y="2331720"/>
            <a:ext cx="960120" cy="502920"/>
          </a:xfrm>
          <a:prstGeom prst="roundRect">
            <a:avLst>
              <a:gd name="adj" fmla="val 18182"/>
            </a:avLst>
          </a:prstGeom>
          <a:solidFill>
            <a:srgbClr val="7C3AED">
              <a:alpha val="70000"/>
            </a:srgbClr>
          </a:solidFill>
          <a:ln w="19050">
            <a:solidFill>
              <a:srgbClr val="7C3AED"/>
            </a:solidFill>
            <a:prstDash val="solid"/>
          </a:ln>
        </p:spPr>
        <p:txBody>
          <a:bodyPr/>
          <a:lstStyle/>
          <a:p>
            <a:endParaRPr lang="en-US"/>
          </a:p>
        </p:txBody>
      </p:sp>
      <p:sp>
        <p:nvSpPr>
          <p:cNvPr id="34" name="Text 32"/>
          <p:cNvSpPr/>
          <p:nvPr/>
        </p:nvSpPr>
        <p:spPr>
          <a:xfrm>
            <a:off x="5852160" y="2331720"/>
            <a:ext cx="960120" cy="502920"/>
          </a:xfrm>
          <a:prstGeom prst="rect">
            <a:avLst/>
          </a:prstGeom>
          <a:noFill/>
          <a:ln/>
        </p:spPr>
        <p:txBody>
          <a:bodyPr wrap="square" lIns="0" tIns="0" rIns="0" bIns="0" rtlCol="0" anchor="ctr"/>
          <a:lstStyle/>
          <a:p>
            <a:pPr marL="0" indent="0" algn="ctr">
              <a:buNone/>
            </a:pPr>
            <a:r>
              <a:rPr lang="en-US" sz="900" b="1" dirty="0">
                <a:solidFill>
                  <a:srgbClr val="F9FAFB"/>
                </a:solidFill>
                <a:latin typeface="Calibri" pitchFamily="34" charset="0"/>
                <a:ea typeface="Calibri" pitchFamily="34" charset="-122"/>
                <a:cs typeface="Calibri" pitchFamily="34" charset="-120"/>
              </a:rPr>
              <a:t>Timeout</a:t>
            </a:r>
            <a:endParaRPr lang="en-US" sz="900" dirty="0"/>
          </a:p>
        </p:txBody>
      </p:sp>
      <p:sp>
        <p:nvSpPr>
          <p:cNvPr id="35" name="Shape 33"/>
          <p:cNvSpPr/>
          <p:nvPr/>
        </p:nvSpPr>
        <p:spPr>
          <a:xfrm>
            <a:off x="5852160" y="3383280"/>
            <a:ext cx="960120" cy="502920"/>
          </a:xfrm>
          <a:prstGeom prst="roundRect">
            <a:avLst>
              <a:gd name="adj" fmla="val 18182"/>
            </a:avLst>
          </a:prstGeom>
          <a:solidFill>
            <a:srgbClr val="10B981">
              <a:alpha val="70000"/>
            </a:srgbClr>
          </a:solidFill>
          <a:ln w="19050">
            <a:solidFill>
              <a:srgbClr val="10B981"/>
            </a:solidFill>
            <a:prstDash val="solid"/>
          </a:ln>
        </p:spPr>
        <p:txBody>
          <a:bodyPr/>
          <a:lstStyle/>
          <a:p>
            <a:endParaRPr lang="en-US"/>
          </a:p>
        </p:txBody>
      </p:sp>
      <p:sp>
        <p:nvSpPr>
          <p:cNvPr id="36" name="Text 34"/>
          <p:cNvSpPr/>
          <p:nvPr/>
        </p:nvSpPr>
        <p:spPr>
          <a:xfrm>
            <a:off x="5852160" y="3383280"/>
            <a:ext cx="960120" cy="502920"/>
          </a:xfrm>
          <a:prstGeom prst="rect">
            <a:avLst/>
          </a:prstGeom>
          <a:noFill/>
          <a:ln/>
        </p:spPr>
        <p:txBody>
          <a:bodyPr wrap="square" lIns="0" tIns="0" rIns="0" bIns="0" rtlCol="0" anchor="ctr"/>
          <a:lstStyle/>
          <a:p>
            <a:pPr marL="0" indent="0" algn="ctr">
              <a:buNone/>
            </a:pPr>
            <a:r>
              <a:rPr lang="en-US" sz="900" b="1" dirty="0">
                <a:solidFill>
                  <a:srgbClr val="F9FAFB"/>
                </a:solidFill>
                <a:latin typeface="Calibri" pitchFamily="34" charset="0"/>
                <a:ea typeface="Calibri" pitchFamily="34" charset="-122"/>
                <a:cs typeface="Calibri" pitchFamily="34" charset="-120"/>
              </a:rPr>
              <a:t>Cost cap</a:t>
            </a:r>
            <a:endParaRPr lang="en-US" sz="900" dirty="0"/>
          </a:p>
        </p:txBody>
      </p:sp>
      <p:sp>
        <p:nvSpPr>
          <p:cNvPr id="37" name="Shape 35"/>
          <p:cNvSpPr/>
          <p:nvPr/>
        </p:nvSpPr>
        <p:spPr>
          <a:xfrm>
            <a:off x="7132320" y="1554480"/>
            <a:ext cx="1645920" cy="3383280"/>
          </a:xfrm>
          <a:prstGeom prst="roundRect">
            <a:avLst>
              <a:gd name="adj" fmla="val 6667"/>
            </a:avLst>
          </a:prstGeom>
          <a:solidFill>
            <a:srgbClr val="0A0E1A"/>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38" name="Text 36"/>
          <p:cNvSpPr/>
          <p:nvPr/>
        </p:nvSpPr>
        <p:spPr>
          <a:xfrm>
            <a:off x="7132320" y="1554480"/>
            <a:ext cx="1645920" cy="320040"/>
          </a:xfrm>
          <a:prstGeom prst="rect">
            <a:avLst/>
          </a:prstGeom>
          <a:noFill/>
          <a:ln/>
        </p:spPr>
        <p:txBody>
          <a:bodyPr wrap="square" lIns="0" tIns="0" rIns="0" bIns="0" rtlCol="0" anchor="ctr"/>
          <a:lstStyle/>
          <a:p>
            <a:pPr marL="0" indent="0" algn="ctr">
              <a:buNone/>
            </a:pPr>
            <a:r>
              <a:rPr lang="en-US" sz="900" b="1" kern="0" spc="200" dirty="0">
                <a:solidFill>
                  <a:srgbClr val="00D4FF"/>
                </a:solidFill>
                <a:latin typeface="Calibri" pitchFamily="34" charset="0"/>
                <a:ea typeface="Calibri" pitchFamily="34" charset="-122"/>
                <a:cs typeface="Calibri" pitchFamily="34" charset="-120"/>
              </a:rPr>
              <a:t>DEBUGGING</a:t>
            </a:r>
            <a:endParaRPr lang="en-US" sz="900" dirty="0"/>
          </a:p>
        </p:txBody>
      </p:sp>
      <p:sp>
        <p:nvSpPr>
          <p:cNvPr id="39" name="Text 37"/>
          <p:cNvSpPr/>
          <p:nvPr/>
        </p:nvSpPr>
        <p:spPr>
          <a:xfrm>
            <a:off x="7223760" y="1965960"/>
            <a:ext cx="1463040" cy="274320"/>
          </a:xfrm>
          <a:prstGeom prst="rect">
            <a:avLst/>
          </a:prstGeom>
          <a:noFill/>
          <a:ln/>
        </p:spPr>
        <p:txBody>
          <a:bodyPr wrap="square" lIns="0" tIns="0" rIns="0" bIns="0" rtlCol="0" anchor="ctr"/>
          <a:lstStyle/>
          <a:p>
            <a:pPr marL="0" indent="0" algn="l">
              <a:buNone/>
            </a:pPr>
            <a:r>
              <a:rPr lang="en-US" sz="800" dirty="0">
                <a:solidFill>
                  <a:srgbClr val="9CA3AF"/>
                </a:solidFill>
                <a:latin typeface="Calibri" pitchFamily="34" charset="0"/>
                <a:ea typeface="Calibri" pitchFamily="34" charset="-122"/>
                <a:cs typeface="Calibri" pitchFamily="34" charset="-120"/>
              </a:rPr>
              <a:t>Live traces</a:t>
            </a:r>
            <a:endParaRPr lang="en-US" sz="800" dirty="0"/>
          </a:p>
        </p:txBody>
      </p:sp>
      <p:sp>
        <p:nvSpPr>
          <p:cNvPr id="40" name="Text 38"/>
          <p:cNvSpPr/>
          <p:nvPr/>
        </p:nvSpPr>
        <p:spPr>
          <a:xfrm>
            <a:off x="7223760" y="2368296"/>
            <a:ext cx="1463040" cy="274320"/>
          </a:xfrm>
          <a:prstGeom prst="rect">
            <a:avLst/>
          </a:prstGeom>
          <a:noFill/>
          <a:ln/>
        </p:spPr>
        <p:txBody>
          <a:bodyPr wrap="square" lIns="0" tIns="0" rIns="0" bIns="0" rtlCol="0" anchor="ctr"/>
          <a:lstStyle/>
          <a:p>
            <a:pPr marL="0" indent="0" algn="l">
              <a:buNone/>
            </a:pPr>
            <a:r>
              <a:rPr lang="en-US" sz="800" dirty="0">
                <a:solidFill>
                  <a:srgbClr val="9CA3AF"/>
                </a:solidFill>
                <a:latin typeface="Calibri" pitchFamily="34" charset="0"/>
                <a:ea typeface="Calibri" pitchFamily="34" charset="-122"/>
                <a:cs typeface="Calibri" pitchFamily="34" charset="-120"/>
              </a:rPr>
              <a:t>Probe results</a:t>
            </a:r>
            <a:endParaRPr lang="en-US" sz="800" dirty="0"/>
          </a:p>
        </p:txBody>
      </p:sp>
      <p:sp>
        <p:nvSpPr>
          <p:cNvPr id="41" name="Text 39"/>
          <p:cNvSpPr/>
          <p:nvPr/>
        </p:nvSpPr>
        <p:spPr>
          <a:xfrm>
            <a:off x="7223760" y="2770632"/>
            <a:ext cx="1463040" cy="274320"/>
          </a:xfrm>
          <a:prstGeom prst="rect">
            <a:avLst/>
          </a:prstGeom>
          <a:noFill/>
          <a:ln/>
        </p:spPr>
        <p:txBody>
          <a:bodyPr wrap="square" lIns="0" tIns="0" rIns="0" bIns="0" rtlCol="0" anchor="ctr"/>
          <a:lstStyle/>
          <a:p>
            <a:pPr marL="0" indent="0" algn="l">
              <a:buNone/>
            </a:pPr>
            <a:r>
              <a:rPr lang="en-US" sz="800" dirty="0">
                <a:solidFill>
                  <a:srgbClr val="9CA3AF"/>
                </a:solidFill>
                <a:latin typeface="Calibri" pitchFamily="34" charset="0"/>
                <a:ea typeface="Calibri" pitchFamily="34" charset="-122"/>
                <a:cs typeface="Calibri" pitchFamily="34" charset="-120"/>
              </a:rPr>
              <a:t>Row previews</a:t>
            </a:r>
            <a:endParaRPr lang="en-US" sz="800" dirty="0"/>
          </a:p>
        </p:txBody>
      </p:sp>
      <p:sp>
        <p:nvSpPr>
          <p:cNvPr id="42" name="Text 40"/>
          <p:cNvSpPr/>
          <p:nvPr/>
        </p:nvSpPr>
        <p:spPr>
          <a:xfrm>
            <a:off x="7223760" y="3172968"/>
            <a:ext cx="1463040" cy="274320"/>
          </a:xfrm>
          <a:prstGeom prst="rect">
            <a:avLst/>
          </a:prstGeom>
          <a:noFill/>
          <a:ln/>
        </p:spPr>
        <p:txBody>
          <a:bodyPr wrap="square" lIns="0" tIns="0" rIns="0" bIns="0" rtlCol="0" anchor="ctr"/>
          <a:lstStyle/>
          <a:p>
            <a:pPr marL="0" indent="0" algn="l">
              <a:buNone/>
            </a:pPr>
            <a:r>
              <a:rPr lang="en-US" sz="800" dirty="0">
                <a:solidFill>
                  <a:srgbClr val="9CA3AF"/>
                </a:solidFill>
                <a:latin typeface="Calibri" pitchFamily="34" charset="0"/>
                <a:ea typeface="Calibri" pitchFamily="34" charset="-122"/>
                <a:cs typeface="Calibri" pitchFamily="34" charset="-120"/>
              </a:rPr>
              <a:t>Prompt versions</a:t>
            </a:r>
            <a:endParaRPr lang="en-US" sz="800" dirty="0"/>
          </a:p>
        </p:txBody>
      </p:sp>
      <p:sp>
        <p:nvSpPr>
          <p:cNvPr id="43" name="Text 41"/>
          <p:cNvSpPr/>
          <p:nvPr/>
        </p:nvSpPr>
        <p:spPr>
          <a:xfrm>
            <a:off x="7223760" y="3575304"/>
            <a:ext cx="1463040" cy="274320"/>
          </a:xfrm>
          <a:prstGeom prst="rect">
            <a:avLst/>
          </a:prstGeom>
          <a:noFill/>
          <a:ln/>
        </p:spPr>
        <p:txBody>
          <a:bodyPr wrap="square" lIns="0" tIns="0" rIns="0" bIns="0" rtlCol="0" anchor="ctr"/>
          <a:lstStyle/>
          <a:p>
            <a:pPr marL="0" indent="0" algn="l">
              <a:buNone/>
            </a:pPr>
            <a:r>
              <a:rPr lang="en-US" sz="800" dirty="0">
                <a:solidFill>
                  <a:srgbClr val="9CA3AF"/>
                </a:solidFill>
                <a:latin typeface="Calibri" pitchFamily="34" charset="0"/>
                <a:ea typeface="Calibri" pitchFamily="34" charset="-122"/>
                <a:cs typeface="Calibri" pitchFamily="34" charset="-120"/>
              </a:rPr>
              <a:t>Gold comparison</a:t>
            </a:r>
            <a:endParaRPr lang="en-US" sz="800" dirty="0"/>
          </a:p>
        </p:txBody>
      </p:sp>
      <p:sp>
        <p:nvSpPr>
          <p:cNvPr id="44" name="Text 42"/>
          <p:cNvSpPr/>
          <p:nvPr/>
        </p:nvSpPr>
        <p:spPr>
          <a:xfrm>
            <a:off x="7223760" y="3977640"/>
            <a:ext cx="1463040" cy="274320"/>
          </a:xfrm>
          <a:prstGeom prst="rect">
            <a:avLst/>
          </a:prstGeom>
          <a:noFill/>
          <a:ln/>
        </p:spPr>
        <p:txBody>
          <a:bodyPr wrap="square" lIns="0" tIns="0" rIns="0" bIns="0" rtlCol="0" anchor="ctr"/>
          <a:lstStyle/>
          <a:p>
            <a:pPr marL="0" indent="0" algn="l">
              <a:buNone/>
            </a:pPr>
            <a:r>
              <a:rPr lang="en-US" sz="800" dirty="0">
                <a:solidFill>
                  <a:srgbClr val="9CA3AF"/>
                </a:solidFill>
                <a:latin typeface="Calibri" pitchFamily="34" charset="0"/>
                <a:ea typeface="Calibri" pitchFamily="34" charset="-122"/>
                <a:cs typeface="Calibri" pitchFamily="34" charset="-120"/>
              </a:rPr>
              <a:t>Approval gates</a:t>
            </a:r>
            <a:endParaRPr lang="en-US" sz="800" dirty="0"/>
          </a:p>
        </p:txBody>
      </p:sp>
      <p:sp>
        <p:nvSpPr>
          <p:cNvPr id="45" name="Text 43"/>
          <p:cNvSpPr/>
          <p:nvPr/>
        </p:nvSpPr>
        <p:spPr>
          <a:xfrm>
            <a:off x="365760" y="5029200"/>
            <a:ext cx="8412480" cy="228600"/>
          </a:xfrm>
          <a:prstGeom prst="rect">
            <a:avLst/>
          </a:prstGeom>
          <a:noFill/>
          <a:ln/>
        </p:spPr>
        <p:txBody>
          <a:bodyPr wrap="square" lIns="0" tIns="0" rIns="0" bIns="0" rtlCol="0" anchor="ctr"/>
          <a:lstStyle/>
          <a:p>
            <a:pPr marL="0" indent="0" algn="ctr">
              <a:buNone/>
            </a:pPr>
            <a:r>
              <a:rPr lang="en-US" sz="900" dirty="0">
                <a:solidFill>
                  <a:srgbClr val="9CA3AF"/>
                </a:solidFill>
                <a:latin typeface="Calibri" pitchFamily="34" charset="0"/>
                <a:ea typeface="Calibri" pitchFamily="34" charset="-122"/>
                <a:cs typeface="Calibri" pitchFamily="34" charset="-120"/>
              </a:rPr>
              <a:t>Why it matters: enterprise AI teams need to test, replay, compare, and govern agent behavior like real software.</a:t>
            </a:r>
            <a:endParaRPr lang="en-US" sz="900" dirty="0"/>
          </a:p>
        </p:txBody>
      </p:sp>
      <p:pic>
        <p:nvPicPr>
          <p:cNvPr id="46" name="Picture 45">
            <a:extLst>
              <a:ext uri="{FF2B5EF4-FFF2-40B4-BE49-F238E27FC236}">
                <a16:creationId xmlns:a16="http://schemas.microsoft.com/office/drawing/2014/main" id="{7F131DB8-3894-7EFC-C2AB-565D9E614307}"/>
              </a:ext>
            </a:extLst>
          </p:cNvPr>
          <p:cNvPicPr>
            <a:picLocks noChangeAspect="1"/>
          </p:cNvPicPr>
          <p:nvPr/>
        </p:nvPicPr>
        <p:blipFill>
          <a:blip r:embed="rId2"/>
          <a:srcRect l="-928" t="29746" r="928" b="36645"/>
          <a:stretch>
            <a:fillRect/>
          </a:stretch>
        </p:blipFill>
        <p:spPr>
          <a:xfrm>
            <a:off x="8218575" y="45720"/>
            <a:ext cx="861058" cy="289396"/>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9">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oundRect">
            <a:avLst>
              <a:gd name="adj" fmla="val 25000"/>
            </a:avLst>
          </a:prstGeom>
          <a:solidFill>
            <a:srgbClr val="7C3AED">
              <a:alpha val="80000"/>
            </a:srgbClr>
          </a:solidFill>
          <a:ln w="12700">
            <a:solidFill>
              <a:srgbClr val="7C3AED"/>
            </a:solidFill>
            <a:prstDash val="solid"/>
          </a:ln>
        </p:spPr>
        <p:txBody>
          <a:bodyPr/>
          <a:lstStyle/>
          <a:p>
            <a:endParaRPr lang="en-US"/>
          </a:p>
        </p:txBody>
      </p:sp>
      <p:sp>
        <p:nvSpPr>
          <p:cNvPr id="3" name="Text 1"/>
          <p:cNvSpPr/>
          <p:nvPr/>
        </p:nvSpPr>
        <p:spPr>
          <a:xfrm>
            <a:off x="365760" y="201168"/>
            <a:ext cx="2011680" cy="292608"/>
          </a:xfrm>
          <a:prstGeom prst="rect">
            <a:avLst/>
          </a:prstGeom>
          <a:noFill/>
          <a:ln/>
        </p:spPr>
        <p:txBody>
          <a:bodyPr wrap="square" lIns="0" tIns="0" rIns="0" bIns="0" rtlCol="0" anchor="ctr"/>
          <a:lstStyle/>
          <a:p>
            <a:pPr marL="0" indent="0" algn="ctr">
              <a:buNone/>
            </a:pPr>
            <a:r>
              <a:rPr lang="en-US" sz="800" b="1" kern="0" spc="200" dirty="0">
                <a:solidFill>
                  <a:srgbClr val="F9FAFB"/>
                </a:solidFill>
              </a:rPr>
              <a:t>SECTION 24 - RESEARCH RETROSPECTIVE</a:t>
            </a:r>
            <a:endParaRPr lang="en-US" sz="800" dirty="0"/>
          </a:p>
        </p:txBody>
      </p:sp>
      <p:sp>
        <p:nvSpPr>
          <p:cNvPr id="4" name="Text 2"/>
          <p:cNvSpPr/>
          <p:nvPr/>
        </p:nvSpPr>
        <p:spPr>
          <a:xfrm>
            <a:off x="365760" y="594360"/>
            <a:ext cx="8412480" cy="594360"/>
          </a:xfrm>
          <a:prstGeom prst="rect">
            <a:avLst/>
          </a:prstGeom>
          <a:noFill/>
          <a:ln/>
        </p:spPr>
        <p:txBody>
          <a:bodyPr wrap="square" lIns="0" tIns="0" rIns="0" bIns="0" rtlCol="0" anchor="ctr"/>
          <a:lstStyle/>
          <a:p>
            <a:pPr marL="0" indent="0" algn="l">
              <a:buNone/>
            </a:pPr>
            <a:r>
              <a:rPr lang="en-US" sz="3000" b="1" dirty="0">
                <a:solidFill>
                  <a:srgbClr val="F9FAFB"/>
                </a:solidFill>
                <a:latin typeface="Calibri" pitchFamily="34" charset="0"/>
                <a:ea typeface="Calibri" pitchFamily="34" charset="-122"/>
                <a:cs typeface="Calibri" pitchFamily="34" charset="-120"/>
              </a:rPr>
              <a:t>What This Project Teaches About Agentic AI</a:t>
            </a:r>
            <a:endParaRPr lang="en-US" sz="3000" dirty="0"/>
          </a:p>
        </p:txBody>
      </p:sp>
      <p:sp>
        <p:nvSpPr>
          <p:cNvPr id="5" name="Text 3"/>
          <p:cNvSpPr/>
          <p:nvPr/>
        </p:nvSpPr>
        <p:spPr>
          <a:xfrm>
            <a:off x="365760" y="1143000"/>
            <a:ext cx="8412480" cy="32004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SpiderDIN is a case study in turning research ideas into production controls</a:t>
            </a:r>
            <a:endParaRPr lang="en-US" sz="1300" dirty="0"/>
          </a:p>
        </p:txBody>
      </p:sp>
      <p:sp>
        <p:nvSpPr>
          <p:cNvPr id="6" name="Shape 4"/>
          <p:cNvSpPr/>
          <p:nvPr/>
        </p:nvSpPr>
        <p:spPr>
          <a:xfrm>
            <a:off x="365760" y="1417320"/>
            <a:ext cx="8412480" cy="36576"/>
          </a:xfrm>
          <a:prstGeom prst="rect">
            <a:avLst/>
          </a:prstGeom>
          <a:solidFill>
            <a:srgbClr val="7C3AED"/>
          </a:solidFill>
          <a:ln w="12700">
            <a:solidFill>
              <a:srgbClr val="7C3AED"/>
            </a:solidFill>
            <a:prstDash val="solid"/>
          </a:ln>
        </p:spPr>
        <p:txBody>
          <a:bodyPr/>
          <a:lstStyle/>
          <a:p>
            <a:endParaRPr lang="en-US"/>
          </a:p>
        </p:txBody>
      </p:sp>
      <p:sp>
        <p:nvSpPr>
          <p:cNvPr id="7" name="Shape 5"/>
          <p:cNvSpPr/>
          <p:nvPr/>
        </p:nvSpPr>
        <p:spPr>
          <a:xfrm>
            <a:off x="365760" y="1600200"/>
            <a:ext cx="2606040" cy="1417320"/>
          </a:xfrm>
          <a:prstGeom prst="roundRect">
            <a:avLst>
              <a:gd name="adj" fmla="val 774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8" name="Shape 6"/>
          <p:cNvSpPr/>
          <p:nvPr/>
        </p:nvSpPr>
        <p:spPr>
          <a:xfrm>
            <a:off x="475488" y="1709928"/>
            <a:ext cx="594360" cy="548640"/>
          </a:xfrm>
          <a:prstGeom prst="roundRect">
            <a:avLst>
              <a:gd name="adj" fmla="val 16667"/>
            </a:avLst>
          </a:prstGeom>
          <a:solidFill>
            <a:srgbClr val="00D4FF">
              <a:alpha val="70000"/>
            </a:srgbClr>
          </a:solidFill>
          <a:ln w="12700">
            <a:solidFill>
              <a:srgbClr val="00D4FF"/>
            </a:solidFill>
            <a:prstDash val="solid"/>
          </a:ln>
        </p:spPr>
        <p:txBody>
          <a:bodyPr/>
          <a:lstStyle/>
          <a:p>
            <a:endParaRPr lang="en-US"/>
          </a:p>
        </p:txBody>
      </p:sp>
      <p:sp>
        <p:nvSpPr>
          <p:cNvPr id="9" name="Text 7"/>
          <p:cNvSpPr/>
          <p:nvPr/>
        </p:nvSpPr>
        <p:spPr>
          <a:xfrm>
            <a:off x="475488" y="1709928"/>
            <a:ext cx="594360" cy="548640"/>
          </a:xfrm>
          <a:prstGeom prst="rect">
            <a:avLst/>
          </a:prstGeom>
          <a:noFill/>
          <a:ln/>
        </p:spPr>
        <p:txBody>
          <a:bodyPr wrap="square" lIns="0" tIns="0" rIns="0" bIns="0" rtlCol="0" anchor="ctr"/>
          <a:lstStyle/>
          <a:p>
            <a:pPr marL="0" indent="0" algn="ctr">
              <a:buNone/>
            </a:pPr>
            <a:r>
              <a:rPr lang="en-US" sz="1800" dirty="0">
                <a:solidFill>
                  <a:srgbClr val="000000"/>
                </a:solidFill>
              </a:rPr>
              <a:t>01</a:t>
            </a:r>
            <a:endParaRPr lang="en-US" sz="1800" dirty="0"/>
          </a:p>
        </p:txBody>
      </p:sp>
      <p:sp>
        <p:nvSpPr>
          <p:cNvPr id="10" name="Text 8"/>
          <p:cNvSpPr/>
          <p:nvPr/>
        </p:nvSpPr>
        <p:spPr>
          <a:xfrm>
            <a:off x="1143000" y="1728216"/>
            <a:ext cx="1737360" cy="320040"/>
          </a:xfrm>
          <a:prstGeom prst="rect">
            <a:avLst/>
          </a:prstGeom>
          <a:noFill/>
          <a:ln/>
        </p:spPr>
        <p:txBody>
          <a:bodyPr wrap="square" lIns="0" tIns="0" rIns="0" bIns="0" rtlCol="0" anchor="ctr"/>
          <a:lstStyle/>
          <a:p>
            <a:pPr marL="0" indent="0" algn="l">
              <a:buNone/>
            </a:pPr>
            <a:r>
              <a:rPr lang="en-US" sz="1100" b="1" dirty="0">
                <a:solidFill>
                  <a:srgbClr val="00D4FF"/>
                </a:solidFill>
                <a:latin typeface="Calibri" pitchFamily="34" charset="0"/>
                <a:ea typeface="Calibri" pitchFamily="34" charset="-122"/>
                <a:cs typeface="Calibri" pitchFamily="34" charset="-120"/>
              </a:rPr>
              <a:t>ReAct Needs State</a:t>
            </a:r>
            <a:endParaRPr lang="en-US" sz="1100" dirty="0"/>
          </a:p>
        </p:txBody>
      </p:sp>
      <p:sp>
        <p:nvSpPr>
          <p:cNvPr id="11" name="Text 9"/>
          <p:cNvSpPr/>
          <p:nvPr/>
        </p:nvSpPr>
        <p:spPr>
          <a:xfrm>
            <a:off x="475488" y="2350008"/>
            <a:ext cx="2377440" cy="56692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Thought-action-observation only works if observations become structured evidence.</a:t>
            </a:r>
            <a:endParaRPr lang="en-US" sz="900" dirty="0"/>
          </a:p>
        </p:txBody>
      </p:sp>
      <p:sp>
        <p:nvSpPr>
          <p:cNvPr id="12" name="Shape 10"/>
          <p:cNvSpPr/>
          <p:nvPr/>
        </p:nvSpPr>
        <p:spPr>
          <a:xfrm>
            <a:off x="3200400" y="1600200"/>
            <a:ext cx="2606040" cy="1417320"/>
          </a:xfrm>
          <a:prstGeom prst="roundRect">
            <a:avLst>
              <a:gd name="adj" fmla="val 774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3" name="Shape 11"/>
          <p:cNvSpPr/>
          <p:nvPr/>
        </p:nvSpPr>
        <p:spPr>
          <a:xfrm>
            <a:off x="3310128" y="1709928"/>
            <a:ext cx="594360" cy="548640"/>
          </a:xfrm>
          <a:prstGeom prst="roundRect">
            <a:avLst>
              <a:gd name="adj" fmla="val 16667"/>
            </a:avLst>
          </a:prstGeom>
          <a:solidFill>
            <a:srgbClr val="7C3AED">
              <a:alpha val="70000"/>
            </a:srgbClr>
          </a:solidFill>
          <a:ln w="12700">
            <a:solidFill>
              <a:srgbClr val="7C3AED"/>
            </a:solidFill>
            <a:prstDash val="solid"/>
          </a:ln>
        </p:spPr>
        <p:txBody>
          <a:bodyPr/>
          <a:lstStyle/>
          <a:p>
            <a:endParaRPr lang="en-US"/>
          </a:p>
        </p:txBody>
      </p:sp>
      <p:sp>
        <p:nvSpPr>
          <p:cNvPr id="14" name="Text 12"/>
          <p:cNvSpPr/>
          <p:nvPr/>
        </p:nvSpPr>
        <p:spPr>
          <a:xfrm>
            <a:off x="3310128" y="1709928"/>
            <a:ext cx="594360" cy="548640"/>
          </a:xfrm>
          <a:prstGeom prst="rect">
            <a:avLst/>
          </a:prstGeom>
          <a:noFill/>
          <a:ln/>
        </p:spPr>
        <p:txBody>
          <a:bodyPr wrap="square" lIns="0" tIns="0" rIns="0" bIns="0" rtlCol="0" anchor="ctr"/>
          <a:lstStyle/>
          <a:p>
            <a:pPr marL="0" indent="0" algn="ctr">
              <a:buNone/>
            </a:pPr>
            <a:r>
              <a:rPr lang="en-US" sz="1800" dirty="0">
                <a:solidFill>
                  <a:srgbClr val="000000"/>
                </a:solidFill>
              </a:rPr>
              <a:t>02</a:t>
            </a:r>
            <a:endParaRPr lang="en-US" sz="1800" dirty="0"/>
          </a:p>
        </p:txBody>
      </p:sp>
      <p:sp>
        <p:nvSpPr>
          <p:cNvPr id="15" name="Text 13"/>
          <p:cNvSpPr/>
          <p:nvPr/>
        </p:nvSpPr>
        <p:spPr>
          <a:xfrm>
            <a:off x="3977640" y="1728216"/>
            <a:ext cx="1737360" cy="320040"/>
          </a:xfrm>
          <a:prstGeom prst="rect">
            <a:avLst/>
          </a:prstGeom>
          <a:noFill/>
          <a:ln/>
        </p:spPr>
        <p:txBody>
          <a:bodyPr wrap="square" lIns="0" tIns="0" rIns="0" bIns="0" rtlCol="0" anchor="ctr"/>
          <a:lstStyle/>
          <a:p>
            <a:pPr marL="0" indent="0" algn="l">
              <a:buNone/>
            </a:pPr>
            <a:r>
              <a:rPr lang="en-US" sz="1100" b="1" dirty="0">
                <a:solidFill>
                  <a:srgbClr val="7C3AED"/>
                </a:solidFill>
                <a:latin typeface="Calibri" pitchFamily="34" charset="0"/>
                <a:ea typeface="Calibri" pitchFamily="34" charset="-122"/>
                <a:cs typeface="Calibri" pitchFamily="34" charset="-120"/>
              </a:rPr>
              <a:t>Reflexion Needs Memory</a:t>
            </a:r>
            <a:endParaRPr lang="en-US" sz="1100" dirty="0"/>
          </a:p>
        </p:txBody>
      </p:sp>
      <p:sp>
        <p:nvSpPr>
          <p:cNvPr id="16" name="Text 14"/>
          <p:cNvSpPr/>
          <p:nvPr/>
        </p:nvSpPr>
        <p:spPr>
          <a:xfrm>
            <a:off x="3310128" y="2350008"/>
            <a:ext cx="2377440" cy="56692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A retry loop must remember failures, hashes, probes, and prior best SQL.</a:t>
            </a:r>
            <a:endParaRPr lang="en-US" sz="900" dirty="0"/>
          </a:p>
        </p:txBody>
      </p:sp>
      <p:sp>
        <p:nvSpPr>
          <p:cNvPr id="17" name="Shape 15"/>
          <p:cNvSpPr/>
          <p:nvPr/>
        </p:nvSpPr>
        <p:spPr>
          <a:xfrm>
            <a:off x="6035040" y="1600200"/>
            <a:ext cx="2606040" cy="1417320"/>
          </a:xfrm>
          <a:prstGeom prst="roundRect">
            <a:avLst>
              <a:gd name="adj" fmla="val 774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8" name="Shape 16"/>
          <p:cNvSpPr/>
          <p:nvPr/>
        </p:nvSpPr>
        <p:spPr>
          <a:xfrm>
            <a:off x="6144768" y="1709928"/>
            <a:ext cx="594360" cy="548640"/>
          </a:xfrm>
          <a:prstGeom prst="roundRect">
            <a:avLst>
              <a:gd name="adj" fmla="val 16667"/>
            </a:avLst>
          </a:prstGeom>
          <a:solidFill>
            <a:srgbClr val="10B981">
              <a:alpha val="70000"/>
            </a:srgbClr>
          </a:solidFill>
          <a:ln w="12700">
            <a:solidFill>
              <a:srgbClr val="10B981"/>
            </a:solidFill>
            <a:prstDash val="solid"/>
          </a:ln>
        </p:spPr>
        <p:txBody>
          <a:bodyPr/>
          <a:lstStyle/>
          <a:p>
            <a:endParaRPr lang="en-US"/>
          </a:p>
        </p:txBody>
      </p:sp>
      <p:sp>
        <p:nvSpPr>
          <p:cNvPr id="19" name="Text 17"/>
          <p:cNvSpPr/>
          <p:nvPr/>
        </p:nvSpPr>
        <p:spPr>
          <a:xfrm>
            <a:off x="6144768" y="1709928"/>
            <a:ext cx="594360" cy="548640"/>
          </a:xfrm>
          <a:prstGeom prst="rect">
            <a:avLst/>
          </a:prstGeom>
          <a:noFill/>
          <a:ln/>
        </p:spPr>
        <p:txBody>
          <a:bodyPr wrap="square" lIns="0" tIns="0" rIns="0" bIns="0" rtlCol="0" anchor="ctr"/>
          <a:lstStyle/>
          <a:p>
            <a:pPr marL="0" indent="0" algn="ctr">
              <a:buNone/>
            </a:pPr>
            <a:r>
              <a:rPr lang="en-US" sz="1800" dirty="0">
                <a:solidFill>
                  <a:srgbClr val="000000"/>
                </a:solidFill>
              </a:rPr>
              <a:t>03</a:t>
            </a:r>
            <a:endParaRPr lang="en-US" sz="1800" dirty="0"/>
          </a:p>
        </p:txBody>
      </p:sp>
      <p:sp>
        <p:nvSpPr>
          <p:cNvPr id="20" name="Text 18"/>
          <p:cNvSpPr/>
          <p:nvPr/>
        </p:nvSpPr>
        <p:spPr>
          <a:xfrm>
            <a:off x="6812280" y="1728216"/>
            <a:ext cx="1737360" cy="320040"/>
          </a:xfrm>
          <a:prstGeom prst="rect">
            <a:avLst/>
          </a:prstGeom>
          <a:noFill/>
          <a:ln/>
        </p:spPr>
        <p:txBody>
          <a:bodyPr wrap="square" lIns="0" tIns="0" rIns="0" bIns="0" rtlCol="0" anchor="ctr"/>
          <a:lstStyle/>
          <a:p>
            <a:pPr marL="0" indent="0" algn="l">
              <a:buNone/>
            </a:pPr>
            <a:r>
              <a:rPr lang="en-US" sz="1100" b="1" dirty="0">
                <a:solidFill>
                  <a:srgbClr val="10B981"/>
                </a:solidFill>
                <a:latin typeface="Calibri" pitchFamily="34" charset="0"/>
                <a:ea typeface="Calibri" pitchFamily="34" charset="-122"/>
                <a:cs typeface="Calibri" pitchFamily="34" charset="-120"/>
              </a:rPr>
              <a:t>RAG Needs Precision</a:t>
            </a:r>
            <a:endParaRPr lang="en-US" sz="1100" dirty="0"/>
          </a:p>
        </p:txBody>
      </p:sp>
      <p:sp>
        <p:nvSpPr>
          <p:cNvPr id="21" name="Text 19"/>
          <p:cNvSpPr/>
          <p:nvPr/>
        </p:nvSpPr>
        <p:spPr>
          <a:xfrm>
            <a:off x="6144768" y="2350008"/>
            <a:ext cx="2377440" cy="56692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Retrieval is not just semantic similarity; samples, FQNs, nested keys, and literals matter.</a:t>
            </a:r>
            <a:endParaRPr lang="en-US" sz="900" dirty="0"/>
          </a:p>
        </p:txBody>
      </p:sp>
      <p:sp>
        <p:nvSpPr>
          <p:cNvPr id="22" name="Shape 20"/>
          <p:cNvSpPr/>
          <p:nvPr/>
        </p:nvSpPr>
        <p:spPr>
          <a:xfrm>
            <a:off x="365760" y="3200400"/>
            <a:ext cx="2606040" cy="1417320"/>
          </a:xfrm>
          <a:prstGeom prst="roundRect">
            <a:avLst>
              <a:gd name="adj" fmla="val 774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3" name="Shape 21"/>
          <p:cNvSpPr/>
          <p:nvPr/>
        </p:nvSpPr>
        <p:spPr>
          <a:xfrm>
            <a:off x="475488" y="3310128"/>
            <a:ext cx="594360" cy="548640"/>
          </a:xfrm>
          <a:prstGeom prst="roundRect">
            <a:avLst>
              <a:gd name="adj" fmla="val 16667"/>
            </a:avLst>
          </a:prstGeom>
          <a:solidFill>
            <a:srgbClr val="F59E0B">
              <a:alpha val="70000"/>
            </a:srgbClr>
          </a:solidFill>
          <a:ln w="12700">
            <a:solidFill>
              <a:srgbClr val="F59E0B"/>
            </a:solidFill>
            <a:prstDash val="solid"/>
          </a:ln>
        </p:spPr>
        <p:txBody>
          <a:bodyPr/>
          <a:lstStyle/>
          <a:p>
            <a:endParaRPr lang="en-US"/>
          </a:p>
        </p:txBody>
      </p:sp>
      <p:sp>
        <p:nvSpPr>
          <p:cNvPr id="24" name="Text 22"/>
          <p:cNvSpPr/>
          <p:nvPr/>
        </p:nvSpPr>
        <p:spPr>
          <a:xfrm>
            <a:off x="475488" y="3310128"/>
            <a:ext cx="594360" cy="548640"/>
          </a:xfrm>
          <a:prstGeom prst="rect">
            <a:avLst/>
          </a:prstGeom>
          <a:noFill/>
          <a:ln/>
        </p:spPr>
        <p:txBody>
          <a:bodyPr wrap="square" lIns="0" tIns="0" rIns="0" bIns="0" rtlCol="0" anchor="ctr"/>
          <a:lstStyle/>
          <a:p>
            <a:pPr marL="0" indent="0" algn="ctr">
              <a:buNone/>
            </a:pPr>
            <a:r>
              <a:rPr lang="en-US" sz="1800" dirty="0">
                <a:solidFill>
                  <a:srgbClr val="000000"/>
                </a:solidFill>
              </a:rPr>
              <a:t>04</a:t>
            </a:r>
            <a:endParaRPr lang="en-US" sz="1800" dirty="0"/>
          </a:p>
        </p:txBody>
      </p:sp>
      <p:sp>
        <p:nvSpPr>
          <p:cNvPr id="25" name="Text 23"/>
          <p:cNvSpPr/>
          <p:nvPr/>
        </p:nvSpPr>
        <p:spPr>
          <a:xfrm>
            <a:off x="1143000" y="3328416"/>
            <a:ext cx="1737360" cy="320040"/>
          </a:xfrm>
          <a:prstGeom prst="rect">
            <a:avLst/>
          </a:prstGeom>
          <a:noFill/>
          <a:ln/>
        </p:spPr>
        <p:txBody>
          <a:bodyPr wrap="square" lIns="0" tIns="0" rIns="0" bIns="0" rtlCol="0" anchor="ctr"/>
          <a:lstStyle/>
          <a:p>
            <a:pPr marL="0" indent="0" algn="l">
              <a:buNone/>
            </a:pPr>
            <a:r>
              <a:rPr lang="en-US" sz="1100" b="1" dirty="0">
                <a:solidFill>
                  <a:srgbClr val="F59E0B"/>
                </a:solidFill>
                <a:latin typeface="Calibri" pitchFamily="34" charset="0"/>
                <a:ea typeface="Calibri" pitchFamily="34" charset="-122"/>
                <a:cs typeface="Calibri" pitchFamily="34" charset="-120"/>
              </a:rPr>
              <a:t>Critics Need Contracts</a:t>
            </a:r>
            <a:endParaRPr lang="en-US" sz="1100" dirty="0"/>
          </a:p>
        </p:txBody>
      </p:sp>
      <p:sp>
        <p:nvSpPr>
          <p:cNvPr id="26" name="Text 24"/>
          <p:cNvSpPr/>
          <p:nvPr/>
        </p:nvSpPr>
        <p:spPr>
          <a:xfrm>
            <a:off x="475488" y="3950208"/>
            <a:ext cx="2377440" cy="56692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A critic should emit actionable recipes, not vibes. Structured JSON matters.</a:t>
            </a:r>
            <a:endParaRPr lang="en-US" sz="900" dirty="0"/>
          </a:p>
        </p:txBody>
      </p:sp>
      <p:sp>
        <p:nvSpPr>
          <p:cNvPr id="27" name="Shape 25"/>
          <p:cNvSpPr/>
          <p:nvPr/>
        </p:nvSpPr>
        <p:spPr>
          <a:xfrm>
            <a:off x="3200400" y="3200400"/>
            <a:ext cx="2606040" cy="1417320"/>
          </a:xfrm>
          <a:prstGeom prst="roundRect">
            <a:avLst>
              <a:gd name="adj" fmla="val 774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8" name="Shape 26"/>
          <p:cNvSpPr/>
          <p:nvPr/>
        </p:nvSpPr>
        <p:spPr>
          <a:xfrm>
            <a:off x="3310128" y="3310128"/>
            <a:ext cx="594360" cy="548640"/>
          </a:xfrm>
          <a:prstGeom prst="roundRect">
            <a:avLst>
              <a:gd name="adj" fmla="val 16667"/>
            </a:avLst>
          </a:prstGeom>
          <a:solidFill>
            <a:srgbClr val="EF4444">
              <a:alpha val="70000"/>
            </a:srgbClr>
          </a:solidFill>
          <a:ln w="12700">
            <a:solidFill>
              <a:srgbClr val="EF4444"/>
            </a:solidFill>
            <a:prstDash val="solid"/>
          </a:ln>
        </p:spPr>
        <p:txBody>
          <a:bodyPr/>
          <a:lstStyle/>
          <a:p>
            <a:endParaRPr lang="en-US"/>
          </a:p>
        </p:txBody>
      </p:sp>
      <p:sp>
        <p:nvSpPr>
          <p:cNvPr id="29" name="Text 27"/>
          <p:cNvSpPr/>
          <p:nvPr/>
        </p:nvSpPr>
        <p:spPr>
          <a:xfrm>
            <a:off x="3310128" y="3310128"/>
            <a:ext cx="594360" cy="548640"/>
          </a:xfrm>
          <a:prstGeom prst="rect">
            <a:avLst/>
          </a:prstGeom>
          <a:noFill/>
          <a:ln/>
        </p:spPr>
        <p:txBody>
          <a:bodyPr wrap="square" lIns="0" tIns="0" rIns="0" bIns="0" rtlCol="0" anchor="ctr"/>
          <a:lstStyle/>
          <a:p>
            <a:pPr marL="0" indent="0" algn="ctr">
              <a:buNone/>
            </a:pPr>
            <a:r>
              <a:rPr lang="en-US" sz="1800" dirty="0">
                <a:solidFill>
                  <a:srgbClr val="000000"/>
                </a:solidFill>
              </a:rPr>
              <a:t>05</a:t>
            </a:r>
            <a:endParaRPr lang="en-US" sz="1800" dirty="0"/>
          </a:p>
        </p:txBody>
      </p:sp>
      <p:sp>
        <p:nvSpPr>
          <p:cNvPr id="30" name="Text 28"/>
          <p:cNvSpPr/>
          <p:nvPr/>
        </p:nvSpPr>
        <p:spPr>
          <a:xfrm>
            <a:off x="3977640" y="3328416"/>
            <a:ext cx="1737360" cy="320040"/>
          </a:xfrm>
          <a:prstGeom prst="rect">
            <a:avLst/>
          </a:prstGeom>
          <a:noFill/>
          <a:ln/>
        </p:spPr>
        <p:txBody>
          <a:bodyPr wrap="square" lIns="0" tIns="0" rIns="0" bIns="0" rtlCol="0" anchor="ctr"/>
          <a:lstStyle/>
          <a:p>
            <a:pPr marL="0" indent="0" algn="l">
              <a:buNone/>
            </a:pPr>
            <a:r>
              <a:rPr lang="en-US" sz="1100" b="1" dirty="0">
                <a:solidFill>
                  <a:srgbClr val="EF4444"/>
                </a:solidFill>
                <a:latin typeface="Calibri" pitchFamily="34" charset="0"/>
                <a:ea typeface="Calibri" pitchFamily="34" charset="-122"/>
                <a:cs typeface="Calibri" pitchFamily="34" charset="-120"/>
              </a:rPr>
              <a:t>Validation Needs Data</a:t>
            </a:r>
            <a:endParaRPr lang="en-US" sz="1100" dirty="0"/>
          </a:p>
        </p:txBody>
      </p:sp>
      <p:sp>
        <p:nvSpPr>
          <p:cNvPr id="31" name="Text 29"/>
          <p:cNvSpPr/>
          <p:nvPr/>
        </p:nvSpPr>
        <p:spPr>
          <a:xfrm>
            <a:off x="3310128" y="3950208"/>
            <a:ext cx="2377440" cy="56692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EDA and execution traces catch errors the prompt cannot predict.</a:t>
            </a:r>
            <a:endParaRPr lang="en-US" sz="900" dirty="0"/>
          </a:p>
        </p:txBody>
      </p:sp>
      <p:sp>
        <p:nvSpPr>
          <p:cNvPr id="32" name="Shape 30"/>
          <p:cNvSpPr/>
          <p:nvPr/>
        </p:nvSpPr>
        <p:spPr>
          <a:xfrm>
            <a:off x="6035040" y="3200400"/>
            <a:ext cx="2606040" cy="1417320"/>
          </a:xfrm>
          <a:prstGeom prst="roundRect">
            <a:avLst>
              <a:gd name="adj" fmla="val 7742"/>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33" name="Shape 31"/>
          <p:cNvSpPr/>
          <p:nvPr/>
        </p:nvSpPr>
        <p:spPr>
          <a:xfrm>
            <a:off x="6144768" y="3310128"/>
            <a:ext cx="594360" cy="548640"/>
          </a:xfrm>
          <a:prstGeom prst="roundRect">
            <a:avLst>
              <a:gd name="adj" fmla="val 16667"/>
            </a:avLst>
          </a:prstGeom>
          <a:solidFill>
            <a:srgbClr val="00D4FF">
              <a:alpha val="70000"/>
            </a:srgbClr>
          </a:solidFill>
          <a:ln w="12700">
            <a:solidFill>
              <a:srgbClr val="00D4FF"/>
            </a:solidFill>
            <a:prstDash val="solid"/>
          </a:ln>
        </p:spPr>
        <p:txBody>
          <a:bodyPr/>
          <a:lstStyle/>
          <a:p>
            <a:endParaRPr lang="en-US"/>
          </a:p>
        </p:txBody>
      </p:sp>
      <p:sp>
        <p:nvSpPr>
          <p:cNvPr id="34" name="Text 32"/>
          <p:cNvSpPr/>
          <p:nvPr/>
        </p:nvSpPr>
        <p:spPr>
          <a:xfrm>
            <a:off x="6144768" y="3310128"/>
            <a:ext cx="594360" cy="548640"/>
          </a:xfrm>
          <a:prstGeom prst="rect">
            <a:avLst/>
          </a:prstGeom>
          <a:noFill/>
          <a:ln/>
        </p:spPr>
        <p:txBody>
          <a:bodyPr wrap="square" lIns="0" tIns="0" rIns="0" bIns="0" rtlCol="0" anchor="ctr"/>
          <a:lstStyle/>
          <a:p>
            <a:pPr marL="0" indent="0" algn="ctr">
              <a:buNone/>
            </a:pPr>
            <a:r>
              <a:rPr lang="en-US" sz="1800" dirty="0">
                <a:solidFill>
                  <a:srgbClr val="000000"/>
                </a:solidFill>
              </a:rPr>
              <a:t>06</a:t>
            </a:r>
            <a:endParaRPr lang="en-US" sz="1800" dirty="0"/>
          </a:p>
        </p:txBody>
      </p:sp>
      <p:sp>
        <p:nvSpPr>
          <p:cNvPr id="35" name="Text 33"/>
          <p:cNvSpPr/>
          <p:nvPr/>
        </p:nvSpPr>
        <p:spPr>
          <a:xfrm>
            <a:off x="6812280" y="3328416"/>
            <a:ext cx="1737360" cy="320040"/>
          </a:xfrm>
          <a:prstGeom prst="rect">
            <a:avLst/>
          </a:prstGeom>
          <a:noFill/>
          <a:ln/>
        </p:spPr>
        <p:txBody>
          <a:bodyPr wrap="square" lIns="0" tIns="0" rIns="0" bIns="0" rtlCol="0" anchor="ctr"/>
          <a:lstStyle/>
          <a:p>
            <a:pPr marL="0" indent="0" algn="l">
              <a:buNone/>
            </a:pPr>
            <a:r>
              <a:rPr lang="en-US" sz="1100" b="1" dirty="0">
                <a:solidFill>
                  <a:srgbClr val="00D4FF"/>
                </a:solidFill>
                <a:latin typeface="Calibri" pitchFamily="34" charset="0"/>
                <a:ea typeface="Calibri" pitchFamily="34" charset="-122"/>
                <a:cs typeface="Calibri" pitchFamily="34" charset="-120"/>
              </a:rPr>
              <a:t>AI Needs Ops</a:t>
            </a:r>
            <a:endParaRPr lang="en-US" sz="1100" dirty="0"/>
          </a:p>
        </p:txBody>
      </p:sp>
      <p:sp>
        <p:nvSpPr>
          <p:cNvPr id="36" name="Text 34"/>
          <p:cNvSpPr/>
          <p:nvPr/>
        </p:nvSpPr>
        <p:spPr>
          <a:xfrm>
            <a:off x="6144768" y="3950208"/>
            <a:ext cx="2377440" cy="566928"/>
          </a:xfrm>
          <a:prstGeom prst="rect">
            <a:avLst/>
          </a:prstGeom>
          <a:noFill/>
          <a:ln/>
        </p:spPr>
        <p:txBody>
          <a:bodyPr wrap="square" lIns="0" tIns="0" rIns="0" bIns="0" rtlCol="0" anchor="ctr"/>
          <a:lstStyle/>
          <a:p>
            <a:pPr marL="0" indent="0" algn="l">
              <a:buNone/>
            </a:pPr>
            <a:r>
              <a:rPr lang="en-US" sz="900" dirty="0">
                <a:solidFill>
                  <a:srgbClr val="9CA3AF"/>
                </a:solidFill>
                <a:latin typeface="Calibri" pitchFamily="34" charset="0"/>
                <a:ea typeface="Calibri" pitchFamily="34" charset="-122"/>
                <a:cs typeface="Calibri" pitchFamily="34" charset="-120"/>
              </a:rPr>
              <a:t>Telemetry, artifacts, dashboards, and evals are not extras; they are the product.</a:t>
            </a:r>
            <a:endParaRPr lang="en-US" sz="900" dirty="0"/>
          </a:p>
        </p:txBody>
      </p:sp>
      <p:pic>
        <p:nvPicPr>
          <p:cNvPr id="37" name="Picture 36">
            <a:extLst>
              <a:ext uri="{FF2B5EF4-FFF2-40B4-BE49-F238E27FC236}">
                <a16:creationId xmlns:a16="http://schemas.microsoft.com/office/drawing/2014/main" id="{8BFF40F7-18E6-5452-A904-D076F6C0684A}"/>
              </a:ext>
            </a:extLst>
          </p:cNvPr>
          <p:cNvPicPr>
            <a:picLocks noChangeAspect="1"/>
          </p:cNvPicPr>
          <p:nvPr/>
        </p:nvPicPr>
        <p:blipFill>
          <a:blip r:embed="rId2"/>
          <a:srcRect l="-928" t="29746" r="928" b="36645"/>
          <a:stretch>
            <a:fillRect/>
          </a:stretch>
        </p:blipFill>
        <p:spPr>
          <a:xfrm>
            <a:off x="8218575" y="45720"/>
            <a:ext cx="861058" cy="28939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oundRect">
            <a:avLst>
              <a:gd name="adj" fmla="val 25000"/>
            </a:avLst>
          </a:prstGeom>
          <a:solidFill>
            <a:srgbClr val="10B981">
              <a:alpha val="80000"/>
            </a:srgbClr>
          </a:solidFill>
          <a:ln w="12700">
            <a:solidFill>
              <a:srgbClr val="10B981"/>
            </a:solidFill>
            <a:prstDash val="solid"/>
          </a:ln>
        </p:spPr>
        <p:txBody>
          <a:bodyPr/>
          <a:lstStyle/>
          <a:p>
            <a:endParaRPr lang="en-US"/>
          </a:p>
        </p:txBody>
      </p:sp>
      <p:sp>
        <p:nvSpPr>
          <p:cNvPr id="3" name="Text 1"/>
          <p:cNvSpPr/>
          <p:nvPr/>
        </p:nvSpPr>
        <p:spPr>
          <a:xfrm>
            <a:off x="365760" y="201168"/>
            <a:ext cx="2011680" cy="292608"/>
          </a:xfrm>
          <a:prstGeom prst="rect">
            <a:avLst/>
          </a:prstGeom>
          <a:noFill/>
          <a:ln/>
        </p:spPr>
        <p:txBody>
          <a:bodyPr wrap="square" lIns="0" tIns="0" rIns="0" bIns="0" rtlCol="0" anchor="ctr"/>
          <a:lstStyle/>
          <a:p>
            <a:pPr marL="0" indent="0" algn="ctr">
              <a:buNone/>
            </a:pPr>
            <a:r>
              <a:rPr lang="en-US" sz="800" b="1" kern="0" spc="200" dirty="0">
                <a:solidFill>
                  <a:srgbClr val="F9FAFB"/>
                </a:solidFill>
              </a:rPr>
              <a:t>SECTION 26 - LESSONS LEARNED</a:t>
            </a:r>
            <a:endParaRPr lang="en-US" sz="800" dirty="0"/>
          </a:p>
        </p:txBody>
      </p:sp>
      <p:sp>
        <p:nvSpPr>
          <p:cNvPr id="4" name="Text 2"/>
          <p:cNvSpPr/>
          <p:nvPr/>
        </p:nvSpPr>
        <p:spPr>
          <a:xfrm>
            <a:off x="365760" y="594360"/>
            <a:ext cx="8412480" cy="594360"/>
          </a:xfrm>
          <a:prstGeom prst="rect">
            <a:avLst/>
          </a:prstGeom>
          <a:noFill/>
          <a:ln/>
        </p:spPr>
        <p:txBody>
          <a:bodyPr wrap="square" lIns="0" tIns="0" rIns="0" bIns="0" rtlCol="0" anchor="ctr"/>
          <a:lstStyle/>
          <a:p>
            <a:pPr marL="0" indent="0" algn="l">
              <a:buNone/>
            </a:pPr>
            <a:r>
              <a:rPr lang="en-US" sz="3000" b="1" dirty="0">
                <a:solidFill>
                  <a:srgbClr val="F9FAFB"/>
                </a:solidFill>
                <a:latin typeface="Calibri" pitchFamily="34" charset="0"/>
                <a:ea typeface="Calibri" pitchFamily="34" charset="-122"/>
                <a:cs typeface="Calibri" pitchFamily="34" charset="-120"/>
              </a:rPr>
              <a:t>What Production AI Actually Teaches You</a:t>
            </a:r>
            <a:endParaRPr lang="en-US" sz="3000" dirty="0"/>
          </a:p>
        </p:txBody>
      </p:sp>
      <p:sp>
        <p:nvSpPr>
          <p:cNvPr id="5" name="Text 3"/>
          <p:cNvSpPr/>
          <p:nvPr/>
        </p:nvSpPr>
        <p:spPr>
          <a:xfrm>
            <a:off x="365760" y="1143000"/>
            <a:ext cx="8412480" cy="32004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Hard-won. Scar tissue included.</a:t>
            </a:r>
            <a:endParaRPr lang="en-US" sz="1300" dirty="0"/>
          </a:p>
        </p:txBody>
      </p:sp>
      <p:sp>
        <p:nvSpPr>
          <p:cNvPr id="6" name="Shape 4"/>
          <p:cNvSpPr/>
          <p:nvPr/>
        </p:nvSpPr>
        <p:spPr>
          <a:xfrm>
            <a:off x="365760" y="1417320"/>
            <a:ext cx="8412480" cy="36576"/>
          </a:xfrm>
          <a:prstGeom prst="rect">
            <a:avLst/>
          </a:prstGeom>
          <a:solidFill>
            <a:srgbClr val="10B981"/>
          </a:solidFill>
          <a:ln w="12700">
            <a:solidFill>
              <a:srgbClr val="10B981"/>
            </a:solidFill>
            <a:prstDash val="solid"/>
          </a:ln>
        </p:spPr>
        <p:txBody>
          <a:bodyPr/>
          <a:lstStyle/>
          <a:p>
            <a:endParaRPr lang="en-US"/>
          </a:p>
        </p:txBody>
      </p:sp>
      <p:sp>
        <p:nvSpPr>
          <p:cNvPr id="7" name="Shape 5"/>
          <p:cNvSpPr/>
          <p:nvPr/>
        </p:nvSpPr>
        <p:spPr>
          <a:xfrm>
            <a:off x="365760" y="1600200"/>
            <a:ext cx="4114800" cy="960120"/>
          </a:xfrm>
          <a:prstGeom prst="roundRect">
            <a:avLst>
              <a:gd name="adj" fmla="val 11429"/>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8" name="Text 6"/>
          <p:cNvSpPr/>
          <p:nvPr/>
        </p:nvSpPr>
        <p:spPr>
          <a:xfrm>
            <a:off x="475488" y="1673352"/>
            <a:ext cx="502920" cy="804672"/>
          </a:xfrm>
          <a:prstGeom prst="rect">
            <a:avLst/>
          </a:prstGeom>
          <a:noFill/>
          <a:ln/>
        </p:spPr>
        <p:txBody>
          <a:bodyPr wrap="square" lIns="0" tIns="0" rIns="0" bIns="0" rtlCol="0" anchor="ctr"/>
          <a:lstStyle/>
          <a:p>
            <a:pPr marL="0" indent="0" algn="ctr">
              <a:buNone/>
            </a:pPr>
            <a:r>
              <a:rPr lang="en-US" sz="2600" b="1" dirty="0">
                <a:solidFill>
                  <a:srgbClr val="00D4FF"/>
                </a:solidFill>
                <a:latin typeface="Calibri" pitchFamily="34" charset="0"/>
                <a:ea typeface="Calibri" pitchFamily="34" charset="-122"/>
                <a:cs typeface="Calibri" pitchFamily="34" charset="-120"/>
              </a:rPr>
              <a:t>01</a:t>
            </a:r>
            <a:endParaRPr lang="en-US" sz="2600" dirty="0"/>
          </a:p>
        </p:txBody>
      </p:sp>
      <p:sp>
        <p:nvSpPr>
          <p:cNvPr id="9" name="Text 7"/>
          <p:cNvSpPr/>
          <p:nvPr/>
        </p:nvSpPr>
        <p:spPr>
          <a:xfrm>
            <a:off x="1051560" y="1673352"/>
            <a:ext cx="3291840" cy="320040"/>
          </a:xfrm>
          <a:prstGeom prst="rect">
            <a:avLst/>
          </a:prstGeom>
          <a:noFill/>
          <a:ln/>
        </p:spPr>
        <p:txBody>
          <a:bodyPr wrap="square" lIns="0" tIns="0" rIns="0" bIns="0" rtlCol="0" anchor="ctr"/>
          <a:lstStyle/>
          <a:p>
            <a:pPr marL="0" indent="0" algn="l">
              <a:buNone/>
            </a:pPr>
            <a:r>
              <a:rPr lang="en-US" sz="1300" b="1" dirty="0">
                <a:solidFill>
                  <a:srgbClr val="00D4FF"/>
                </a:solidFill>
                <a:latin typeface="Calibri" pitchFamily="34" charset="0"/>
                <a:ea typeface="Calibri" pitchFamily="34" charset="-122"/>
                <a:cs typeface="Calibri" pitchFamily="34" charset="-120"/>
              </a:rPr>
              <a:t>Engineering &gt; Prompting</a:t>
            </a:r>
            <a:endParaRPr lang="en-US" sz="1300" dirty="0"/>
          </a:p>
        </p:txBody>
      </p:sp>
      <p:sp>
        <p:nvSpPr>
          <p:cNvPr id="10" name="Text 8"/>
          <p:cNvSpPr/>
          <p:nvPr/>
        </p:nvSpPr>
        <p:spPr>
          <a:xfrm>
            <a:off x="1051560" y="2039112"/>
            <a:ext cx="3291840" cy="41148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The repo works because orchestration, retrieval, validation, execution, and observability cooperate.</a:t>
            </a:r>
            <a:endParaRPr lang="en-US" sz="1000" dirty="0"/>
          </a:p>
        </p:txBody>
      </p:sp>
      <p:sp>
        <p:nvSpPr>
          <p:cNvPr id="11" name="Shape 9"/>
          <p:cNvSpPr/>
          <p:nvPr/>
        </p:nvSpPr>
        <p:spPr>
          <a:xfrm>
            <a:off x="4709160" y="1600200"/>
            <a:ext cx="4114800" cy="960120"/>
          </a:xfrm>
          <a:prstGeom prst="roundRect">
            <a:avLst>
              <a:gd name="adj" fmla="val 11429"/>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2" name="Text 10"/>
          <p:cNvSpPr/>
          <p:nvPr/>
        </p:nvSpPr>
        <p:spPr>
          <a:xfrm>
            <a:off x="4818888" y="1673352"/>
            <a:ext cx="502920" cy="804672"/>
          </a:xfrm>
          <a:prstGeom prst="rect">
            <a:avLst/>
          </a:prstGeom>
          <a:noFill/>
          <a:ln/>
        </p:spPr>
        <p:txBody>
          <a:bodyPr wrap="square" lIns="0" tIns="0" rIns="0" bIns="0" rtlCol="0" anchor="ctr"/>
          <a:lstStyle/>
          <a:p>
            <a:pPr marL="0" indent="0" algn="ctr">
              <a:buNone/>
            </a:pPr>
            <a:r>
              <a:rPr lang="en-US" sz="2600" b="1" dirty="0">
                <a:solidFill>
                  <a:srgbClr val="7C3AED"/>
                </a:solidFill>
                <a:latin typeface="Calibri" pitchFamily="34" charset="0"/>
                <a:ea typeface="Calibri" pitchFamily="34" charset="-122"/>
                <a:cs typeface="Calibri" pitchFamily="34" charset="-120"/>
              </a:rPr>
              <a:t>02</a:t>
            </a:r>
            <a:endParaRPr lang="en-US" sz="2600" dirty="0"/>
          </a:p>
        </p:txBody>
      </p:sp>
      <p:sp>
        <p:nvSpPr>
          <p:cNvPr id="13" name="Text 11"/>
          <p:cNvSpPr/>
          <p:nvPr/>
        </p:nvSpPr>
        <p:spPr>
          <a:xfrm>
            <a:off x="5394960" y="1673352"/>
            <a:ext cx="3291840" cy="320040"/>
          </a:xfrm>
          <a:prstGeom prst="rect">
            <a:avLst/>
          </a:prstGeom>
          <a:noFill/>
          <a:ln/>
        </p:spPr>
        <p:txBody>
          <a:bodyPr wrap="square" lIns="0" tIns="0" rIns="0" bIns="0" rtlCol="0" anchor="ctr"/>
          <a:lstStyle/>
          <a:p>
            <a:pPr marL="0" indent="0" algn="l">
              <a:buNone/>
            </a:pPr>
            <a:r>
              <a:rPr lang="en-US" sz="1300" b="1" dirty="0">
                <a:solidFill>
                  <a:srgbClr val="7C3AED"/>
                </a:solidFill>
                <a:latin typeface="Calibri" pitchFamily="34" charset="0"/>
                <a:ea typeface="Calibri" pitchFamily="34" charset="-122"/>
                <a:cs typeface="Calibri" pitchFamily="34" charset="-120"/>
              </a:rPr>
              <a:t>Grounding is load-bearing</a:t>
            </a:r>
            <a:endParaRPr lang="en-US" sz="1300" dirty="0"/>
          </a:p>
        </p:txBody>
      </p:sp>
      <p:sp>
        <p:nvSpPr>
          <p:cNvPr id="14" name="Text 12"/>
          <p:cNvSpPr/>
          <p:nvPr/>
        </p:nvSpPr>
        <p:spPr>
          <a:xfrm>
            <a:off x="5394960" y="2039112"/>
            <a:ext cx="3291840" cy="41148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Most failures trace to weak evidence: missing samples, wrong literals, thin schema context, or unchecked grain.</a:t>
            </a:r>
            <a:endParaRPr lang="en-US" sz="1000" dirty="0"/>
          </a:p>
        </p:txBody>
      </p:sp>
      <p:sp>
        <p:nvSpPr>
          <p:cNvPr id="15" name="Shape 13"/>
          <p:cNvSpPr/>
          <p:nvPr/>
        </p:nvSpPr>
        <p:spPr>
          <a:xfrm>
            <a:off x="365760" y="2697480"/>
            <a:ext cx="4114800" cy="960120"/>
          </a:xfrm>
          <a:prstGeom prst="roundRect">
            <a:avLst>
              <a:gd name="adj" fmla="val 11429"/>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16" name="Text 14"/>
          <p:cNvSpPr/>
          <p:nvPr/>
        </p:nvSpPr>
        <p:spPr>
          <a:xfrm>
            <a:off x="475488" y="2770632"/>
            <a:ext cx="502920" cy="804672"/>
          </a:xfrm>
          <a:prstGeom prst="rect">
            <a:avLst/>
          </a:prstGeom>
          <a:noFill/>
          <a:ln/>
        </p:spPr>
        <p:txBody>
          <a:bodyPr wrap="square" lIns="0" tIns="0" rIns="0" bIns="0" rtlCol="0" anchor="ctr"/>
          <a:lstStyle/>
          <a:p>
            <a:pPr marL="0" indent="0" algn="ctr">
              <a:buNone/>
            </a:pPr>
            <a:r>
              <a:rPr lang="en-US" sz="2600" b="1" dirty="0">
                <a:solidFill>
                  <a:srgbClr val="10B981"/>
                </a:solidFill>
                <a:latin typeface="Calibri" pitchFamily="34" charset="0"/>
                <a:ea typeface="Calibri" pitchFamily="34" charset="-122"/>
                <a:cs typeface="Calibri" pitchFamily="34" charset="-120"/>
              </a:rPr>
              <a:t>03</a:t>
            </a:r>
            <a:endParaRPr lang="en-US" sz="2600" dirty="0"/>
          </a:p>
        </p:txBody>
      </p:sp>
      <p:sp>
        <p:nvSpPr>
          <p:cNvPr id="17" name="Text 15"/>
          <p:cNvSpPr/>
          <p:nvPr/>
        </p:nvSpPr>
        <p:spPr>
          <a:xfrm>
            <a:off x="1051560" y="2770632"/>
            <a:ext cx="3291840" cy="320040"/>
          </a:xfrm>
          <a:prstGeom prst="rect">
            <a:avLst/>
          </a:prstGeom>
          <a:noFill/>
          <a:ln/>
        </p:spPr>
        <p:txBody>
          <a:bodyPr wrap="square" lIns="0" tIns="0" rIns="0" bIns="0" rtlCol="0" anchor="ctr"/>
          <a:lstStyle/>
          <a:p>
            <a:pPr marL="0" indent="0" algn="l">
              <a:buNone/>
            </a:pPr>
            <a:r>
              <a:rPr lang="en-US" sz="1300" b="1" dirty="0">
                <a:solidFill>
                  <a:srgbClr val="10B981"/>
                </a:solidFill>
                <a:latin typeface="Calibri" pitchFamily="34" charset="0"/>
                <a:ea typeface="Calibri" pitchFamily="34" charset="-122"/>
                <a:cs typeface="Calibri" pitchFamily="34" charset="-120"/>
              </a:rPr>
              <a:t>Validate everything</a:t>
            </a:r>
            <a:endParaRPr lang="en-US" sz="1300" dirty="0"/>
          </a:p>
        </p:txBody>
      </p:sp>
      <p:sp>
        <p:nvSpPr>
          <p:cNvPr id="18" name="Text 16"/>
          <p:cNvSpPr/>
          <p:nvPr/>
        </p:nvSpPr>
        <p:spPr>
          <a:xfrm>
            <a:off x="1051560" y="3136392"/>
            <a:ext cx="3291840" cy="41148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SQL runs is only the midpoint. Data IQ, probes, and gold-result checks decide whether it should be trusted.</a:t>
            </a:r>
            <a:endParaRPr lang="en-US" sz="1000" dirty="0"/>
          </a:p>
        </p:txBody>
      </p:sp>
      <p:sp>
        <p:nvSpPr>
          <p:cNvPr id="19" name="Shape 17"/>
          <p:cNvSpPr/>
          <p:nvPr/>
        </p:nvSpPr>
        <p:spPr>
          <a:xfrm>
            <a:off x="4709160" y="2697480"/>
            <a:ext cx="4114800" cy="960120"/>
          </a:xfrm>
          <a:prstGeom prst="roundRect">
            <a:avLst>
              <a:gd name="adj" fmla="val 11429"/>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0" name="Text 18"/>
          <p:cNvSpPr/>
          <p:nvPr/>
        </p:nvSpPr>
        <p:spPr>
          <a:xfrm>
            <a:off x="4818888" y="2770632"/>
            <a:ext cx="502920" cy="804672"/>
          </a:xfrm>
          <a:prstGeom prst="rect">
            <a:avLst/>
          </a:prstGeom>
          <a:noFill/>
          <a:ln/>
        </p:spPr>
        <p:txBody>
          <a:bodyPr wrap="square" lIns="0" tIns="0" rIns="0" bIns="0" rtlCol="0" anchor="ctr"/>
          <a:lstStyle/>
          <a:p>
            <a:pPr marL="0" indent="0" algn="ctr">
              <a:buNone/>
            </a:pPr>
            <a:r>
              <a:rPr lang="en-US" sz="2600" b="1" dirty="0">
                <a:solidFill>
                  <a:srgbClr val="F59E0B"/>
                </a:solidFill>
                <a:latin typeface="Calibri" pitchFamily="34" charset="0"/>
                <a:ea typeface="Calibri" pitchFamily="34" charset="-122"/>
                <a:cs typeface="Calibri" pitchFamily="34" charset="-120"/>
              </a:rPr>
              <a:t>04</a:t>
            </a:r>
            <a:endParaRPr lang="en-US" sz="2600" dirty="0"/>
          </a:p>
        </p:txBody>
      </p:sp>
      <p:sp>
        <p:nvSpPr>
          <p:cNvPr id="21" name="Text 19"/>
          <p:cNvSpPr/>
          <p:nvPr/>
        </p:nvSpPr>
        <p:spPr>
          <a:xfrm>
            <a:off x="5394960" y="2770632"/>
            <a:ext cx="3291840" cy="320040"/>
          </a:xfrm>
          <a:prstGeom prst="rect">
            <a:avLst/>
          </a:prstGeom>
          <a:noFill/>
          <a:ln/>
        </p:spPr>
        <p:txBody>
          <a:bodyPr wrap="square" lIns="0" tIns="0" rIns="0" bIns="0" rtlCol="0" anchor="ctr"/>
          <a:lstStyle/>
          <a:p>
            <a:pPr marL="0" indent="0" algn="l">
              <a:buNone/>
            </a:pPr>
            <a:r>
              <a:rPr lang="en-US" sz="1300" b="1" dirty="0">
                <a:solidFill>
                  <a:srgbClr val="F59E0B"/>
                </a:solidFill>
                <a:latin typeface="Calibri" pitchFamily="34" charset="0"/>
                <a:ea typeface="Calibri" pitchFamily="34" charset="-122"/>
                <a:cs typeface="Calibri" pitchFamily="34" charset="-120"/>
              </a:rPr>
              <a:t>Observe obsessively</a:t>
            </a:r>
            <a:endParaRPr lang="en-US" sz="1300" dirty="0"/>
          </a:p>
        </p:txBody>
      </p:sp>
      <p:sp>
        <p:nvSpPr>
          <p:cNvPr id="22" name="Text 20"/>
          <p:cNvSpPr/>
          <p:nvPr/>
        </p:nvSpPr>
        <p:spPr>
          <a:xfrm>
            <a:off x="5394960" y="3136392"/>
            <a:ext cx="3291840" cy="41148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PipelineTelemetry, markdown logs, CSV artifacts, and the API scorecards make failures debuggable.</a:t>
            </a:r>
            <a:endParaRPr lang="en-US" sz="1000" dirty="0"/>
          </a:p>
        </p:txBody>
      </p:sp>
      <p:sp>
        <p:nvSpPr>
          <p:cNvPr id="23" name="Shape 21"/>
          <p:cNvSpPr/>
          <p:nvPr/>
        </p:nvSpPr>
        <p:spPr>
          <a:xfrm>
            <a:off x="365760" y="3794760"/>
            <a:ext cx="4114800" cy="960120"/>
          </a:xfrm>
          <a:prstGeom prst="roundRect">
            <a:avLst>
              <a:gd name="adj" fmla="val 11429"/>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4" name="Text 22"/>
          <p:cNvSpPr/>
          <p:nvPr/>
        </p:nvSpPr>
        <p:spPr>
          <a:xfrm>
            <a:off x="475488" y="3867912"/>
            <a:ext cx="502920" cy="804672"/>
          </a:xfrm>
          <a:prstGeom prst="rect">
            <a:avLst/>
          </a:prstGeom>
          <a:noFill/>
          <a:ln/>
        </p:spPr>
        <p:txBody>
          <a:bodyPr wrap="square" lIns="0" tIns="0" rIns="0" bIns="0" rtlCol="0" anchor="ctr"/>
          <a:lstStyle/>
          <a:p>
            <a:pPr marL="0" indent="0" algn="ctr">
              <a:buNone/>
            </a:pPr>
            <a:r>
              <a:rPr lang="en-US" sz="2600" b="1" dirty="0">
                <a:solidFill>
                  <a:srgbClr val="EF4444"/>
                </a:solidFill>
                <a:latin typeface="Calibri" pitchFamily="34" charset="0"/>
                <a:ea typeface="Calibri" pitchFamily="34" charset="-122"/>
                <a:cs typeface="Calibri" pitchFamily="34" charset="-120"/>
              </a:rPr>
              <a:t>05</a:t>
            </a:r>
            <a:endParaRPr lang="en-US" sz="2600" dirty="0"/>
          </a:p>
        </p:txBody>
      </p:sp>
      <p:sp>
        <p:nvSpPr>
          <p:cNvPr id="25" name="Text 23"/>
          <p:cNvSpPr/>
          <p:nvPr/>
        </p:nvSpPr>
        <p:spPr>
          <a:xfrm>
            <a:off x="1051560" y="3867912"/>
            <a:ext cx="3291840" cy="320040"/>
          </a:xfrm>
          <a:prstGeom prst="rect">
            <a:avLst/>
          </a:prstGeom>
          <a:noFill/>
          <a:ln/>
        </p:spPr>
        <p:txBody>
          <a:bodyPr wrap="square" lIns="0" tIns="0" rIns="0" bIns="0" rtlCol="0" anchor="ctr"/>
          <a:lstStyle/>
          <a:p>
            <a:pPr marL="0" indent="0" algn="l">
              <a:buNone/>
            </a:pPr>
            <a:r>
              <a:rPr lang="en-US" sz="1300" b="1" dirty="0">
                <a:solidFill>
                  <a:srgbClr val="EF4444"/>
                </a:solidFill>
                <a:latin typeface="Calibri" pitchFamily="34" charset="0"/>
                <a:ea typeface="Calibri" pitchFamily="34" charset="-122"/>
                <a:cs typeface="Calibri" pitchFamily="34" charset="-120"/>
              </a:rPr>
              <a:t>Fail gracefully</a:t>
            </a:r>
            <a:endParaRPr lang="en-US" sz="1300" dirty="0"/>
          </a:p>
        </p:txBody>
      </p:sp>
      <p:sp>
        <p:nvSpPr>
          <p:cNvPr id="26" name="Text 24"/>
          <p:cNvSpPr/>
          <p:nvPr/>
        </p:nvSpPr>
        <p:spPr>
          <a:xfrm>
            <a:off x="1051560" y="4233672"/>
            <a:ext cx="3291840" cy="41148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The Stabilizer, retry hash, expanded schema context, and cached best SQL keep retries bounded.</a:t>
            </a:r>
            <a:endParaRPr lang="en-US" sz="1000" dirty="0"/>
          </a:p>
        </p:txBody>
      </p:sp>
      <p:sp>
        <p:nvSpPr>
          <p:cNvPr id="27" name="Shape 25"/>
          <p:cNvSpPr/>
          <p:nvPr/>
        </p:nvSpPr>
        <p:spPr>
          <a:xfrm>
            <a:off x="4709160" y="3794760"/>
            <a:ext cx="4114800" cy="960120"/>
          </a:xfrm>
          <a:prstGeom prst="roundRect">
            <a:avLst>
              <a:gd name="adj" fmla="val 11429"/>
            </a:avLst>
          </a:prstGeom>
          <a:solidFill>
            <a:srgbClr val="1F2937"/>
          </a:solidFill>
          <a:ln w="12700">
            <a:solidFill>
              <a:srgbClr val="1E3A5F"/>
            </a:solidFill>
            <a:prstDash val="solid"/>
          </a:ln>
          <a:effectLst>
            <a:outerShdw blurRad="101600" dist="25400" dir="8100000" algn="bl" rotWithShape="0">
              <a:srgbClr val="000000">
                <a:alpha val="40000"/>
              </a:srgbClr>
            </a:outerShdw>
          </a:effectLst>
        </p:spPr>
        <p:txBody>
          <a:bodyPr/>
          <a:lstStyle/>
          <a:p>
            <a:endParaRPr lang="en-US"/>
          </a:p>
        </p:txBody>
      </p:sp>
      <p:sp>
        <p:nvSpPr>
          <p:cNvPr id="28" name="Text 26"/>
          <p:cNvSpPr/>
          <p:nvPr/>
        </p:nvSpPr>
        <p:spPr>
          <a:xfrm>
            <a:off x="4818888" y="3867912"/>
            <a:ext cx="502920" cy="804672"/>
          </a:xfrm>
          <a:prstGeom prst="rect">
            <a:avLst/>
          </a:prstGeom>
          <a:noFill/>
          <a:ln/>
        </p:spPr>
        <p:txBody>
          <a:bodyPr wrap="square" lIns="0" tIns="0" rIns="0" bIns="0" rtlCol="0" anchor="ctr"/>
          <a:lstStyle/>
          <a:p>
            <a:pPr marL="0" indent="0" algn="ctr">
              <a:buNone/>
            </a:pPr>
            <a:r>
              <a:rPr lang="en-US" sz="2600" b="1" dirty="0">
                <a:solidFill>
                  <a:srgbClr val="00D4FF"/>
                </a:solidFill>
                <a:latin typeface="Calibri" pitchFamily="34" charset="0"/>
                <a:ea typeface="Calibri" pitchFamily="34" charset="-122"/>
                <a:cs typeface="Calibri" pitchFamily="34" charset="-120"/>
              </a:rPr>
              <a:t>06</a:t>
            </a:r>
            <a:endParaRPr lang="en-US" sz="2600" dirty="0"/>
          </a:p>
        </p:txBody>
      </p:sp>
      <p:sp>
        <p:nvSpPr>
          <p:cNvPr id="29" name="Text 27"/>
          <p:cNvSpPr/>
          <p:nvPr/>
        </p:nvSpPr>
        <p:spPr>
          <a:xfrm>
            <a:off x="5394960" y="3867912"/>
            <a:ext cx="3291840" cy="320040"/>
          </a:xfrm>
          <a:prstGeom prst="rect">
            <a:avLst/>
          </a:prstGeom>
          <a:noFill/>
          <a:ln/>
        </p:spPr>
        <p:txBody>
          <a:bodyPr wrap="square" lIns="0" tIns="0" rIns="0" bIns="0" rtlCol="0" anchor="ctr"/>
          <a:lstStyle/>
          <a:p>
            <a:pPr marL="0" indent="0" algn="l">
              <a:buNone/>
            </a:pPr>
            <a:r>
              <a:rPr lang="en-US" sz="1300" b="1" dirty="0">
                <a:solidFill>
                  <a:srgbClr val="00D4FF"/>
                </a:solidFill>
                <a:latin typeface="Calibri" pitchFamily="34" charset="0"/>
                <a:ea typeface="Calibri" pitchFamily="34" charset="-122"/>
                <a:cs typeface="Calibri" pitchFamily="34" charset="-120"/>
              </a:rPr>
              <a:t>Enterprise ≠ Benchmark</a:t>
            </a:r>
            <a:endParaRPr lang="en-US" sz="1300" dirty="0"/>
          </a:p>
        </p:txBody>
      </p:sp>
      <p:sp>
        <p:nvSpPr>
          <p:cNvPr id="30" name="Text 28"/>
          <p:cNvSpPr/>
          <p:nvPr/>
        </p:nvSpPr>
        <p:spPr>
          <a:xfrm>
            <a:off x="5394960" y="4233672"/>
            <a:ext cx="3291840" cy="41148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Spider2.0 forces production-style problems: cross-db discovery, Snowflake quirks, VARIANT, sparse metadata.</a:t>
            </a:r>
            <a:endParaRPr lang="en-US" sz="1000" dirty="0"/>
          </a:p>
        </p:txBody>
      </p:sp>
      <p:pic>
        <p:nvPicPr>
          <p:cNvPr id="31" name="Picture 30">
            <a:extLst>
              <a:ext uri="{FF2B5EF4-FFF2-40B4-BE49-F238E27FC236}">
                <a16:creationId xmlns:a16="http://schemas.microsoft.com/office/drawing/2014/main" id="{EA3DE7F7-4B84-133D-C348-75770A4976F6}"/>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90D16"/>
        </a:solidFill>
        <a:effectLst/>
      </p:bgPr>
    </p:bg>
    <p:spTree>
      <p:nvGrpSpPr>
        <p:cNvPr id="1" name=""/>
        <p:cNvGrpSpPr/>
        <p:nvPr/>
      </p:nvGrpSpPr>
      <p:grpSpPr>
        <a:xfrm>
          <a:off x="0" y="0"/>
          <a:ext cx="0" cy="0"/>
          <a:chOff x="0" y="0"/>
          <a:chExt cx="0" cy="0"/>
        </a:xfrm>
      </p:grpSpPr>
      <p:sp>
        <p:nvSpPr>
          <p:cNvPr id="2" name="TextBox 1"/>
          <p:cNvSpPr txBox="1"/>
          <p:nvPr/>
        </p:nvSpPr>
        <p:spPr>
          <a:xfrm>
            <a:off x="342901" y="102870"/>
            <a:ext cx="8457971" cy="419346"/>
          </a:xfrm>
          <a:prstGeom prst="rect">
            <a:avLst/>
          </a:prstGeom>
          <a:noFill/>
        </p:spPr>
        <p:txBody>
          <a:bodyPr wrap="square" lIns="0" tIns="0" rIns="0" bIns="0">
            <a:spAutoFit/>
          </a:bodyPr>
          <a:lstStyle/>
          <a:p>
            <a:pPr defTabSz="342900">
              <a:defRPr sz="2200" b="1">
                <a:solidFill>
                  <a:srgbClr val="FFFFFF"/>
                </a:solidFill>
                <a:latin typeface="Arial"/>
              </a:defRPr>
            </a:pPr>
            <a:r>
              <a:rPr sz="1650" b="1">
                <a:solidFill>
                  <a:srgbClr val="FFFFFF"/>
                </a:solidFill>
                <a:latin typeface="Arial"/>
              </a:rPr>
              <a:t>SpiderDIN Autonomous Text2SQL Forensic Pipeline</a:t>
            </a:r>
          </a:p>
          <a:p>
            <a:pPr defTabSz="342900">
              <a:spcBef>
                <a:spcPts val="300"/>
              </a:spcBef>
              <a:defRPr sz="1100">
                <a:solidFill>
                  <a:srgbClr val="94A3B8"/>
                </a:solidFill>
                <a:latin typeface="Arial"/>
              </a:defRPr>
            </a:pPr>
            <a:r>
              <a:rPr sz="825">
                <a:solidFill>
                  <a:srgbClr val="94A3B8"/>
                </a:solidFill>
                <a:latin typeface="Arial"/>
              </a:rPr>
              <a:t>End-to-End Agent Orchestration Matrix, Core Tool Integrations, and Code Methods</a:t>
            </a:r>
          </a:p>
        </p:txBody>
      </p:sp>
      <p:graphicFrame>
        <p:nvGraphicFramePr>
          <p:cNvPr id="3" name="Table 2"/>
          <p:cNvGraphicFramePr>
            <a:graphicFrameLocks noGrp="1"/>
          </p:cNvGraphicFramePr>
          <p:nvPr/>
        </p:nvGraphicFramePr>
        <p:xfrm>
          <a:off x="342900" y="754380"/>
          <a:ext cx="8455914" cy="4378268"/>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3634740">
                  <a:extLst>
                    <a:ext uri="{9D8B030D-6E8A-4147-A177-3AD203B41FA5}">
                      <a16:colId xmlns:a16="http://schemas.microsoft.com/office/drawing/2014/main" val="20001"/>
                    </a:ext>
                  </a:extLst>
                </a:gridCol>
                <a:gridCol w="3175254">
                  <a:extLst>
                    <a:ext uri="{9D8B030D-6E8A-4147-A177-3AD203B41FA5}">
                      <a16:colId xmlns:a16="http://schemas.microsoft.com/office/drawing/2014/main" val="20002"/>
                    </a:ext>
                  </a:extLst>
                </a:gridCol>
              </a:tblGrid>
              <a:tr h="210884">
                <a:tc>
                  <a:txBody>
                    <a:bodyPr/>
                    <a:lstStyle/>
                    <a:p>
                      <a:pPr algn="l">
                        <a:defRPr sz="1000" b="1">
                          <a:solidFill>
                            <a:srgbClr val="FFFFFF"/>
                          </a:solidFill>
                          <a:latin typeface="Arial"/>
                        </a:defRPr>
                      </a:pPr>
                      <a:r>
                        <a:rPr sz="800"/>
                        <a:t>Pipeline Agent / Service</a:t>
                      </a:r>
                    </a:p>
                  </a:txBody>
                  <a:tcPr marL="41148" marR="41148" marT="27432" marB="27432">
                    <a:solidFill>
                      <a:srgbClr val="1E293B"/>
                    </a:solidFill>
                  </a:tcPr>
                </a:tc>
                <a:tc>
                  <a:txBody>
                    <a:bodyPr/>
                    <a:lstStyle/>
                    <a:p>
                      <a:pPr algn="l">
                        <a:defRPr sz="1000" b="1">
                          <a:solidFill>
                            <a:srgbClr val="FFFFFF"/>
                          </a:solidFill>
                          <a:latin typeface="Arial"/>
                        </a:defRPr>
                      </a:pPr>
                      <a:r>
                        <a:rPr sz="800"/>
                        <a:t>Pipeline Role &amp; Core Action</a:t>
                      </a:r>
                    </a:p>
                  </a:txBody>
                  <a:tcPr marL="41148" marR="41148" marT="27432" marB="27432">
                    <a:solidFill>
                      <a:srgbClr val="1E293B"/>
                    </a:solidFill>
                  </a:tcPr>
                </a:tc>
                <a:tc>
                  <a:txBody>
                    <a:bodyPr/>
                    <a:lstStyle/>
                    <a:p>
                      <a:pPr algn="l">
                        <a:defRPr sz="1000" b="1">
                          <a:solidFill>
                            <a:srgbClr val="FFFFFF"/>
                          </a:solidFill>
                          <a:latin typeface="Arial"/>
                        </a:defRPr>
                      </a:pPr>
                      <a:r>
                        <a:rPr sz="800"/>
                        <a:t>Underlying Tools &amp; Code Methods</a:t>
                      </a:r>
                    </a:p>
                  </a:txBody>
                  <a:tcPr marL="41148" marR="41148" marT="27432" marB="27432">
                    <a:solidFill>
                      <a:srgbClr val="1E293B"/>
                    </a:solidFill>
                  </a:tcPr>
                </a:tc>
                <a:extLst>
                  <a:ext uri="{0D108BD9-81ED-4DB2-BD59-A6C34878D82A}">
                    <a16:rowId xmlns:a16="http://schemas.microsoft.com/office/drawing/2014/main" val="10000"/>
                  </a:ext>
                </a:extLst>
              </a:tr>
              <a:tr h="235458">
                <a:tc>
                  <a:txBody>
                    <a:bodyPr/>
                    <a:lstStyle/>
                    <a:p>
                      <a:pPr>
                        <a:defRPr sz="850" b="1">
                          <a:solidFill>
                            <a:srgbClr val="38BDF8"/>
                          </a:solidFill>
                          <a:latin typeface="Calibri"/>
                        </a:defRPr>
                      </a:pPr>
                      <a:r>
                        <a:rPr sz="600"/>
                        <a:t>01. Hierarchical Intent Analyzer</a:t>
                      </a:r>
                    </a:p>
                  </a:txBody>
                  <a:tcPr marL="41148" marR="41148" marT="20574" marB="20574">
                    <a:solidFill>
                      <a:srgbClr val="0F172A"/>
                    </a:solidFill>
                  </a:tcPr>
                </a:tc>
                <a:tc>
                  <a:txBody>
                    <a:bodyPr/>
                    <a:lstStyle/>
                    <a:p>
                      <a:pPr>
                        <a:defRPr sz="850">
                          <a:solidFill>
                            <a:srgbClr val="E2E8F0"/>
                          </a:solidFill>
                          <a:latin typeface="Calibri"/>
                        </a:defRPr>
                      </a:pPr>
                      <a:r>
                        <a:rPr sz="600"/>
                        <a:t>Decodes the user query's logical complexity, DB joins, and semantic target to optimize downstream routing.</a:t>
                      </a:r>
                    </a:p>
                  </a:txBody>
                  <a:tcPr marL="41148" marR="41148" marT="20574" marB="20574">
                    <a:solidFill>
                      <a:srgbClr val="0F172A"/>
                    </a:solidFill>
                  </a:tcPr>
                </a:tc>
                <a:tc>
                  <a:txBody>
                    <a:bodyPr/>
                    <a:lstStyle/>
                    <a:p>
                      <a:pPr>
                        <a:defRPr sz="800">
                          <a:solidFill>
                            <a:srgbClr val="F43F5E"/>
                          </a:solidFill>
                          <a:latin typeface="Consolas"/>
                        </a:defRPr>
                      </a:pPr>
                      <a:r>
                        <a:rPr sz="600"/>
                        <a:t>HierarchicalRetriever.analyze_intent()</a:t>
                      </a:r>
                    </a:p>
                  </a:txBody>
                  <a:tcPr marL="41148" marR="41148" marT="20574" marB="20574">
                    <a:solidFill>
                      <a:srgbClr val="0F172A"/>
                    </a:solidFill>
                  </a:tcPr>
                </a:tc>
                <a:extLst>
                  <a:ext uri="{0D108BD9-81ED-4DB2-BD59-A6C34878D82A}">
                    <a16:rowId xmlns:a16="http://schemas.microsoft.com/office/drawing/2014/main" val="10001"/>
                  </a:ext>
                </a:extLst>
              </a:tr>
              <a:tr h="210884">
                <a:tc>
                  <a:txBody>
                    <a:bodyPr/>
                    <a:lstStyle/>
                    <a:p>
                      <a:pPr>
                        <a:defRPr sz="850" b="1">
                          <a:solidFill>
                            <a:srgbClr val="38BDF8"/>
                          </a:solidFill>
                          <a:latin typeface="Calibri"/>
                        </a:defRPr>
                      </a:pPr>
                      <a:r>
                        <a:rPr sz="600"/>
                        <a:t>02. Dialect Rule Retriever</a:t>
                      </a:r>
                    </a:p>
                  </a:txBody>
                  <a:tcPr marL="41148" marR="41148" marT="20574" marB="20574">
                    <a:solidFill>
                      <a:srgbClr val="151D2D"/>
                    </a:solidFill>
                  </a:tcPr>
                </a:tc>
                <a:tc>
                  <a:txBody>
                    <a:bodyPr/>
                    <a:lstStyle/>
                    <a:p>
                      <a:pPr>
                        <a:defRPr sz="850">
                          <a:solidFill>
                            <a:srgbClr val="E2E8F0"/>
                          </a:solidFill>
                          <a:latin typeface="Calibri"/>
                        </a:defRPr>
                      </a:pPr>
                      <a:r>
                        <a:rPr sz="600"/>
                        <a:t>Dynamically fetches dialect-specific SQL rules and lessons (e.g. Snowflake/BigQuery) based on query intent.</a:t>
                      </a:r>
                    </a:p>
                  </a:txBody>
                  <a:tcPr marL="41148" marR="41148" marT="20574" marB="20574">
                    <a:solidFill>
                      <a:srgbClr val="151D2D"/>
                    </a:solidFill>
                  </a:tcPr>
                </a:tc>
                <a:tc>
                  <a:txBody>
                    <a:bodyPr/>
                    <a:lstStyle/>
                    <a:p>
                      <a:pPr>
                        <a:defRPr sz="800">
                          <a:solidFill>
                            <a:srgbClr val="F43F5E"/>
                          </a:solidFill>
                          <a:latin typeface="Consolas"/>
                        </a:defRPr>
                      </a:pPr>
                      <a:r>
                        <a:rPr sz="600"/>
                        <a:t>DialectRuleRetriever.retrieve_relevant_rules()</a:t>
                      </a:r>
                    </a:p>
                  </a:txBody>
                  <a:tcPr marL="41148" marR="41148" marT="20574" marB="20574">
                    <a:solidFill>
                      <a:srgbClr val="151D2D"/>
                    </a:solidFill>
                  </a:tcPr>
                </a:tc>
                <a:extLst>
                  <a:ext uri="{0D108BD9-81ED-4DB2-BD59-A6C34878D82A}">
                    <a16:rowId xmlns:a16="http://schemas.microsoft.com/office/drawing/2014/main" val="10002"/>
                  </a:ext>
                </a:extLst>
              </a:tr>
              <a:tr h="210884">
                <a:tc>
                  <a:txBody>
                    <a:bodyPr/>
                    <a:lstStyle/>
                    <a:p>
                      <a:pPr>
                        <a:defRPr sz="850" b="1">
                          <a:solidFill>
                            <a:srgbClr val="38BDF8"/>
                          </a:solidFill>
                          <a:latin typeface="Calibri"/>
                        </a:defRPr>
                      </a:pPr>
                      <a:r>
                        <a:rPr sz="600"/>
                        <a:t>03. Token Heuristic Evaluator</a:t>
                      </a:r>
                    </a:p>
                  </a:txBody>
                  <a:tcPr marL="41148" marR="41148" marT="20574" marB="20574">
                    <a:solidFill>
                      <a:srgbClr val="0F172A"/>
                    </a:solidFill>
                  </a:tcPr>
                </a:tc>
                <a:tc>
                  <a:txBody>
                    <a:bodyPr/>
                    <a:lstStyle/>
                    <a:p>
                      <a:pPr>
                        <a:defRPr sz="850">
                          <a:solidFill>
                            <a:srgbClr val="E2E8F0"/>
                          </a:solidFill>
                          <a:latin typeface="Calibri"/>
                        </a:defRPr>
                      </a:pPr>
                      <a:r>
                        <a:rPr sz="600"/>
                        <a:t>Estimates query schema density against system threshold to decide if schema pruning is needed.</a:t>
                      </a:r>
                    </a:p>
                  </a:txBody>
                  <a:tcPr marL="41148" marR="41148" marT="20574" marB="20574">
                    <a:solidFill>
                      <a:srgbClr val="0F172A"/>
                    </a:solidFill>
                  </a:tcPr>
                </a:tc>
                <a:tc>
                  <a:txBody>
                    <a:bodyPr/>
                    <a:lstStyle/>
                    <a:p>
                      <a:pPr>
                        <a:defRPr sz="800">
                          <a:solidFill>
                            <a:srgbClr val="F43F5E"/>
                          </a:solidFill>
                          <a:latin typeface="Consolas"/>
                        </a:defRPr>
                      </a:pPr>
                      <a:r>
                        <a:rPr sz="600"/>
                        <a:t>len(full_schema) // token_heuristic_tokens, pruning_threshold_tokens</a:t>
                      </a:r>
                    </a:p>
                  </a:txBody>
                  <a:tcPr marL="41148" marR="41148" marT="20574" marB="20574">
                    <a:solidFill>
                      <a:srgbClr val="0F172A"/>
                    </a:solidFill>
                  </a:tcPr>
                </a:tc>
                <a:extLst>
                  <a:ext uri="{0D108BD9-81ED-4DB2-BD59-A6C34878D82A}">
                    <a16:rowId xmlns:a16="http://schemas.microsoft.com/office/drawing/2014/main" val="10003"/>
                  </a:ext>
                </a:extLst>
              </a:tr>
              <a:tr h="210884">
                <a:tc>
                  <a:txBody>
                    <a:bodyPr/>
                    <a:lstStyle/>
                    <a:p>
                      <a:pPr>
                        <a:defRPr sz="850" b="1">
                          <a:solidFill>
                            <a:srgbClr val="38BDF8"/>
                          </a:solidFill>
                          <a:latin typeface="Calibri"/>
                        </a:defRPr>
                      </a:pPr>
                      <a:r>
                        <a:rPr sz="600"/>
                        <a:t>04. Table Pruner</a:t>
                      </a:r>
                    </a:p>
                  </a:txBody>
                  <a:tcPr marL="41148" marR="41148" marT="20574" marB="20574">
                    <a:solidFill>
                      <a:srgbClr val="151D2D"/>
                    </a:solidFill>
                  </a:tcPr>
                </a:tc>
                <a:tc>
                  <a:txBody>
                    <a:bodyPr/>
                    <a:lstStyle/>
                    <a:p>
                      <a:pPr>
                        <a:defRPr sz="850">
                          <a:solidFill>
                            <a:srgbClr val="E2E8F0"/>
                          </a:solidFill>
                          <a:latin typeface="Calibri"/>
                        </a:defRPr>
                      </a:pPr>
                      <a:r>
                        <a:rPr sz="600"/>
                        <a:t>Prunes unrelated tables for large database schemas to prevent context window bloat.</a:t>
                      </a:r>
                    </a:p>
                  </a:txBody>
                  <a:tcPr marL="41148" marR="41148" marT="20574" marB="20574">
                    <a:solidFill>
                      <a:srgbClr val="151D2D"/>
                    </a:solidFill>
                  </a:tcPr>
                </a:tc>
                <a:tc>
                  <a:txBody>
                    <a:bodyPr/>
                    <a:lstStyle/>
                    <a:p>
                      <a:pPr>
                        <a:defRPr sz="800">
                          <a:solidFill>
                            <a:srgbClr val="F43F5E"/>
                          </a:solidFill>
                          <a:latin typeface="Consolas"/>
                        </a:defRPr>
                      </a:pPr>
                      <a:r>
                        <a:rPr sz="600"/>
                        <a:t>TablePruner.prune(), ProgressiveExpansionStrategy fallback</a:t>
                      </a:r>
                    </a:p>
                  </a:txBody>
                  <a:tcPr marL="41148" marR="41148" marT="20574" marB="20574">
                    <a:solidFill>
                      <a:srgbClr val="151D2D"/>
                    </a:solidFill>
                  </a:tcPr>
                </a:tc>
                <a:extLst>
                  <a:ext uri="{0D108BD9-81ED-4DB2-BD59-A6C34878D82A}">
                    <a16:rowId xmlns:a16="http://schemas.microsoft.com/office/drawing/2014/main" val="10004"/>
                  </a:ext>
                </a:extLst>
              </a:tr>
              <a:tr h="210884">
                <a:tc>
                  <a:txBody>
                    <a:bodyPr/>
                    <a:lstStyle/>
                    <a:p>
                      <a:pPr>
                        <a:defRPr sz="850" b="1">
                          <a:solidFill>
                            <a:srgbClr val="38BDF8"/>
                          </a:solidFill>
                          <a:latin typeface="Calibri"/>
                        </a:defRPr>
                      </a:pPr>
                      <a:r>
                        <a:rPr sz="600"/>
                        <a:t>05. Column Pruner</a:t>
                      </a:r>
                    </a:p>
                  </a:txBody>
                  <a:tcPr marL="41148" marR="41148" marT="20574" marB="20574">
                    <a:solidFill>
                      <a:srgbClr val="0F172A"/>
                    </a:solidFill>
                  </a:tcPr>
                </a:tc>
                <a:tc>
                  <a:txBody>
                    <a:bodyPr/>
                    <a:lstStyle/>
                    <a:p>
                      <a:pPr>
                        <a:defRPr sz="850">
                          <a:solidFill>
                            <a:srgbClr val="E2E8F0"/>
                          </a:solidFill>
                          <a:latin typeface="Calibri"/>
                        </a:defRPr>
                      </a:pPr>
                      <a:r>
                        <a:rPr sz="600"/>
                        <a:t>Filters out irrelevant columns from selected tables to preserve strict token limits.</a:t>
                      </a:r>
                    </a:p>
                  </a:txBody>
                  <a:tcPr marL="41148" marR="41148" marT="20574" marB="20574">
                    <a:solidFill>
                      <a:srgbClr val="0F172A"/>
                    </a:solidFill>
                  </a:tcPr>
                </a:tc>
                <a:tc>
                  <a:txBody>
                    <a:bodyPr/>
                    <a:lstStyle/>
                    <a:p>
                      <a:pPr>
                        <a:defRPr sz="800">
                          <a:solidFill>
                            <a:srgbClr val="F43F5E"/>
                          </a:solidFill>
                          <a:latin typeface="Consolas"/>
                        </a:defRPr>
                      </a:pPr>
                      <a:r>
                        <a:rPr sz="600"/>
                        <a:t>ColumnPruner.prune(), HierarchicalRetriever.narrow_schema()</a:t>
                      </a:r>
                    </a:p>
                  </a:txBody>
                  <a:tcPr marL="41148" marR="41148" marT="20574" marB="20574">
                    <a:solidFill>
                      <a:srgbClr val="0F172A"/>
                    </a:solidFill>
                  </a:tcPr>
                </a:tc>
                <a:extLst>
                  <a:ext uri="{0D108BD9-81ED-4DB2-BD59-A6C34878D82A}">
                    <a16:rowId xmlns:a16="http://schemas.microsoft.com/office/drawing/2014/main" val="10005"/>
                  </a:ext>
                </a:extLst>
              </a:tr>
              <a:tr h="210884">
                <a:tc>
                  <a:txBody>
                    <a:bodyPr/>
                    <a:lstStyle/>
                    <a:p>
                      <a:pPr>
                        <a:defRPr sz="850" b="1">
                          <a:solidFill>
                            <a:srgbClr val="38BDF8"/>
                          </a:solidFill>
                          <a:latin typeface="Calibri"/>
                        </a:defRPr>
                      </a:pPr>
                      <a:r>
                        <a:rPr sz="600"/>
                        <a:t>06. Schema Linker</a:t>
                      </a:r>
                    </a:p>
                  </a:txBody>
                  <a:tcPr marL="41148" marR="41148" marT="20574" marB="20574">
                    <a:solidFill>
                      <a:srgbClr val="151D2D"/>
                    </a:solidFill>
                  </a:tcPr>
                </a:tc>
                <a:tc>
                  <a:txBody>
                    <a:bodyPr/>
                    <a:lstStyle/>
                    <a:p>
                      <a:pPr>
                        <a:defRPr sz="850">
                          <a:solidFill>
                            <a:srgbClr val="E2E8F0"/>
                          </a:solidFill>
                          <a:latin typeface="Calibri"/>
                        </a:defRPr>
                      </a:pPr>
                      <a:r>
                        <a:rPr sz="600"/>
                        <a:t>Resolves exact table names, column paths, and user-to-DB value term mappings using schema metadata.</a:t>
                      </a:r>
                    </a:p>
                  </a:txBody>
                  <a:tcPr marL="41148" marR="41148" marT="20574" marB="20574">
                    <a:solidFill>
                      <a:srgbClr val="151D2D"/>
                    </a:solidFill>
                  </a:tcPr>
                </a:tc>
                <a:tc>
                  <a:txBody>
                    <a:bodyPr/>
                    <a:lstStyle/>
                    <a:p>
                      <a:pPr>
                        <a:defRPr sz="800">
                          <a:solidFill>
                            <a:srgbClr val="F43F5E"/>
                          </a:solidFill>
                          <a:latin typeface="Consolas"/>
                        </a:defRPr>
                      </a:pPr>
                      <a:r>
                        <a:rPr sz="600"/>
                        <a:t>SchemaLinker.link_schema(), LLMClient.generate_structured()</a:t>
                      </a:r>
                    </a:p>
                  </a:txBody>
                  <a:tcPr marL="41148" marR="41148" marT="20574" marB="20574">
                    <a:solidFill>
                      <a:srgbClr val="151D2D"/>
                    </a:solidFill>
                  </a:tcPr>
                </a:tc>
                <a:extLst>
                  <a:ext uri="{0D108BD9-81ED-4DB2-BD59-A6C34878D82A}">
                    <a16:rowId xmlns:a16="http://schemas.microsoft.com/office/drawing/2014/main" val="10006"/>
                  </a:ext>
                </a:extLst>
              </a:tr>
              <a:tr h="235458">
                <a:tc>
                  <a:txBody>
                    <a:bodyPr/>
                    <a:lstStyle/>
                    <a:p>
                      <a:pPr>
                        <a:defRPr sz="850" b="1">
                          <a:solidFill>
                            <a:srgbClr val="38BDF8"/>
                          </a:solidFill>
                          <a:latin typeface="Calibri"/>
                        </a:defRPr>
                      </a:pPr>
                      <a:r>
                        <a:rPr sz="600"/>
                        <a:t>07. Dynamic Profiler</a:t>
                      </a:r>
                    </a:p>
                  </a:txBody>
                  <a:tcPr marL="41148" marR="41148" marT="20574" marB="20574">
                    <a:solidFill>
                      <a:srgbClr val="0F172A"/>
                    </a:solidFill>
                  </a:tcPr>
                </a:tc>
                <a:tc>
                  <a:txBody>
                    <a:bodyPr/>
                    <a:lstStyle/>
                    <a:p>
                      <a:pPr>
                        <a:defRPr sz="850">
                          <a:solidFill>
                            <a:srgbClr val="E2E8F0"/>
                          </a:solidFill>
                          <a:latin typeface="Calibri"/>
                        </a:defRPr>
                      </a:pPr>
                      <a:r>
                        <a:rPr sz="600"/>
                        <a:t>Runs non-disruptive profiling queries against live DB columns (Variant, Geography, JSON) to extract formats.</a:t>
                      </a:r>
                    </a:p>
                  </a:txBody>
                  <a:tcPr marL="41148" marR="41148" marT="20574" marB="20574">
                    <a:solidFill>
                      <a:srgbClr val="0F172A"/>
                    </a:solidFill>
                  </a:tcPr>
                </a:tc>
                <a:tc>
                  <a:txBody>
                    <a:bodyPr/>
                    <a:lstStyle/>
                    <a:p>
                      <a:pPr>
                        <a:defRPr sz="800">
                          <a:solidFill>
                            <a:srgbClr val="F43F5E"/>
                          </a:solidFill>
                          <a:latin typeface="Consolas"/>
                        </a:defRPr>
                      </a:pPr>
                      <a:r>
                        <a:rPr sz="600"/>
                        <a:t>DynamicProfiler.profile_columns(), DatabaseExecutor.execute_direct()</a:t>
                      </a:r>
                    </a:p>
                  </a:txBody>
                  <a:tcPr marL="41148" marR="41148" marT="20574" marB="20574">
                    <a:solidFill>
                      <a:srgbClr val="0F172A"/>
                    </a:solidFill>
                  </a:tcPr>
                </a:tc>
                <a:extLst>
                  <a:ext uri="{0D108BD9-81ED-4DB2-BD59-A6C34878D82A}">
                    <a16:rowId xmlns:a16="http://schemas.microsoft.com/office/drawing/2014/main" val="10007"/>
                  </a:ext>
                </a:extLst>
              </a:tr>
              <a:tr h="210884">
                <a:tc>
                  <a:txBody>
                    <a:bodyPr/>
                    <a:lstStyle/>
                    <a:p>
                      <a:pPr>
                        <a:defRPr sz="850" b="1">
                          <a:solidFill>
                            <a:srgbClr val="38BDF8"/>
                          </a:solidFill>
                          <a:latin typeface="Calibri"/>
                        </a:defRPr>
                      </a:pPr>
                      <a:r>
                        <a:rPr sz="600"/>
                        <a:t>08. Reference SQL Anchor</a:t>
                      </a:r>
                    </a:p>
                  </a:txBody>
                  <a:tcPr marL="41148" marR="41148" marT="20574" marB="20574">
                    <a:solidFill>
                      <a:srgbClr val="151D2D"/>
                    </a:solidFill>
                  </a:tcPr>
                </a:tc>
                <a:tc>
                  <a:txBody>
                    <a:bodyPr/>
                    <a:lstStyle/>
                    <a:p>
                      <a:pPr>
                        <a:defRPr sz="850">
                          <a:solidFill>
                            <a:srgbClr val="E2E8F0"/>
                          </a:solidFill>
                          <a:latin typeface="Calibri"/>
                        </a:defRPr>
                      </a:pPr>
                      <a:r>
                        <a:rPr sz="600"/>
                        <a:t>Retrieves cached matching historical queries to guide dialect compilation.</a:t>
                      </a:r>
                    </a:p>
                  </a:txBody>
                  <a:tcPr marL="41148" marR="41148" marT="20574" marB="20574">
                    <a:solidFill>
                      <a:srgbClr val="151D2D"/>
                    </a:solidFill>
                  </a:tcPr>
                </a:tc>
                <a:tc>
                  <a:txBody>
                    <a:bodyPr/>
                    <a:lstStyle/>
                    <a:p>
                      <a:pPr>
                        <a:defRPr sz="800">
                          <a:solidFill>
                            <a:srgbClr val="F43F5E"/>
                          </a:solidFill>
                          <a:latin typeface="Consolas"/>
                        </a:defRPr>
                      </a:pPr>
                      <a:r>
                        <a:rPr sz="600"/>
                        <a:t>SQLManager.get_reference_context()</a:t>
                      </a:r>
                    </a:p>
                  </a:txBody>
                  <a:tcPr marL="41148" marR="41148" marT="20574" marB="20574">
                    <a:solidFill>
                      <a:srgbClr val="151D2D"/>
                    </a:solidFill>
                  </a:tcPr>
                </a:tc>
                <a:extLst>
                  <a:ext uri="{0D108BD9-81ED-4DB2-BD59-A6C34878D82A}">
                    <a16:rowId xmlns:a16="http://schemas.microsoft.com/office/drawing/2014/main" val="10008"/>
                  </a:ext>
                </a:extLst>
              </a:tr>
              <a:tr h="210884">
                <a:tc>
                  <a:txBody>
                    <a:bodyPr/>
                    <a:lstStyle/>
                    <a:p>
                      <a:pPr>
                        <a:defRPr sz="850" b="1">
                          <a:solidFill>
                            <a:srgbClr val="38BDF8"/>
                          </a:solidFill>
                          <a:latin typeface="Calibri"/>
                        </a:defRPr>
                      </a:pPr>
                      <a:r>
                        <a:rPr sz="600"/>
                        <a:t>09. Adaptive SQL Generator</a:t>
                      </a:r>
                    </a:p>
                  </a:txBody>
                  <a:tcPr marL="41148" marR="41148" marT="20574" marB="20574">
                    <a:solidFill>
                      <a:srgbClr val="0F172A"/>
                    </a:solidFill>
                  </a:tcPr>
                </a:tc>
                <a:tc>
                  <a:txBody>
                    <a:bodyPr/>
                    <a:lstStyle/>
                    <a:p>
                      <a:pPr>
                        <a:defRPr sz="850">
                          <a:solidFill>
                            <a:srgbClr val="E2E8F0"/>
                          </a:solidFill>
                          <a:latin typeface="Calibri"/>
                        </a:defRPr>
                      </a:pPr>
                      <a:r>
                        <a:rPr sz="600"/>
                        <a:t>Compiles the initial SQL draft using dialect rules, schema context, and value mappings.</a:t>
                      </a:r>
                    </a:p>
                  </a:txBody>
                  <a:tcPr marL="41148" marR="41148" marT="20574" marB="20574">
                    <a:solidFill>
                      <a:srgbClr val="0F172A"/>
                    </a:solidFill>
                  </a:tcPr>
                </a:tc>
                <a:tc>
                  <a:txBody>
                    <a:bodyPr/>
                    <a:lstStyle/>
                    <a:p>
                      <a:pPr>
                        <a:defRPr sz="800">
                          <a:solidFill>
                            <a:srgbClr val="F43F5E"/>
                          </a:solidFill>
                          <a:latin typeface="Consolas"/>
                        </a:defRPr>
                      </a:pPr>
                      <a:r>
                        <a:rPr sz="600"/>
                        <a:t>AdaptiveSQLGenerator.generate(), sqlglot.parse_one()</a:t>
                      </a:r>
                    </a:p>
                  </a:txBody>
                  <a:tcPr marL="41148" marR="41148" marT="20574" marB="20574">
                    <a:solidFill>
                      <a:srgbClr val="0F172A"/>
                    </a:solidFill>
                  </a:tcPr>
                </a:tc>
                <a:extLst>
                  <a:ext uri="{0D108BD9-81ED-4DB2-BD59-A6C34878D82A}">
                    <a16:rowId xmlns:a16="http://schemas.microsoft.com/office/drawing/2014/main" val="10009"/>
                  </a:ext>
                </a:extLst>
              </a:tr>
              <a:tr h="210884">
                <a:tc>
                  <a:txBody>
                    <a:bodyPr/>
                    <a:lstStyle/>
                    <a:p>
                      <a:pPr>
                        <a:defRPr sz="850" b="1">
                          <a:solidFill>
                            <a:srgbClr val="38BDF8"/>
                          </a:solidFill>
                          <a:latin typeface="Calibri"/>
                        </a:defRPr>
                      </a:pPr>
                      <a:r>
                        <a:rPr sz="600"/>
                        <a:t>10. Web Knowledge Service</a:t>
                      </a:r>
                    </a:p>
                  </a:txBody>
                  <a:tcPr marL="41148" marR="41148" marT="20574" marB="20574">
                    <a:solidFill>
                      <a:srgbClr val="151D2D"/>
                    </a:solidFill>
                  </a:tcPr>
                </a:tc>
                <a:tc>
                  <a:txBody>
                    <a:bodyPr/>
                    <a:lstStyle/>
                    <a:p>
                      <a:pPr>
                        <a:defRPr sz="850">
                          <a:solidFill>
                            <a:srgbClr val="E2E8F0"/>
                          </a:solidFill>
                          <a:latin typeface="Calibri"/>
                        </a:defRPr>
                      </a:pPr>
                      <a:r>
                        <a:rPr sz="600"/>
                        <a:t>Performs real-time web searches to resolve ambiguous or external domain/value terms.</a:t>
                      </a:r>
                    </a:p>
                  </a:txBody>
                  <a:tcPr marL="41148" marR="41148" marT="20574" marB="20574">
                    <a:solidFill>
                      <a:srgbClr val="151D2D"/>
                    </a:solidFill>
                  </a:tcPr>
                </a:tc>
                <a:tc>
                  <a:txBody>
                    <a:bodyPr/>
                    <a:lstStyle/>
                    <a:p>
                      <a:pPr>
                        <a:defRPr sz="800">
                          <a:solidFill>
                            <a:srgbClr val="F43F5E"/>
                          </a:solidFill>
                          <a:latin typeface="Consolas"/>
                        </a:defRPr>
                      </a:pPr>
                      <a:r>
                        <a:rPr sz="600"/>
                        <a:t>WebKnowledgeService.search_term(), triggers SQL regeneration</a:t>
                      </a:r>
                    </a:p>
                  </a:txBody>
                  <a:tcPr marL="41148" marR="41148" marT="20574" marB="20574">
                    <a:solidFill>
                      <a:srgbClr val="151D2D"/>
                    </a:solidFill>
                  </a:tcPr>
                </a:tc>
                <a:extLst>
                  <a:ext uri="{0D108BD9-81ED-4DB2-BD59-A6C34878D82A}">
                    <a16:rowId xmlns:a16="http://schemas.microsoft.com/office/drawing/2014/main" val="10010"/>
                  </a:ext>
                </a:extLst>
              </a:tr>
              <a:tr h="235458">
                <a:tc>
                  <a:txBody>
                    <a:bodyPr/>
                    <a:lstStyle/>
                    <a:p>
                      <a:pPr>
                        <a:defRPr sz="850" b="1">
                          <a:solidFill>
                            <a:srgbClr val="38BDF8"/>
                          </a:solidFill>
                          <a:latin typeface="Calibri"/>
                        </a:defRPr>
                      </a:pPr>
                      <a:r>
                        <a:rPr sz="600"/>
                        <a:t>11. Adversarial SQL Critic</a:t>
                      </a:r>
                    </a:p>
                  </a:txBody>
                  <a:tcPr marL="41148" marR="41148" marT="20574" marB="20574">
                    <a:solidFill>
                      <a:srgbClr val="0F172A"/>
                    </a:solidFill>
                  </a:tcPr>
                </a:tc>
                <a:tc>
                  <a:txBody>
                    <a:bodyPr/>
                    <a:lstStyle/>
                    <a:p>
                      <a:pPr>
                        <a:defRPr sz="850">
                          <a:solidFill>
                            <a:srgbClr val="E2E8F0"/>
                          </a:solidFill>
                          <a:latin typeface="Calibri"/>
                        </a:defRPr>
                      </a:pPr>
                      <a:r>
                        <a:rPr sz="600"/>
                        <a:t>Audits the SQL draft for anti-patterns (mixed-case quoting, incorrect join conditions, type mismatches) prior to execution.</a:t>
                      </a:r>
                    </a:p>
                  </a:txBody>
                  <a:tcPr marL="41148" marR="41148" marT="20574" marB="20574">
                    <a:solidFill>
                      <a:srgbClr val="0F172A"/>
                    </a:solidFill>
                  </a:tcPr>
                </a:tc>
                <a:tc>
                  <a:txBody>
                    <a:bodyPr/>
                    <a:lstStyle/>
                    <a:p>
                      <a:pPr>
                        <a:defRPr sz="800">
                          <a:solidFill>
                            <a:srgbClr val="F43F5E"/>
                          </a:solidFill>
                          <a:latin typeface="Consolas"/>
                        </a:defRPr>
                      </a:pPr>
                      <a:r>
                        <a:rPr sz="600"/>
                        <a:t>SQLCritic.critique_sql(), CriticOutput verification</a:t>
                      </a:r>
                    </a:p>
                  </a:txBody>
                  <a:tcPr marL="41148" marR="41148" marT="20574" marB="20574">
                    <a:solidFill>
                      <a:srgbClr val="0F172A"/>
                    </a:solidFill>
                  </a:tcPr>
                </a:tc>
                <a:extLst>
                  <a:ext uri="{0D108BD9-81ED-4DB2-BD59-A6C34878D82A}">
                    <a16:rowId xmlns:a16="http://schemas.microsoft.com/office/drawing/2014/main" val="10011"/>
                  </a:ext>
                </a:extLst>
              </a:tr>
              <a:tr h="210884">
                <a:tc>
                  <a:txBody>
                    <a:bodyPr/>
                    <a:lstStyle/>
                    <a:p>
                      <a:pPr>
                        <a:defRPr sz="850" b="1">
                          <a:solidFill>
                            <a:srgbClr val="38BDF8"/>
                          </a:solidFill>
                          <a:latin typeface="Calibri"/>
                        </a:defRPr>
                      </a:pPr>
                      <a:r>
                        <a:rPr sz="600"/>
                        <a:t>12. Pre-flight Schema Stabilizer</a:t>
                      </a:r>
                    </a:p>
                  </a:txBody>
                  <a:tcPr marL="41148" marR="41148" marT="20574" marB="20574">
                    <a:solidFill>
                      <a:srgbClr val="151D2D"/>
                    </a:solidFill>
                  </a:tcPr>
                </a:tc>
                <a:tc>
                  <a:txBody>
                    <a:bodyPr/>
                    <a:lstStyle/>
                    <a:p>
                      <a:pPr>
                        <a:defRPr sz="850">
                          <a:solidFill>
                            <a:srgbClr val="E2E8F0"/>
                          </a:solidFill>
                          <a:latin typeface="Calibri"/>
                        </a:defRPr>
                      </a:pPr>
                      <a:r>
                        <a:rPr sz="600"/>
                        <a:t>Verifies that all query identifiers exist in the database metadata before running the query.</a:t>
                      </a:r>
                    </a:p>
                  </a:txBody>
                  <a:tcPr marL="41148" marR="41148" marT="20574" marB="20574">
                    <a:solidFill>
                      <a:srgbClr val="151D2D"/>
                    </a:solidFill>
                  </a:tcPr>
                </a:tc>
                <a:tc>
                  <a:txBody>
                    <a:bodyPr/>
                    <a:lstStyle/>
                    <a:p>
                      <a:pPr>
                        <a:defRPr sz="800">
                          <a:solidFill>
                            <a:srgbClr val="F43F5E"/>
                          </a:solidFill>
                          <a:latin typeface="Consolas"/>
                        </a:defRPr>
                      </a:pPr>
                      <a:r>
                        <a:rPr sz="600"/>
                        <a:t>ExecutionStabilizer.verify_schema_reference()</a:t>
                      </a:r>
                    </a:p>
                  </a:txBody>
                  <a:tcPr marL="41148" marR="41148" marT="20574" marB="20574">
                    <a:solidFill>
                      <a:srgbClr val="151D2D"/>
                    </a:solidFill>
                  </a:tcPr>
                </a:tc>
                <a:extLst>
                  <a:ext uri="{0D108BD9-81ED-4DB2-BD59-A6C34878D82A}">
                    <a16:rowId xmlns:a16="http://schemas.microsoft.com/office/drawing/2014/main" val="10012"/>
                  </a:ext>
                </a:extLst>
              </a:tr>
              <a:tr h="210884">
                <a:tc>
                  <a:txBody>
                    <a:bodyPr/>
                    <a:lstStyle/>
                    <a:p>
                      <a:pPr>
                        <a:defRPr sz="850" b="1">
                          <a:solidFill>
                            <a:srgbClr val="38BDF8"/>
                          </a:solidFill>
                          <a:latin typeface="Calibri"/>
                        </a:defRPr>
                      </a:pPr>
                      <a:r>
                        <a:rPr sz="600"/>
                        <a:t>13. Database Executor</a:t>
                      </a:r>
                    </a:p>
                  </a:txBody>
                  <a:tcPr marL="41148" marR="41148" marT="20574" marB="20574">
                    <a:solidFill>
                      <a:srgbClr val="0F172A"/>
                    </a:solidFill>
                  </a:tcPr>
                </a:tc>
                <a:tc>
                  <a:txBody>
                    <a:bodyPr/>
                    <a:lstStyle/>
                    <a:p>
                      <a:pPr>
                        <a:defRPr sz="850">
                          <a:solidFill>
                            <a:srgbClr val="E2E8F0"/>
                          </a:solidFill>
                          <a:latin typeface="Calibri"/>
                        </a:defRPr>
                      </a:pPr>
                      <a:r>
                        <a:rPr sz="600"/>
                        <a:t>Executes SQL queries on the active database engine (e.g. Snowflake) and returns results or exceptions.</a:t>
                      </a:r>
                    </a:p>
                  </a:txBody>
                  <a:tcPr marL="41148" marR="41148" marT="20574" marB="20574">
                    <a:solidFill>
                      <a:srgbClr val="0F172A"/>
                    </a:solidFill>
                  </a:tcPr>
                </a:tc>
                <a:tc>
                  <a:txBody>
                    <a:bodyPr/>
                    <a:lstStyle/>
                    <a:p>
                      <a:pPr>
                        <a:defRPr sz="800">
                          <a:solidFill>
                            <a:srgbClr val="F43F5E"/>
                          </a:solidFill>
                          <a:latin typeface="Consolas"/>
                        </a:defRPr>
                      </a:pPr>
                      <a:r>
                        <a:rPr sz="600"/>
                        <a:t>DatabaseExecutor.execute()</a:t>
                      </a:r>
                    </a:p>
                  </a:txBody>
                  <a:tcPr marL="41148" marR="41148" marT="20574" marB="20574">
                    <a:solidFill>
                      <a:srgbClr val="0F172A"/>
                    </a:solidFill>
                  </a:tcPr>
                </a:tc>
                <a:extLst>
                  <a:ext uri="{0D108BD9-81ED-4DB2-BD59-A6C34878D82A}">
                    <a16:rowId xmlns:a16="http://schemas.microsoft.com/office/drawing/2014/main" val="10013"/>
                  </a:ext>
                </a:extLst>
              </a:tr>
              <a:tr h="235458">
                <a:tc>
                  <a:txBody>
                    <a:bodyPr/>
                    <a:lstStyle/>
                    <a:p>
                      <a:pPr>
                        <a:defRPr sz="850" b="1">
                          <a:solidFill>
                            <a:srgbClr val="38BDF8"/>
                          </a:solidFill>
                          <a:latin typeface="Calibri"/>
                        </a:defRPr>
                      </a:pPr>
                      <a:r>
                        <a:rPr sz="600"/>
                        <a:t>14. Data IQ Result Validator</a:t>
                      </a:r>
                    </a:p>
                  </a:txBody>
                  <a:tcPr marL="41148" marR="41148" marT="20574" marB="20574">
                    <a:solidFill>
                      <a:srgbClr val="151D2D"/>
                    </a:solidFill>
                  </a:tcPr>
                </a:tc>
                <a:tc>
                  <a:txBody>
                    <a:bodyPr/>
                    <a:lstStyle/>
                    <a:p>
                      <a:pPr>
                        <a:defRPr sz="850">
                          <a:solidFill>
                            <a:srgbClr val="E2E8F0"/>
                          </a:solidFill>
                          <a:latin typeface="Calibri"/>
                        </a:defRPr>
                      </a:pPr>
                      <a:r>
                        <a:rPr sz="600"/>
                        <a:t>Audits query output data quality, checks for anomalies (zero rows, identical values, placeholder values, null counts).</a:t>
                      </a:r>
                    </a:p>
                  </a:txBody>
                  <a:tcPr marL="41148" marR="41148" marT="20574" marB="20574">
                    <a:solidFill>
                      <a:srgbClr val="151D2D"/>
                    </a:solidFill>
                  </a:tcPr>
                </a:tc>
                <a:tc>
                  <a:txBody>
                    <a:bodyPr/>
                    <a:lstStyle/>
                    <a:p>
                      <a:pPr>
                        <a:defRPr sz="800">
                          <a:solidFill>
                            <a:srgbClr val="F43F5E"/>
                          </a:solidFill>
                          <a:latin typeface="Consolas"/>
                        </a:defRPr>
                      </a:pPr>
                      <a:r>
                        <a:rPr sz="600"/>
                        <a:t>ResultValidator.validate_result(), Pandas DataFrame statistics</a:t>
                      </a:r>
                    </a:p>
                  </a:txBody>
                  <a:tcPr marL="41148" marR="41148" marT="20574" marB="20574">
                    <a:solidFill>
                      <a:srgbClr val="151D2D"/>
                    </a:solidFill>
                  </a:tcPr>
                </a:tc>
                <a:extLst>
                  <a:ext uri="{0D108BD9-81ED-4DB2-BD59-A6C34878D82A}">
                    <a16:rowId xmlns:a16="http://schemas.microsoft.com/office/drawing/2014/main" val="10014"/>
                  </a:ext>
                </a:extLst>
              </a:tr>
              <a:tr h="210884">
                <a:tc>
                  <a:txBody>
                    <a:bodyPr/>
                    <a:lstStyle/>
                    <a:p>
                      <a:pPr>
                        <a:defRPr sz="850" b="1">
                          <a:solidFill>
                            <a:srgbClr val="38BDF8"/>
                          </a:solidFill>
                          <a:latin typeface="Calibri"/>
                        </a:defRPr>
                      </a:pPr>
                      <a:r>
                        <a:rPr sz="600"/>
                        <a:t>15. Exploration Probing Agent</a:t>
                      </a:r>
                    </a:p>
                  </a:txBody>
                  <a:tcPr marL="41148" marR="41148" marT="20574" marB="20574">
                    <a:solidFill>
                      <a:srgbClr val="0F172A"/>
                    </a:solidFill>
                  </a:tcPr>
                </a:tc>
                <a:tc>
                  <a:txBody>
                    <a:bodyPr/>
                    <a:lstStyle/>
                    <a:p>
                      <a:pPr>
                        <a:defRPr sz="850">
                          <a:solidFill>
                            <a:srgbClr val="E2E8F0"/>
                          </a:solidFill>
                          <a:latin typeface="Calibri"/>
                        </a:defRPr>
                      </a:pPr>
                      <a:r>
                        <a:rPr sz="600"/>
                        <a:t>Formulates and runs secondary exploration queries to diagnose empty or low-quality results.</a:t>
                      </a:r>
                    </a:p>
                  </a:txBody>
                  <a:tcPr marL="41148" marR="41148" marT="20574" marB="20574">
                    <a:solidFill>
                      <a:srgbClr val="0F172A"/>
                    </a:solidFill>
                  </a:tcPr>
                </a:tc>
                <a:tc>
                  <a:txBody>
                    <a:bodyPr/>
                    <a:lstStyle/>
                    <a:p>
                      <a:pPr>
                        <a:defRPr sz="800">
                          <a:solidFill>
                            <a:srgbClr val="F43F5E"/>
                          </a:solidFill>
                          <a:latin typeface="Consolas"/>
                        </a:defRPr>
                      </a:pPr>
                      <a:r>
                        <a:rPr sz="600"/>
                        <a:t>ResultValidatorOutput.exploration_sql, DatabaseExecutor.execute()</a:t>
                      </a:r>
                    </a:p>
                  </a:txBody>
                  <a:tcPr marL="41148" marR="41148" marT="20574" marB="20574">
                    <a:solidFill>
                      <a:srgbClr val="0F172A"/>
                    </a:solidFill>
                  </a:tcPr>
                </a:tc>
                <a:extLst>
                  <a:ext uri="{0D108BD9-81ED-4DB2-BD59-A6C34878D82A}">
                    <a16:rowId xmlns:a16="http://schemas.microsoft.com/office/drawing/2014/main" val="10015"/>
                  </a:ext>
                </a:extLst>
              </a:tr>
              <a:tr h="210884">
                <a:tc>
                  <a:txBody>
                    <a:bodyPr/>
                    <a:lstStyle/>
                    <a:p>
                      <a:pPr>
                        <a:defRPr sz="850" b="1">
                          <a:solidFill>
                            <a:srgbClr val="38BDF8"/>
                          </a:solidFill>
                          <a:latin typeface="Calibri"/>
                        </a:defRPr>
                      </a:pPr>
                      <a:r>
                        <a:rPr sz="600"/>
                        <a:t>16. Pre-flight Diagnostic Analyzer</a:t>
                      </a:r>
                    </a:p>
                  </a:txBody>
                  <a:tcPr marL="41148" marR="41148" marT="20574" marB="20574">
                    <a:solidFill>
                      <a:srgbClr val="151D2D"/>
                    </a:solidFill>
                  </a:tcPr>
                </a:tc>
                <a:tc>
                  <a:txBody>
                    <a:bodyPr/>
                    <a:lstStyle/>
                    <a:p>
                      <a:pPr>
                        <a:defRPr sz="850">
                          <a:solidFill>
                            <a:srgbClr val="E2E8F0"/>
                          </a:solidFill>
                          <a:latin typeface="Calibri"/>
                        </a:defRPr>
                      </a:pPr>
                      <a:r>
                        <a:rPr sz="600"/>
                        <a:t>Diagnoses filter collapses or join failures when a query returns empty results.</a:t>
                      </a:r>
                    </a:p>
                  </a:txBody>
                  <a:tcPr marL="41148" marR="41148" marT="20574" marB="20574">
                    <a:solidFill>
                      <a:srgbClr val="151D2D"/>
                    </a:solidFill>
                  </a:tcPr>
                </a:tc>
                <a:tc>
                  <a:txBody>
                    <a:bodyPr/>
                    <a:lstStyle/>
                    <a:p>
                      <a:pPr>
                        <a:defRPr sz="800">
                          <a:solidFill>
                            <a:srgbClr val="F43F5E"/>
                          </a:solidFill>
                          <a:latin typeface="Consolas"/>
                        </a:defRPr>
                      </a:pPr>
                      <a:r>
                        <a:rPr sz="600"/>
                        <a:t>ExecutionStabilizer.diagnose_filter_collapse()</a:t>
                      </a:r>
                    </a:p>
                  </a:txBody>
                  <a:tcPr marL="41148" marR="41148" marT="20574" marB="20574">
                    <a:solidFill>
                      <a:srgbClr val="151D2D"/>
                    </a:solidFill>
                  </a:tcPr>
                </a:tc>
                <a:extLst>
                  <a:ext uri="{0D108BD9-81ED-4DB2-BD59-A6C34878D82A}">
                    <a16:rowId xmlns:a16="http://schemas.microsoft.com/office/drawing/2014/main" val="10016"/>
                  </a:ext>
                </a:extLst>
              </a:tr>
              <a:tr h="224028">
                <a:tc>
                  <a:txBody>
                    <a:bodyPr/>
                    <a:lstStyle/>
                    <a:p>
                      <a:pPr>
                        <a:defRPr sz="850" b="1">
                          <a:solidFill>
                            <a:srgbClr val="38BDF8"/>
                          </a:solidFill>
                          <a:latin typeface="Calibri"/>
                        </a:defRPr>
                      </a:pPr>
                      <a:r>
                        <a:rPr sz="600"/>
                        <a:t>17. Execution Corrector</a:t>
                      </a:r>
                    </a:p>
                  </a:txBody>
                  <a:tcPr marL="41148" marR="41148" marT="20574" marB="20574">
                    <a:solidFill>
                      <a:srgbClr val="0F172A"/>
                    </a:solidFill>
                  </a:tcPr>
                </a:tc>
                <a:tc>
                  <a:txBody>
                    <a:bodyPr/>
                    <a:lstStyle/>
                    <a:p>
                      <a:pPr>
                        <a:defRPr sz="850">
                          <a:solidFill>
                            <a:srgbClr val="E2E8F0"/>
                          </a:solidFill>
                          <a:latin typeface="Calibri"/>
                        </a:defRPr>
                      </a:pPr>
                      <a:r>
                        <a:rPr sz="600"/>
                        <a:t>Repairs compilation or semantic failures iteratively using error messages, DB evidence, and unpruning.</a:t>
                      </a:r>
                    </a:p>
                  </a:txBody>
                  <a:tcPr marL="41148" marR="41148" marT="20574" marB="20574">
                    <a:solidFill>
                      <a:srgbClr val="0F172A"/>
                    </a:solidFill>
                  </a:tcPr>
                </a:tc>
                <a:tc>
                  <a:txBody>
                    <a:bodyPr/>
                    <a:lstStyle/>
                    <a:p>
                      <a:pPr>
                        <a:defRPr sz="800">
                          <a:solidFill>
                            <a:srgbClr val="F43F5E"/>
                          </a:solidFill>
                          <a:latin typeface="Consolas"/>
                        </a:defRPr>
                      </a:pPr>
                      <a:r>
                        <a:rPr sz="600"/>
                        <a:t>ExecutionCorrector.correct_sql(), ExecutionStabilizer.get_sample_evidence()</a:t>
                      </a:r>
                    </a:p>
                  </a:txBody>
                  <a:tcPr marL="41148" marR="41148" marT="20574" marB="20574">
                    <a:solidFill>
                      <a:srgbClr val="0F172A"/>
                    </a:solidFill>
                  </a:tcPr>
                </a:tc>
                <a:extLst>
                  <a:ext uri="{0D108BD9-81ED-4DB2-BD59-A6C34878D82A}">
                    <a16:rowId xmlns:a16="http://schemas.microsoft.com/office/drawing/2014/main" val="10017"/>
                  </a:ext>
                </a:extLst>
              </a:tr>
              <a:tr h="235458">
                <a:tc>
                  <a:txBody>
                    <a:bodyPr/>
                    <a:lstStyle/>
                    <a:p>
                      <a:pPr>
                        <a:defRPr sz="850" b="1">
                          <a:solidFill>
                            <a:srgbClr val="38BDF8"/>
                          </a:solidFill>
                          <a:latin typeface="Calibri"/>
                        </a:defRPr>
                      </a:pPr>
                      <a:r>
                        <a:rPr sz="600"/>
                        <a:t>18. Cross-Database Discovery Service</a:t>
                      </a:r>
                    </a:p>
                  </a:txBody>
                  <a:tcPr marL="41148" marR="41148" marT="20574" marB="20574">
                    <a:solidFill>
                      <a:srgbClr val="151D2D"/>
                    </a:solidFill>
                  </a:tcPr>
                </a:tc>
                <a:tc>
                  <a:txBody>
                    <a:bodyPr/>
                    <a:lstStyle/>
                    <a:p>
                      <a:pPr>
                        <a:defRPr sz="850">
                          <a:solidFill>
                            <a:srgbClr val="E2E8F0"/>
                          </a:solidFill>
                          <a:latin typeface="Calibri"/>
                        </a:defRPr>
                      </a:pPr>
                      <a:r>
                        <a:rPr sz="600"/>
                        <a:t>Dynamically checks other active databases for missing tables when execution throws object-not-found errors.</a:t>
                      </a:r>
                    </a:p>
                  </a:txBody>
                  <a:tcPr marL="41148" marR="41148" marT="20574" marB="20574">
                    <a:solidFill>
                      <a:srgbClr val="151D2D"/>
                    </a:solidFill>
                  </a:tcPr>
                </a:tc>
                <a:tc>
                  <a:txBody>
                    <a:bodyPr/>
                    <a:lstStyle/>
                    <a:p>
                      <a:pPr>
                        <a:defRPr sz="800">
                          <a:solidFill>
                            <a:srgbClr val="F43F5E"/>
                          </a:solidFill>
                          <a:latin typeface="Consolas"/>
                        </a:defRPr>
                      </a:pPr>
                      <a:r>
                        <a:rPr sz="600"/>
                        <a:t>SemanticContextEngine.discover_and_load_table()</a:t>
                      </a:r>
                    </a:p>
                  </a:txBody>
                  <a:tcPr marL="41148" marR="41148" marT="20574" marB="20574">
                    <a:solidFill>
                      <a:srgbClr val="151D2D"/>
                    </a:solidFill>
                  </a:tcPr>
                </a:tc>
                <a:extLst>
                  <a:ext uri="{0D108BD9-81ED-4DB2-BD59-A6C34878D82A}">
                    <a16:rowId xmlns:a16="http://schemas.microsoft.com/office/drawing/2014/main" val="10018"/>
                  </a:ext>
                </a:extLst>
              </a:tr>
              <a:tr h="235458">
                <a:tc>
                  <a:txBody>
                    <a:bodyPr/>
                    <a:lstStyle/>
                    <a:p>
                      <a:pPr>
                        <a:defRPr sz="850" b="1">
                          <a:solidFill>
                            <a:srgbClr val="38BDF8"/>
                          </a:solidFill>
                          <a:latin typeface="Calibri"/>
                        </a:defRPr>
                      </a:pPr>
                      <a:r>
                        <a:rPr sz="600"/>
                        <a:t>19. Pipeline Telemetry &amp; SQL Cache</a:t>
                      </a:r>
                    </a:p>
                  </a:txBody>
                  <a:tcPr marL="41148" marR="41148" marT="20574" marB="20574">
                    <a:solidFill>
                      <a:srgbClr val="0F172A"/>
                    </a:solidFill>
                  </a:tcPr>
                </a:tc>
                <a:tc>
                  <a:txBody>
                    <a:bodyPr/>
                    <a:lstStyle/>
                    <a:p>
                      <a:pPr>
                        <a:defRPr sz="850">
                          <a:solidFill>
                            <a:srgbClr val="E2E8F0"/>
                          </a:solidFill>
                          <a:latin typeface="Calibri"/>
                        </a:defRPr>
                      </a:pPr>
                      <a:r>
                        <a:rPr sz="600"/>
                        <a:t>Logs stage latencies, counts execution metrics, caches successful queries, and applies fallback SQL if retries fail.</a:t>
                      </a:r>
                    </a:p>
                  </a:txBody>
                  <a:tcPr marL="41148" marR="41148" marT="20574" marB="20574">
                    <a:solidFill>
                      <a:srgbClr val="0F172A"/>
                    </a:solidFill>
                  </a:tcPr>
                </a:tc>
                <a:tc>
                  <a:txBody>
                    <a:bodyPr/>
                    <a:lstStyle/>
                    <a:p>
                      <a:pPr>
                        <a:defRPr sz="800">
                          <a:solidFill>
                            <a:srgbClr val="F43F5E"/>
                          </a:solidFill>
                          <a:latin typeface="Consolas"/>
                        </a:defRPr>
                      </a:pPr>
                      <a:r>
                        <a:rPr sz="600"/>
                        <a:t>PipelineTelemetry, SQLManager.cache_success(), SQLManager.get_best_sql()</a:t>
                      </a:r>
                    </a:p>
                  </a:txBody>
                  <a:tcPr marL="41148" marR="41148" marT="20574" marB="20574">
                    <a:solidFill>
                      <a:srgbClr val="0F172A"/>
                    </a:solidFill>
                  </a:tcPr>
                </a:tc>
                <a:extLst>
                  <a:ext uri="{0D108BD9-81ED-4DB2-BD59-A6C34878D82A}">
                    <a16:rowId xmlns:a16="http://schemas.microsoft.com/office/drawing/2014/main" val="10019"/>
                  </a:ext>
                </a:extLst>
              </a:tr>
            </a:tbl>
          </a:graphicData>
        </a:graphic>
      </p:graphicFrame>
      <p:pic>
        <p:nvPicPr>
          <p:cNvPr id="4" name="Picture 3">
            <a:extLst>
              <a:ext uri="{FF2B5EF4-FFF2-40B4-BE49-F238E27FC236}">
                <a16:creationId xmlns:a16="http://schemas.microsoft.com/office/drawing/2014/main" id="{97E27BE4-5C81-CFB0-697A-37D8C3ABD294}"/>
              </a:ext>
            </a:extLst>
          </p:cNvPr>
          <p:cNvPicPr>
            <a:picLocks noChangeAspect="1"/>
          </p:cNvPicPr>
          <p:nvPr/>
        </p:nvPicPr>
        <p:blipFill>
          <a:blip r:embed="rId2"/>
          <a:srcRect l="-928" t="29746" r="928" b="36645"/>
          <a:stretch>
            <a:fillRect/>
          </a:stretch>
        </p:blipFill>
        <p:spPr>
          <a:xfrm>
            <a:off x="8218575" y="45720"/>
            <a:ext cx="861058" cy="289396"/>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pider2_page_0.png"/>
          <p:cNvPicPr>
            <a:picLocks noChangeAspect="1"/>
          </p:cNvPicPr>
          <p:nvPr/>
        </p:nvPicPr>
        <p:blipFill>
          <a:blip r:embed="rId2"/>
          <a:stretch>
            <a:fillRect/>
          </a:stretch>
        </p:blipFill>
        <p:spPr>
          <a:xfrm>
            <a:off x="1191" y="0"/>
            <a:ext cx="9141714" cy="5143500"/>
          </a:xfrm>
          <a:prstGeom prst="rect">
            <a:avLst/>
          </a:prstGeom>
        </p:spPr>
      </p:pic>
      <p:pic>
        <p:nvPicPr>
          <p:cNvPr id="3" name="Picture 2">
            <a:extLst>
              <a:ext uri="{FF2B5EF4-FFF2-40B4-BE49-F238E27FC236}">
                <a16:creationId xmlns:a16="http://schemas.microsoft.com/office/drawing/2014/main" id="{DD7CED68-5E62-D095-3658-0287FF980667}"/>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3">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365760" y="201168"/>
            <a:ext cx="2011680" cy="292608"/>
          </a:xfrm>
          <a:prstGeom prst="roundRect">
            <a:avLst>
              <a:gd name="adj" fmla="val 25000"/>
            </a:avLst>
          </a:prstGeom>
          <a:solidFill>
            <a:srgbClr val="9CA3AF">
              <a:alpha val="80000"/>
            </a:srgbClr>
          </a:solidFill>
          <a:ln w="12700">
            <a:solidFill>
              <a:srgbClr val="9CA3AF"/>
            </a:solidFill>
            <a:prstDash val="solid"/>
          </a:ln>
        </p:spPr>
        <p:txBody>
          <a:bodyPr/>
          <a:lstStyle/>
          <a:p>
            <a:endParaRPr lang="en-US"/>
          </a:p>
        </p:txBody>
      </p:sp>
      <p:sp>
        <p:nvSpPr>
          <p:cNvPr id="3" name="Text 1"/>
          <p:cNvSpPr/>
          <p:nvPr/>
        </p:nvSpPr>
        <p:spPr>
          <a:xfrm>
            <a:off x="365760" y="201168"/>
            <a:ext cx="2011680" cy="292608"/>
          </a:xfrm>
          <a:prstGeom prst="rect">
            <a:avLst/>
          </a:prstGeom>
          <a:noFill/>
          <a:ln/>
        </p:spPr>
        <p:txBody>
          <a:bodyPr wrap="square" lIns="0" tIns="0" rIns="0" bIns="0" rtlCol="0" anchor="ctr"/>
          <a:lstStyle/>
          <a:p>
            <a:pPr marL="0" indent="0" algn="ctr">
              <a:buNone/>
            </a:pPr>
            <a:r>
              <a:rPr lang="en-US" sz="800" b="1" kern="0" spc="200" dirty="0">
                <a:solidFill>
                  <a:srgbClr val="F9FAFB"/>
                </a:solidFill>
              </a:rPr>
              <a:t>SECTION 28 - REFERENCES</a:t>
            </a:r>
            <a:endParaRPr lang="en-US" sz="800" dirty="0"/>
          </a:p>
        </p:txBody>
      </p:sp>
      <p:sp>
        <p:nvSpPr>
          <p:cNvPr id="4" name="Text 2"/>
          <p:cNvSpPr/>
          <p:nvPr/>
        </p:nvSpPr>
        <p:spPr>
          <a:xfrm>
            <a:off x="365760" y="594360"/>
            <a:ext cx="8412480" cy="594360"/>
          </a:xfrm>
          <a:prstGeom prst="rect">
            <a:avLst/>
          </a:prstGeom>
          <a:noFill/>
          <a:ln/>
        </p:spPr>
        <p:txBody>
          <a:bodyPr wrap="square" lIns="0" tIns="0" rIns="0" bIns="0" rtlCol="0" anchor="ctr"/>
          <a:lstStyle/>
          <a:p>
            <a:pPr marL="0" indent="0" algn="l">
              <a:buNone/>
            </a:pPr>
            <a:r>
              <a:rPr lang="en-US" sz="3000" b="1" dirty="0">
                <a:solidFill>
                  <a:srgbClr val="F9FAFB"/>
                </a:solidFill>
                <a:latin typeface="Calibri" pitchFamily="34" charset="0"/>
                <a:ea typeface="Calibri" pitchFamily="34" charset="-122"/>
                <a:cs typeface="Calibri" pitchFamily="34" charset="-120"/>
              </a:rPr>
              <a:t>References &amp; Further Reading</a:t>
            </a:r>
            <a:endParaRPr lang="en-US" sz="3000" dirty="0"/>
          </a:p>
        </p:txBody>
      </p:sp>
      <p:sp>
        <p:nvSpPr>
          <p:cNvPr id="5" name="Text 3"/>
          <p:cNvSpPr/>
          <p:nvPr/>
        </p:nvSpPr>
        <p:spPr>
          <a:xfrm>
            <a:off x="365760" y="1143000"/>
            <a:ext cx="8412480" cy="320040"/>
          </a:xfrm>
          <a:prstGeom prst="rect">
            <a:avLst/>
          </a:prstGeom>
          <a:noFill/>
          <a:ln/>
        </p:spPr>
        <p:txBody>
          <a:bodyPr wrap="square" lIns="0" tIns="0" rIns="0" bIns="0" rtlCol="0" anchor="t"/>
          <a:lstStyle/>
          <a:p>
            <a:pPr marL="0" indent="0" algn="l">
              <a:buNone/>
            </a:pPr>
            <a:r>
              <a:rPr lang="en-US" sz="1300" dirty="0">
                <a:solidFill>
                  <a:srgbClr val="9CA3AF"/>
                </a:solidFill>
                <a:latin typeface="Calibri" pitchFamily="34" charset="0"/>
                <a:ea typeface="Calibri" pitchFamily="34" charset="-122"/>
                <a:cs typeface="Calibri" pitchFamily="34" charset="-120"/>
              </a:rPr>
              <a:t>Standing on the shoulders of giants</a:t>
            </a:r>
            <a:endParaRPr lang="en-US" sz="1300" dirty="0"/>
          </a:p>
        </p:txBody>
      </p:sp>
      <p:sp>
        <p:nvSpPr>
          <p:cNvPr id="6" name="Shape 4"/>
          <p:cNvSpPr/>
          <p:nvPr/>
        </p:nvSpPr>
        <p:spPr>
          <a:xfrm>
            <a:off x="365760" y="1417320"/>
            <a:ext cx="8412480" cy="36576"/>
          </a:xfrm>
          <a:prstGeom prst="rect">
            <a:avLst/>
          </a:prstGeom>
          <a:solidFill>
            <a:srgbClr val="00D4FF"/>
          </a:solidFill>
          <a:ln w="12700">
            <a:solidFill>
              <a:srgbClr val="00D4FF"/>
            </a:solidFill>
            <a:prstDash val="solid"/>
          </a:ln>
        </p:spPr>
        <p:txBody>
          <a:bodyPr/>
          <a:lstStyle/>
          <a:p>
            <a:endParaRPr lang="en-US"/>
          </a:p>
        </p:txBody>
      </p:sp>
      <p:sp>
        <p:nvSpPr>
          <p:cNvPr id="7" name="Text 5"/>
          <p:cNvSpPr/>
          <p:nvPr/>
        </p:nvSpPr>
        <p:spPr>
          <a:xfrm>
            <a:off x="365760" y="1600200"/>
            <a:ext cx="4114800" cy="530352"/>
          </a:xfrm>
          <a:prstGeom prst="rect">
            <a:avLst/>
          </a:prstGeom>
          <a:noFill/>
          <a:ln/>
        </p:spPr>
        <p:txBody>
          <a:bodyPr wrap="square" lIns="0" tIns="0" rIns="0" bIns="0" rtlCol="0" anchor="ctr"/>
          <a:lstStyle/>
          <a:p>
            <a:pPr marL="0" indent="0" algn="l">
              <a:buNone/>
            </a:pPr>
            <a:r>
              <a:rPr lang="en-US" sz="1000" b="1" dirty="0">
                <a:solidFill>
                  <a:srgbClr val="00D4FF"/>
                </a:solidFill>
                <a:latin typeface="Calibri" pitchFamily="34" charset="0"/>
                <a:ea typeface="Calibri" pitchFamily="34" charset="-122"/>
                <a:cs typeface="Calibri" pitchFamily="34" charset="-120"/>
                <a:hlinkClick r:id="rId3" tooltip="https://arxiv.org/abs/2308.01940"/>
              </a:rPr>
              <a:t>▶  DIN-SQL  </a:t>
            </a:r>
            <a:r>
              <a:rPr lang="en-US" sz="1000" dirty="0">
                <a:solidFill>
                  <a:srgbClr val="9CA3AF"/>
                </a:solidFill>
                <a:latin typeface="Calibri" pitchFamily="34" charset="0"/>
                <a:ea typeface="Calibri" pitchFamily="34" charset="-122"/>
                <a:cs typeface="Calibri" pitchFamily="34" charset="-120"/>
                <a:hlinkClick r:id="rId3" tooltip="https://arxiv.org/abs/2308.01940"/>
              </a:rPr>
              <a:t>Pourreza et al., 2023 — arXiv:2308.01940</a:t>
            </a:r>
            <a:endParaRPr lang="en-US" sz="1000" dirty="0"/>
          </a:p>
        </p:txBody>
      </p:sp>
      <p:sp>
        <p:nvSpPr>
          <p:cNvPr id="8" name="Text 6"/>
          <p:cNvSpPr/>
          <p:nvPr/>
        </p:nvSpPr>
        <p:spPr>
          <a:xfrm>
            <a:off x="4709160" y="1600200"/>
            <a:ext cx="4114800" cy="530352"/>
          </a:xfrm>
          <a:prstGeom prst="rect">
            <a:avLst/>
          </a:prstGeom>
          <a:noFill/>
          <a:ln/>
        </p:spPr>
        <p:txBody>
          <a:bodyPr wrap="square" lIns="0" tIns="0" rIns="0" bIns="0" rtlCol="0" anchor="ctr"/>
          <a:lstStyle/>
          <a:p>
            <a:pPr marL="0" indent="0" algn="l">
              <a:buNone/>
            </a:pPr>
            <a:r>
              <a:rPr lang="en-US" sz="1000" b="1" dirty="0">
                <a:solidFill>
                  <a:srgbClr val="7C3AED"/>
                </a:solidFill>
                <a:latin typeface="Calibri" pitchFamily="34" charset="0"/>
                <a:ea typeface="Calibri" pitchFamily="34" charset="-122"/>
                <a:cs typeface="Calibri" pitchFamily="34" charset="-120"/>
                <a:hlinkClick r:id="rId4" tooltip="https://arxiv.org/abs/2411.07763"/>
              </a:rPr>
              <a:t>▶  Spider 2.0  </a:t>
            </a:r>
            <a:r>
              <a:rPr lang="en-US" sz="1000" dirty="0">
                <a:solidFill>
                  <a:srgbClr val="9CA3AF"/>
                </a:solidFill>
                <a:latin typeface="Calibri" pitchFamily="34" charset="0"/>
                <a:ea typeface="Calibri" pitchFamily="34" charset="-122"/>
                <a:cs typeface="Calibri" pitchFamily="34" charset="-120"/>
                <a:hlinkClick r:id="rId4" tooltip="https://arxiv.org/abs/2411.07763"/>
              </a:rPr>
              <a:t>Lei et al., 2024 — arXiv:2411.07763</a:t>
            </a:r>
            <a:endParaRPr lang="en-US" sz="1000" dirty="0"/>
          </a:p>
        </p:txBody>
      </p:sp>
      <p:sp>
        <p:nvSpPr>
          <p:cNvPr id="9" name="Text 7"/>
          <p:cNvSpPr/>
          <p:nvPr/>
        </p:nvSpPr>
        <p:spPr>
          <a:xfrm>
            <a:off x="365760" y="2221992"/>
            <a:ext cx="4114800" cy="530352"/>
          </a:xfrm>
          <a:prstGeom prst="rect">
            <a:avLst/>
          </a:prstGeom>
          <a:noFill/>
          <a:ln/>
        </p:spPr>
        <p:txBody>
          <a:bodyPr wrap="square" lIns="0" tIns="0" rIns="0" bIns="0" rtlCol="0" anchor="ctr"/>
          <a:lstStyle/>
          <a:p>
            <a:pPr marL="0" indent="0" algn="l">
              <a:buNone/>
            </a:pPr>
            <a:r>
              <a:rPr lang="en-US" sz="1000" b="1" dirty="0">
                <a:solidFill>
                  <a:srgbClr val="10B981"/>
                </a:solidFill>
                <a:latin typeface="Calibri" pitchFamily="34" charset="0"/>
                <a:ea typeface="Calibri" pitchFamily="34" charset="-122"/>
                <a:cs typeface="Calibri" pitchFamily="34" charset="-120"/>
                <a:hlinkClick r:id="rId5" tooltip="https://arxiv.org/abs/2210.03629"/>
              </a:rPr>
              <a:t>▶  ReAct  </a:t>
            </a:r>
            <a:r>
              <a:rPr lang="en-US" sz="1000" dirty="0">
                <a:solidFill>
                  <a:srgbClr val="9CA3AF"/>
                </a:solidFill>
                <a:latin typeface="Calibri" pitchFamily="34" charset="0"/>
                <a:ea typeface="Calibri" pitchFamily="34" charset="-122"/>
                <a:cs typeface="Calibri" pitchFamily="34" charset="-120"/>
                <a:hlinkClick r:id="rId5" tooltip="https://arxiv.org/abs/2210.03629"/>
              </a:rPr>
              <a:t>Yao et al., 2022 — arXiv:2210.03629</a:t>
            </a:r>
            <a:endParaRPr lang="en-US" sz="1000" dirty="0"/>
          </a:p>
        </p:txBody>
      </p:sp>
      <p:sp>
        <p:nvSpPr>
          <p:cNvPr id="10" name="Text 8"/>
          <p:cNvSpPr/>
          <p:nvPr/>
        </p:nvSpPr>
        <p:spPr>
          <a:xfrm>
            <a:off x="4709160" y="2221992"/>
            <a:ext cx="4114800" cy="530352"/>
          </a:xfrm>
          <a:prstGeom prst="rect">
            <a:avLst/>
          </a:prstGeom>
          <a:noFill/>
          <a:ln/>
        </p:spPr>
        <p:txBody>
          <a:bodyPr wrap="square" lIns="0" tIns="0" rIns="0" bIns="0" rtlCol="0" anchor="ctr"/>
          <a:lstStyle/>
          <a:p>
            <a:pPr marL="0" indent="0" algn="l">
              <a:buNone/>
            </a:pPr>
            <a:r>
              <a:rPr lang="en-US" sz="1000" b="1" dirty="0">
                <a:solidFill>
                  <a:srgbClr val="F59E0B"/>
                </a:solidFill>
                <a:latin typeface="Calibri" pitchFamily="34" charset="0"/>
                <a:ea typeface="Calibri" pitchFamily="34" charset="-122"/>
                <a:cs typeface="Calibri" pitchFamily="34" charset="-120"/>
                <a:hlinkClick r:id="rId6" tooltip="https://arxiv.org/abs/2303.11366"/>
              </a:rPr>
              <a:t>▶  Reflexion  </a:t>
            </a:r>
            <a:r>
              <a:rPr lang="en-US" sz="1000" dirty="0">
                <a:solidFill>
                  <a:srgbClr val="9CA3AF"/>
                </a:solidFill>
                <a:latin typeface="Calibri" pitchFamily="34" charset="0"/>
                <a:ea typeface="Calibri" pitchFamily="34" charset="-122"/>
                <a:cs typeface="Calibri" pitchFamily="34" charset="-120"/>
                <a:hlinkClick r:id="rId6" tooltip="https://arxiv.org/abs/2303.11366"/>
              </a:rPr>
              <a:t>Shinn et al., 2023 — arXiv:2303.11366</a:t>
            </a:r>
            <a:endParaRPr lang="en-US" sz="1000" dirty="0"/>
          </a:p>
        </p:txBody>
      </p:sp>
      <p:sp>
        <p:nvSpPr>
          <p:cNvPr id="11" name="Text 9"/>
          <p:cNvSpPr/>
          <p:nvPr/>
        </p:nvSpPr>
        <p:spPr>
          <a:xfrm>
            <a:off x="365760" y="2843784"/>
            <a:ext cx="4114800" cy="530352"/>
          </a:xfrm>
          <a:prstGeom prst="rect">
            <a:avLst/>
          </a:prstGeom>
          <a:noFill/>
          <a:ln/>
        </p:spPr>
        <p:txBody>
          <a:bodyPr wrap="square" lIns="0" tIns="0" rIns="0" bIns="0" rtlCol="0" anchor="ctr"/>
          <a:lstStyle/>
          <a:p>
            <a:pPr marL="0" indent="0" algn="l">
              <a:buNone/>
            </a:pPr>
            <a:r>
              <a:rPr lang="en-US" sz="1000" b="1" dirty="0">
                <a:solidFill>
                  <a:srgbClr val="EF4444"/>
                </a:solidFill>
                <a:latin typeface="Calibri" pitchFamily="34" charset="0"/>
                <a:ea typeface="Calibri" pitchFamily="34" charset="-122"/>
                <a:cs typeface="Calibri" pitchFamily="34" charset="-120"/>
                <a:hlinkClick r:id="rId7" tooltip="https://arxiv.org/abs/2310.03714"/>
              </a:rPr>
              <a:t>▶  DSPy  </a:t>
            </a:r>
            <a:r>
              <a:rPr lang="en-US" sz="1000" dirty="0">
                <a:solidFill>
                  <a:srgbClr val="9CA3AF"/>
                </a:solidFill>
                <a:latin typeface="Calibri" pitchFamily="34" charset="0"/>
                <a:ea typeface="Calibri" pitchFamily="34" charset="-122"/>
                <a:cs typeface="Calibri" pitchFamily="34" charset="-120"/>
                <a:hlinkClick r:id="rId7" tooltip="https://arxiv.org/abs/2310.03714"/>
              </a:rPr>
              <a:t>Khattab et al., 2023 — arXiv:2310.03714</a:t>
            </a:r>
            <a:endParaRPr lang="en-US" sz="1000" dirty="0"/>
          </a:p>
        </p:txBody>
      </p:sp>
      <p:sp>
        <p:nvSpPr>
          <p:cNvPr id="12" name="Text 10"/>
          <p:cNvSpPr/>
          <p:nvPr/>
        </p:nvSpPr>
        <p:spPr>
          <a:xfrm>
            <a:off x="4709160" y="2843784"/>
            <a:ext cx="4114800" cy="530352"/>
          </a:xfrm>
          <a:prstGeom prst="rect">
            <a:avLst/>
          </a:prstGeom>
          <a:noFill/>
          <a:ln/>
        </p:spPr>
        <p:txBody>
          <a:bodyPr wrap="square" lIns="0" tIns="0" rIns="0" bIns="0" rtlCol="0" anchor="ctr"/>
          <a:lstStyle/>
          <a:p>
            <a:pPr marL="0" indent="0" algn="l">
              <a:buNone/>
            </a:pPr>
            <a:r>
              <a:rPr lang="en-US" sz="1000" b="1" dirty="0">
                <a:solidFill>
                  <a:srgbClr val="00D4FF"/>
                </a:solidFill>
                <a:latin typeface="Calibri" pitchFamily="34" charset="0"/>
                <a:ea typeface="Calibri" pitchFamily="34" charset="-122"/>
                <a:cs typeface="Calibri" pitchFamily="34" charset="-120"/>
                <a:hlinkClick r:id="rId8" tooltip="https://www.anthropic.com/news/model-context-protocol"/>
              </a:rPr>
              <a:t>▶  MCP  </a:t>
            </a:r>
            <a:r>
              <a:rPr lang="en-US" sz="1000" dirty="0">
                <a:solidFill>
                  <a:srgbClr val="9CA3AF"/>
                </a:solidFill>
                <a:latin typeface="Calibri" pitchFamily="34" charset="0"/>
                <a:ea typeface="Calibri" pitchFamily="34" charset="-122"/>
                <a:cs typeface="Calibri" pitchFamily="34" charset="-120"/>
                <a:hlinkClick r:id="rId8" tooltip="https://www.anthropic.com/news/model-context-protocol"/>
              </a:rPr>
              <a:t>Anthropic, 2024 — modelcontextprotocol.io</a:t>
            </a:r>
            <a:endParaRPr lang="en-US" sz="1000" dirty="0"/>
          </a:p>
        </p:txBody>
      </p:sp>
      <p:sp>
        <p:nvSpPr>
          <p:cNvPr id="13" name="Text 11"/>
          <p:cNvSpPr/>
          <p:nvPr/>
        </p:nvSpPr>
        <p:spPr>
          <a:xfrm>
            <a:off x="365760" y="3465576"/>
            <a:ext cx="4114800" cy="530352"/>
          </a:xfrm>
          <a:prstGeom prst="rect">
            <a:avLst/>
          </a:prstGeom>
          <a:noFill/>
          <a:ln/>
        </p:spPr>
        <p:txBody>
          <a:bodyPr wrap="square" lIns="0" tIns="0" rIns="0" bIns="0" rtlCol="0" anchor="ctr"/>
          <a:lstStyle/>
          <a:p>
            <a:pPr marL="0" indent="0" algn="l">
              <a:buNone/>
            </a:pPr>
            <a:r>
              <a:rPr lang="en-US" sz="1000" b="1" dirty="0">
                <a:solidFill>
                  <a:srgbClr val="7C3AED"/>
                </a:solidFill>
                <a:latin typeface="Calibri" pitchFamily="34" charset="0"/>
                <a:ea typeface="Calibri" pitchFamily="34" charset="-122"/>
                <a:cs typeface="Calibri" pitchFamily="34" charset="-120"/>
                <a:hlinkClick r:id="rId9" tooltip="https://arxiv.org/abs/2208.13629"/>
              </a:rPr>
              <a:t>▶  Text-2-SQL Survey  </a:t>
            </a:r>
            <a:r>
              <a:rPr lang="en-US" sz="1000" dirty="0">
                <a:solidFill>
                  <a:srgbClr val="9CA3AF"/>
                </a:solidFill>
                <a:latin typeface="Calibri" pitchFamily="34" charset="0"/>
                <a:ea typeface="Calibri" pitchFamily="34" charset="-122"/>
                <a:cs typeface="Calibri" pitchFamily="34" charset="-120"/>
                <a:hlinkClick r:id="rId9" tooltip="https://arxiv.org/abs/2208.13629"/>
              </a:rPr>
              <a:t>Qin et al., 2022 — arXiv:2208.13629</a:t>
            </a:r>
            <a:endParaRPr lang="en-US" sz="1000" dirty="0"/>
          </a:p>
        </p:txBody>
      </p:sp>
      <p:sp>
        <p:nvSpPr>
          <p:cNvPr id="14" name="Text 12"/>
          <p:cNvSpPr/>
          <p:nvPr/>
        </p:nvSpPr>
        <p:spPr>
          <a:xfrm>
            <a:off x="4709160" y="3465576"/>
            <a:ext cx="4114800" cy="530352"/>
          </a:xfrm>
          <a:prstGeom prst="rect">
            <a:avLst/>
          </a:prstGeom>
          <a:noFill/>
          <a:ln/>
        </p:spPr>
        <p:txBody>
          <a:bodyPr wrap="square" lIns="0" tIns="0" rIns="0" bIns="0" rtlCol="0" anchor="ctr"/>
          <a:lstStyle/>
          <a:p>
            <a:pPr marL="0" indent="0" algn="l">
              <a:buNone/>
            </a:pPr>
            <a:r>
              <a:rPr lang="en-US" sz="1000" b="1" dirty="0">
                <a:solidFill>
                  <a:srgbClr val="10B981"/>
                </a:solidFill>
                <a:latin typeface="Calibri" pitchFamily="34" charset="0"/>
                <a:ea typeface="Calibri" pitchFamily="34" charset="-122"/>
                <a:cs typeface="Calibri" pitchFamily="34" charset="-120"/>
                <a:hlinkClick r:id="rId10" tooltip="https://arxiv.org/abs/2201.11903"/>
              </a:rPr>
              <a:t>▶  Chain-of-Thought  </a:t>
            </a:r>
            <a:r>
              <a:rPr lang="en-US" sz="1000" dirty="0">
                <a:solidFill>
                  <a:srgbClr val="9CA3AF"/>
                </a:solidFill>
                <a:latin typeface="Calibri" pitchFamily="34" charset="0"/>
                <a:ea typeface="Calibri" pitchFamily="34" charset="-122"/>
                <a:cs typeface="Calibri" pitchFamily="34" charset="-120"/>
                <a:hlinkClick r:id="rId10" tooltip="https://arxiv.org/abs/2201.11903"/>
              </a:rPr>
              <a:t>Wei et al., 2022 — arXiv:2201.11903</a:t>
            </a:r>
            <a:endParaRPr lang="en-US" sz="1000" dirty="0"/>
          </a:p>
        </p:txBody>
      </p:sp>
      <p:sp>
        <p:nvSpPr>
          <p:cNvPr id="15" name="Text 13"/>
          <p:cNvSpPr/>
          <p:nvPr/>
        </p:nvSpPr>
        <p:spPr>
          <a:xfrm>
            <a:off x="365760" y="4087368"/>
            <a:ext cx="4114800" cy="530352"/>
          </a:xfrm>
          <a:prstGeom prst="rect">
            <a:avLst/>
          </a:prstGeom>
          <a:noFill/>
          <a:ln/>
        </p:spPr>
        <p:txBody>
          <a:bodyPr wrap="square" lIns="0" tIns="0" rIns="0" bIns="0" rtlCol="0" anchor="ctr"/>
          <a:lstStyle/>
          <a:p>
            <a:pPr marL="0" indent="0" algn="l">
              <a:buNone/>
            </a:pPr>
            <a:r>
              <a:rPr lang="en-US" sz="1000" b="1" dirty="0">
                <a:solidFill>
                  <a:srgbClr val="00D4FF"/>
                </a:solidFill>
                <a:latin typeface="Calibri" pitchFamily="34" charset="0"/>
                <a:ea typeface="Calibri" pitchFamily="34" charset="-122"/>
                <a:cs typeface="Calibri" pitchFamily="34" charset="-120"/>
                <a:hlinkClick r:id="rId11" tooltip="https://www.anthropic.com/engineering/built-multi-agent-research-system"/>
              </a:rPr>
              <a:t>▶  Anthropic Agent Blog  </a:t>
            </a:r>
            <a:r>
              <a:rPr lang="en-US" sz="1000" dirty="0">
                <a:solidFill>
                  <a:srgbClr val="9CA3AF"/>
                </a:solidFill>
                <a:latin typeface="Calibri" pitchFamily="34" charset="0"/>
                <a:ea typeface="Calibri" pitchFamily="34" charset="-122"/>
                <a:cs typeface="Calibri" pitchFamily="34" charset="-120"/>
                <a:hlinkClick r:id="rId11" tooltip="https://www.anthropic.com/engineering/built-multi-agent-research-system"/>
              </a:rPr>
              <a:t>anthropic.com/research/agents</a:t>
            </a:r>
            <a:endParaRPr lang="en-US" sz="1000" dirty="0"/>
          </a:p>
        </p:txBody>
      </p:sp>
      <p:sp>
        <p:nvSpPr>
          <p:cNvPr id="16" name="Text 14"/>
          <p:cNvSpPr/>
          <p:nvPr/>
        </p:nvSpPr>
        <p:spPr>
          <a:xfrm>
            <a:off x="4709160" y="4087368"/>
            <a:ext cx="4114800" cy="530352"/>
          </a:xfrm>
          <a:prstGeom prst="rect">
            <a:avLst/>
          </a:prstGeom>
          <a:noFill/>
          <a:ln/>
        </p:spPr>
        <p:txBody>
          <a:bodyPr wrap="square" lIns="0" tIns="0" rIns="0" bIns="0" rtlCol="0" anchor="ctr"/>
          <a:lstStyle/>
          <a:p>
            <a:pPr marL="0" indent="0" algn="l">
              <a:buNone/>
            </a:pPr>
            <a:r>
              <a:rPr lang="en-US" sz="1000" b="1" dirty="0">
                <a:solidFill>
                  <a:srgbClr val="F59E0B"/>
                </a:solidFill>
                <a:latin typeface="Calibri" pitchFamily="34" charset="0"/>
                <a:ea typeface="Calibri" pitchFamily="34" charset="-122"/>
                <a:cs typeface="Calibri" pitchFamily="34" charset="-120"/>
                <a:hlinkClick r:id="rId12" tooltip="https://docs.snowflake.com/en/sql-reference"/>
              </a:rPr>
              <a:t>▶  Snowflake SQL Ref  </a:t>
            </a:r>
            <a:r>
              <a:rPr lang="en-US" sz="1000" dirty="0">
                <a:solidFill>
                  <a:srgbClr val="9CA3AF"/>
                </a:solidFill>
                <a:latin typeface="Calibri" pitchFamily="34" charset="0"/>
                <a:ea typeface="Calibri" pitchFamily="34" charset="-122"/>
                <a:cs typeface="Calibri" pitchFamily="34" charset="-120"/>
                <a:hlinkClick r:id="rId12" tooltip="https://docs.snowflake.com/en/sql-reference"/>
              </a:rPr>
              <a:t>docs.snowflake.com/sql-reference</a:t>
            </a:r>
            <a:endParaRPr lang="en-US" sz="1000" dirty="0"/>
          </a:p>
        </p:txBody>
      </p:sp>
      <p:pic>
        <p:nvPicPr>
          <p:cNvPr id="17" name="Picture 16">
            <a:extLst>
              <a:ext uri="{FF2B5EF4-FFF2-40B4-BE49-F238E27FC236}">
                <a16:creationId xmlns:a16="http://schemas.microsoft.com/office/drawing/2014/main" id="{28D1EC7E-C0F2-483E-3B7C-2C109E32733A}"/>
              </a:ext>
            </a:extLst>
          </p:cNvPr>
          <p:cNvPicPr>
            <a:picLocks noChangeAspect="1"/>
          </p:cNvPicPr>
          <p:nvPr/>
        </p:nvPicPr>
        <p:blipFill>
          <a:blip r:embed="rId13"/>
          <a:srcRect l="-928" t="29746" r="928" b="36645"/>
          <a:stretch>
            <a:fillRect/>
          </a:stretch>
        </p:blipFill>
        <p:spPr>
          <a:xfrm>
            <a:off x="8218575" y="45720"/>
            <a:ext cx="861058" cy="289396"/>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4">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12700">
            <a:solidFill>
              <a:srgbClr val="1C2A3A"/>
            </a:solidFill>
            <a:prstDash val="solid"/>
          </a:ln>
        </p:spPr>
        <p:txBody>
          <a:bodyPr/>
          <a:lstStyle/>
          <a:p>
            <a:endParaRPr lang="en-US"/>
          </a:p>
        </p:txBody>
      </p:sp>
      <p:sp>
        <p:nvSpPr>
          <p:cNvPr id="3" name="Shape 1"/>
          <p:cNvSpPr/>
          <p:nvPr/>
        </p:nvSpPr>
        <p:spPr>
          <a:xfrm>
            <a:off x="0" y="0"/>
            <a:ext cx="0" cy="5143500"/>
          </a:xfrm>
          <a:prstGeom prst="line">
            <a:avLst/>
          </a:prstGeom>
          <a:noFill/>
          <a:ln w="12700">
            <a:solidFill>
              <a:srgbClr val="1C2A3A"/>
            </a:solidFill>
            <a:prstDash val="solid"/>
          </a:ln>
        </p:spPr>
        <p:txBody>
          <a:bodyPr/>
          <a:lstStyle/>
          <a:p>
            <a:endParaRPr lang="en-US"/>
          </a:p>
        </p:txBody>
      </p:sp>
      <p:sp>
        <p:nvSpPr>
          <p:cNvPr id="4" name="Shape 2"/>
          <p:cNvSpPr/>
          <p:nvPr/>
        </p:nvSpPr>
        <p:spPr>
          <a:xfrm>
            <a:off x="0" y="548640"/>
            <a:ext cx="9144000" cy="0"/>
          </a:xfrm>
          <a:prstGeom prst="line">
            <a:avLst/>
          </a:prstGeom>
          <a:noFill/>
          <a:ln w="12700">
            <a:solidFill>
              <a:srgbClr val="1C2A3A"/>
            </a:solidFill>
            <a:prstDash val="solid"/>
          </a:ln>
        </p:spPr>
        <p:txBody>
          <a:bodyPr/>
          <a:lstStyle/>
          <a:p>
            <a:endParaRPr lang="en-US"/>
          </a:p>
        </p:txBody>
      </p:sp>
      <p:sp>
        <p:nvSpPr>
          <p:cNvPr id="5" name="Shape 3"/>
          <p:cNvSpPr/>
          <p:nvPr/>
        </p:nvSpPr>
        <p:spPr>
          <a:xfrm>
            <a:off x="1005840" y="0"/>
            <a:ext cx="0" cy="5143500"/>
          </a:xfrm>
          <a:prstGeom prst="line">
            <a:avLst/>
          </a:prstGeom>
          <a:noFill/>
          <a:ln w="12700">
            <a:solidFill>
              <a:srgbClr val="1C2A3A"/>
            </a:solidFill>
            <a:prstDash val="solid"/>
          </a:ln>
        </p:spPr>
        <p:txBody>
          <a:bodyPr/>
          <a:lstStyle/>
          <a:p>
            <a:endParaRPr lang="en-US"/>
          </a:p>
        </p:txBody>
      </p:sp>
      <p:sp>
        <p:nvSpPr>
          <p:cNvPr id="6" name="Shape 4"/>
          <p:cNvSpPr/>
          <p:nvPr/>
        </p:nvSpPr>
        <p:spPr>
          <a:xfrm>
            <a:off x="0" y="1097280"/>
            <a:ext cx="9144000" cy="0"/>
          </a:xfrm>
          <a:prstGeom prst="line">
            <a:avLst/>
          </a:prstGeom>
          <a:noFill/>
          <a:ln w="12700">
            <a:solidFill>
              <a:srgbClr val="1C2A3A"/>
            </a:solidFill>
            <a:prstDash val="solid"/>
          </a:ln>
        </p:spPr>
        <p:txBody>
          <a:bodyPr/>
          <a:lstStyle/>
          <a:p>
            <a:endParaRPr lang="en-US"/>
          </a:p>
        </p:txBody>
      </p:sp>
      <p:sp>
        <p:nvSpPr>
          <p:cNvPr id="7" name="Shape 5"/>
          <p:cNvSpPr/>
          <p:nvPr/>
        </p:nvSpPr>
        <p:spPr>
          <a:xfrm>
            <a:off x="2011680" y="0"/>
            <a:ext cx="0" cy="5143500"/>
          </a:xfrm>
          <a:prstGeom prst="line">
            <a:avLst/>
          </a:prstGeom>
          <a:noFill/>
          <a:ln w="12700">
            <a:solidFill>
              <a:srgbClr val="1C2A3A"/>
            </a:solidFill>
            <a:prstDash val="solid"/>
          </a:ln>
        </p:spPr>
        <p:txBody>
          <a:bodyPr/>
          <a:lstStyle/>
          <a:p>
            <a:endParaRPr lang="en-US"/>
          </a:p>
        </p:txBody>
      </p:sp>
      <p:sp>
        <p:nvSpPr>
          <p:cNvPr id="8" name="Shape 6"/>
          <p:cNvSpPr/>
          <p:nvPr/>
        </p:nvSpPr>
        <p:spPr>
          <a:xfrm>
            <a:off x="0" y="1645920"/>
            <a:ext cx="9144000" cy="0"/>
          </a:xfrm>
          <a:prstGeom prst="line">
            <a:avLst/>
          </a:prstGeom>
          <a:noFill/>
          <a:ln w="12700">
            <a:solidFill>
              <a:srgbClr val="1C2A3A"/>
            </a:solidFill>
            <a:prstDash val="solid"/>
          </a:ln>
        </p:spPr>
        <p:txBody>
          <a:bodyPr/>
          <a:lstStyle/>
          <a:p>
            <a:endParaRPr lang="en-US"/>
          </a:p>
        </p:txBody>
      </p:sp>
      <p:sp>
        <p:nvSpPr>
          <p:cNvPr id="9" name="Shape 7"/>
          <p:cNvSpPr/>
          <p:nvPr/>
        </p:nvSpPr>
        <p:spPr>
          <a:xfrm>
            <a:off x="3017520" y="0"/>
            <a:ext cx="0" cy="5143500"/>
          </a:xfrm>
          <a:prstGeom prst="line">
            <a:avLst/>
          </a:prstGeom>
          <a:noFill/>
          <a:ln w="12700">
            <a:solidFill>
              <a:srgbClr val="1C2A3A"/>
            </a:solidFill>
            <a:prstDash val="solid"/>
          </a:ln>
        </p:spPr>
        <p:txBody>
          <a:bodyPr/>
          <a:lstStyle/>
          <a:p>
            <a:endParaRPr lang="en-US"/>
          </a:p>
        </p:txBody>
      </p:sp>
      <p:sp>
        <p:nvSpPr>
          <p:cNvPr id="10" name="Shape 8"/>
          <p:cNvSpPr/>
          <p:nvPr/>
        </p:nvSpPr>
        <p:spPr>
          <a:xfrm>
            <a:off x="0" y="2194560"/>
            <a:ext cx="9144000" cy="0"/>
          </a:xfrm>
          <a:prstGeom prst="line">
            <a:avLst/>
          </a:prstGeom>
          <a:noFill/>
          <a:ln w="12700">
            <a:solidFill>
              <a:srgbClr val="1C2A3A"/>
            </a:solidFill>
            <a:prstDash val="solid"/>
          </a:ln>
        </p:spPr>
        <p:txBody>
          <a:bodyPr/>
          <a:lstStyle/>
          <a:p>
            <a:endParaRPr lang="en-US"/>
          </a:p>
        </p:txBody>
      </p:sp>
      <p:sp>
        <p:nvSpPr>
          <p:cNvPr id="11" name="Shape 9"/>
          <p:cNvSpPr/>
          <p:nvPr/>
        </p:nvSpPr>
        <p:spPr>
          <a:xfrm>
            <a:off x="4023360" y="0"/>
            <a:ext cx="0" cy="5143500"/>
          </a:xfrm>
          <a:prstGeom prst="line">
            <a:avLst/>
          </a:prstGeom>
          <a:noFill/>
          <a:ln w="12700">
            <a:solidFill>
              <a:srgbClr val="1C2A3A"/>
            </a:solidFill>
            <a:prstDash val="solid"/>
          </a:ln>
        </p:spPr>
        <p:txBody>
          <a:bodyPr/>
          <a:lstStyle/>
          <a:p>
            <a:endParaRPr lang="en-US"/>
          </a:p>
        </p:txBody>
      </p:sp>
      <p:sp>
        <p:nvSpPr>
          <p:cNvPr id="12" name="Shape 10"/>
          <p:cNvSpPr/>
          <p:nvPr/>
        </p:nvSpPr>
        <p:spPr>
          <a:xfrm>
            <a:off x="0" y="2743200"/>
            <a:ext cx="9144000" cy="0"/>
          </a:xfrm>
          <a:prstGeom prst="line">
            <a:avLst/>
          </a:prstGeom>
          <a:noFill/>
          <a:ln w="12700">
            <a:solidFill>
              <a:srgbClr val="1C2A3A"/>
            </a:solidFill>
            <a:prstDash val="solid"/>
          </a:ln>
        </p:spPr>
        <p:txBody>
          <a:bodyPr/>
          <a:lstStyle/>
          <a:p>
            <a:endParaRPr lang="en-US"/>
          </a:p>
        </p:txBody>
      </p:sp>
      <p:sp>
        <p:nvSpPr>
          <p:cNvPr id="13" name="Shape 11"/>
          <p:cNvSpPr/>
          <p:nvPr/>
        </p:nvSpPr>
        <p:spPr>
          <a:xfrm>
            <a:off x="5029200" y="0"/>
            <a:ext cx="0" cy="5143500"/>
          </a:xfrm>
          <a:prstGeom prst="line">
            <a:avLst/>
          </a:prstGeom>
          <a:noFill/>
          <a:ln w="12700">
            <a:solidFill>
              <a:srgbClr val="1C2A3A"/>
            </a:solidFill>
            <a:prstDash val="solid"/>
          </a:ln>
        </p:spPr>
        <p:txBody>
          <a:bodyPr/>
          <a:lstStyle/>
          <a:p>
            <a:endParaRPr lang="en-US"/>
          </a:p>
        </p:txBody>
      </p:sp>
      <p:sp>
        <p:nvSpPr>
          <p:cNvPr id="14" name="Shape 12"/>
          <p:cNvSpPr/>
          <p:nvPr/>
        </p:nvSpPr>
        <p:spPr>
          <a:xfrm>
            <a:off x="0" y="3291840"/>
            <a:ext cx="9144000" cy="0"/>
          </a:xfrm>
          <a:prstGeom prst="line">
            <a:avLst/>
          </a:prstGeom>
          <a:noFill/>
          <a:ln w="12700">
            <a:solidFill>
              <a:srgbClr val="1C2A3A"/>
            </a:solidFill>
            <a:prstDash val="solid"/>
          </a:ln>
        </p:spPr>
        <p:txBody>
          <a:bodyPr/>
          <a:lstStyle/>
          <a:p>
            <a:endParaRPr lang="en-US"/>
          </a:p>
        </p:txBody>
      </p:sp>
      <p:sp>
        <p:nvSpPr>
          <p:cNvPr id="15" name="Shape 13"/>
          <p:cNvSpPr/>
          <p:nvPr/>
        </p:nvSpPr>
        <p:spPr>
          <a:xfrm>
            <a:off x="6035040" y="0"/>
            <a:ext cx="0" cy="5143500"/>
          </a:xfrm>
          <a:prstGeom prst="line">
            <a:avLst/>
          </a:prstGeom>
          <a:noFill/>
          <a:ln w="12700">
            <a:solidFill>
              <a:srgbClr val="1C2A3A"/>
            </a:solidFill>
            <a:prstDash val="solid"/>
          </a:ln>
        </p:spPr>
        <p:txBody>
          <a:bodyPr/>
          <a:lstStyle/>
          <a:p>
            <a:endParaRPr lang="en-US"/>
          </a:p>
        </p:txBody>
      </p:sp>
      <p:sp>
        <p:nvSpPr>
          <p:cNvPr id="16" name="Shape 14"/>
          <p:cNvSpPr/>
          <p:nvPr/>
        </p:nvSpPr>
        <p:spPr>
          <a:xfrm>
            <a:off x="0" y="3840480"/>
            <a:ext cx="9144000" cy="0"/>
          </a:xfrm>
          <a:prstGeom prst="line">
            <a:avLst/>
          </a:prstGeom>
          <a:noFill/>
          <a:ln w="12700">
            <a:solidFill>
              <a:srgbClr val="1C2A3A"/>
            </a:solidFill>
            <a:prstDash val="solid"/>
          </a:ln>
        </p:spPr>
        <p:txBody>
          <a:bodyPr/>
          <a:lstStyle/>
          <a:p>
            <a:endParaRPr lang="en-US"/>
          </a:p>
        </p:txBody>
      </p:sp>
      <p:sp>
        <p:nvSpPr>
          <p:cNvPr id="17" name="Shape 15"/>
          <p:cNvSpPr/>
          <p:nvPr/>
        </p:nvSpPr>
        <p:spPr>
          <a:xfrm>
            <a:off x="7040880" y="0"/>
            <a:ext cx="0" cy="5143500"/>
          </a:xfrm>
          <a:prstGeom prst="line">
            <a:avLst/>
          </a:prstGeom>
          <a:noFill/>
          <a:ln w="12700">
            <a:solidFill>
              <a:srgbClr val="1C2A3A"/>
            </a:solidFill>
            <a:prstDash val="solid"/>
          </a:ln>
        </p:spPr>
        <p:txBody>
          <a:bodyPr/>
          <a:lstStyle/>
          <a:p>
            <a:endParaRPr lang="en-US"/>
          </a:p>
        </p:txBody>
      </p:sp>
      <p:sp>
        <p:nvSpPr>
          <p:cNvPr id="18" name="Shape 16"/>
          <p:cNvSpPr/>
          <p:nvPr/>
        </p:nvSpPr>
        <p:spPr>
          <a:xfrm>
            <a:off x="0" y="4389120"/>
            <a:ext cx="9144000" cy="0"/>
          </a:xfrm>
          <a:prstGeom prst="line">
            <a:avLst/>
          </a:prstGeom>
          <a:noFill/>
          <a:ln w="12700">
            <a:solidFill>
              <a:srgbClr val="1C2A3A"/>
            </a:solidFill>
            <a:prstDash val="solid"/>
          </a:ln>
        </p:spPr>
        <p:txBody>
          <a:bodyPr/>
          <a:lstStyle/>
          <a:p>
            <a:endParaRPr lang="en-US"/>
          </a:p>
        </p:txBody>
      </p:sp>
      <p:sp>
        <p:nvSpPr>
          <p:cNvPr id="19" name="Shape 17"/>
          <p:cNvSpPr/>
          <p:nvPr/>
        </p:nvSpPr>
        <p:spPr>
          <a:xfrm>
            <a:off x="8046720" y="0"/>
            <a:ext cx="0" cy="5143500"/>
          </a:xfrm>
          <a:prstGeom prst="line">
            <a:avLst/>
          </a:prstGeom>
          <a:noFill/>
          <a:ln w="12700">
            <a:solidFill>
              <a:srgbClr val="1C2A3A"/>
            </a:solidFill>
            <a:prstDash val="solid"/>
          </a:ln>
        </p:spPr>
        <p:txBody>
          <a:bodyPr/>
          <a:lstStyle/>
          <a:p>
            <a:endParaRPr lang="en-US"/>
          </a:p>
        </p:txBody>
      </p:sp>
      <p:sp>
        <p:nvSpPr>
          <p:cNvPr id="20" name="Shape 18"/>
          <p:cNvSpPr/>
          <p:nvPr/>
        </p:nvSpPr>
        <p:spPr>
          <a:xfrm>
            <a:off x="0" y="4937760"/>
            <a:ext cx="9144000" cy="0"/>
          </a:xfrm>
          <a:prstGeom prst="line">
            <a:avLst/>
          </a:prstGeom>
          <a:noFill/>
          <a:ln w="12700">
            <a:solidFill>
              <a:srgbClr val="1C2A3A"/>
            </a:solidFill>
            <a:prstDash val="solid"/>
          </a:ln>
        </p:spPr>
        <p:txBody>
          <a:bodyPr/>
          <a:lstStyle/>
          <a:p>
            <a:endParaRPr lang="en-US"/>
          </a:p>
        </p:txBody>
      </p:sp>
      <p:sp>
        <p:nvSpPr>
          <p:cNvPr id="21" name="Shape 19"/>
          <p:cNvSpPr/>
          <p:nvPr/>
        </p:nvSpPr>
        <p:spPr>
          <a:xfrm>
            <a:off x="9052560" y="0"/>
            <a:ext cx="0" cy="5143500"/>
          </a:xfrm>
          <a:prstGeom prst="line">
            <a:avLst/>
          </a:prstGeom>
          <a:noFill/>
          <a:ln w="12700">
            <a:solidFill>
              <a:srgbClr val="1C2A3A"/>
            </a:solidFill>
            <a:prstDash val="solid"/>
          </a:ln>
        </p:spPr>
        <p:txBody>
          <a:bodyPr/>
          <a:lstStyle/>
          <a:p>
            <a:endParaRPr lang="en-US"/>
          </a:p>
        </p:txBody>
      </p:sp>
      <p:sp>
        <p:nvSpPr>
          <p:cNvPr id="22" name="Shape 20"/>
          <p:cNvSpPr/>
          <p:nvPr/>
        </p:nvSpPr>
        <p:spPr>
          <a:xfrm>
            <a:off x="0" y="1828800"/>
            <a:ext cx="164592" cy="1645920"/>
          </a:xfrm>
          <a:prstGeom prst="rect">
            <a:avLst/>
          </a:prstGeom>
          <a:solidFill>
            <a:srgbClr val="10B981"/>
          </a:solidFill>
          <a:ln w="12700">
            <a:solidFill>
              <a:srgbClr val="10B981"/>
            </a:solidFill>
            <a:prstDash val="solid"/>
          </a:ln>
        </p:spPr>
        <p:txBody>
          <a:bodyPr/>
          <a:lstStyle/>
          <a:p>
            <a:endParaRPr lang="en-US"/>
          </a:p>
        </p:txBody>
      </p:sp>
      <p:sp>
        <p:nvSpPr>
          <p:cNvPr id="23" name="Text 21"/>
          <p:cNvSpPr/>
          <p:nvPr/>
        </p:nvSpPr>
        <p:spPr>
          <a:xfrm>
            <a:off x="502920" y="1737360"/>
            <a:ext cx="8229600" cy="868680"/>
          </a:xfrm>
          <a:prstGeom prst="rect">
            <a:avLst/>
          </a:prstGeom>
          <a:noFill/>
          <a:ln/>
        </p:spPr>
        <p:txBody>
          <a:bodyPr wrap="square" lIns="0" tIns="0" rIns="0" bIns="0" rtlCol="0" anchor="ctr"/>
          <a:lstStyle/>
          <a:p>
            <a:pPr marL="0" indent="0" algn="l">
              <a:buNone/>
            </a:pPr>
            <a:r>
              <a:rPr lang="en-US" sz="7200" b="1" dirty="0">
                <a:solidFill>
                  <a:srgbClr val="F9FAFB"/>
                </a:solidFill>
                <a:latin typeface="Calibri" pitchFamily="34" charset="0"/>
                <a:ea typeface="Calibri" pitchFamily="34" charset="-122"/>
                <a:cs typeface="Calibri" pitchFamily="34" charset="-120"/>
              </a:rPr>
              <a:t>Thank You.</a:t>
            </a:r>
            <a:endParaRPr lang="en-US" sz="7200" dirty="0"/>
          </a:p>
        </p:txBody>
      </p:sp>
      <p:sp>
        <p:nvSpPr>
          <p:cNvPr id="24" name="Text 22"/>
          <p:cNvSpPr/>
          <p:nvPr/>
        </p:nvSpPr>
        <p:spPr>
          <a:xfrm>
            <a:off x="502920" y="2651760"/>
            <a:ext cx="6400800" cy="457200"/>
          </a:xfrm>
          <a:prstGeom prst="rect">
            <a:avLst/>
          </a:prstGeom>
          <a:noFill/>
          <a:ln/>
        </p:spPr>
        <p:txBody>
          <a:bodyPr wrap="square" lIns="0" tIns="0" rIns="0" bIns="0" rtlCol="0" anchor="ctr"/>
          <a:lstStyle/>
          <a:p>
            <a:pPr marL="0" indent="0" algn="l">
              <a:buNone/>
            </a:pPr>
            <a:r>
              <a:rPr lang="en-US" sz="1600" i="1" dirty="0">
                <a:solidFill>
                  <a:srgbClr val="9CA3AF"/>
                </a:solidFill>
                <a:latin typeface="Calibri" pitchFamily="34" charset="0"/>
                <a:ea typeface="Calibri" pitchFamily="34" charset="-122"/>
                <a:cs typeface="Calibri" pitchFamily="34" charset="-120"/>
              </a:rPr>
              <a:t>Now go build something grounded, observable, and hard to fool.</a:t>
            </a:r>
            <a:endParaRPr lang="en-US" sz="1600" dirty="0"/>
          </a:p>
        </p:txBody>
      </p:sp>
      <p:sp>
        <p:nvSpPr>
          <p:cNvPr id="25" name="Shape 23"/>
          <p:cNvSpPr/>
          <p:nvPr/>
        </p:nvSpPr>
        <p:spPr>
          <a:xfrm>
            <a:off x="502920" y="3246120"/>
            <a:ext cx="4114800" cy="36576"/>
          </a:xfrm>
          <a:prstGeom prst="rect">
            <a:avLst/>
          </a:prstGeom>
          <a:solidFill>
            <a:srgbClr val="10B981"/>
          </a:solidFill>
          <a:ln w="12700">
            <a:solidFill>
              <a:srgbClr val="10B981"/>
            </a:solidFill>
            <a:prstDash val="solid"/>
          </a:ln>
        </p:spPr>
        <p:txBody>
          <a:bodyPr/>
          <a:lstStyle/>
          <a:p>
            <a:endParaRPr lang="en-US"/>
          </a:p>
        </p:txBody>
      </p:sp>
      <p:sp>
        <p:nvSpPr>
          <p:cNvPr id="26" name="Text 24"/>
          <p:cNvSpPr/>
          <p:nvPr/>
        </p:nvSpPr>
        <p:spPr>
          <a:xfrm>
            <a:off x="502920" y="3429000"/>
            <a:ext cx="7772400" cy="320040"/>
          </a:xfrm>
          <a:prstGeom prst="rect">
            <a:avLst/>
          </a:prstGeom>
          <a:noFill/>
          <a:ln/>
        </p:spPr>
        <p:txBody>
          <a:bodyPr wrap="square" lIns="0" tIns="0" rIns="0" bIns="0" rtlCol="0" anchor="ctr"/>
          <a:lstStyle/>
          <a:p>
            <a:pPr marL="0" indent="0" algn="l">
              <a:buNone/>
            </a:pPr>
            <a:r>
              <a:rPr lang="en-US" sz="1200" dirty="0">
                <a:solidFill>
                  <a:srgbClr val="9CA3AF"/>
                </a:solidFill>
                <a:latin typeface="Calibri" pitchFamily="34" charset="0"/>
                <a:ea typeface="Calibri" pitchFamily="34" charset="-122"/>
                <a:cs typeface="Calibri" pitchFamily="34" charset="-120"/>
              </a:rPr>
              <a:t>Questions? Bugs? War stories? Find us after the talk. 🍺</a:t>
            </a:r>
            <a:endParaRPr lang="en-US" sz="1200" dirty="0"/>
          </a:p>
        </p:txBody>
      </p:sp>
      <p:sp>
        <p:nvSpPr>
          <p:cNvPr id="27" name="Shape 25"/>
          <p:cNvSpPr/>
          <p:nvPr/>
        </p:nvSpPr>
        <p:spPr>
          <a:xfrm>
            <a:off x="502920" y="3977640"/>
            <a:ext cx="1645920" cy="292608"/>
          </a:xfrm>
          <a:prstGeom prst="roundRect">
            <a:avLst>
              <a:gd name="adj" fmla="val 31250"/>
            </a:avLst>
          </a:prstGeom>
          <a:solidFill>
            <a:srgbClr val="00D4FF">
              <a:alpha val="70000"/>
            </a:srgbClr>
          </a:solidFill>
          <a:ln w="12700">
            <a:solidFill>
              <a:srgbClr val="00D4FF"/>
            </a:solidFill>
            <a:prstDash val="solid"/>
          </a:ln>
        </p:spPr>
        <p:txBody>
          <a:bodyPr/>
          <a:lstStyle/>
          <a:p>
            <a:endParaRPr lang="en-US"/>
          </a:p>
        </p:txBody>
      </p:sp>
      <p:sp>
        <p:nvSpPr>
          <p:cNvPr id="28" name="Text 26"/>
          <p:cNvSpPr/>
          <p:nvPr/>
        </p:nvSpPr>
        <p:spPr>
          <a:xfrm>
            <a:off x="502920" y="3977640"/>
            <a:ext cx="1645920" cy="292608"/>
          </a:xfrm>
          <a:prstGeom prst="rect">
            <a:avLst/>
          </a:prstGeom>
          <a:noFill/>
          <a:ln/>
        </p:spPr>
        <p:txBody>
          <a:bodyPr wrap="square" lIns="0" tIns="0" rIns="0" bIns="0" rtlCol="0" anchor="ctr"/>
          <a:lstStyle/>
          <a:p>
            <a:pPr marL="0" indent="0" algn="ctr">
              <a:buNone/>
            </a:pPr>
            <a:r>
              <a:rPr lang="en-US" sz="900" b="1" dirty="0">
                <a:solidFill>
                  <a:srgbClr val="F9FAFB"/>
                </a:solidFill>
              </a:rPr>
              <a:t>Current repo: old_txt_sql_spider2.0</a:t>
            </a:r>
            <a:endParaRPr lang="en-US" sz="900" dirty="0"/>
          </a:p>
        </p:txBody>
      </p:sp>
      <p:sp>
        <p:nvSpPr>
          <p:cNvPr id="29" name="Shape 27"/>
          <p:cNvSpPr/>
          <p:nvPr/>
        </p:nvSpPr>
        <p:spPr>
          <a:xfrm>
            <a:off x="2212848" y="3977640"/>
            <a:ext cx="1645920" cy="292608"/>
          </a:xfrm>
          <a:prstGeom prst="roundRect">
            <a:avLst>
              <a:gd name="adj" fmla="val 31250"/>
            </a:avLst>
          </a:prstGeom>
          <a:solidFill>
            <a:srgbClr val="7C3AED">
              <a:alpha val="70000"/>
            </a:srgbClr>
          </a:solidFill>
          <a:ln w="12700">
            <a:solidFill>
              <a:srgbClr val="7C3AED"/>
            </a:solidFill>
            <a:prstDash val="solid"/>
          </a:ln>
        </p:spPr>
        <p:txBody>
          <a:bodyPr/>
          <a:lstStyle/>
          <a:p>
            <a:endParaRPr lang="en-US"/>
          </a:p>
        </p:txBody>
      </p:sp>
      <p:sp>
        <p:nvSpPr>
          <p:cNvPr id="30" name="Text 28"/>
          <p:cNvSpPr/>
          <p:nvPr/>
        </p:nvSpPr>
        <p:spPr>
          <a:xfrm>
            <a:off x="2212848" y="3977640"/>
            <a:ext cx="1645920" cy="292608"/>
          </a:xfrm>
          <a:prstGeom prst="rect">
            <a:avLst/>
          </a:prstGeom>
          <a:noFill/>
          <a:ln/>
        </p:spPr>
        <p:txBody>
          <a:bodyPr wrap="square" lIns="0" tIns="0" rIns="0" bIns="0" rtlCol="0" anchor="ctr"/>
          <a:lstStyle/>
          <a:p>
            <a:pPr marL="0" indent="0" algn="ctr">
              <a:buNone/>
            </a:pPr>
            <a:r>
              <a:rPr lang="en-US" sz="900" b="1" dirty="0">
                <a:solidFill>
                  <a:srgbClr val="F9FAFB"/>
                </a:solidFill>
              </a:rPr>
              <a:t>Text-2-SQL</a:t>
            </a:r>
            <a:endParaRPr lang="en-US" sz="900" dirty="0"/>
          </a:p>
        </p:txBody>
      </p:sp>
      <p:sp>
        <p:nvSpPr>
          <p:cNvPr id="31" name="Shape 29"/>
          <p:cNvSpPr/>
          <p:nvPr/>
        </p:nvSpPr>
        <p:spPr>
          <a:xfrm>
            <a:off x="3922776" y="3977640"/>
            <a:ext cx="1645920" cy="292608"/>
          </a:xfrm>
          <a:prstGeom prst="roundRect">
            <a:avLst>
              <a:gd name="adj" fmla="val 31250"/>
            </a:avLst>
          </a:prstGeom>
          <a:solidFill>
            <a:srgbClr val="10B981">
              <a:alpha val="70000"/>
            </a:srgbClr>
          </a:solidFill>
          <a:ln w="12700">
            <a:solidFill>
              <a:srgbClr val="10B981"/>
            </a:solidFill>
            <a:prstDash val="solid"/>
          </a:ln>
        </p:spPr>
        <p:txBody>
          <a:bodyPr/>
          <a:lstStyle/>
          <a:p>
            <a:endParaRPr lang="en-US"/>
          </a:p>
        </p:txBody>
      </p:sp>
      <p:sp>
        <p:nvSpPr>
          <p:cNvPr id="32" name="Text 30"/>
          <p:cNvSpPr/>
          <p:nvPr/>
        </p:nvSpPr>
        <p:spPr>
          <a:xfrm>
            <a:off x="3922776" y="3977640"/>
            <a:ext cx="1645920" cy="292608"/>
          </a:xfrm>
          <a:prstGeom prst="rect">
            <a:avLst/>
          </a:prstGeom>
          <a:noFill/>
          <a:ln/>
        </p:spPr>
        <p:txBody>
          <a:bodyPr wrap="square" lIns="0" tIns="0" rIns="0" bIns="0" rtlCol="0" anchor="ctr"/>
          <a:lstStyle/>
          <a:p>
            <a:pPr marL="0" indent="0" algn="ctr">
              <a:buNone/>
            </a:pPr>
            <a:r>
              <a:rPr lang="en-US" sz="900" b="1" dirty="0">
                <a:solidFill>
                  <a:srgbClr val="F9FAFB"/>
                </a:solidFill>
              </a:rPr>
              <a:t>Snowflake</a:t>
            </a:r>
            <a:endParaRPr lang="en-US" sz="900" dirty="0"/>
          </a:p>
        </p:txBody>
      </p:sp>
      <p:sp>
        <p:nvSpPr>
          <p:cNvPr id="33" name="Shape 31"/>
          <p:cNvSpPr/>
          <p:nvPr/>
        </p:nvSpPr>
        <p:spPr>
          <a:xfrm>
            <a:off x="5632704" y="3977640"/>
            <a:ext cx="1645920" cy="292608"/>
          </a:xfrm>
          <a:prstGeom prst="roundRect">
            <a:avLst>
              <a:gd name="adj" fmla="val 31250"/>
            </a:avLst>
          </a:prstGeom>
          <a:solidFill>
            <a:srgbClr val="F59E0B">
              <a:alpha val="70000"/>
            </a:srgbClr>
          </a:solidFill>
          <a:ln w="12700">
            <a:solidFill>
              <a:srgbClr val="F59E0B"/>
            </a:solidFill>
            <a:prstDash val="solid"/>
          </a:ln>
        </p:spPr>
        <p:txBody>
          <a:bodyPr/>
          <a:lstStyle/>
          <a:p>
            <a:endParaRPr lang="en-US"/>
          </a:p>
        </p:txBody>
      </p:sp>
      <p:sp>
        <p:nvSpPr>
          <p:cNvPr id="34" name="Text 32"/>
          <p:cNvSpPr/>
          <p:nvPr/>
        </p:nvSpPr>
        <p:spPr>
          <a:xfrm>
            <a:off x="5632704" y="3977640"/>
            <a:ext cx="1645920" cy="292608"/>
          </a:xfrm>
          <a:prstGeom prst="rect">
            <a:avLst/>
          </a:prstGeom>
          <a:noFill/>
          <a:ln/>
        </p:spPr>
        <p:txBody>
          <a:bodyPr wrap="square" lIns="0" tIns="0" rIns="0" bIns="0" rtlCol="0" anchor="ctr"/>
          <a:lstStyle/>
          <a:p>
            <a:pPr marL="0" indent="0" algn="ctr">
              <a:buNone/>
            </a:pPr>
            <a:r>
              <a:rPr lang="en-US" sz="900" b="1" dirty="0">
                <a:solidFill>
                  <a:srgbClr val="F9FAFB"/>
                </a:solidFill>
              </a:rPr>
              <a:t>Multi-Agent AI</a:t>
            </a:r>
            <a:endParaRPr lang="en-US" sz="900" dirty="0"/>
          </a:p>
        </p:txBody>
      </p:sp>
      <p:sp>
        <p:nvSpPr>
          <p:cNvPr id="35" name="Shape 33"/>
          <p:cNvSpPr/>
          <p:nvPr/>
        </p:nvSpPr>
        <p:spPr>
          <a:xfrm>
            <a:off x="7342632" y="3977640"/>
            <a:ext cx="1645920" cy="292608"/>
          </a:xfrm>
          <a:prstGeom prst="roundRect">
            <a:avLst>
              <a:gd name="adj" fmla="val 31250"/>
            </a:avLst>
          </a:prstGeom>
          <a:solidFill>
            <a:srgbClr val="EF4444">
              <a:alpha val="70000"/>
            </a:srgbClr>
          </a:solidFill>
          <a:ln w="12700">
            <a:solidFill>
              <a:srgbClr val="EF4444"/>
            </a:solidFill>
            <a:prstDash val="solid"/>
          </a:ln>
        </p:spPr>
        <p:txBody>
          <a:bodyPr/>
          <a:lstStyle/>
          <a:p>
            <a:endParaRPr lang="en-US"/>
          </a:p>
        </p:txBody>
      </p:sp>
      <p:sp>
        <p:nvSpPr>
          <p:cNvPr id="36" name="Text 34"/>
          <p:cNvSpPr/>
          <p:nvPr/>
        </p:nvSpPr>
        <p:spPr>
          <a:xfrm>
            <a:off x="7342632" y="3977640"/>
            <a:ext cx="1645920" cy="292608"/>
          </a:xfrm>
          <a:prstGeom prst="rect">
            <a:avLst/>
          </a:prstGeom>
          <a:noFill/>
          <a:ln/>
        </p:spPr>
        <p:txBody>
          <a:bodyPr wrap="square" lIns="0" tIns="0" rIns="0" bIns="0" rtlCol="0" anchor="ctr"/>
          <a:lstStyle/>
          <a:p>
            <a:pPr marL="0" indent="0" algn="ctr">
              <a:buNone/>
            </a:pPr>
            <a:r>
              <a:rPr lang="en-US" sz="900" b="1" dirty="0">
                <a:solidFill>
                  <a:srgbClr val="F9FAFB"/>
                </a:solidFill>
              </a:rPr>
              <a:t>SpiderDIN</a:t>
            </a:r>
            <a:endParaRPr lang="en-US" sz="900" dirty="0"/>
          </a:p>
        </p:txBody>
      </p:sp>
      <p:pic>
        <p:nvPicPr>
          <p:cNvPr id="37" name="Picture 36">
            <a:extLst>
              <a:ext uri="{FF2B5EF4-FFF2-40B4-BE49-F238E27FC236}">
                <a16:creationId xmlns:a16="http://schemas.microsoft.com/office/drawing/2014/main" id="{350D3302-CE21-39FC-2DB5-13F7735051B7}"/>
              </a:ext>
            </a:extLst>
          </p:cNvPr>
          <p:cNvPicPr>
            <a:picLocks noChangeAspect="1"/>
          </p:cNvPicPr>
          <p:nvPr/>
        </p:nvPicPr>
        <p:blipFill>
          <a:blip r:embed="rId3"/>
          <a:srcRect l="-928" t="29746" r="928" b="36645"/>
          <a:stretch>
            <a:fillRect/>
          </a:stretch>
        </p:blipFill>
        <p:spPr>
          <a:xfrm>
            <a:off x="8218575" y="45720"/>
            <a:ext cx="861058" cy="289396"/>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ESCRIPTION" val="Chef"/>
  <p:tag name="GRAPHICTYPE" val="Icon"/>
  <p:tag name="ICONCOLOR" val="#FFFFFF"/>
</p:tagLst>
</file>

<file path=ppt/tags/tag2.xml><?xml version="1.0" encoding="utf-8"?>
<p:tagLst xmlns:a="http://schemas.openxmlformats.org/drawingml/2006/main" xmlns:r="http://schemas.openxmlformats.org/officeDocument/2006/relationships" xmlns:p="http://schemas.openxmlformats.org/presentationml/2006/main">
  <p:tag name="DESCRIPTION" val="Question"/>
  <p:tag name="GRAPHICTYPE" val="Icon"/>
  <p:tag name="ICONCOLOR" val="#70AD47"/>
</p:tagLst>
</file>

<file path=ppt/tags/tag3.xml><?xml version="1.0" encoding="utf-8"?>
<p:tagLst xmlns:a="http://schemas.openxmlformats.org/drawingml/2006/main" xmlns:r="http://schemas.openxmlformats.org/officeDocument/2006/relationships" xmlns:p="http://schemas.openxmlformats.org/presentationml/2006/main">
  <p:tag name="DESCRIPTION" val="Tray"/>
  <p:tag name="GRAPHICTYPE" val="Icon"/>
  <p:tag name="ICONCOLOR" val="#FFFFFF"/>
</p:tagLst>
</file>

<file path=ppt/tags/tag4.xml><?xml version="1.0" encoding="utf-8"?>
<p:tagLst xmlns:a="http://schemas.openxmlformats.org/drawingml/2006/main" xmlns:r="http://schemas.openxmlformats.org/officeDocument/2006/relationships" xmlns:p="http://schemas.openxmlformats.org/presentationml/2006/main">
  <p:tag name="DESCRIPTION" val="Hierarchy"/>
  <p:tag name="GRAPHICTYPE" val="Icon"/>
  <p:tag name="ICONCOLOR" val="#70AD47"/>
</p:tagLst>
</file>

<file path=ppt/tags/tag5.xml><?xml version="1.0" encoding="utf-8"?>
<p:tagLst xmlns:a="http://schemas.openxmlformats.org/drawingml/2006/main" xmlns:r="http://schemas.openxmlformats.org/officeDocument/2006/relationships" xmlns:p="http://schemas.openxmlformats.org/presentationml/2006/main">
  <p:tag name="DESCRIPTION" val="Book"/>
  <p:tag name="GRAPHICTYPE" val="Icon"/>
  <p:tag name="ICONCOLOR" val="#FFFFFF"/>
</p:tagLst>
</file>

<file path=ppt/tags/tag6.xml><?xml version="1.0" encoding="utf-8"?>
<p:tagLst xmlns:a="http://schemas.openxmlformats.org/drawingml/2006/main" xmlns:r="http://schemas.openxmlformats.org/officeDocument/2006/relationships" xmlns:p="http://schemas.openxmlformats.org/presentationml/2006/main">
  <p:tag name="DESCRIPTION" val="Document"/>
  <p:tag name="GRAPHICTYPE" val="Icon"/>
  <p:tag name="ICONCOLOR" val="#70AD47"/>
</p:tagLst>
</file>

<file path=ppt/tags/tag7.xml><?xml version="1.0" encoding="utf-8"?>
<p:tagLst xmlns:a="http://schemas.openxmlformats.org/drawingml/2006/main" xmlns:r="http://schemas.openxmlformats.org/officeDocument/2006/relationships" xmlns:p="http://schemas.openxmlformats.org/presentationml/2006/main">
  <p:tag name="DESCRIPTION" val="Tools"/>
  <p:tag name="GRAPHICTYPE" val="Icon"/>
  <p:tag name="ICONCOLOR" val="#FFFFFF"/>
</p:tagLst>
</file>

<file path=ppt/tags/tag8.xml><?xml version="1.0" encoding="utf-8"?>
<p:tagLst xmlns:a="http://schemas.openxmlformats.org/drawingml/2006/main" xmlns:r="http://schemas.openxmlformats.org/officeDocument/2006/relationships" xmlns:p="http://schemas.openxmlformats.org/presentationml/2006/main">
  <p:tag name="DESCRIPTION" val="Wrench"/>
  <p:tag name="GRAPHICTYPE" val="Icon"/>
  <p:tag name="ICONCOLOR" val="#70AD47"/>
</p:tagLst>
</file>

<file path=ppt/tags/tag9.xml><?xml version="1.0" encoding="utf-8"?>
<p:tagLst xmlns:a="http://schemas.openxmlformats.org/drawingml/2006/main" xmlns:r="http://schemas.openxmlformats.org/officeDocument/2006/relationships" xmlns:p="http://schemas.openxmlformats.org/presentationml/2006/main">
  <p:tag name="DESCRIPTION" val="Bowl"/>
  <p:tag name="GRAPHICTYPE" val="Icon"/>
  <p:tag name="ICONCOLOR" val="#70AD47"/>
</p:tagLst>
</file>

<file path=ppt/tags/tag10.xml><?xml version="1.0" encoding="utf-8"?>
<p:tagLst xmlns:a="http://schemas.openxmlformats.org/drawingml/2006/main" xmlns:r="http://schemas.openxmlformats.org/officeDocument/2006/relationships" xmlns:p="http://schemas.openxmlformats.org/presentationml/2006/main">
  <p:tag name="DESCRIPTION" val="Help"/>
  <p:tag name="GRAPHICTYPE" val="Icon"/>
  <p:tag name="ICONCOLOR" val="#70AD47"/>
</p:tagLst>
</file>

<file path=ppt/tags/tag11.xml><?xml version="1.0" encoding="utf-8"?>
<p:tagLst xmlns:a="http://schemas.openxmlformats.org/drawingml/2006/main" xmlns:r="http://schemas.openxmlformats.org/officeDocument/2006/relationships" xmlns:p="http://schemas.openxmlformats.org/presentationml/2006/main">
  <p:tag name="DESCRIPTION" val="BarChart"/>
  <p:tag name="GRAPHICTYPE" val="Icon"/>
  <p:tag name="ICONCOLOR" val="#70AD47"/>
</p:tagLst>
</file>

<file path=ppt/tags/tag12.xml><?xml version="1.0" encoding="utf-8"?>
<p:tagLst xmlns:a="http://schemas.openxmlformats.org/drawingml/2006/main" xmlns:r="http://schemas.openxmlformats.org/officeDocument/2006/relationships" xmlns:p="http://schemas.openxmlformats.org/presentationml/2006/main">
  <p:tag name="DESCRIPTION" val="Person"/>
  <p:tag name="GRAPHICTYPE" val="Icon"/>
  <p:tag name="ICONCOLOR" val="#70AD47"/>
</p:tagLst>
</file>

<file path=ppt/tags/tag13.xml><?xml version="1.0" encoding="utf-8"?>
<p:tagLst xmlns:a="http://schemas.openxmlformats.org/drawingml/2006/main" xmlns:r="http://schemas.openxmlformats.org/officeDocument/2006/relationships" xmlns:p="http://schemas.openxmlformats.org/presentationml/2006/main">
  <p:tag name="DESCRIPTION" val="Code"/>
  <p:tag name="GRAPHICTYPE" val="Icon"/>
  <p:tag name="ICONCOLOR" val="#70AD47"/>
</p:tagLst>
</file>

<file path=ppt/tags/tag14.xml><?xml version="1.0" encoding="utf-8"?>
<p:tagLst xmlns:a="http://schemas.openxmlformats.org/drawingml/2006/main" xmlns:r="http://schemas.openxmlformats.org/officeDocument/2006/relationships" xmlns:p="http://schemas.openxmlformats.org/presentationml/2006/main">
  <p:tag name="DESCRIPTION" val="Book"/>
  <p:tag name="GRAPHICTYPE" val="Icon"/>
  <p:tag name="ICONCOLOR" val="#70AD47"/>
</p:tagLst>
</file>

<file path=ppt/tags/tag15.xml><?xml version="1.0" encoding="utf-8"?>
<p:tagLst xmlns:a="http://schemas.openxmlformats.org/drawingml/2006/main" xmlns:r="http://schemas.openxmlformats.org/officeDocument/2006/relationships" xmlns:p="http://schemas.openxmlformats.org/presentationml/2006/main">
  <p:tag name="DESCRIPTION" val="Table"/>
  <p:tag name="GRAPHICTYPE" val="Icon"/>
  <p:tag name="ICONCOLOR" val="#70AD47"/>
</p:tagLst>
</file>

<file path=ppt/tags/tag16.xml><?xml version="1.0" encoding="utf-8"?>
<p:tagLst xmlns:a="http://schemas.openxmlformats.org/drawingml/2006/main" xmlns:r="http://schemas.openxmlformats.org/officeDocument/2006/relationships" xmlns:p="http://schemas.openxmlformats.org/presentationml/2006/main">
  <p:tag name="DESCRIPTION" val="Settings"/>
  <p:tag name="GRAPHICTYPE" val="Icon"/>
  <p:tag name="ICONCOLOR" val="#70AD47"/>
</p:tagLst>
</file>

<file path=ppt/tags/tag17.xml><?xml version="1.0" encoding="utf-8"?>
<p:tagLst xmlns:a="http://schemas.openxmlformats.org/drawingml/2006/main" xmlns:r="http://schemas.openxmlformats.org/officeDocument/2006/relationships" xmlns:p="http://schemas.openxmlformats.org/presentationml/2006/main">
  <p:tag name="DESCRIPTION" val="Food"/>
  <p:tag name="GRAPHICTYPE" val="Icon"/>
  <p:tag name="ICONCOLOR" val="#70AD47"/>
</p:tagLst>
</file>

<file path=ppt/tags/tag18.xml><?xml version="1.0" encoding="utf-8"?>
<p:tagLst xmlns:a="http://schemas.openxmlformats.org/drawingml/2006/main" xmlns:r="http://schemas.openxmlformats.org/officeDocument/2006/relationships" xmlns:p="http://schemas.openxmlformats.org/presentationml/2006/main">
  <p:tag name="DESCRIPTION" val="Document"/>
  <p:tag name="GRAPHICTYPE" val="Icon"/>
  <p:tag name="ICONCOLOR" val="#4472C4"/>
</p:tagLst>
</file>

<file path=ppt/tags/tag19.xml><?xml version="1.0" encoding="utf-8"?>
<p:tagLst xmlns:a="http://schemas.openxmlformats.org/drawingml/2006/main" xmlns:r="http://schemas.openxmlformats.org/officeDocument/2006/relationships" xmlns:p="http://schemas.openxmlformats.org/presentationml/2006/main">
  <p:tag name="DESCRIPTION" val="Target"/>
  <p:tag name="GRAPHICTYPE" val="Icon"/>
  <p:tag name="ICONCOLOR" val="#4472C4"/>
</p:tagLst>
</file>

<file path=ppt/tags/tag20.xml><?xml version="1.0" encoding="utf-8"?>
<p:tagLst xmlns:a="http://schemas.openxmlformats.org/drawingml/2006/main" xmlns:r="http://schemas.openxmlformats.org/officeDocument/2006/relationships" xmlns:p="http://schemas.openxmlformats.org/presentationml/2006/main">
  <p:tag name="DESCRIPTION" val="Database"/>
  <p:tag name="GRAPHICTYPE" val="Icon"/>
  <p:tag name="ICONCOLOR" val="#4472C4"/>
</p:tagLst>
</file>

<file path=ppt/tags/tag21.xml><?xml version="1.0" encoding="utf-8"?>
<p:tagLst xmlns:a="http://schemas.openxmlformats.org/drawingml/2006/main" xmlns:r="http://schemas.openxmlformats.org/officeDocument/2006/relationships" xmlns:p="http://schemas.openxmlformats.org/presentationml/2006/main">
  <p:tag name="DESCRIPTION" val="Star"/>
  <p:tag name="GRAPHICTYPE" val="Icon"/>
  <p:tag name="ICONCOLOR" val="#70AD47"/>
</p:tagLst>
</file>

<file path=ppt/tags/tag22.xml><?xml version="1.0" encoding="utf-8"?>
<p:tagLst xmlns:a="http://schemas.openxmlformats.org/drawingml/2006/main" xmlns:r="http://schemas.openxmlformats.org/officeDocument/2006/relationships" xmlns:p="http://schemas.openxmlformats.org/presentationml/2006/main">
  <p:tag name="DESCRIPTION" val="User"/>
  <p:tag name="GRAPHICTYPE" val="Icon"/>
  <p:tag name="ICONCOLOR" val="#5B9BD5"/>
</p:tagLst>
</file>

<file path=ppt/tags/tag23.xml><?xml version="1.0" encoding="utf-8"?>
<p:tagLst xmlns:a="http://schemas.openxmlformats.org/drawingml/2006/main" xmlns:r="http://schemas.openxmlformats.org/officeDocument/2006/relationships" xmlns:p="http://schemas.openxmlformats.org/presentationml/2006/main">
  <p:tag name="DESCRIPTION" val="Network"/>
  <p:tag name="GRAPHICTYPE" val="Icon"/>
  <p:tag name="ICONCOLOR" val="#5B9BD5"/>
</p:tagLst>
</file>

<file path=ppt/tags/tag24.xml><?xml version="1.0" encoding="utf-8"?>
<p:tagLst xmlns:a="http://schemas.openxmlformats.org/drawingml/2006/main" xmlns:r="http://schemas.openxmlformats.org/officeDocument/2006/relationships" xmlns:p="http://schemas.openxmlformats.org/presentationml/2006/main">
  <p:tag name="DESCRIPTION" val="Code"/>
  <p:tag name="GRAPHICTYPE" val="Icon"/>
  <p:tag name="ICONCOLOR" val="#5B9BD5"/>
</p:tagLst>
</file>

<file path=ppt/tags/tag25.xml><?xml version="1.0" encoding="utf-8"?>
<p:tagLst xmlns:a="http://schemas.openxmlformats.org/drawingml/2006/main" xmlns:r="http://schemas.openxmlformats.org/officeDocument/2006/relationships" xmlns:p="http://schemas.openxmlformats.org/presentationml/2006/main">
  <p:tag name="DESCRIPTION" val="Database"/>
  <p:tag name="GRAPHICTYPE" val="Icon"/>
  <p:tag name="ICONCOLOR" val="#5B9BD5"/>
</p:tagLst>
</file>

<file path=ppt/tags/tag26.xml><?xml version="1.0" encoding="utf-8"?>
<p:tagLst xmlns:a="http://schemas.openxmlformats.org/drawingml/2006/main" xmlns:r="http://schemas.openxmlformats.org/officeDocument/2006/relationships" xmlns:p="http://schemas.openxmlformats.org/presentationml/2006/main">
  <p:tag name="DESCRIPTION" val="Search"/>
  <p:tag name="GRAPHICTYPE" val="Icon"/>
  <p:tag name="ICONCOLOR" val="#10B981"/>
</p:tagLst>
</file>

<file path=ppt/tags/tag27.xml><?xml version="1.0" encoding="utf-8"?>
<p:tagLst xmlns:a="http://schemas.openxmlformats.org/drawingml/2006/main" xmlns:r="http://schemas.openxmlformats.org/officeDocument/2006/relationships" xmlns:p="http://schemas.openxmlformats.org/presentationml/2006/main">
  <p:tag name="DESCRIPTION" val="Warning"/>
  <p:tag name="GRAPHICTYPE" val="Icon"/>
  <p:tag name="ICONCOLOR" val="#EF4444"/>
</p:tagLst>
</file>

<file path=ppt/tags/tag28.xml><?xml version="1.0" encoding="utf-8"?>
<p:tagLst xmlns:a="http://schemas.openxmlformats.org/drawingml/2006/main" xmlns:r="http://schemas.openxmlformats.org/officeDocument/2006/relationships" xmlns:p="http://schemas.openxmlformats.org/presentationml/2006/main">
  <p:tag name="DESCRIPTION" val="Refresh"/>
  <p:tag name="GRAPHICTYPE" val="Icon"/>
  <p:tag name="ICONCOLOR" val="#FFFFFF"/>
</p:tagLst>
</file>

<file path=ppt/tags/tag29.xml><?xml version="1.0" encoding="utf-8"?>
<p:tagLst xmlns:a="http://schemas.openxmlformats.org/drawingml/2006/main" xmlns:r="http://schemas.openxmlformats.org/officeDocument/2006/relationships" xmlns:p="http://schemas.openxmlformats.org/presentationml/2006/main">
  <p:tag name="DESCRIPTION" val="Brain"/>
  <p:tag name="GRAPHICTYPE" val="Icon"/>
  <p:tag name="ICONCOLOR" val="#FFFFFF"/>
</p:tagLst>
</file>

<file path=ppt/tags/tag30.xml><?xml version="1.0" encoding="utf-8"?>
<p:tagLst xmlns:a="http://schemas.openxmlformats.org/drawingml/2006/main" xmlns:r="http://schemas.openxmlformats.org/officeDocument/2006/relationships" xmlns:p="http://schemas.openxmlformats.org/presentationml/2006/main">
  <p:tag name="DESCRIPTION" val="Network"/>
  <p:tag name="GRAPHICTYPE" val="Icon"/>
  <p:tag name="ICONCOLOR" val="#FFFFFF"/>
</p:tagLst>
</file>

<file path=ppt/tags/tag31.xml><?xml version="1.0" encoding="utf-8"?>
<p:tagLst xmlns:a="http://schemas.openxmlformats.org/drawingml/2006/main" xmlns:r="http://schemas.openxmlformats.org/officeDocument/2006/relationships" xmlns:p="http://schemas.openxmlformats.org/presentationml/2006/main">
  <p:tag name="DESCRIPTION" val="Server"/>
  <p:tag name="GRAPHICTYPE" val="Icon"/>
  <p:tag name="ICONCOLOR" val="#FFFFFF"/>
</p:tagLst>
</file>

<file path=ppt/tags/tag32.xml><?xml version="1.0" encoding="utf-8"?>
<p:tagLst xmlns:a="http://schemas.openxmlformats.org/drawingml/2006/main" xmlns:r="http://schemas.openxmlformats.org/officeDocument/2006/relationships" xmlns:p="http://schemas.openxmlformats.org/presentationml/2006/main">
  <p:tag name="DESCRIPTION" val="Robot"/>
  <p:tag name="GRAPHICTYPE" val="Icon"/>
  <p:tag name="ICONCOLOR" val="#FFFFFF"/>
</p:tagLst>
</file>

<file path=ppt/tags/tag33.xml><?xml version="1.0" encoding="utf-8"?>
<p:tagLst xmlns:a="http://schemas.openxmlformats.org/drawingml/2006/main" xmlns:r="http://schemas.openxmlformats.org/officeDocument/2006/relationships" xmlns:p="http://schemas.openxmlformats.org/presentationml/2006/main">
  <p:tag name="DESCRIPTION" val="Cloud"/>
  <p:tag name="GRAPHICTYPE" val="Icon"/>
  <p:tag name="ICONCOLOR" val="#4472C4"/>
</p:tagLst>
</file>

<file path=ppt/tags/tag34.xml><?xml version="1.0" encoding="utf-8"?>
<p:tagLst xmlns:a="http://schemas.openxmlformats.org/drawingml/2006/main" xmlns:r="http://schemas.openxmlformats.org/officeDocument/2006/relationships" xmlns:p="http://schemas.openxmlformats.org/presentationml/2006/main">
  <p:tag name="DESCRIPTION" val="Wrench"/>
  <p:tag name="GRAPHICTYPE" val="Icon"/>
  <p:tag name="ICONCOLOR" val="#5B9BD5"/>
</p:tagLst>
</file>

<file path=ppt/tags/tag35.xml><?xml version="1.0" encoding="utf-8"?>
<p:tagLst xmlns:a="http://schemas.openxmlformats.org/drawingml/2006/main" xmlns:r="http://schemas.openxmlformats.org/officeDocument/2006/relationships" xmlns:p="http://schemas.openxmlformats.org/presentationml/2006/main">
  <p:tag name="DESCRIPTION" val="Eye"/>
  <p:tag name="GRAPHICTYPE" val="Icon"/>
  <p:tag name="ICONCOLOR" val="#70AD47"/>
</p:tagLst>
</file>

<file path=ppt/tags/tag36.xml><?xml version="1.0" encoding="utf-8"?>
<p:tagLst xmlns:a="http://schemas.openxmlformats.org/drawingml/2006/main" xmlns:r="http://schemas.openxmlformats.org/officeDocument/2006/relationships" xmlns:p="http://schemas.openxmlformats.org/presentationml/2006/main">
  <p:tag name="DESCRIPTION" val="Clipboard"/>
  <p:tag name="GRAPHICTYPE" val="Icon"/>
  <p:tag name="ICONCOLOR" val="#ED7D31"/>
</p:tagLst>
</file>

<file path=ppt/tags/tag37.xml><?xml version="1.0" encoding="utf-8"?>
<p:tagLst xmlns:a="http://schemas.openxmlformats.org/drawingml/2006/main" xmlns:r="http://schemas.openxmlformats.org/officeDocument/2006/relationships" xmlns:p="http://schemas.openxmlformats.org/presentationml/2006/main">
  <p:tag name="DESCRIPTION" val="Search"/>
  <p:tag name="GRAPHICTYPE" val="Icon"/>
  <p:tag name="ICONCOLOR" val="#ED7D31"/>
</p:tagLst>
</file>

<file path=ppt/tags/tag38.xml><?xml version="1.0" encoding="utf-8"?>
<p:tagLst xmlns:a="http://schemas.openxmlformats.org/drawingml/2006/main" xmlns:r="http://schemas.openxmlformats.org/officeDocument/2006/relationships" xmlns:p="http://schemas.openxmlformats.org/presentationml/2006/main">
  <p:tag name="DESCRIPTION" val="Lightbulb"/>
  <p:tag name="GRAPHICTYPE" val="Icon"/>
  <p:tag name="ICONCOLOR" val="#ED7D3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5">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8B048538-E3A3-4CF9-8E7D-922E24A752A8}">
  <we:reference id="WA200010196" version="1.0.0.0" store="Omex" storeType="OMEX"/>
  <we:alternateReferences>
    <we:reference id="WA200010196" version="1.0.0.0" store="WA200010196" storeType="OMEX"/>
  </we:alternateReferences>
  <we:properties>
    <we:property name="presentation_id" value="&quot;b5ac1b84-6cb5-4142-81c1-cb8c07aeb404&quot;"/>
  </we:properties>
  <we:bindings/>
  <we:snapshot xmlns:r="http://schemas.openxmlformats.org/officeDocument/2006/relationships"/>
  <we:extLst>
    <a:ext xmlns:a="http://schemas.openxmlformats.org/drawingml/2006/main" uri="{0858819E-0033-43BF-8937-05EC82904868}">
      <we:backgroundApp state="1" runtimeId="Taskpane.Url"/>
    </a:ext>
  </we:extLst>
</we:webextension>
</file>

<file path=ppt/webextensions/webextension2.xml><?xml version="1.0" encoding="utf-8"?>
<we:webextension xmlns:we="http://schemas.microsoft.com/office/webextensions/webextension/2010/11" id="{D9569B26-5F73-4E98-8CFA-EE3E07AB3082}">
  <we:reference id="wa200005566" version="3.0.1.2" store="en-US" storeType="OMEX"/>
  <we:alternateReferences>
    <we:reference id="WA200005566" version="3.0.1.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0</TotalTime>
  <Words>7700</Words>
  <Application>Microsoft Office PowerPoint</Application>
  <PresentationFormat>On-screen Show (16:9)</PresentationFormat>
  <Paragraphs>1250</Paragraphs>
  <Slides>49</Slides>
  <Notes>25</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49</vt:i4>
      </vt:variant>
    </vt:vector>
  </HeadingPairs>
  <TitlesOfParts>
    <vt:vector size="60" baseType="lpstr">
      <vt:lpstr>Aptos</vt:lpstr>
      <vt:lpstr>Aptos Display</vt:lpstr>
      <vt:lpstr>Arial</vt:lpstr>
      <vt:lpstr>Arial Black</vt:lpstr>
      <vt:lpstr>Calibri</vt:lpstr>
      <vt:lpstr>Consolas</vt:lpstr>
      <vt:lpstr>Georgia</vt:lpstr>
      <vt:lpstr>Wingdings</vt:lpstr>
      <vt:lpstr>Office Theme</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Architecting SpiderDIN</dc:title>
  <dc:subject>PptxGenJS Presentation</dc:subject>
  <dc:creator>SpiderDIN Engineering Team</dc:creator>
  <cp:lastModifiedBy>Vikas Vijigiri</cp:lastModifiedBy>
  <cp:revision>39</cp:revision>
  <dcterms:created xsi:type="dcterms:W3CDTF">2026-05-18T07:21:52Z</dcterms:created>
  <dcterms:modified xsi:type="dcterms:W3CDTF">2026-05-20T07:49:25Z</dcterms:modified>
</cp:coreProperties>
</file>